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hul Patil" initials="R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2-11T11:14:33.903" idx="1">
    <p:pos x="2932" y="2815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1;p13"/>
          <p:cNvSpPr/>
          <p:nvPr/>
        </p:nvSpPr>
        <p:spPr>
          <a:xfrm>
            <a:off x="-1" y="569212"/>
            <a:ext cx="2583182" cy="3997835"/>
          </a:xfrm>
          <a:prstGeom prst="rect">
            <a:avLst/>
          </a:prstGeom>
          <a:solidFill>
            <a:srgbClr val="40B8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Google Shape;52;p13"/>
          <p:cNvSpPr/>
          <p:nvPr/>
        </p:nvSpPr>
        <p:spPr>
          <a:xfrm>
            <a:off x="8862821" y="569212"/>
            <a:ext cx="280893" cy="3997835"/>
          </a:xfrm>
          <a:prstGeom prst="rect">
            <a:avLst/>
          </a:prstGeom>
          <a:solidFill>
            <a:srgbClr val="C6C6C6">
              <a:alpha val="49019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itle Text"/>
          <p:cNvSpPr txBox="1">
            <a:spLocks noGrp="1"/>
          </p:cNvSpPr>
          <p:nvPr>
            <p:ph type="title"/>
          </p:nvPr>
        </p:nvSpPr>
        <p:spPr>
          <a:xfrm>
            <a:off x="248563" y="2111177"/>
            <a:ext cx="2058830" cy="801529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Title Text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37713" y="2118770"/>
            <a:ext cx="4503419" cy="1812132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228600" indent="4572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228600" indent="9144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228600" indent="13716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" indent="18288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6332" y="4783454"/>
            <a:ext cx="210469" cy="1973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248563" y="2111177"/>
            <a:ext cx="2058830" cy="801529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37713" y="2118770"/>
            <a:ext cx="4503419" cy="1812132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228600" indent="4572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228600" indent="9144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228600" indent="13716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" indent="18288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6332" y="4783454"/>
            <a:ext cx="210469" cy="1973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51;p13"/>
          <p:cNvSpPr/>
          <p:nvPr/>
        </p:nvSpPr>
        <p:spPr>
          <a:xfrm>
            <a:off x="-1" y="569212"/>
            <a:ext cx="2583182" cy="3997835"/>
          </a:xfrm>
          <a:prstGeom prst="rect">
            <a:avLst/>
          </a:prstGeom>
          <a:solidFill>
            <a:srgbClr val="40B8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Google Shape;52;p13"/>
          <p:cNvSpPr/>
          <p:nvPr/>
        </p:nvSpPr>
        <p:spPr>
          <a:xfrm>
            <a:off x="8862821" y="569212"/>
            <a:ext cx="280893" cy="3997835"/>
          </a:xfrm>
          <a:prstGeom prst="rect">
            <a:avLst/>
          </a:prstGeom>
          <a:solidFill>
            <a:srgbClr val="C6C6C6">
              <a:alpha val="49019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Title Text"/>
          <p:cNvSpPr txBox="1">
            <a:spLocks noGrp="1"/>
          </p:cNvSpPr>
          <p:nvPr>
            <p:ph type="title"/>
          </p:nvPr>
        </p:nvSpPr>
        <p:spPr>
          <a:xfrm>
            <a:off x="248563" y="2111177"/>
            <a:ext cx="2058830" cy="801529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Title Text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6332" y="4783454"/>
            <a:ext cx="210469" cy="1973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51;p13"/>
          <p:cNvSpPr/>
          <p:nvPr/>
        </p:nvSpPr>
        <p:spPr>
          <a:xfrm>
            <a:off x="-1" y="569212"/>
            <a:ext cx="2583182" cy="3997835"/>
          </a:xfrm>
          <a:prstGeom prst="rect">
            <a:avLst/>
          </a:prstGeom>
          <a:solidFill>
            <a:srgbClr val="40B8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" name="Google Shape;52;p13"/>
          <p:cNvSpPr/>
          <p:nvPr/>
        </p:nvSpPr>
        <p:spPr>
          <a:xfrm>
            <a:off x="8862821" y="569212"/>
            <a:ext cx="280893" cy="3997835"/>
          </a:xfrm>
          <a:prstGeom prst="rect">
            <a:avLst/>
          </a:prstGeom>
          <a:solidFill>
            <a:srgbClr val="C6C6C6">
              <a:alpha val="49019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6332" y="4783454"/>
            <a:ext cx="210469" cy="1973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1;p13"/>
          <p:cNvSpPr/>
          <p:nvPr/>
        </p:nvSpPr>
        <p:spPr>
          <a:xfrm>
            <a:off x="-1" y="569212"/>
            <a:ext cx="2583182" cy="3997835"/>
          </a:xfrm>
          <a:prstGeom prst="rect">
            <a:avLst/>
          </a:prstGeom>
          <a:solidFill>
            <a:srgbClr val="40B8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Google Shape;52;p13"/>
          <p:cNvSpPr/>
          <p:nvPr/>
        </p:nvSpPr>
        <p:spPr>
          <a:xfrm>
            <a:off x="8862821" y="569212"/>
            <a:ext cx="280893" cy="3997835"/>
          </a:xfrm>
          <a:prstGeom prst="rect">
            <a:avLst/>
          </a:prstGeom>
          <a:solidFill>
            <a:srgbClr val="C6C6C6">
              <a:alpha val="49019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itle Text"/>
          <p:cNvSpPr txBox="1">
            <a:spLocks noGrp="1"/>
          </p:cNvSpPr>
          <p:nvPr>
            <p:ph type="title"/>
          </p:nvPr>
        </p:nvSpPr>
        <p:spPr>
          <a:xfrm>
            <a:off x="3029235" y="673951"/>
            <a:ext cx="5208747" cy="704851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Title Text</a:t>
            </a:r>
          </a:p>
        </p:txBody>
      </p:sp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880360"/>
            <a:ext cx="6400800" cy="1285876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228600" indent="4572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228600" indent="9144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228600" indent="13716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" indent="18288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6332" y="4783454"/>
            <a:ext cx="210469" cy="1973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51;p13"/>
          <p:cNvSpPr/>
          <p:nvPr/>
        </p:nvSpPr>
        <p:spPr>
          <a:xfrm>
            <a:off x="-1" y="569212"/>
            <a:ext cx="2583182" cy="3997835"/>
          </a:xfrm>
          <a:prstGeom prst="rect">
            <a:avLst/>
          </a:prstGeom>
          <a:solidFill>
            <a:srgbClr val="40B8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Google Shape;52;p13"/>
          <p:cNvSpPr/>
          <p:nvPr/>
        </p:nvSpPr>
        <p:spPr>
          <a:xfrm>
            <a:off x="8862821" y="569212"/>
            <a:ext cx="280893" cy="3997835"/>
          </a:xfrm>
          <a:prstGeom prst="rect">
            <a:avLst/>
          </a:prstGeom>
          <a:solidFill>
            <a:srgbClr val="C6C6C6">
              <a:alpha val="49019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Title Text"/>
          <p:cNvSpPr txBox="1">
            <a:spLocks noGrp="1"/>
          </p:cNvSpPr>
          <p:nvPr>
            <p:ph type="title"/>
          </p:nvPr>
        </p:nvSpPr>
        <p:spPr>
          <a:xfrm>
            <a:off x="248563" y="2111177"/>
            <a:ext cx="2058830" cy="801529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Title Text</a:t>
            </a:r>
          </a:p>
        </p:txBody>
      </p:sp>
      <p:sp>
        <p:nvSpPr>
          <p:cNvPr id="16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183005"/>
            <a:ext cx="3977641" cy="3394710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228600" indent="4572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228600" indent="9144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228600" indent="13716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" indent="182880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1" name="Google Shape;82;p18"/>
          <p:cNvSpPr txBox="1">
            <a:spLocks noGrp="1"/>
          </p:cNvSpPr>
          <p:nvPr>
            <p:ph type="body" sz="half" idx="21"/>
          </p:nvPr>
        </p:nvSpPr>
        <p:spPr>
          <a:xfrm>
            <a:off x="4709159" y="1183005"/>
            <a:ext cx="3977641" cy="3394710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0">
              <a:lnSpc>
                <a:spcPct val="100000"/>
              </a:lnSpc>
              <a:buClrTx/>
              <a:buSzTx/>
              <a:buFontTx/>
              <a:buNone/>
              <a:defRPr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pPr>
            <a:endParaRPr/>
          </a:p>
        </p:txBody>
      </p:sp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6332" y="4783454"/>
            <a:ext cx="210469" cy="1973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90;p19"/>
          <p:cNvSpPr/>
          <p:nvPr/>
        </p:nvSpPr>
        <p:spPr>
          <a:xfrm>
            <a:off x="8862821" y="569212"/>
            <a:ext cx="280893" cy="3997835"/>
          </a:xfrm>
          <a:prstGeom prst="rect">
            <a:avLst/>
          </a:prstGeom>
          <a:solidFill>
            <a:srgbClr val="C6C6C6">
              <a:alpha val="49019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" name="Google Shape;91;p19"/>
          <p:cNvSpPr/>
          <p:nvPr/>
        </p:nvSpPr>
        <p:spPr>
          <a:xfrm>
            <a:off x="0" y="571500"/>
            <a:ext cx="6164799" cy="3698558"/>
          </a:xfrm>
          <a:prstGeom prst="rect">
            <a:avLst/>
          </a:prstGeom>
          <a:solidFill>
            <a:srgbClr val="40B8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Google Shape;93;p19"/>
          <p:cNvSpPr txBox="1">
            <a:spLocks noGrp="1"/>
          </p:cNvSpPr>
          <p:nvPr>
            <p:ph type="title"/>
          </p:nvPr>
        </p:nvSpPr>
        <p:spPr>
          <a:xfrm>
            <a:off x="1371600" y="1646263"/>
            <a:ext cx="3600450" cy="2036331"/>
          </a:xfrm>
          <a:prstGeom prst="rect">
            <a:avLst/>
          </a:prstGeom>
        </p:spPr>
        <p:txBody>
          <a:bodyPr/>
          <a:lstStyle/>
          <a:p>
            <a:pPr indent="571500">
              <a:lnSpc>
                <a:spcPct val="122272"/>
              </a:lnSpc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 Unit – 4</a:t>
            </a:r>
            <a:r>
              <a:rPr sz="3600">
                <a:latin typeface="Corbel"/>
                <a:ea typeface="Corbel"/>
                <a:cs typeface="Corbel"/>
                <a:sym typeface="Corbel"/>
              </a:rPr>
              <a:t> Inheritance and Interfaces in Java </a:t>
            </a:r>
          </a:p>
        </p:txBody>
      </p:sp>
      <p:pic>
        <p:nvPicPr>
          <p:cNvPr id="174" name="Google Shape;94;p19" descr="Google Shape;94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9636" y="1845897"/>
            <a:ext cx="2591464" cy="11497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99;p20"/>
          <p:cNvSpPr txBox="1"/>
          <p:nvPr/>
        </p:nvSpPr>
        <p:spPr>
          <a:xfrm>
            <a:off x="165367" y="807273"/>
            <a:ext cx="2204100" cy="1056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/>
            </a:lvl1pPr>
          </a:lstStyle>
          <a:p>
            <a:r>
              <a:t>Why Interfaces Are Needed in Java</a:t>
            </a:r>
          </a:p>
        </p:txBody>
      </p:sp>
      <p:sp>
        <p:nvSpPr>
          <p:cNvPr id="177" name="Google Shape;100;p20"/>
          <p:cNvSpPr txBox="1"/>
          <p:nvPr/>
        </p:nvSpPr>
        <p:spPr>
          <a:xfrm>
            <a:off x="3029049" y="544074"/>
            <a:ext cx="4623901" cy="3879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 b="1"/>
            </a:pPr>
            <a:r>
              <a:t>Interfaces are required in Java to achieve design flexibility, abstraction, and multiple inheritance while maintaining type safety and loose coupling.</a:t>
            </a:r>
          </a:p>
          <a:p>
            <a:pPr>
              <a:defRPr sz="1600" b="1"/>
            </a:pPr>
            <a:endParaRPr/>
          </a:p>
          <a:p>
            <a:pPr>
              <a:defRPr sz="1600" b="1"/>
            </a:pPr>
            <a:r>
              <a:t>Key Reasons for Using Interfaces</a:t>
            </a:r>
          </a:p>
          <a:p>
            <a:pPr>
              <a:defRPr sz="1600" b="1"/>
            </a:pPr>
            <a:r>
              <a:t>Support for Multiple Inheritance</a:t>
            </a:r>
            <a:br/>
            <a:r>
              <a:rPr b="0"/>
              <a:t>Java does not allow multiple inheritance using classes to avoid ambiguity.</a:t>
            </a:r>
            <a:br>
              <a:rPr b="0"/>
            </a:br>
            <a:r>
              <a:rPr b="0"/>
              <a:t>Interfaces allow a class to implement multiple behaviors without inheriting multiple class implementations.</a:t>
            </a:r>
          </a:p>
          <a:p>
            <a:pPr>
              <a:defRPr sz="1600" b="1"/>
            </a:pPr>
            <a:r>
              <a:t>Achieving 100% Abstraction</a:t>
            </a:r>
            <a:br/>
            <a:r>
              <a:rPr b="0"/>
              <a:t>Interfaces define </a:t>
            </a:r>
            <a:r>
              <a:rPr b="0" i="1"/>
              <a:t>what a class should do</a:t>
            </a:r>
            <a:r>
              <a:rPr b="0"/>
              <a:t>, not </a:t>
            </a:r>
            <a:r>
              <a:rPr b="0" i="1"/>
              <a:t>how it should do it</a:t>
            </a:r>
            <a:r>
              <a:rPr b="0"/>
              <a:t>.</a:t>
            </a:r>
            <a:br>
              <a:rPr b="0"/>
            </a:br>
            <a:r>
              <a:rPr b="0"/>
              <a:t>This separates specification from implementation.</a:t>
            </a:r>
          </a:p>
        </p:txBody>
      </p:sp>
      <p:pic>
        <p:nvPicPr>
          <p:cNvPr id="178" name="Google Shape;101;p20" descr="Google Shape;101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878" y="2064766"/>
            <a:ext cx="2365374" cy="23653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99;p20"/>
          <p:cNvSpPr txBox="1"/>
          <p:nvPr/>
        </p:nvSpPr>
        <p:spPr>
          <a:xfrm>
            <a:off x="165367" y="807273"/>
            <a:ext cx="2204100" cy="1056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/>
            </a:lvl1pPr>
          </a:lstStyle>
          <a:p>
            <a:r>
              <a:t>Why Interfaces Are Needed in Java</a:t>
            </a:r>
          </a:p>
        </p:txBody>
      </p:sp>
      <p:sp>
        <p:nvSpPr>
          <p:cNvPr id="182" name="Google Shape;100;p20"/>
          <p:cNvSpPr txBox="1"/>
          <p:nvPr/>
        </p:nvSpPr>
        <p:spPr>
          <a:xfrm>
            <a:off x="3029049" y="544073"/>
            <a:ext cx="4623901" cy="4261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/>
            </a:pPr>
            <a:r>
              <a:t>Loose Coupling Between Components</a:t>
            </a:r>
            <a:br/>
            <a:r>
              <a:rPr b="0"/>
              <a:t>Code written using interface references is independent of implementation classes.</a:t>
            </a:r>
            <a:br>
              <a:rPr b="0"/>
            </a:br>
            <a:r>
              <a:rPr b="0"/>
              <a:t>This improves maintainability and scalability of large applications.</a:t>
            </a:r>
          </a:p>
          <a:p>
            <a:pPr>
              <a:defRPr b="1"/>
            </a:pPr>
            <a:r>
              <a:t>Standardization and Contract-Based Design</a:t>
            </a:r>
            <a:br/>
            <a:r>
              <a:rPr b="0"/>
              <a:t>Interfaces act as contracts that guarantee the presence of specific methods.</a:t>
            </a:r>
            <a:br>
              <a:rPr b="0"/>
            </a:br>
            <a:r>
              <a:rPr b="0"/>
              <a:t>Any class implementing the interface must follow the same method structure.</a:t>
            </a:r>
          </a:p>
          <a:p>
            <a:pPr>
              <a:defRPr b="1"/>
            </a:pPr>
            <a:r>
              <a:t>Runtime Polymorphism Support</a:t>
            </a:r>
            <a:br/>
            <a:r>
              <a:rPr b="0"/>
              <a:t>Interface references allow method calls to be resolved at runtime based on the actual object, enabling dynamic behavior.</a:t>
            </a:r>
          </a:p>
          <a:p>
            <a:pPr>
              <a:defRPr b="1"/>
            </a:pPr>
            <a:r>
              <a:t>Improved Code Reusability and Flexibility</a:t>
            </a:r>
            <a:br/>
            <a:r>
              <a:rPr b="0"/>
              <a:t>Multiple classes can implement the same interface in different ways, allowing flexible and reusable designs.</a:t>
            </a:r>
          </a:p>
          <a:p>
            <a:pPr>
              <a:defRPr b="1"/>
            </a:pPr>
            <a:r>
              <a:t>Framework and API Design</a:t>
            </a:r>
            <a:br/>
            <a:r>
              <a:rPr b="0"/>
              <a:t>Most Java frameworks (JDBC, Collections, Spring) use interfaces to hide implementation details and expose common behavior.</a:t>
            </a:r>
          </a:p>
        </p:txBody>
      </p:sp>
      <p:pic>
        <p:nvPicPr>
          <p:cNvPr id="183" name="Google Shape;101;p20" descr="Google Shape;101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878" y="2043984"/>
            <a:ext cx="2365374" cy="23653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07;p21"/>
          <p:cNvSpPr txBox="1"/>
          <p:nvPr/>
        </p:nvSpPr>
        <p:spPr>
          <a:xfrm>
            <a:off x="277999" y="864258"/>
            <a:ext cx="2167502" cy="1056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/>
            </a:lvl1pPr>
          </a:lstStyle>
          <a:p>
            <a:r>
              <a:t>What Is an Interface in Java</a:t>
            </a:r>
          </a:p>
        </p:txBody>
      </p:sp>
      <p:sp>
        <p:nvSpPr>
          <p:cNvPr id="187" name="Google Shape;108;p21"/>
          <p:cNvSpPr txBox="1"/>
          <p:nvPr/>
        </p:nvSpPr>
        <p:spPr>
          <a:xfrm>
            <a:off x="2897331" y="460271"/>
            <a:ext cx="5367902" cy="2699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lnSpc>
                <a:spcPct val="114090"/>
              </a:lnSpc>
              <a:spcBef>
                <a:spcPts val="100"/>
              </a:spcBef>
              <a:defRPr sz="1600"/>
            </a:pPr>
            <a:r>
              <a:t>An </a:t>
            </a:r>
            <a:r>
              <a:rPr b="1"/>
              <a:t>interface</a:t>
            </a:r>
            <a:r>
              <a:t> in Java is a </a:t>
            </a:r>
            <a:r>
              <a:rPr b="1"/>
              <a:t>pure abstract blueprint</a:t>
            </a:r>
            <a:r>
              <a:t> that defines a set of </a:t>
            </a:r>
            <a:r>
              <a:rPr b="1"/>
              <a:t>method declarations</a:t>
            </a:r>
            <a:r>
              <a:t> which implementing classes must follow.</a:t>
            </a:r>
            <a:br/>
            <a:r>
              <a:t>It represents a </a:t>
            </a:r>
            <a:r>
              <a:rPr b="1"/>
              <a:t>contract</a:t>
            </a:r>
            <a:r>
              <a:t> that specifies </a:t>
            </a:r>
            <a:r>
              <a:rPr i="1"/>
              <a:t>what a class should do</a:t>
            </a:r>
            <a:r>
              <a:t>, without defining </a:t>
            </a:r>
            <a:r>
              <a:rPr i="1"/>
              <a:t>how it should do it</a:t>
            </a:r>
            <a:r>
              <a:t>.</a:t>
            </a:r>
          </a:p>
          <a:p>
            <a:pPr>
              <a:defRPr sz="1600"/>
            </a:pPr>
            <a:r>
              <a:t> </a:t>
            </a:r>
          </a:p>
          <a:p>
            <a:pPr>
              <a:defRPr sz="1600" b="1"/>
            </a:pPr>
            <a:r>
              <a:t>Formal Definition</a:t>
            </a:r>
          </a:p>
          <a:p>
            <a:pPr>
              <a:defRPr sz="1600"/>
            </a:pPr>
            <a:r>
              <a:t>An interface is a reference type in Java that contains abstract method declarations and constant fields, used to achieve abstraction and multiple inheritance.</a:t>
            </a:r>
          </a:p>
        </p:txBody>
      </p:sp>
      <p:pic>
        <p:nvPicPr>
          <p:cNvPr id="188" name="Google Shape;109;p21" descr="Google Shape;109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Rectangle 23"/>
          <p:cNvSpPr txBox="1"/>
          <p:nvPr/>
        </p:nvSpPr>
        <p:spPr>
          <a:xfrm>
            <a:off x="2850180" y="3211855"/>
            <a:ext cx="8830887" cy="1508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</a:tabLst>
              <a:defRPr b="1"/>
            </a:pPr>
            <a:r>
              <a:t>Core Characteristics of an Interface</a:t>
            </a:r>
          </a:p>
          <a:p>
            <a:pPr>
              <a:buSzPct val="100000"/>
              <a:buChar char="•"/>
              <a:tabLst>
                <a:tab pos="457200" algn="l"/>
              </a:tabLst>
            </a:pPr>
            <a:r>
              <a:t>An interface contains </a:t>
            </a:r>
            <a:r>
              <a:rPr b="1"/>
              <a:t>only method declarations</a:t>
            </a:r>
            <a:r>
              <a:t> (no implementation logic)</a:t>
            </a:r>
          </a:p>
          <a:p>
            <a:pPr>
              <a:buSzPct val="100000"/>
              <a:buChar char="•"/>
              <a:tabLst>
                <a:tab pos="457200" algn="l"/>
              </a:tabLst>
            </a:pPr>
            <a:r>
              <a:t>All methods are </a:t>
            </a:r>
            <a:r>
              <a:rPr b="1"/>
              <a:t>implicitly public and abstract</a:t>
            </a:r>
          </a:p>
          <a:p>
            <a:pPr>
              <a:buSzPct val="100000"/>
              <a:buChar char="•"/>
              <a:tabLst>
                <a:tab pos="457200" algn="l"/>
              </a:tabLst>
            </a:pPr>
            <a:r>
              <a:t>Variables declared inside an interface are </a:t>
            </a:r>
            <a:r>
              <a:rPr b="1"/>
              <a:t>public, static, and final</a:t>
            </a:r>
          </a:p>
          <a:p>
            <a:pPr>
              <a:buSzPct val="100000"/>
              <a:buChar char="•"/>
              <a:tabLst>
                <a:tab pos="457200" algn="l"/>
              </a:tabLst>
            </a:pPr>
            <a:r>
              <a:t>An interface </a:t>
            </a:r>
            <a:r>
              <a:rPr b="1"/>
              <a:t>cannot be instantiated</a:t>
            </a:r>
          </a:p>
          <a:p>
            <a:pPr>
              <a:buSzPct val="100000"/>
              <a:buChar char="•"/>
              <a:tabLst>
                <a:tab pos="457200" algn="l"/>
              </a:tabLst>
            </a:pPr>
            <a:r>
              <a:t>Interfaces </a:t>
            </a:r>
            <a:r>
              <a:rPr b="1"/>
              <a:t>do not have constructors</a:t>
            </a:r>
          </a:p>
          <a:p>
            <a:pPr>
              <a:buSzPct val="100000"/>
              <a:buChar char="•"/>
              <a:tabLst>
                <a:tab pos="457200" algn="l"/>
              </a:tabLst>
            </a:pPr>
            <a:r>
              <a:t>A class implements an interface using the </a:t>
            </a:r>
            <a:r>
              <a:rPr sz="1000">
                <a:latin typeface="Arial Unicode MS"/>
                <a:ea typeface="Arial Unicode MS"/>
                <a:cs typeface="Arial Unicode MS"/>
                <a:sym typeface="Arial Unicode MS"/>
              </a:rPr>
              <a:t>implements</a:t>
            </a:r>
            <a:r>
              <a:t> keyword</a:t>
            </a:r>
          </a:p>
        </p:txBody>
      </p:sp>
      <p:pic>
        <p:nvPicPr>
          <p:cNvPr id="190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" y="2312758"/>
            <a:ext cx="2804461" cy="10334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 txBox="1"/>
          <p:nvPr/>
        </p:nvSpPr>
        <p:spPr>
          <a:xfrm>
            <a:off x="2636322" y="863649"/>
            <a:ext cx="6374568" cy="1675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800" b="1">
                <a:latin typeface="Calibri"/>
                <a:ea typeface="Calibri"/>
                <a:cs typeface="Calibri"/>
                <a:sym typeface="Calibri"/>
              </a:defRPr>
            </a:pPr>
            <a:r>
              <a:t>Purpose of an Interface</a:t>
            </a:r>
            <a:endParaRPr sz="900"/>
          </a:p>
          <a:p>
            <a:pPr>
              <a:buSzPct val="1000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To define </a:t>
            </a:r>
            <a:r>
              <a:rPr b="1"/>
              <a:t>common behavior</a:t>
            </a:r>
            <a:r>
              <a:t> that multiple classes must implement</a:t>
            </a:r>
            <a:endParaRPr sz="1600"/>
          </a:p>
          <a:p>
            <a:pPr>
              <a:buSzPct val="1000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To enforce </a:t>
            </a:r>
            <a:r>
              <a:rPr b="1"/>
              <a:t>method structure and consistency</a:t>
            </a:r>
            <a:endParaRPr sz="1600"/>
          </a:p>
          <a:p>
            <a:pPr>
              <a:buSzPct val="1000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To enable </a:t>
            </a:r>
            <a:r>
              <a:rPr b="1"/>
              <a:t>polymorphism through interface references</a:t>
            </a:r>
            <a:endParaRPr sz="1600"/>
          </a:p>
          <a:p>
            <a:pPr>
              <a:buSzPct val="1000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To separate </a:t>
            </a:r>
            <a:r>
              <a:rPr b="1"/>
              <a:t>definition from implementation</a:t>
            </a:r>
            <a:endParaRPr sz="900"/>
          </a:p>
        </p:txBody>
      </p:sp>
      <p:sp>
        <p:nvSpPr>
          <p:cNvPr id="194" name="Rectangle 3"/>
          <p:cNvSpPr txBox="1"/>
          <p:nvPr/>
        </p:nvSpPr>
        <p:spPr>
          <a:xfrm>
            <a:off x="2636322" y="2464401"/>
            <a:ext cx="5863591" cy="80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600" b="1">
                <a:latin typeface="Calibri"/>
                <a:ea typeface="Calibri"/>
                <a:cs typeface="Calibri"/>
                <a:sym typeface="Calibri"/>
              </a:defRPr>
            </a:pPr>
            <a:r>
              <a:t>Key Conceptual Insight</a:t>
            </a:r>
            <a:endParaRPr sz="800"/>
          </a:p>
          <a:p>
            <a:pPr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An interface specifies </a:t>
            </a:r>
            <a:r>
              <a:rPr i="1"/>
              <a:t>capability</a:t>
            </a:r>
            <a:r>
              <a:t>, not </a:t>
            </a:r>
            <a:r>
              <a:rPr i="1"/>
              <a:t>implementation</a:t>
            </a:r>
            <a:r>
              <a:t>.</a:t>
            </a:r>
            <a:br/>
            <a:r>
              <a:t>It focuses on </a:t>
            </a:r>
            <a:r>
              <a:rPr b="1"/>
              <a:t>what actions are possible</a:t>
            </a:r>
            <a:r>
              <a:t>, not </a:t>
            </a:r>
            <a:r>
              <a:rPr b="1"/>
              <a:t>how they are performed</a:t>
            </a:r>
            <a:r>
              <a:t>.</a:t>
            </a:r>
          </a:p>
        </p:txBody>
      </p:sp>
      <p:sp>
        <p:nvSpPr>
          <p:cNvPr id="195" name="Google Shape;107;p21"/>
          <p:cNvSpPr txBox="1"/>
          <p:nvPr/>
        </p:nvSpPr>
        <p:spPr>
          <a:xfrm>
            <a:off x="277999" y="864258"/>
            <a:ext cx="2167502" cy="1056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/>
            </a:lvl1pPr>
          </a:lstStyle>
          <a:p>
            <a:r>
              <a:t>What Is an Interface in Java</a:t>
            </a:r>
          </a:p>
        </p:txBody>
      </p:sp>
      <p:sp>
        <p:nvSpPr>
          <p:cNvPr id="196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97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2104941"/>
            <a:ext cx="2672045" cy="9846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22;p23"/>
          <p:cNvSpPr txBox="1"/>
          <p:nvPr/>
        </p:nvSpPr>
        <p:spPr>
          <a:xfrm>
            <a:off x="152400" y="725042"/>
            <a:ext cx="2102100" cy="1412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/>
            </a:lvl1pPr>
          </a:lstStyle>
          <a:p>
            <a:r>
              <a:t>Key Properties of an Interface in Java</a:t>
            </a:r>
          </a:p>
        </p:txBody>
      </p:sp>
      <p:sp>
        <p:nvSpPr>
          <p:cNvPr id="200" name="Google Shape;123;p23"/>
          <p:cNvSpPr txBox="1"/>
          <p:nvPr/>
        </p:nvSpPr>
        <p:spPr>
          <a:xfrm>
            <a:off x="2858178" y="869684"/>
            <a:ext cx="4851901" cy="907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/>
            </a:pPr>
            <a:r>
              <a:t>An interface in Java follows a strict set of rules that differentiate it from classes and abstract classes. These properties ensure </a:t>
            </a:r>
            <a:r>
              <a:rPr b="1"/>
              <a:t>complete abstraction and standardization</a:t>
            </a:r>
            <a:r>
              <a:t>.</a:t>
            </a:r>
          </a:p>
        </p:txBody>
      </p:sp>
      <p:pic>
        <p:nvPicPr>
          <p:cNvPr id="201" name="Google Shape;124;p23" descr="Google Shape;124;p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Rectangle 2"/>
          <p:cNvSpPr txBox="1"/>
          <p:nvPr/>
        </p:nvSpPr>
        <p:spPr>
          <a:xfrm>
            <a:off x="2687590" y="2269292"/>
            <a:ext cx="6106602" cy="2333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1200" b="1"/>
            </a:pPr>
            <a:r>
              <a:t>Fundamental Properties</a:t>
            </a:r>
          </a:p>
          <a:p>
            <a:pPr>
              <a:buSzPct val="100000"/>
              <a:buChar char="•"/>
              <a:tabLst>
                <a:tab pos="457200" algn="l"/>
              </a:tabLst>
              <a:defRPr sz="1100" b="1"/>
            </a:pPr>
            <a:r>
              <a:t>All methods are implicitly </a:t>
            </a:r>
            <a: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  <a:t>public</a:t>
            </a:r>
            <a:r>
              <a:t> and </a:t>
            </a:r>
            <a: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  <a:t>abstract</a:t>
            </a:r>
            <a:b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</a:br>
            <a:r>
              <a:rPr b="0"/>
              <a:t>Even if not explicitly mentioned, every method in an interface is automatically public and abstract.</a:t>
            </a:r>
          </a:p>
          <a:p>
            <a:pPr>
              <a:buSzPct val="100000"/>
              <a:buChar char="•"/>
              <a:tabLst>
                <a:tab pos="457200" algn="l"/>
              </a:tabLst>
              <a:defRPr sz="1100" b="1"/>
            </a:pPr>
            <a:r>
              <a:t>All variables are implicitly </a:t>
            </a:r>
            <a: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  <a:t>public</a:t>
            </a:r>
            <a:r>
              <a:t>, </a:t>
            </a:r>
            <a: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  <a:t>static</a:t>
            </a:r>
            <a:r>
              <a:t>, and </a:t>
            </a:r>
            <a: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  <a:t>final</a:t>
            </a:r>
            <a:b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</a:br>
            <a:r>
              <a:rPr b="0"/>
              <a:t>Interface variables behave as constants and must be initialized at the time of declaration.</a:t>
            </a:r>
          </a:p>
          <a:p>
            <a:pPr>
              <a:buSzPct val="100000"/>
              <a:buChar char="•"/>
              <a:tabLst>
                <a:tab pos="457200" algn="l"/>
              </a:tabLst>
              <a:defRPr sz="1100" b="1"/>
            </a:pPr>
            <a:r>
              <a:t>No method implementation (Java 7 and earlier)</a:t>
            </a:r>
            <a:br/>
            <a:r>
              <a:rPr b="0"/>
              <a:t>Interfaces only declare methods; implementation is provided by implementing classes.</a:t>
            </a:r>
          </a:p>
          <a:p>
            <a:pPr>
              <a:buSzPct val="100000"/>
              <a:buChar char="•"/>
              <a:tabLst>
                <a:tab pos="457200" algn="l"/>
              </a:tabLst>
              <a:defRPr sz="1100" b="1"/>
            </a:pPr>
            <a:r>
              <a:t>Interfaces cannot be instantiated</a:t>
            </a:r>
            <a:br/>
            <a:r>
              <a:rPr b="0"/>
              <a:t>Object creation using </a:t>
            </a:r>
            <a:r>
              <a:rPr sz="900" b="0">
                <a:latin typeface="Arial Unicode MS"/>
                <a:ea typeface="Arial Unicode MS"/>
                <a:cs typeface="Arial Unicode MS"/>
                <a:sym typeface="Arial Unicode MS"/>
              </a:rPr>
              <a:t>new</a:t>
            </a:r>
            <a:r>
              <a:rPr b="0"/>
              <a:t> is not allowed because interfaces have no constructors.</a:t>
            </a:r>
          </a:p>
          <a:p>
            <a:pPr>
              <a:buSzPct val="100000"/>
              <a:buChar char="•"/>
              <a:tabLst>
                <a:tab pos="457200" algn="l"/>
              </a:tabLst>
              <a:defRPr sz="1100" b="1"/>
            </a:pPr>
            <a:r>
              <a:t>Interfaces do not have constructors</a:t>
            </a:r>
            <a:br/>
            <a:r>
              <a:rPr b="0"/>
              <a:t>Since no objects can be created, constructors are not permitted.</a:t>
            </a:r>
          </a:p>
          <a:p>
            <a:pPr>
              <a:buSzPct val="100000"/>
              <a:buChar char="•"/>
              <a:tabLst>
                <a:tab pos="457200" algn="l"/>
              </a:tabLst>
              <a:defRPr sz="1100" b="1"/>
            </a:pPr>
            <a:r>
              <a:t>A class can implement multiple interfaces</a:t>
            </a:r>
            <a:br/>
            <a:r>
              <a:rPr b="0"/>
              <a:t>This enables multiple inheritance of behavior in Java.</a:t>
            </a:r>
          </a:p>
        </p:txBody>
      </p:sp>
      <p:pic>
        <p:nvPicPr>
          <p:cNvPr id="20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160" y="2202464"/>
            <a:ext cx="2359026" cy="2359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131;p24" descr="Google Shape;131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Rectangle 4"/>
          <p:cNvSpPr txBox="1"/>
          <p:nvPr/>
        </p:nvSpPr>
        <p:spPr>
          <a:xfrm>
            <a:off x="2913611" y="534535"/>
            <a:ext cx="4480560" cy="1703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 Implications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7000"/>
              </a:lnSpc>
              <a:spcBef>
                <a:spcPts val="800"/>
              </a:spcBef>
              <a:buClr>
                <a:srgbClr val="000000"/>
              </a:buClr>
              <a:buSzPts val="1400"/>
              <a:buFont typeface="Symbol"/>
              <a:buChar char="·"/>
              <a:tabLst>
                <a:tab pos="4572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Enforces </a:t>
            </a:r>
            <a:r>
              <a:rPr b="1"/>
              <a:t>uniform method structure</a:t>
            </a:r>
            <a:r>
              <a:t> across unrelated classes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7000"/>
              </a:lnSpc>
              <a:spcBef>
                <a:spcPts val="800"/>
              </a:spcBef>
              <a:buClr>
                <a:srgbClr val="000000"/>
              </a:buClr>
              <a:buSzPts val="1400"/>
              <a:buFont typeface="Symbol"/>
              <a:buChar char="·"/>
              <a:tabLst>
                <a:tab pos="4572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Promotes </a:t>
            </a:r>
            <a:r>
              <a:rPr b="1"/>
              <a:t>loose coupling</a:t>
            </a:r>
            <a:r>
              <a:t> between components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7000"/>
              </a:lnSpc>
              <a:spcBef>
                <a:spcPts val="800"/>
              </a:spcBef>
              <a:buClr>
                <a:srgbClr val="000000"/>
              </a:buClr>
              <a:buSzPts val="1400"/>
              <a:buFont typeface="Symbol"/>
              <a:buChar char="·"/>
              <a:tabLst>
                <a:tab pos="4572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Enables </a:t>
            </a:r>
            <a:r>
              <a:rPr b="1"/>
              <a:t>runtime polymorphism</a:t>
            </a:r>
            <a:r>
              <a:t> using interface references</a:t>
            </a:r>
          </a:p>
        </p:txBody>
      </p:sp>
      <p:sp>
        <p:nvSpPr>
          <p:cNvPr id="207" name="Rectangle 4"/>
          <p:cNvSpPr txBox="1"/>
          <p:nvPr/>
        </p:nvSpPr>
        <p:spPr>
          <a:xfrm>
            <a:off x="2857976" y="2782394"/>
            <a:ext cx="5046499" cy="962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Conceptual Summary</a:t>
            </a:r>
          </a:p>
          <a:p>
            <a:pPr>
              <a:defRPr sz="1800"/>
            </a:pPr>
            <a:r>
              <a:t>Interfaces define </a:t>
            </a:r>
            <a:r>
              <a:rPr b="1"/>
              <a:t>rules and behavior contracts</a:t>
            </a:r>
            <a:r>
              <a:t>,</a:t>
            </a:r>
          </a:p>
          <a:p>
            <a:pPr>
              <a:defRPr sz="1800"/>
            </a:pPr>
            <a:r>
              <a:t> not object state or implementation logic.</a:t>
            </a:r>
          </a:p>
        </p:txBody>
      </p:sp>
      <p:sp>
        <p:nvSpPr>
          <p:cNvPr id="208" name="Google Shape;122;p23"/>
          <p:cNvSpPr txBox="1"/>
          <p:nvPr/>
        </p:nvSpPr>
        <p:spPr>
          <a:xfrm>
            <a:off x="152400" y="725042"/>
            <a:ext cx="2102100" cy="1412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/>
            </a:lvl1pPr>
          </a:lstStyle>
          <a:p>
            <a:r>
              <a:t>Key Properties of an Interface in Java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137;p25"/>
          <p:cNvSpPr txBox="1">
            <a:spLocks noGrp="1"/>
          </p:cNvSpPr>
          <p:nvPr>
            <p:ph type="title"/>
          </p:nvPr>
        </p:nvSpPr>
        <p:spPr>
          <a:xfrm>
            <a:off x="151582" y="801922"/>
            <a:ext cx="2058899" cy="110799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t>Syntax of an Interface in Java</a:t>
            </a:r>
          </a:p>
        </p:txBody>
      </p:sp>
      <p:sp>
        <p:nvSpPr>
          <p:cNvPr id="211" name="Google Shape;138;p25"/>
          <p:cNvSpPr txBox="1"/>
          <p:nvPr/>
        </p:nvSpPr>
        <p:spPr>
          <a:xfrm>
            <a:off x="2735900" y="640675"/>
            <a:ext cx="5631001" cy="1009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50000"/>
              </a:lnSpc>
              <a:defRPr sz="1100" b="1"/>
            </a:pPr>
            <a:r>
              <a:t>interface InterfaceName {</a:t>
            </a:r>
          </a:p>
          <a:p>
            <a:pPr>
              <a:lnSpc>
                <a:spcPct val="150000"/>
              </a:lnSpc>
              <a:defRPr sz="1100" b="1"/>
            </a:pPr>
            <a:r>
              <a:t>    returnType methodName1();</a:t>
            </a:r>
          </a:p>
          <a:p>
            <a:pPr>
              <a:lnSpc>
                <a:spcPct val="150000"/>
              </a:lnSpc>
              <a:defRPr sz="1100" b="1"/>
            </a:pPr>
            <a:r>
              <a:t>    returnType methodName2();</a:t>
            </a:r>
          </a:p>
          <a:p>
            <a:pPr>
              <a:lnSpc>
                <a:spcPct val="150000"/>
              </a:lnSpc>
              <a:defRPr sz="1100" b="1"/>
            </a:pPr>
            <a:r>
              <a:t>}</a:t>
            </a:r>
          </a:p>
        </p:txBody>
      </p:sp>
      <p:sp>
        <p:nvSpPr>
          <p:cNvPr id="212" name="Rectangle 1"/>
          <p:cNvSpPr txBox="1"/>
          <p:nvPr/>
        </p:nvSpPr>
        <p:spPr>
          <a:xfrm>
            <a:off x="2781619" y="2197841"/>
            <a:ext cx="5431705" cy="2268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2000" b="1"/>
            </a:pPr>
            <a:r>
              <a:t>Important Rules</a:t>
            </a:r>
          </a:p>
          <a:p>
            <a:pPr>
              <a:defRPr sz="2000" b="1"/>
            </a:pPr>
            <a:endParaRPr/>
          </a:p>
          <a:p>
            <a:pPr>
              <a:buSzPct val="100000"/>
              <a:buChar char="•"/>
              <a:defRPr sz="1800"/>
            </a:pPr>
            <a:r>
              <a:t>Methods do </a:t>
            </a:r>
            <a:r>
              <a:rPr b="1"/>
              <a:t>not contain implementation</a:t>
            </a:r>
          </a:p>
          <a:p>
            <a:pPr>
              <a:buSzPct val="100000"/>
              <a:buChar char="•"/>
              <a:defRPr sz="1800"/>
            </a:pPr>
            <a:r>
              <a:t>Methods are </a:t>
            </a:r>
            <a:r>
              <a:rPr b="1"/>
              <a:t>implicitly public and abstract</a:t>
            </a:r>
          </a:p>
          <a:p>
            <a:pPr>
              <a:buSzPct val="100000"/>
              <a:buChar char="•"/>
              <a:defRPr sz="1800"/>
            </a:pPr>
            <a:r>
              <a:t>Semicolon (;) is mandatory after method declaration</a:t>
            </a:r>
          </a:p>
          <a:p>
            <a:pPr>
              <a:buSzPct val="100000"/>
              <a:buChar char="•"/>
              <a:defRPr sz="1800"/>
            </a:pPr>
            <a:r>
              <a:t>Interfaces cannot contain instance variables</a:t>
            </a:r>
          </a:p>
          <a:p>
            <a:pPr>
              <a:buSzPct val="100000"/>
              <a:buChar char="•"/>
              <a:defRPr sz="1800"/>
            </a:pPr>
            <a:r>
              <a:t>Interface variables must be </a:t>
            </a:r>
            <a:r>
              <a:rPr b="1"/>
              <a:t>initialized constants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143;p26"/>
          <p:cNvSpPr txBox="1">
            <a:spLocks noGrp="1"/>
          </p:cNvSpPr>
          <p:nvPr>
            <p:ph type="title"/>
          </p:nvPr>
        </p:nvSpPr>
        <p:spPr>
          <a:xfrm>
            <a:off x="93518" y="749151"/>
            <a:ext cx="2303702" cy="110799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t>Real-World Analogy of an Interface</a:t>
            </a:r>
          </a:p>
        </p:txBody>
      </p:sp>
      <p:sp>
        <p:nvSpPr>
          <p:cNvPr id="215" name="Google Shape;144;p26"/>
          <p:cNvSpPr txBox="1">
            <a:spLocks noGrp="1"/>
          </p:cNvSpPr>
          <p:nvPr>
            <p:ph type="body" sz="quarter" idx="1"/>
          </p:nvPr>
        </p:nvSpPr>
        <p:spPr>
          <a:xfrm>
            <a:off x="2686049" y="749151"/>
            <a:ext cx="6015602" cy="784831"/>
          </a:xfrm>
          <a:prstGeom prst="rect">
            <a:avLst/>
          </a:prstGeom>
        </p:spPr>
        <p:txBody>
          <a:bodyPr/>
          <a:lstStyle/>
          <a:p>
            <a:pPr marL="254000" indent="-254000">
              <a:buClr>
                <a:srgbClr val="575757"/>
              </a:buClr>
              <a:buSzPts val="1700"/>
              <a:buFont typeface="Arial"/>
              <a:buChar char="•"/>
            </a:pPr>
            <a:r>
              <a:t>An interface can be understood using real-world contracts where rules are defined but implementation is left to the user.</a:t>
            </a:r>
          </a:p>
        </p:txBody>
      </p:sp>
      <p:pic>
        <p:nvPicPr>
          <p:cNvPr id="216" name="Google Shape;145;p26" descr="Google Shape;145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Rectangle 1"/>
          <p:cNvSpPr txBox="1"/>
          <p:nvPr/>
        </p:nvSpPr>
        <p:spPr>
          <a:xfrm>
            <a:off x="2731770" y="1400902"/>
            <a:ext cx="6113262" cy="2903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600" b="1"/>
            </a:pPr>
            <a:r>
              <a:t>Example: Electrical Switch</a:t>
            </a:r>
          </a:p>
          <a:p>
            <a:pPr>
              <a:buSzPct val="100000"/>
              <a:buChar char="•"/>
            </a:pPr>
            <a:r>
              <a:t> A switch defines two operations:</a:t>
            </a:r>
            <a:endParaRPr sz="4800"/>
          </a:p>
          <a:p>
            <a:pPr marL="457200" lvl="1">
              <a:buSzPct val="100000"/>
              <a:buChar char="•"/>
              <a:defRPr sz="1100"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ON()</a:t>
            </a:r>
            <a:endParaRPr sz="800"/>
          </a:p>
          <a:p>
            <a:pPr marL="457200" lvl="1">
              <a:buSzPct val="100000"/>
              <a:buChar char="•"/>
              <a:defRPr sz="1200"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OFF()</a:t>
            </a:r>
          </a:p>
          <a:p>
            <a:pPr lvl="1" indent="457200">
              <a:defRPr sz="900"/>
            </a:pPr>
            <a:endParaRPr/>
          </a:p>
          <a:p>
            <a:pPr>
              <a:buSzPct val="100000"/>
              <a:buChar char="•"/>
              <a:defRPr sz="1800"/>
            </a:pPr>
            <a:r>
              <a:t> The switch </a:t>
            </a:r>
            <a:r>
              <a:rPr b="1"/>
              <a:t>does not care</a:t>
            </a:r>
            <a:r>
              <a:t> how the device works internally</a:t>
            </a:r>
          </a:p>
          <a:p>
            <a:pPr>
              <a:buSzPct val="100000"/>
              <a:buChar char="•"/>
              <a:defRPr sz="1800"/>
            </a:pPr>
            <a:r>
              <a:t> Different devices implement the switch differently:</a:t>
            </a:r>
          </a:p>
          <a:p>
            <a:pPr>
              <a:defRPr sz="1800"/>
            </a:pPr>
            <a:endParaRPr/>
          </a:p>
          <a:p>
            <a:pPr marL="457200" lvl="1">
              <a:buSzPct val="100000"/>
              <a:buChar char="•"/>
              <a:defRPr sz="1800"/>
            </a:pPr>
            <a:r>
              <a:t>Fan → rotates blades</a:t>
            </a:r>
          </a:p>
          <a:p>
            <a:pPr marL="457200" lvl="1">
              <a:buSzPct val="100000"/>
              <a:buChar char="•"/>
              <a:defRPr sz="1800"/>
            </a:pPr>
            <a:r>
              <a:t>Bulb → emits light</a:t>
            </a:r>
          </a:p>
          <a:p>
            <a:pPr marL="457200" lvl="1">
              <a:buSzPct val="100000"/>
              <a:buChar char="•"/>
              <a:defRPr sz="1800"/>
            </a:pPr>
            <a:r>
              <a:t>AC → controls temperature</a:t>
            </a:r>
          </a:p>
        </p:txBody>
      </p:sp>
      <p:pic>
        <p:nvPicPr>
          <p:cNvPr id="21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2018869"/>
            <a:ext cx="2590800" cy="1349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150;p27"/>
          <p:cNvSpPr txBox="1">
            <a:spLocks noGrp="1"/>
          </p:cNvSpPr>
          <p:nvPr>
            <p:ph type="title"/>
          </p:nvPr>
        </p:nvSpPr>
        <p:spPr>
          <a:xfrm>
            <a:off x="264049" y="843785"/>
            <a:ext cx="2188206" cy="1246496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t>Mapping to Java Interface</a:t>
            </a:r>
            <a:br/>
            <a:endParaRPr/>
          </a:p>
        </p:txBody>
      </p:sp>
      <p:pic>
        <p:nvPicPr>
          <p:cNvPr id="221" name="Google Shape;152;p27" descr="Google Shape;152;p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22" name="Table 1"/>
          <p:cNvGraphicFramePr/>
          <p:nvPr/>
        </p:nvGraphicFramePr>
        <p:xfrm>
          <a:off x="2858366" y="715518"/>
          <a:ext cx="4502150" cy="140208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25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4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/>
                        <a:t>Real World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/>
                        <a:t>Java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Switch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Interface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ON / OFF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Abstract methods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4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Fan / Bulb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Implementing classes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4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Pressing switch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Method invocation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" name="Rectangle 1"/>
          <p:cNvSpPr txBox="1"/>
          <p:nvPr/>
        </p:nvSpPr>
        <p:spPr>
          <a:xfrm>
            <a:off x="2726573" y="2290995"/>
            <a:ext cx="4342171" cy="109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b="1">
                <a:latin typeface="Calibri"/>
                <a:ea typeface="Calibri"/>
                <a:cs typeface="Calibri"/>
                <a:sym typeface="Calibri"/>
              </a:defRPr>
            </a:pPr>
            <a:r>
              <a:t>Conceptual Understanding</a:t>
            </a:r>
            <a:endParaRPr sz="700"/>
          </a:p>
          <a:p>
            <a:pPr>
              <a:buSzPct val="100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Interface defines </a:t>
            </a:r>
            <a:r>
              <a:rPr b="1"/>
              <a:t>what actions are possible</a:t>
            </a:r>
            <a:endParaRPr sz="1200"/>
          </a:p>
          <a:p>
            <a:pPr>
              <a:buSzPct val="100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Implementation class defines </a:t>
            </a:r>
            <a:r>
              <a:rPr b="1"/>
              <a:t>how actions are performed</a:t>
            </a:r>
            <a:endParaRPr sz="1200"/>
          </a:p>
          <a:p>
            <a:pPr>
              <a:buSzPct val="100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Same interface can have </a:t>
            </a:r>
            <a:r>
              <a:rPr b="1"/>
              <a:t>multiple implementations</a:t>
            </a:r>
            <a:endParaRPr sz="700"/>
          </a:p>
        </p:txBody>
      </p:sp>
      <p:sp>
        <p:nvSpPr>
          <p:cNvPr id="225" name="Rectangle 3"/>
          <p:cNvSpPr txBox="1"/>
          <p:nvPr/>
        </p:nvSpPr>
        <p:spPr>
          <a:xfrm>
            <a:off x="2726573" y="3459426"/>
            <a:ext cx="2920118" cy="1091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b="1">
                <a:latin typeface="Calibri"/>
                <a:ea typeface="Calibri"/>
                <a:cs typeface="Calibri"/>
                <a:sym typeface="Calibri"/>
              </a:defRPr>
            </a:pPr>
            <a:r>
              <a:t>Why This Is Important in Java</a:t>
            </a:r>
            <a:endParaRPr sz="700"/>
          </a:p>
          <a:p>
            <a:pPr>
              <a:buSzPct val="100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Promotes </a:t>
            </a:r>
            <a:r>
              <a:rPr b="1"/>
              <a:t>loose coupling</a:t>
            </a:r>
            <a:endParaRPr sz="1200"/>
          </a:p>
          <a:p>
            <a:pPr>
              <a:buSzPct val="100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Supports </a:t>
            </a:r>
            <a:r>
              <a:rPr b="1"/>
              <a:t>polymorphism</a:t>
            </a:r>
            <a:endParaRPr sz="1200"/>
          </a:p>
          <a:p>
            <a:pPr>
              <a:buSzPct val="100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Makes programs </a:t>
            </a:r>
            <a:r>
              <a:rPr b="1"/>
              <a:t>flexible and scalable</a:t>
            </a:r>
            <a:endParaRPr sz="700"/>
          </a:p>
        </p:txBody>
      </p:sp>
      <p:pic>
        <p:nvPicPr>
          <p:cNvPr id="226" name="Picture 13" descr="Pictur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937675"/>
            <a:ext cx="2587986" cy="15260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158;p28"/>
          <p:cNvSpPr txBox="1"/>
          <p:nvPr/>
        </p:nvSpPr>
        <p:spPr>
          <a:xfrm>
            <a:off x="194960" y="648213"/>
            <a:ext cx="2258170" cy="764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1800"/>
              </a:spcBef>
              <a:defRPr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t>Creating an Interface in Java</a:t>
            </a:r>
          </a:p>
        </p:txBody>
      </p:sp>
      <p:sp>
        <p:nvSpPr>
          <p:cNvPr id="229" name="Google Shape;160;p28"/>
          <p:cNvSpPr txBox="1">
            <a:spLocks noGrp="1"/>
          </p:cNvSpPr>
          <p:nvPr>
            <p:ph type="title"/>
          </p:nvPr>
        </p:nvSpPr>
        <p:spPr>
          <a:xfrm>
            <a:off x="2972436" y="796143"/>
            <a:ext cx="2901892" cy="1143492"/>
          </a:xfrm>
          <a:prstGeom prst="rect">
            <a:avLst/>
          </a:prstGeom>
        </p:spPr>
        <p:txBody>
          <a:bodyPr/>
          <a:lstStyle/>
          <a:p>
            <a:pPr indent="12700">
              <a:defRPr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Vehicle {</a:t>
            </a:r>
            <a:br/>
            <a:r>
              <a:t>    void start();</a:t>
            </a:r>
            <a:br/>
            <a:r>
              <a:t>    void stop();</a:t>
            </a:r>
            <a:br/>
            <a:r>
              <a:t>}</a:t>
            </a:r>
          </a:p>
        </p:txBody>
      </p:sp>
      <p:sp>
        <p:nvSpPr>
          <p:cNvPr id="230" name="Google Shape;161;p28"/>
          <p:cNvSpPr txBox="1"/>
          <p:nvPr/>
        </p:nvSpPr>
        <p:spPr>
          <a:xfrm>
            <a:off x="2857593" y="1841927"/>
            <a:ext cx="4238101" cy="245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/>
            </a:pPr>
            <a:r>
              <a:t>Important Observations</a:t>
            </a:r>
          </a:p>
          <a:p>
            <a:r>
              <a:t>No method body is provided</a:t>
            </a:r>
          </a:p>
          <a:p>
            <a:r>
              <a:t>No object can be created from the interface</a:t>
            </a:r>
          </a:p>
          <a:p>
            <a:r>
              <a:t>Interface only specifies </a:t>
            </a:r>
            <a:r>
              <a:rPr b="1"/>
              <a:t>what actions are required</a:t>
            </a:r>
          </a:p>
          <a:p>
            <a:r>
              <a:t>Implementation is responsibility of the class</a:t>
            </a:r>
          </a:p>
          <a:p>
            <a:endParaRPr/>
          </a:p>
          <a:p>
            <a:pPr>
              <a:defRPr b="1"/>
            </a:pPr>
            <a:r>
              <a:t>Design Perspective</a:t>
            </a:r>
          </a:p>
          <a:p>
            <a:r>
              <a:t>Interface acts as a </a:t>
            </a:r>
            <a:r>
              <a:rPr b="1"/>
              <a:t>behavior specification</a:t>
            </a:r>
          </a:p>
          <a:p>
            <a:r>
              <a:t>Multiple classes can implement the same interface</a:t>
            </a:r>
          </a:p>
          <a:p>
            <a:r>
              <a:t>Ensures </a:t>
            </a:r>
            <a:r>
              <a:rPr b="1"/>
              <a:t>uniform method structure</a:t>
            </a:r>
            <a:r>
              <a:t> across implementations</a:t>
            </a:r>
          </a:p>
        </p:txBody>
      </p:sp>
      <p:pic>
        <p:nvPicPr>
          <p:cNvPr id="231" name="Google Shape;162;p28" descr="Google Shape;162;p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168;p29"/>
          <p:cNvSpPr txBox="1">
            <a:spLocks noGrp="1"/>
          </p:cNvSpPr>
          <p:nvPr>
            <p:ph type="title"/>
          </p:nvPr>
        </p:nvSpPr>
        <p:spPr>
          <a:xfrm>
            <a:off x="104075" y="915500"/>
            <a:ext cx="2052205" cy="111761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t>Implementing an Interface in Java</a:t>
            </a:r>
          </a:p>
        </p:txBody>
      </p:sp>
      <p:pic>
        <p:nvPicPr>
          <p:cNvPr id="234" name="Google Shape;169;p29" descr="Google Shape;169;p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Google Shape;171;p29"/>
          <p:cNvSpPr txBox="1"/>
          <p:nvPr/>
        </p:nvSpPr>
        <p:spPr>
          <a:xfrm>
            <a:off x="2735900" y="640674"/>
            <a:ext cx="5631001" cy="367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50000"/>
              </a:lnSpc>
              <a:defRPr sz="1000"/>
            </a:pPr>
            <a:r>
              <a:t>class Car implements Vehicle {</a:t>
            </a:r>
          </a:p>
          <a:p>
            <a:pPr>
              <a:lnSpc>
                <a:spcPct val="150000"/>
              </a:lnSpc>
              <a:defRPr sz="1000"/>
            </a:pPr>
            <a:endParaRPr/>
          </a:p>
          <a:p>
            <a:pPr>
              <a:lnSpc>
                <a:spcPct val="150000"/>
              </a:lnSpc>
              <a:defRPr sz="1000"/>
            </a:pPr>
            <a:r>
              <a:t>    public void start() {</a:t>
            </a:r>
          </a:p>
          <a:p>
            <a:pPr>
              <a:lnSpc>
                <a:spcPct val="150000"/>
              </a:lnSpc>
              <a:defRPr sz="1000"/>
            </a:pPr>
            <a:r>
              <a:t>        System.out.println("Car started");</a:t>
            </a:r>
          </a:p>
          <a:p>
            <a:pPr>
              <a:lnSpc>
                <a:spcPct val="150000"/>
              </a:lnSpc>
              <a:defRPr sz="1000"/>
            </a:pPr>
            <a:r>
              <a:t>    }</a:t>
            </a:r>
          </a:p>
          <a:p>
            <a:pPr>
              <a:lnSpc>
                <a:spcPct val="150000"/>
              </a:lnSpc>
              <a:defRPr sz="1000"/>
            </a:pPr>
            <a:endParaRPr/>
          </a:p>
          <a:p>
            <a:pPr>
              <a:lnSpc>
                <a:spcPct val="150000"/>
              </a:lnSpc>
              <a:defRPr sz="1000"/>
            </a:pPr>
            <a:r>
              <a:t>    public void stop() {</a:t>
            </a:r>
          </a:p>
          <a:p>
            <a:pPr>
              <a:lnSpc>
                <a:spcPct val="150000"/>
              </a:lnSpc>
              <a:defRPr sz="1000"/>
            </a:pPr>
            <a:r>
              <a:t>        System.out.println("Car stopped");</a:t>
            </a:r>
          </a:p>
          <a:p>
            <a:pPr>
              <a:lnSpc>
                <a:spcPct val="150000"/>
              </a:lnSpc>
              <a:defRPr sz="1000"/>
            </a:pPr>
            <a:r>
              <a:t>    }</a:t>
            </a:r>
          </a:p>
          <a:p>
            <a:pPr>
              <a:lnSpc>
                <a:spcPct val="150000"/>
              </a:lnSpc>
              <a:defRPr sz="1000"/>
            </a:pPr>
            <a:r>
              <a:t>}</a:t>
            </a:r>
          </a:p>
          <a:p>
            <a:pPr>
              <a:lnSpc>
                <a:spcPct val="150000"/>
              </a:lnSpc>
              <a:defRPr sz="1000"/>
            </a:pPr>
            <a:endParaRPr/>
          </a:p>
          <a:p>
            <a:pPr>
              <a:defRPr b="1"/>
            </a:pPr>
            <a:r>
              <a:t>Important Rules While Implementing an Interface</a:t>
            </a:r>
          </a:p>
          <a:p>
            <a:r>
              <a:t>All interface methods </a:t>
            </a:r>
            <a:r>
              <a:rPr b="1"/>
              <a:t>must be implemented</a:t>
            </a:r>
          </a:p>
          <a:p>
            <a:r>
              <a:t>Implemented methods </a:t>
            </a:r>
            <a:r>
              <a:rPr b="1"/>
              <a:t>must be public</a:t>
            </a:r>
          </a:p>
          <a:p>
            <a:r>
              <a:t>Method signature must </a:t>
            </a:r>
            <a:r>
              <a:rPr b="1"/>
              <a:t>exactly match</a:t>
            </a:r>
            <a:r>
              <a:t> the interface declaration</a:t>
            </a:r>
          </a:p>
          <a:p>
            <a:r>
              <a:t>A class can implement </a:t>
            </a:r>
            <a:r>
              <a:rPr b="1"/>
              <a:t>multiple interfaces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176;p30"/>
          <p:cNvSpPr txBox="1">
            <a:spLocks noGrp="1"/>
          </p:cNvSpPr>
          <p:nvPr>
            <p:ph type="title"/>
          </p:nvPr>
        </p:nvSpPr>
        <p:spPr>
          <a:xfrm>
            <a:off x="151591" y="888698"/>
            <a:ext cx="2037427" cy="115800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t>Rules and Restrictions While Implementing an Interface</a:t>
            </a:r>
          </a:p>
        </p:txBody>
      </p:sp>
      <p:pic>
        <p:nvPicPr>
          <p:cNvPr id="238" name="Google Shape;178;p30" descr="Google Shape;178;p3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Rectangle 1"/>
          <p:cNvSpPr txBox="1"/>
          <p:nvPr/>
        </p:nvSpPr>
        <p:spPr>
          <a:xfrm>
            <a:off x="2722140" y="139451"/>
            <a:ext cx="5339171" cy="356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lnSpc>
                <a:spcPct val="150000"/>
              </a:lnSpc>
              <a:defRPr sz="1200" b="1"/>
            </a:pPr>
            <a:r>
              <a:t>Mandatory Rules</a:t>
            </a:r>
          </a:p>
          <a:p>
            <a:pPr>
              <a:lnSpc>
                <a:spcPct val="150000"/>
              </a:lnSpc>
              <a:buSzPct val="100000"/>
              <a:buChar char="•"/>
              <a:defRPr sz="1200" b="1"/>
            </a:pPr>
            <a:r>
              <a:t>All abstract methods must be implemented</a:t>
            </a:r>
            <a:br/>
            <a:r>
              <a:rPr b="0"/>
              <a:t>A class must provide implementations for </a:t>
            </a:r>
            <a:r>
              <a:rPr b="0" i="1"/>
              <a:t>every</a:t>
            </a:r>
            <a:r>
              <a:rPr b="0"/>
              <a:t> method declared in the</a:t>
            </a:r>
          </a:p>
          <a:p>
            <a:pPr>
              <a:lnSpc>
                <a:spcPct val="150000"/>
              </a:lnSpc>
              <a:defRPr sz="1200"/>
            </a:pPr>
            <a:r>
              <a:t>interface.</a:t>
            </a:r>
          </a:p>
          <a:p>
            <a:pPr>
              <a:lnSpc>
                <a:spcPct val="150000"/>
              </a:lnSpc>
              <a:buSzPct val="100000"/>
              <a:buChar char="•"/>
              <a:defRPr sz="1200" b="1"/>
            </a:pPr>
            <a:r>
              <a:t>Implemented methods must be </a:t>
            </a:r>
            <a:r>
              <a:rPr b="0">
                <a:latin typeface="Arial Unicode MS"/>
                <a:ea typeface="Arial Unicode MS"/>
                <a:cs typeface="Arial Unicode MS"/>
                <a:sym typeface="Arial Unicode MS"/>
              </a:rPr>
              <a:t>public</a:t>
            </a:r>
            <a:br>
              <a:rPr b="0">
                <a:latin typeface="Arial Unicode MS"/>
                <a:ea typeface="Arial Unicode MS"/>
                <a:cs typeface="Arial Unicode MS"/>
                <a:sym typeface="Arial Unicode MS"/>
              </a:rPr>
            </a:br>
            <a:r>
              <a:rPr b="0"/>
              <a:t>Reducing access level is not allowed because interface methods are implicitly</a:t>
            </a:r>
          </a:p>
          <a:p>
            <a:pPr>
              <a:lnSpc>
                <a:spcPct val="150000"/>
              </a:lnSpc>
              <a:defRPr sz="1200"/>
            </a:pPr>
            <a:r>
              <a:t>public.</a:t>
            </a:r>
          </a:p>
          <a:p>
            <a:pPr>
              <a:lnSpc>
                <a:spcPct val="150000"/>
              </a:lnSpc>
              <a:buSzPct val="100000"/>
              <a:buChar char="•"/>
              <a:defRPr sz="1200" b="1"/>
            </a:pPr>
            <a:r>
              <a:t>Method signature must match exactly</a:t>
            </a:r>
            <a:br/>
            <a:r>
              <a:rPr b="0"/>
              <a:t>Method name, return type, and parameters must be the same as declared in </a:t>
            </a:r>
          </a:p>
          <a:p>
            <a:pPr>
              <a:lnSpc>
                <a:spcPct val="150000"/>
              </a:lnSpc>
              <a:defRPr sz="1200"/>
            </a:pPr>
            <a:r>
              <a:t>the interface.</a:t>
            </a:r>
          </a:p>
          <a:p>
            <a:pPr>
              <a:lnSpc>
                <a:spcPct val="150000"/>
              </a:lnSpc>
              <a:buSzPct val="100000"/>
              <a:buChar char="•"/>
              <a:defRPr sz="1200" b="1"/>
            </a:pPr>
            <a:r>
              <a:t>A class can implement multiple interfaces</a:t>
            </a:r>
            <a:br/>
            <a:r>
              <a:rPr b="0"/>
              <a:t>This allows Java to support multiple inheritance of behavior.</a:t>
            </a:r>
          </a:p>
        </p:txBody>
      </p:sp>
      <p:sp>
        <p:nvSpPr>
          <p:cNvPr id="240" name="Rectangle 3"/>
          <p:cNvSpPr txBox="1"/>
          <p:nvPr/>
        </p:nvSpPr>
        <p:spPr>
          <a:xfrm>
            <a:off x="2722141" y="3417751"/>
            <a:ext cx="5770027" cy="189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Restrictions</a:t>
            </a:r>
          </a:p>
          <a:p>
            <a:pPr>
              <a:buSzPct val="100000"/>
              <a:buChar char="•"/>
              <a:defRPr sz="1200"/>
            </a:pPr>
            <a:r>
              <a:t>A class </a:t>
            </a:r>
            <a:r>
              <a:rPr b="1"/>
              <a:t>cannot partially implement</a:t>
            </a:r>
            <a:r>
              <a:t> an interface</a:t>
            </a:r>
            <a:br/>
            <a:r>
              <a:t>If any method is not implemented, the class must be declared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abstract</a:t>
            </a:r>
            <a:r>
              <a:t>.</a:t>
            </a:r>
          </a:p>
          <a:p>
            <a:pPr>
              <a:buSzPct val="100000"/>
              <a:buChar char="•"/>
              <a:defRPr sz="1200"/>
            </a:pPr>
            <a:r>
              <a:t>Interface methods </a:t>
            </a:r>
            <a:r>
              <a:rPr b="1"/>
              <a:t>cannot be overridden with weaker access modifiers</a:t>
            </a:r>
          </a:p>
          <a:p>
            <a:pPr>
              <a:buSzPct val="100000"/>
              <a:buChar char="•"/>
              <a:defRPr sz="1200"/>
            </a:pPr>
            <a:r>
              <a:t>Interface variables </a:t>
            </a:r>
            <a:r>
              <a:rPr b="1"/>
              <a:t>cannot be modified</a:t>
            </a:r>
            <a:r>
              <a:t> (they are constants)</a:t>
            </a:r>
          </a:p>
          <a:p>
            <a:pPr>
              <a:defRPr sz="1200" b="1"/>
            </a:pPr>
            <a:endParaRPr/>
          </a:p>
          <a:p>
            <a:pPr>
              <a:defRPr sz="1200" b="1"/>
            </a:pPr>
            <a:r>
              <a:t>Special Case</a:t>
            </a:r>
          </a:p>
          <a:p>
            <a:pPr>
              <a:defRPr sz="1200"/>
            </a:pPr>
            <a:r>
              <a:t>An </a:t>
            </a:r>
            <a:r>
              <a:rPr b="1"/>
              <a:t>abstract class</a:t>
            </a:r>
            <a:r>
              <a:t> may implement an interface </a:t>
            </a:r>
            <a:r>
              <a:rPr b="1"/>
              <a:t>without implementing all methods</a:t>
            </a:r>
          </a:p>
          <a:p>
            <a:pPr>
              <a:defRPr sz="1200"/>
            </a:pPr>
            <a:endParaRPr b="1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184;p31"/>
          <p:cNvSpPr txBox="1">
            <a:spLocks noGrp="1"/>
          </p:cNvSpPr>
          <p:nvPr>
            <p:ph type="title"/>
          </p:nvPr>
        </p:nvSpPr>
        <p:spPr>
          <a:xfrm>
            <a:off x="123872" y="843487"/>
            <a:ext cx="2141348" cy="88774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t>Using an Interface Implementation in a Program</a:t>
            </a:r>
          </a:p>
        </p:txBody>
      </p:sp>
      <p:pic>
        <p:nvPicPr>
          <p:cNvPr id="243" name="Google Shape;185;p31" descr="Google Shape;185;p3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Google Shape;186;p31"/>
          <p:cNvSpPr txBox="1"/>
          <p:nvPr/>
        </p:nvSpPr>
        <p:spPr>
          <a:xfrm>
            <a:off x="2860175" y="573749"/>
            <a:ext cx="5114700" cy="2799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 TestVehicle {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public static void main(String[] args) {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Car c = new Car();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c.start();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c.stop();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}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}</a:t>
            </a:r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50000"/>
              </a:lnSpc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245" name="Rectangle 1"/>
          <p:cNvSpPr txBox="1"/>
          <p:nvPr/>
        </p:nvSpPr>
        <p:spPr>
          <a:xfrm>
            <a:off x="2823557" y="2683761"/>
            <a:ext cx="4553953" cy="797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Important Observation</a:t>
            </a:r>
          </a:p>
          <a:p>
            <a:pPr>
              <a:buSzPct val="100000"/>
              <a:buChar char="•"/>
              <a:defRPr sz="1200"/>
            </a:pPr>
            <a:r>
              <a:t>Object creation is done using the </a:t>
            </a:r>
            <a:r>
              <a:rPr b="1"/>
              <a:t>class name</a:t>
            </a:r>
            <a:r>
              <a:t>, not the interface</a:t>
            </a:r>
          </a:p>
          <a:p>
            <a:pPr>
              <a:buSzPct val="100000"/>
              <a:buChar char="•"/>
              <a:defRPr sz="1200"/>
            </a:pPr>
            <a:r>
              <a:t>Interface methods are executed using the </a:t>
            </a:r>
            <a:r>
              <a:rPr b="1"/>
              <a:t>class implementation</a:t>
            </a:r>
          </a:p>
        </p:txBody>
      </p:sp>
      <p:sp>
        <p:nvSpPr>
          <p:cNvPr id="246" name="Rectangle 2"/>
          <p:cNvSpPr/>
          <p:nvPr/>
        </p:nvSpPr>
        <p:spPr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" name="Rectangle 3"/>
          <p:cNvSpPr txBox="1"/>
          <p:nvPr/>
        </p:nvSpPr>
        <p:spPr>
          <a:xfrm>
            <a:off x="2833015" y="3461198"/>
            <a:ext cx="2232755" cy="106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Design Insight</a:t>
            </a:r>
          </a:p>
          <a:p>
            <a:pPr>
              <a:buSzPct val="100000"/>
              <a:buChar char="•"/>
              <a:defRPr sz="1200"/>
            </a:pPr>
            <a:r>
              <a:t>Interface defines behavior</a:t>
            </a:r>
          </a:p>
          <a:p>
            <a:pPr>
              <a:buSzPct val="100000"/>
              <a:buChar char="•"/>
              <a:defRPr sz="1200"/>
            </a:pPr>
            <a:r>
              <a:t>Class provides implementation</a:t>
            </a:r>
          </a:p>
          <a:p>
            <a:pPr>
              <a:buSzPct val="100000"/>
              <a:buChar char="•"/>
              <a:defRPr sz="1200"/>
            </a:pPr>
            <a:r>
              <a:t>Object executes behavior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191;p32"/>
          <p:cNvSpPr txBox="1">
            <a:spLocks noGrp="1"/>
          </p:cNvSpPr>
          <p:nvPr>
            <p:ph type="title"/>
          </p:nvPr>
        </p:nvSpPr>
        <p:spPr>
          <a:xfrm>
            <a:off x="104953" y="885088"/>
            <a:ext cx="2122200" cy="55399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t>Interface Reference in Java</a:t>
            </a:r>
          </a:p>
        </p:txBody>
      </p:sp>
      <p:pic>
        <p:nvPicPr>
          <p:cNvPr id="250" name="Google Shape;193;p32" descr="Google Shape;193;p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Rectangle 4"/>
          <p:cNvSpPr txBox="1"/>
          <p:nvPr/>
        </p:nvSpPr>
        <p:spPr>
          <a:xfrm>
            <a:off x="2720945" y="894893"/>
            <a:ext cx="5703427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/>
            </a:pPr>
            <a:r>
              <a:t>Java allows the creation of a </a:t>
            </a:r>
            <a:r>
              <a:rPr b="1"/>
              <a:t>reference variable of interface type</a:t>
            </a:r>
            <a:r>
              <a:t> that can refer to</a:t>
            </a:r>
          </a:p>
          <a:p>
            <a:pPr>
              <a:defRPr sz="1200"/>
            </a:pPr>
            <a:r>
              <a:t>an object of any class that implements that interface.</a:t>
            </a:r>
          </a:p>
        </p:txBody>
      </p:sp>
      <p:sp>
        <p:nvSpPr>
          <p:cNvPr id="252" name="Rectangle 6"/>
          <p:cNvSpPr txBox="1"/>
          <p:nvPr/>
        </p:nvSpPr>
        <p:spPr>
          <a:xfrm>
            <a:off x="2720945" y="1421183"/>
            <a:ext cx="4189398" cy="1153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endParaRPr/>
          </a:p>
          <a:p>
            <a:pPr>
              <a:defRPr sz="1200" b="1"/>
            </a:pPr>
            <a:r>
              <a:t>Concept Explanation</a:t>
            </a:r>
          </a:p>
          <a:p>
            <a:pPr>
              <a:buSzPct val="100000"/>
              <a:buChar char="•"/>
              <a:defRPr sz="1200"/>
            </a:pPr>
            <a:r>
              <a:t>An interface </a:t>
            </a:r>
            <a:r>
              <a:rPr b="1"/>
              <a:t>cannot create objects</a:t>
            </a:r>
          </a:p>
          <a:p>
            <a:pPr>
              <a:buSzPct val="100000"/>
              <a:buChar char="•"/>
              <a:defRPr sz="1200"/>
            </a:pPr>
            <a:r>
              <a:t>An interface </a:t>
            </a:r>
            <a:r>
              <a:rPr b="1"/>
              <a:t>can create references</a:t>
            </a:r>
          </a:p>
          <a:p>
            <a:pPr>
              <a:buSzPct val="100000"/>
              <a:buChar char="•"/>
              <a:defRPr sz="1200"/>
            </a:pPr>
            <a:r>
              <a:t>The reference can point to </a:t>
            </a:r>
            <a:r>
              <a:rPr b="1"/>
              <a:t>any implementing class object</a:t>
            </a:r>
          </a:p>
          <a:p>
            <a:pPr>
              <a:defRPr sz="1200"/>
            </a:pPr>
            <a:r>
              <a:t>This enables </a:t>
            </a:r>
            <a:r>
              <a:rPr b="1"/>
              <a:t>runtime polymorphism</a:t>
            </a:r>
            <a:r>
              <a:t>.</a:t>
            </a:r>
          </a:p>
        </p:txBody>
      </p:sp>
      <p:sp>
        <p:nvSpPr>
          <p:cNvPr id="253" name="Rectangle 7"/>
          <p:cNvSpPr txBox="1"/>
          <p:nvPr/>
        </p:nvSpPr>
        <p:spPr>
          <a:xfrm>
            <a:off x="150673" y="2816117"/>
            <a:ext cx="2114988" cy="503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1100" b="1"/>
            </a:lvl1pPr>
          </a:lstStyle>
          <a:p>
            <a:r>
              <a:t>Syntax of Interface Reference:</a:t>
            </a:r>
          </a:p>
        </p:txBody>
      </p:sp>
      <p:sp>
        <p:nvSpPr>
          <p:cNvPr id="254" name="Rectangle 8"/>
          <p:cNvSpPr txBox="1"/>
          <p:nvPr/>
        </p:nvSpPr>
        <p:spPr>
          <a:xfrm>
            <a:off x="2720943" y="2798343"/>
            <a:ext cx="378507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InterfaceName ref = new ImplementingClass();</a:t>
            </a:r>
          </a:p>
        </p:txBody>
      </p:sp>
      <p:sp>
        <p:nvSpPr>
          <p:cNvPr id="255" name="Rectangle 8"/>
          <p:cNvSpPr txBox="1"/>
          <p:nvPr/>
        </p:nvSpPr>
        <p:spPr>
          <a:xfrm>
            <a:off x="2719339" y="3126225"/>
            <a:ext cx="4011177" cy="97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Key Observations</a:t>
            </a:r>
          </a:p>
          <a:p>
            <a:pPr>
              <a:buSzPct val="100000"/>
              <a:buChar char="•"/>
              <a:defRPr sz="1200"/>
            </a:pPr>
            <a:r>
              <a:t>Reference type decides </a:t>
            </a:r>
            <a:r>
              <a:rPr b="1"/>
              <a:t>which methods are accessible</a:t>
            </a:r>
          </a:p>
          <a:p>
            <a:pPr>
              <a:buSzPct val="100000"/>
              <a:buChar char="•"/>
              <a:defRPr sz="1200"/>
            </a:pPr>
            <a:r>
              <a:t>Object type decides </a:t>
            </a:r>
            <a:r>
              <a:rPr b="1"/>
              <a:t>which implementation is executed</a:t>
            </a:r>
          </a:p>
          <a:p>
            <a:pPr>
              <a:buSzPct val="100000"/>
              <a:buChar char="•"/>
              <a:defRPr sz="1200"/>
            </a:pPr>
            <a:r>
              <a:t>Method binding happens </a:t>
            </a:r>
            <a:r>
              <a:rPr b="1"/>
              <a:t>at runtime</a:t>
            </a:r>
          </a:p>
        </p:txBody>
      </p:sp>
      <p:sp>
        <p:nvSpPr>
          <p:cNvPr id="256" name="Rectangle 10"/>
          <p:cNvSpPr txBox="1"/>
          <p:nvPr/>
        </p:nvSpPr>
        <p:spPr>
          <a:xfrm>
            <a:off x="2719339" y="4069984"/>
            <a:ext cx="4139021" cy="97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Why Interface Reference Is Important</a:t>
            </a:r>
          </a:p>
          <a:p>
            <a:pPr>
              <a:buSzPct val="100000"/>
              <a:buChar char="•"/>
              <a:defRPr sz="1200"/>
            </a:pPr>
            <a:r>
              <a:t>Promotes </a:t>
            </a:r>
            <a:r>
              <a:rPr b="1"/>
              <a:t>loose coupling</a:t>
            </a:r>
          </a:p>
          <a:p>
            <a:pPr>
              <a:buSzPct val="100000"/>
              <a:buChar char="•"/>
              <a:defRPr sz="1200"/>
            </a:pPr>
            <a:r>
              <a:t>Supports </a:t>
            </a:r>
            <a:r>
              <a:rPr b="1"/>
              <a:t>dynamic behavior</a:t>
            </a:r>
          </a:p>
          <a:p>
            <a:pPr>
              <a:buSzPct val="100000"/>
              <a:buChar char="•"/>
              <a:defRPr sz="1200"/>
            </a:pPr>
            <a:r>
              <a:t>Allows code to depend on </a:t>
            </a:r>
            <a:r>
              <a:rPr b="1"/>
              <a:t>abstraction</a:t>
            </a:r>
            <a:r>
              <a:t>, not implementation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06;p34"/>
          <p:cNvSpPr txBox="1">
            <a:spLocks noGrp="1"/>
          </p:cNvSpPr>
          <p:nvPr>
            <p:ph type="title"/>
          </p:nvPr>
        </p:nvSpPr>
        <p:spPr>
          <a:xfrm>
            <a:off x="172399" y="792974"/>
            <a:ext cx="1501502" cy="440506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t>Interface Reference – Example</a:t>
            </a:r>
          </a:p>
        </p:txBody>
      </p:sp>
      <p:pic>
        <p:nvPicPr>
          <p:cNvPr id="259" name="Google Shape;207;p34" descr="Google Shape;207;p3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Rectangle 2"/>
          <p:cNvSpPr txBox="1"/>
          <p:nvPr/>
        </p:nvSpPr>
        <p:spPr>
          <a:xfrm>
            <a:off x="2819844" y="516997"/>
            <a:ext cx="3618362" cy="1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/>
            </a:pPr>
            <a:r>
              <a:t>interface Shape {</a:t>
            </a:r>
          </a:p>
          <a:p>
            <a:pPr>
              <a:defRPr sz="1100"/>
            </a:pPr>
            <a:r>
              <a:t>    void draw();</a:t>
            </a:r>
          </a:p>
          <a:p>
            <a:pPr>
              <a:defRPr sz="1100"/>
            </a:pPr>
            <a:r>
              <a:t>}</a:t>
            </a:r>
          </a:p>
          <a:p>
            <a:pPr>
              <a:defRPr sz="1100"/>
            </a:pPr>
            <a:endParaRPr/>
          </a:p>
          <a:p>
            <a:pPr>
              <a:defRPr sz="1100"/>
            </a:pPr>
            <a:r>
              <a:t>class Circle implements Shape {</a:t>
            </a:r>
          </a:p>
          <a:p>
            <a:pPr>
              <a:defRPr sz="1100"/>
            </a:pPr>
            <a:r>
              <a:t>    public void draw() {</a:t>
            </a:r>
          </a:p>
          <a:p>
            <a:pPr>
              <a:defRPr sz="1100"/>
            </a:pPr>
            <a:r>
              <a:t>        System.out.println("Drawing Circle");</a:t>
            </a:r>
          </a:p>
          <a:p>
            <a:pPr>
              <a:defRPr sz="1100"/>
            </a:pPr>
            <a:r>
              <a:t>    }</a:t>
            </a:r>
          </a:p>
          <a:p>
            <a:pPr>
              <a:defRPr sz="1100"/>
            </a:pPr>
            <a:r>
              <a:t>}</a:t>
            </a:r>
          </a:p>
        </p:txBody>
      </p:sp>
      <p:sp>
        <p:nvSpPr>
          <p:cNvPr id="261" name="Rectangle 3"/>
          <p:cNvSpPr txBox="1"/>
          <p:nvPr/>
        </p:nvSpPr>
        <p:spPr>
          <a:xfrm>
            <a:off x="2819845" y="2803694"/>
            <a:ext cx="4480560" cy="115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/>
            </a:pPr>
            <a:r>
              <a:t>class Demo {</a:t>
            </a:r>
          </a:p>
          <a:p>
            <a:pPr>
              <a:defRPr sz="1100"/>
            </a:pPr>
            <a:r>
              <a:t>    public static void main(String[] args) {</a:t>
            </a:r>
          </a:p>
          <a:p>
            <a:pPr>
              <a:defRPr sz="1100"/>
            </a:pPr>
            <a:endParaRPr/>
          </a:p>
          <a:p>
            <a:pPr>
              <a:defRPr sz="1100"/>
            </a:pPr>
            <a:r>
              <a:t>        Shape s = new Circle();</a:t>
            </a:r>
          </a:p>
          <a:p>
            <a:pPr>
              <a:defRPr sz="1100"/>
            </a:pPr>
            <a:r>
              <a:t>        s.draw();</a:t>
            </a:r>
          </a:p>
          <a:p>
            <a:pPr>
              <a:defRPr sz="1100"/>
            </a:pPr>
            <a:r>
              <a:t>    }</a:t>
            </a:r>
          </a:p>
          <a:p>
            <a:pPr>
              <a:defRPr sz="1100"/>
            </a:pPr>
            <a:r>
              <a:t>}</a:t>
            </a:r>
          </a:p>
        </p:txBody>
      </p:sp>
      <p:sp>
        <p:nvSpPr>
          <p:cNvPr id="262" name="Rectangle 1"/>
          <p:cNvSpPr txBox="1"/>
          <p:nvPr/>
        </p:nvSpPr>
        <p:spPr>
          <a:xfrm>
            <a:off x="2609009" y="2412988"/>
            <a:ext cx="1827744" cy="503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1100" b="1"/>
            </a:lvl1pPr>
          </a:lstStyle>
          <a:p>
            <a:r>
              <a:t>Using Interface Reference</a:t>
            </a:r>
          </a:p>
        </p:txBody>
      </p:sp>
      <p:sp>
        <p:nvSpPr>
          <p:cNvPr id="263" name="Rectangle 2"/>
          <p:cNvSpPr txBox="1"/>
          <p:nvPr/>
        </p:nvSpPr>
        <p:spPr>
          <a:xfrm>
            <a:off x="2819844" y="4245542"/>
            <a:ext cx="3077951" cy="680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Key Observation</a:t>
            </a:r>
          </a:p>
          <a:p>
            <a:pPr>
              <a:defRPr sz="1200"/>
            </a:pPr>
            <a:r>
              <a:t>Even though the reference is of type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Shape</a:t>
            </a:r>
            <a:r>
              <a:t>,</a:t>
            </a:r>
            <a:br/>
            <a:r>
              <a:t>the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draw()</a:t>
            </a:r>
            <a:r>
              <a:t> method of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Circle</a:t>
            </a:r>
            <a:r>
              <a:t> is executed.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14;p35"/>
          <p:cNvSpPr txBox="1">
            <a:spLocks noGrp="1"/>
          </p:cNvSpPr>
          <p:nvPr>
            <p:ph type="title"/>
          </p:nvPr>
        </p:nvSpPr>
        <p:spPr>
          <a:xfrm>
            <a:off x="179302" y="677449"/>
            <a:ext cx="2058899" cy="79541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Runtime Polymorphism Using Interface</a:t>
            </a:r>
          </a:p>
        </p:txBody>
      </p:sp>
      <p:pic>
        <p:nvPicPr>
          <p:cNvPr id="266" name="Google Shape;215;p35" descr="Google Shape;215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Rectangle 4"/>
          <p:cNvSpPr txBox="1"/>
          <p:nvPr/>
        </p:nvSpPr>
        <p:spPr>
          <a:xfrm>
            <a:off x="2638901" y="632990"/>
            <a:ext cx="5694275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/>
            </a:pPr>
            <a:r>
              <a:t>Runtime polymorphism occurs when a </a:t>
            </a:r>
            <a:r>
              <a:rPr b="1"/>
              <a:t>method call is resolved at runtime</a:t>
            </a:r>
            <a:r>
              <a:t> based </a:t>
            </a:r>
          </a:p>
          <a:p>
            <a:pPr>
              <a:defRPr sz="1200"/>
            </a:pPr>
            <a:r>
              <a:t>on the </a:t>
            </a:r>
            <a:r>
              <a:rPr b="1"/>
              <a:t>actual object</a:t>
            </a:r>
            <a:r>
              <a:t>, not the reference type.</a:t>
            </a:r>
          </a:p>
        </p:txBody>
      </p:sp>
      <p:sp>
        <p:nvSpPr>
          <p:cNvPr id="268" name="Rectangle 6"/>
          <p:cNvSpPr txBox="1"/>
          <p:nvPr/>
        </p:nvSpPr>
        <p:spPr>
          <a:xfrm>
            <a:off x="2816628" y="1125262"/>
            <a:ext cx="3672668" cy="1153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endParaRPr/>
          </a:p>
          <a:p>
            <a:pPr>
              <a:defRPr sz="1200" b="1"/>
            </a:pPr>
            <a:r>
              <a:t>How Runtime Polymorphism Works</a:t>
            </a:r>
          </a:p>
          <a:p>
            <a:pPr>
              <a:buSzPct val="100000"/>
              <a:buChar char="•"/>
              <a:defRPr sz="1200"/>
            </a:pPr>
            <a:r>
              <a:t>Interface reference holds the </a:t>
            </a:r>
            <a:r>
              <a:rPr b="1"/>
              <a:t>address of the object</a:t>
            </a:r>
          </a:p>
          <a:p>
            <a:pPr>
              <a:buSzPct val="100000"/>
              <a:buChar char="•"/>
              <a:defRPr sz="1200"/>
            </a:pPr>
            <a:r>
              <a:t>JVM determines the </a:t>
            </a:r>
            <a:r>
              <a:rPr b="1"/>
              <a:t>actual object type at runtime</a:t>
            </a:r>
          </a:p>
          <a:p>
            <a:pPr>
              <a:buSzPct val="100000"/>
              <a:buChar char="•"/>
              <a:defRPr sz="1200"/>
            </a:pPr>
            <a:r>
              <a:t>Corresponding method implementation is executed</a:t>
            </a:r>
          </a:p>
        </p:txBody>
      </p:sp>
      <p:sp>
        <p:nvSpPr>
          <p:cNvPr id="269" name="Rectangle 7"/>
          <p:cNvSpPr txBox="1"/>
          <p:nvPr/>
        </p:nvSpPr>
        <p:spPr>
          <a:xfrm>
            <a:off x="2754284" y="2277430"/>
            <a:ext cx="4480560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Shape s = new Circle();</a:t>
            </a:r>
          </a:p>
          <a:p>
            <a:pPr>
              <a:defRPr>
                <a:solidFill>
                  <a:srgbClr val="FF0000"/>
                </a:solidFill>
              </a:defRPr>
            </a:pPr>
            <a:r>
              <a:t>s.draw();</a:t>
            </a:r>
          </a:p>
        </p:txBody>
      </p:sp>
      <p:sp>
        <p:nvSpPr>
          <p:cNvPr id="270" name="Rectangle 7"/>
          <p:cNvSpPr txBox="1"/>
          <p:nvPr/>
        </p:nvSpPr>
        <p:spPr>
          <a:xfrm>
            <a:off x="2816629" y="2878928"/>
            <a:ext cx="3231392" cy="97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Important Observations</a:t>
            </a:r>
          </a:p>
          <a:p>
            <a:pPr>
              <a:buSzPct val="100000"/>
              <a:buChar char="•"/>
              <a:defRPr sz="1200"/>
            </a:pPr>
            <a:r>
              <a:t>Method call is </a:t>
            </a:r>
            <a:r>
              <a:rPr b="1"/>
              <a:t>not decided at compile time</a:t>
            </a:r>
          </a:p>
          <a:p>
            <a:pPr>
              <a:buSzPct val="100000"/>
              <a:buChar char="•"/>
              <a:defRPr sz="1200"/>
            </a:pPr>
            <a:r>
              <a:t>Decision is made </a:t>
            </a:r>
            <a:r>
              <a:rPr b="1"/>
              <a:t>during execution</a:t>
            </a:r>
          </a:p>
          <a:p>
            <a:pPr>
              <a:buSzPct val="100000"/>
              <a:buChar char="•"/>
              <a:defRPr sz="1200"/>
            </a:pPr>
            <a:r>
              <a:t>This is also called </a:t>
            </a:r>
            <a:r>
              <a:rPr b="1"/>
              <a:t>Dynamic Method Binding</a:t>
            </a:r>
          </a:p>
        </p:txBody>
      </p:sp>
      <p:sp>
        <p:nvSpPr>
          <p:cNvPr id="271" name="Rectangle 8"/>
          <p:cNvSpPr/>
          <p:nvPr/>
        </p:nvSpPr>
        <p:spPr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2" name="Rectangle 9"/>
          <p:cNvSpPr txBox="1"/>
          <p:nvPr/>
        </p:nvSpPr>
        <p:spPr>
          <a:xfrm>
            <a:off x="2816629" y="3746159"/>
            <a:ext cx="3093130" cy="97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Why Runtime Polymorphism Is Important</a:t>
            </a:r>
          </a:p>
          <a:p>
            <a:pPr>
              <a:buSzPct val="100000"/>
              <a:buChar char="•"/>
              <a:defRPr sz="1200"/>
            </a:pPr>
            <a:r>
              <a:t>Enables </a:t>
            </a:r>
            <a:r>
              <a:rPr b="1"/>
              <a:t>flexible and extensible code</a:t>
            </a:r>
          </a:p>
          <a:p>
            <a:pPr>
              <a:buSzPct val="100000"/>
              <a:buChar char="•"/>
              <a:defRPr sz="1200"/>
            </a:pPr>
            <a:r>
              <a:t>Supports </a:t>
            </a:r>
            <a:r>
              <a:rPr b="1"/>
              <a:t>plug-and-play implementations</a:t>
            </a:r>
          </a:p>
          <a:p>
            <a:pPr>
              <a:buSzPct val="100000"/>
              <a:buChar char="•"/>
              <a:defRPr sz="1200"/>
            </a:pPr>
            <a:r>
              <a:t>Reduces dependency on concrete classes</a:t>
            </a:r>
          </a:p>
        </p:txBody>
      </p:sp>
      <p:sp>
        <p:nvSpPr>
          <p:cNvPr id="273" name="Rectangle 14"/>
          <p:cNvSpPr txBox="1"/>
          <p:nvPr/>
        </p:nvSpPr>
        <p:spPr>
          <a:xfrm>
            <a:off x="2816629" y="4549299"/>
            <a:ext cx="4480560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/>
            </a:lvl1pPr>
          </a:lstStyle>
          <a:p>
            <a:r>
              <a:t>Runtime polymorphism allows one interface reference to represent multiple object behaviors dynamically.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21;p36"/>
          <p:cNvSpPr txBox="1">
            <a:spLocks noGrp="1"/>
          </p:cNvSpPr>
          <p:nvPr>
            <p:ph type="title"/>
          </p:nvPr>
        </p:nvSpPr>
        <p:spPr>
          <a:xfrm>
            <a:off x="172342" y="736431"/>
            <a:ext cx="2058899" cy="83099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t>Why JVM Executes Object’s Method (Internal View)</a:t>
            </a:r>
          </a:p>
        </p:txBody>
      </p:sp>
      <p:pic>
        <p:nvPicPr>
          <p:cNvPr id="276" name="Google Shape;223;p36" descr="Google Shape;223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Rectangle 1"/>
          <p:cNvSpPr txBox="1"/>
          <p:nvPr/>
        </p:nvSpPr>
        <p:spPr>
          <a:xfrm>
            <a:off x="2710339" y="561570"/>
            <a:ext cx="6437521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/>
            </a:pPr>
            <a:r>
              <a:t>When an interface reference is used to call a method, the </a:t>
            </a:r>
            <a:r>
              <a:rPr b="1"/>
              <a:t>Java Virtual Machine (JVM)</a:t>
            </a:r>
            <a:r>
              <a:t> </a:t>
            </a:r>
          </a:p>
          <a:p>
            <a:pPr>
              <a:defRPr sz="1200"/>
            </a:pPr>
            <a:r>
              <a:t>determines which method to execute </a:t>
            </a:r>
            <a:r>
              <a:rPr b="1"/>
              <a:t>at runtime</a:t>
            </a:r>
            <a:r>
              <a:t> based on the actual object stored in memory.</a:t>
            </a:r>
          </a:p>
        </p:txBody>
      </p:sp>
      <p:sp>
        <p:nvSpPr>
          <p:cNvPr id="278" name="Rectangle 3"/>
          <p:cNvSpPr txBox="1"/>
          <p:nvPr/>
        </p:nvSpPr>
        <p:spPr>
          <a:xfrm>
            <a:off x="2710338" y="1021351"/>
            <a:ext cx="4772508" cy="1331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endParaRPr/>
          </a:p>
          <a:p>
            <a:pPr>
              <a:defRPr sz="1200" b="1"/>
            </a:pPr>
            <a:r>
              <a:t>Memory-Level Understanding</a:t>
            </a:r>
          </a:p>
          <a:p>
            <a:pPr>
              <a:buSzPct val="100000"/>
              <a:buChar char="•"/>
              <a:defRPr sz="1200"/>
            </a:pPr>
            <a:r>
              <a:t>Interface reference stores the </a:t>
            </a:r>
            <a:r>
              <a:rPr b="1"/>
              <a:t>address of the object</a:t>
            </a:r>
          </a:p>
          <a:p>
            <a:pPr>
              <a:buSzPct val="100000"/>
              <a:buChar char="•"/>
              <a:defRPr sz="1200"/>
            </a:pPr>
            <a:r>
              <a:t>The object is created in </a:t>
            </a:r>
            <a:r>
              <a:rPr b="1"/>
              <a:t>heap memory</a:t>
            </a:r>
          </a:p>
          <a:p>
            <a:pPr>
              <a:buSzPct val="100000"/>
              <a:buChar char="•"/>
              <a:defRPr sz="1200"/>
            </a:pPr>
            <a:r>
              <a:t>The object contains a </a:t>
            </a:r>
            <a:r>
              <a:rPr b="1"/>
              <a:t>method table (runtime binding information)</a:t>
            </a:r>
          </a:p>
          <a:p>
            <a:pPr>
              <a:buSzPct val="100000"/>
              <a:buChar char="•"/>
              <a:defRPr sz="1200"/>
            </a:pPr>
            <a:r>
              <a:t>JVM uses this information to locate the correct method</a:t>
            </a:r>
          </a:p>
        </p:txBody>
      </p:sp>
      <p:sp>
        <p:nvSpPr>
          <p:cNvPr id="279" name="Rectangle 5"/>
          <p:cNvSpPr txBox="1"/>
          <p:nvPr/>
        </p:nvSpPr>
        <p:spPr>
          <a:xfrm>
            <a:off x="2710339" y="2298772"/>
            <a:ext cx="4480560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Shape s = new Circle();</a:t>
            </a:r>
          </a:p>
          <a:p>
            <a:pPr>
              <a:defRPr>
                <a:solidFill>
                  <a:srgbClr val="FF0000"/>
                </a:solidFill>
              </a:defRPr>
            </a:pPr>
            <a:r>
              <a:t>s.draw();</a:t>
            </a:r>
          </a:p>
        </p:txBody>
      </p:sp>
      <p:sp>
        <p:nvSpPr>
          <p:cNvPr id="280" name="Rectangle 4"/>
          <p:cNvSpPr txBox="1"/>
          <p:nvPr/>
        </p:nvSpPr>
        <p:spPr>
          <a:xfrm>
            <a:off x="2710339" y="2842096"/>
            <a:ext cx="3731454" cy="97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Key Points</a:t>
            </a:r>
          </a:p>
          <a:p>
            <a:pPr>
              <a:buSzPct val="100000"/>
              <a:buChar char="•"/>
              <a:defRPr sz="1200"/>
            </a:pPr>
            <a:r>
              <a:t>Method binding happens </a:t>
            </a:r>
            <a:r>
              <a:rPr b="1"/>
              <a:t>during execution</a:t>
            </a:r>
          </a:p>
          <a:p>
            <a:pPr>
              <a:buSzPct val="100000"/>
              <a:buChar char="•"/>
              <a:defRPr sz="1200"/>
            </a:pPr>
            <a:r>
              <a:t>Compile-time checking ensures method existence</a:t>
            </a:r>
          </a:p>
          <a:p>
            <a:pPr>
              <a:buSzPct val="100000"/>
              <a:buChar char="•"/>
              <a:defRPr sz="1200"/>
            </a:pPr>
            <a:r>
              <a:t>Runtime decides </a:t>
            </a:r>
            <a:r>
              <a:rPr b="1"/>
              <a:t>which implementation to execute</a:t>
            </a:r>
          </a:p>
        </p:txBody>
      </p:sp>
      <p:sp>
        <p:nvSpPr>
          <p:cNvPr id="281" name="Rectangle 5"/>
          <p:cNvSpPr/>
          <p:nvPr/>
        </p:nvSpPr>
        <p:spPr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82" name="Rectangle 6"/>
          <p:cNvSpPr txBox="1"/>
          <p:nvPr/>
        </p:nvSpPr>
        <p:spPr>
          <a:xfrm>
            <a:off x="2710338" y="3739930"/>
            <a:ext cx="3561940" cy="97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Relation to Dynamic Method Dispatch</a:t>
            </a:r>
          </a:p>
          <a:p>
            <a:pPr>
              <a:buSzPct val="100000"/>
              <a:buChar char="•"/>
              <a:defRPr sz="1200"/>
            </a:pPr>
            <a:r>
              <a:t>This process is called </a:t>
            </a:r>
            <a:r>
              <a:rPr b="1"/>
              <a:t>Dynamic Method Dispatch</a:t>
            </a:r>
          </a:p>
          <a:p>
            <a:pPr>
              <a:buSzPct val="100000"/>
              <a:buChar char="•"/>
              <a:defRPr sz="1200"/>
            </a:pPr>
            <a:r>
              <a:t>Enables runtime decision-making</a:t>
            </a:r>
          </a:p>
          <a:p>
            <a:pPr>
              <a:buSzPct val="100000"/>
              <a:buChar char="•"/>
              <a:defRPr sz="1200"/>
            </a:pPr>
            <a:r>
              <a:t>Foundation of </a:t>
            </a:r>
            <a:r>
              <a:rPr b="1"/>
              <a:t>polymorphism in Java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29;p37" descr="Google Shape;229;p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Rectangle 1"/>
          <p:cNvSpPr txBox="1"/>
          <p:nvPr/>
        </p:nvSpPr>
        <p:spPr>
          <a:xfrm>
            <a:off x="121920" y="898946"/>
            <a:ext cx="1868978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instanceof</a:t>
            </a:r>
            <a:r>
              <a:rPr b="1">
                <a:latin typeface="+mj-lt"/>
                <a:ea typeface="+mj-ea"/>
                <a:cs typeface="+mj-cs"/>
                <a:sym typeface="Arial"/>
              </a:rPr>
              <a:t> </a:t>
            </a:r>
          </a:p>
          <a:p>
            <a:pPr>
              <a:defRPr b="1"/>
            </a:pPr>
            <a:r>
              <a:t>Operator in Java</a:t>
            </a:r>
          </a:p>
        </p:txBody>
      </p:sp>
      <p:sp>
        <p:nvSpPr>
          <p:cNvPr id="286" name="Rectangle 2"/>
          <p:cNvSpPr txBox="1"/>
          <p:nvPr/>
        </p:nvSpPr>
        <p:spPr>
          <a:xfrm>
            <a:off x="2685011" y="713563"/>
            <a:ext cx="5711240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/>
            </a:pPr>
            <a:r>
              <a:t>The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instanceof</a:t>
            </a:r>
            <a:r>
              <a:t> operator is used to </a:t>
            </a:r>
            <a:r>
              <a:rPr b="1"/>
              <a:t>check the actual type of an object at runtime</a:t>
            </a:r>
            <a:r>
              <a:t>.</a:t>
            </a:r>
            <a:br/>
            <a:r>
              <a:t>It helps determine whether an object belongs to a specific class or implements a </a:t>
            </a:r>
          </a:p>
          <a:p>
            <a:pPr>
              <a:defRPr sz="1200"/>
            </a:pPr>
            <a:r>
              <a:t>particular interface.</a:t>
            </a:r>
          </a:p>
        </p:txBody>
      </p:sp>
      <p:sp>
        <p:nvSpPr>
          <p:cNvPr id="287" name="Rectangle 3"/>
          <p:cNvSpPr/>
          <p:nvPr/>
        </p:nvSpPr>
        <p:spPr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88" name="Rectangle 4"/>
          <p:cNvSpPr txBox="1"/>
          <p:nvPr/>
        </p:nvSpPr>
        <p:spPr>
          <a:xfrm>
            <a:off x="2685011" y="1345646"/>
            <a:ext cx="623742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endParaRPr/>
          </a:p>
          <a:p>
            <a:pPr>
              <a:defRPr sz="1200" b="1"/>
            </a:pPr>
            <a:r>
              <a:t>Definition</a:t>
            </a:r>
          </a:p>
          <a:p>
            <a:pPr>
              <a:defRPr sz="1200"/>
            </a:pPr>
            <a:r>
              <a:t>The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instanceof</a:t>
            </a:r>
            <a:r>
              <a:t> operator tests whether an object is an instance of a given class or interface </a:t>
            </a:r>
          </a:p>
          <a:p>
            <a:pPr>
              <a:defRPr sz="1200"/>
            </a:pPr>
            <a:r>
              <a:t>and returns a boolean value.</a:t>
            </a:r>
          </a:p>
        </p:txBody>
      </p:sp>
      <p:sp>
        <p:nvSpPr>
          <p:cNvPr id="289" name="Rectangle 5"/>
          <p:cNvSpPr txBox="1"/>
          <p:nvPr/>
        </p:nvSpPr>
        <p:spPr>
          <a:xfrm>
            <a:off x="2685011" y="2410717"/>
            <a:ext cx="4116448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objectReference instanceof ClassOrInterfaceName</a:t>
            </a:r>
          </a:p>
        </p:txBody>
      </p:sp>
      <p:sp>
        <p:nvSpPr>
          <p:cNvPr id="290" name="Rectangle 5"/>
          <p:cNvSpPr txBox="1"/>
          <p:nvPr/>
        </p:nvSpPr>
        <p:spPr>
          <a:xfrm>
            <a:off x="2685011" y="2726839"/>
            <a:ext cx="2450044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Key Characteristics</a:t>
            </a:r>
          </a:p>
          <a:p>
            <a:pPr>
              <a:buSzPct val="100000"/>
              <a:buChar char="•"/>
              <a:defRPr sz="1200"/>
            </a:pPr>
            <a:r>
              <a:t>Evaluated </a:t>
            </a:r>
            <a:r>
              <a:rPr b="1"/>
              <a:t>at runtime</a:t>
            </a:r>
          </a:p>
          <a:p>
            <a:pPr>
              <a:buSzPct val="100000"/>
              <a:buChar char="•"/>
              <a:defRPr sz="1200"/>
            </a:pPr>
            <a:r>
              <a:t>Returns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true</a:t>
            </a:r>
            <a:r>
              <a:t> or </a:t>
            </a:r>
            <a:r>
              <a:rPr>
                <a:latin typeface="Arial Unicode MS"/>
                <a:ea typeface="Arial Unicode MS"/>
                <a:cs typeface="Arial Unicode MS"/>
                <a:sym typeface="Arial Unicode MS"/>
              </a:rPr>
              <a:t>false</a:t>
            </a:r>
          </a:p>
          <a:p>
            <a:pPr>
              <a:buSzPct val="100000"/>
              <a:buChar char="•"/>
              <a:defRPr sz="1200"/>
            </a:pPr>
            <a:r>
              <a:t>Works with classes and interfaces</a:t>
            </a:r>
          </a:p>
          <a:p>
            <a:pPr>
              <a:buSzPct val="100000"/>
              <a:buChar char="•"/>
              <a:defRPr sz="1200"/>
            </a:pPr>
            <a:r>
              <a:t>Prevents invalid type casting</a:t>
            </a:r>
          </a:p>
        </p:txBody>
      </p:sp>
      <p:sp>
        <p:nvSpPr>
          <p:cNvPr id="291" name="Rectangle 6"/>
          <p:cNvSpPr/>
          <p:nvPr/>
        </p:nvSpPr>
        <p:spPr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92" name="Rectangle 7"/>
          <p:cNvSpPr txBox="1"/>
          <p:nvPr/>
        </p:nvSpPr>
        <p:spPr>
          <a:xfrm>
            <a:off x="2685011" y="3774599"/>
            <a:ext cx="2910295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/>
            </a:pPr>
            <a:r>
              <a:t>Why </a:t>
            </a:r>
            <a:r>
              <a:rPr b="0">
                <a:latin typeface="Arial Unicode MS"/>
                <a:ea typeface="Arial Unicode MS"/>
                <a:cs typeface="Arial Unicode MS"/>
                <a:sym typeface="Arial Unicode MS"/>
              </a:rPr>
              <a:t>instanceof</a:t>
            </a:r>
            <a:r>
              <a:t> Is Required</a:t>
            </a:r>
          </a:p>
          <a:p>
            <a:pPr>
              <a:buSzPct val="100000"/>
              <a:buChar char="•"/>
              <a:defRPr sz="1200"/>
            </a:pPr>
            <a:r>
              <a:t>When reference type is </a:t>
            </a:r>
            <a:r>
              <a:rPr b="1"/>
              <a:t>parent/interface</a:t>
            </a:r>
          </a:p>
          <a:p>
            <a:pPr>
              <a:buSzPct val="100000"/>
              <a:buChar char="•"/>
              <a:defRPr sz="1200"/>
            </a:pPr>
            <a:r>
              <a:t>Actual object type is </a:t>
            </a:r>
            <a:r>
              <a:rPr b="1"/>
              <a:t>unknown</a:t>
            </a:r>
          </a:p>
          <a:p>
            <a:pPr>
              <a:buSzPct val="100000"/>
              <a:buChar char="•"/>
              <a:defRPr sz="1200"/>
            </a:pPr>
            <a:r>
              <a:t>Safe type checking before casting</a:t>
            </a:r>
          </a:p>
          <a:p>
            <a:pPr>
              <a:buSzPct val="100000"/>
              <a:buChar char="•"/>
              <a:defRPr sz="1200"/>
            </a:pPr>
            <a:r>
              <a:t>Used in polymorphic behavior</a:t>
            </a:r>
          </a:p>
        </p:txBody>
      </p:sp>
      <p:sp>
        <p:nvSpPr>
          <p:cNvPr id="293" name="Rectangle 8"/>
          <p:cNvSpPr txBox="1"/>
          <p:nvPr/>
        </p:nvSpPr>
        <p:spPr>
          <a:xfrm>
            <a:off x="2367438" y="4753291"/>
            <a:ext cx="519421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t>instanceof</a:t>
            </a:r>
            <a:r>
              <a:rPr b="1">
                <a:latin typeface="+mj-lt"/>
                <a:ea typeface="+mj-ea"/>
                <a:cs typeface="+mj-cs"/>
                <a:sym typeface="Arial"/>
              </a:rPr>
              <a:t> checks the real identity of the object, not the reference type.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37;p38" descr="Google Shape;237;p3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Google Shape;235;p38"/>
          <p:cNvSpPr txBox="1">
            <a:spLocks noGrp="1"/>
          </p:cNvSpPr>
          <p:nvPr>
            <p:ph type="title"/>
          </p:nvPr>
        </p:nvSpPr>
        <p:spPr>
          <a:xfrm>
            <a:off x="294284" y="825897"/>
            <a:ext cx="1705778" cy="1515271"/>
          </a:xfrm>
          <a:prstGeom prst="rect">
            <a:avLst/>
          </a:prstGeom>
        </p:spPr>
        <p:txBody>
          <a:bodyPr/>
          <a:lstStyle/>
          <a:p>
            <a:pPr defTabSz="384047">
              <a:spcBef>
                <a:spcPts val="1000"/>
              </a:spcBef>
              <a:defRPr sz="10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384047">
              <a:spcBef>
                <a:spcPts val="1200"/>
              </a:spcBef>
              <a:defRPr sz="151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Using instanceof with Interface – Example</a:t>
            </a:r>
          </a:p>
          <a:p>
            <a:pPr defTabSz="384047">
              <a:spcBef>
                <a:spcPts val="1000"/>
              </a:spcBef>
              <a:defRPr sz="10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297" name="interface Animal {…"/>
          <p:cNvSpPr txBox="1"/>
          <p:nvPr/>
        </p:nvSpPr>
        <p:spPr>
          <a:xfrm>
            <a:off x="2831092" y="272033"/>
            <a:ext cx="3026729" cy="191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interface Animal {</a:t>
            </a:r>
          </a:p>
          <a:p>
            <a:r>
              <a:t>    void sound();</a:t>
            </a:r>
          </a:p>
          <a:p>
            <a:r>
              <a:t>}</a:t>
            </a:r>
          </a:p>
          <a:p>
            <a:endParaRPr/>
          </a:p>
          <a:p>
            <a:r>
              <a:t>class Dog implements Animal {</a:t>
            </a:r>
          </a:p>
          <a:p>
            <a:r>
              <a:t>    public void sound() {</a:t>
            </a:r>
          </a:p>
          <a:p>
            <a:r>
              <a:t>        System.out.println("Dog barks");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298" name="class TestInstanceOf {…"/>
          <p:cNvSpPr txBox="1"/>
          <p:nvPr/>
        </p:nvSpPr>
        <p:spPr>
          <a:xfrm>
            <a:off x="2831092" y="2246223"/>
            <a:ext cx="4064359" cy="2320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class TestInstanceOf {</a:t>
            </a:r>
          </a:p>
          <a:p>
            <a:endParaRPr/>
          </a:p>
          <a:p>
            <a:r>
              <a:t>    public static void main(String[] args) {</a:t>
            </a:r>
          </a:p>
          <a:p>
            <a:endParaRPr/>
          </a:p>
          <a:p>
            <a:r>
              <a:t>        Animal a = new Dog();</a:t>
            </a:r>
          </a:p>
          <a:p>
            <a:endParaRPr/>
          </a:p>
          <a:p>
            <a:r>
              <a:t>        if (a instanceof Dog) {</a:t>
            </a:r>
          </a:p>
          <a:p>
            <a:r>
              <a:t>            System.out.println("Object is of type Dog");</a:t>
            </a:r>
          </a:p>
          <a:p>
            <a:r>
              <a:t>        }</a:t>
            </a:r>
          </a:p>
          <a:p>
            <a:endParaRPr/>
          </a:p>
          <a:p>
            <a:r>
              <a:t>      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245;p39" descr="Google Shape;245;p3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if (a instanceof Animal) {…"/>
          <p:cNvSpPr txBox="1"/>
          <p:nvPr/>
        </p:nvSpPr>
        <p:spPr>
          <a:xfrm>
            <a:off x="2711338" y="825771"/>
            <a:ext cx="5200698" cy="1508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 if (a instanceof Animal) {</a:t>
            </a:r>
          </a:p>
          <a:p>
            <a:r>
              <a:t>            System.out.println("Object implements Animal interface");</a:t>
            </a:r>
          </a:p>
          <a:p>
            <a:r>
              <a:t>        }</a:t>
            </a:r>
          </a:p>
          <a:p>
            <a:endParaRPr/>
          </a:p>
          <a:p>
            <a:r>
              <a:t>        a.sound();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302" name="Important Observation…"/>
          <p:cNvSpPr txBox="1"/>
          <p:nvPr/>
        </p:nvSpPr>
        <p:spPr>
          <a:xfrm>
            <a:off x="2711338" y="2122736"/>
            <a:ext cx="3085459" cy="202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Important Observation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instanceof works with: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Concrete classes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Parent classes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Interfaces</a:t>
            </a:r>
          </a:p>
        </p:txBody>
      </p:sp>
      <p:sp>
        <p:nvSpPr>
          <p:cNvPr id="303" name="Google Shape;243;p39"/>
          <p:cNvSpPr txBox="1">
            <a:spLocks noGrp="1"/>
          </p:cNvSpPr>
          <p:nvPr>
            <p:ph type="title"/>
          </p:nvPr>
        </p:nvSpPr>
        <p:spPr>
          <a:xfrm>
            <a:off x="294284" y="825897"/>
            <a:ext cx="1705778" cy="1515271"/>
          </a:xfrm>
          <a:prstGeom prst="rect">
            <a:avLst/>
          </a:prstGeom>
        </p:spPr>
        <p:txBody>
          <a:bodyPr/>
          <a:lstStyle/>
          <a:p>
            <a:pPr defTabSz="370331">
              <a:spcBef>
                <a:spcPts val="900"/>
              </a:spcBef>
              <a:defRPr sz="97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370331">
              <a:spcBef>
                <a:spcPts val="1200"/>
              </a:spcBef>
              <a:defRPr sz="145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Using instanceof with Interface – Example</a:t>
            </a:r>
          </a:p>
          <a:p>
            <a:pPr defTabSz="370331">
              <a:spcBef>
                <a:spcPts val="900"/>
              </a:spcBef>
              <a:defRPr sz="97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04" name="The instanceof operator validates the object’s actual type in memory, ensuring safe runtime behavior."/>
          <p:cNvSpPr txBox="1"/>
          <p:nvPr/>
        </p:nvSpPr>
        <p:spPr>
          <a:xfrm>
            <a:off x="1378877" y="4677533"/>
            <a:ext cx="6680782" cy="465967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marL="190500" indent="-190500" defTabSz="457200">
              <a:defRPr sz="1200" b="1">
                <a:solidFill>
                  <a:schemeClr val="accent2">
                    <a:lumOff val="-2588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The instanceof operator validates the object’s actual type in memory, ensuring safe runtime behavior.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252;p40" descr="Google Shape;252;p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Why instanceof Is Important in Polymorphism"/>
          <p:cNvSpPr txBox="1"/>
          <p:nvPr/>
        </p:nvSpPr>
        <p:spPr>
          <a:xfrm>
            <a:off x="141379" y="459302"/>
            <a:ext cx="2300422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instanceof Is Important in Polymorphism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08" name="In polymorphic behavior, a reference variable of a parent type or interface may refer to objects of different classes.…"/>
          <p:cNvSpPr txBox="1"/>
          <p:nvPr/>
        </p:nvSpPr>
        <p:spPr>
          <a:xfrm>
            <a:off x="2665735" y="569212"/>
            <a:ext cx="5973151" cy="1151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polymorphic behavior, a reference variable of a parent type or interface may refer to objects of different classes.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instanceof operator helps identify the actual object type during runtime.</a:t>
            </a:r>
          </a:p>
        </p:txBody>
      </p:sp>
      <p:sp>
        <p:nvSpPr>
          <p:cNvPr id="309" name="Problem in Polymorphism…"/>
          <p:cNvSpPr txBox="1"/>
          <p:nvPr/>
        </p:nvSpPr>
        <p:spPr>
          <a:xfrm>
            <a:off x="2665735" y="1434600"/>
            <a:ext cx="3924609" cy="656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 in Polymorphism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using:</a:t>
            </a:r>
          </a:p>
        </p:txBody>
      </p:sp>
      <p:sp>
        <p:nvSpPr>
          <p:cNvPr id="310" name="Animal a = new Dog();"/>
          <p:cNvSpPr txBox="1"/>
          <p:nvPr/>
        </p:nvSpPr>
        <p:spPr>
          <a:xfrm>
            <a:off x="4394711" y="2121075"/>
            <a:ext cx="1868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Animal a = new Dog();</a:t>
            </a:r>
          </a:p>
        </p:txBody>
      </p:sp>
      <p:sp>
        <p:nvSpPr>
          <p:cNvPr id="311" name="Reference type: Animal…"/>
          <p:cNvSpPr txBox="1"/>
          <p:nvPr/>
        </p:nvSpPr>
        <p:spPr>
          <a:xfrm>
            <a:off x="2665735" y="2809995"/>
            <a:ext cx="3239355" cy="164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type: Animal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Actual object type: Dog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Compile-time type: Animal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Runtime type: Dog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reference does not reveal the exact object type.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259;p41" descr="Google Shape;259;p4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Why instanceof Is Important in Polymorphism"/>
          <p:cNvSpPr txBox="1"/>
          <p:nvPr/>
        </p:nvSpPr>
        <p:spPr>
          <a:xfrm>
            <a:off x="141379" y="459302"/>
            <a:ext cx="2300422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instanceof Is Important in Polymorphism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15" name="Role of instanceof…"/>
          <p:cNvSpPr txBox="1"/>
          <p:nvPr/>
        </p:nvSpPr>
        <p:spPr>
          <a:xfrm>
            <a:off x="2700156" y="272033"/>
            <a:ext cx="3583221" cy="202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Role of instanceof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Determines the real object type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Enables safe downcasting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Prevents runtime errors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Allows conditional behavior based on object type</a:t>
            </a:r>
          </a:p>
        </p:txBody>
      </p:sp>
      <p:sp>
        <p:nvSpPr>
          <p:cNvPr id="316" name="if (a instanceof Dog) {…"/>
          <p:cNvSpPr txBox="1"/>
          <p:nvPr/>
        </p:nvSpPr>
        <p:spPr>
          <a:xfrm>
            <a:off x="4015769" y="2332353"/>
            <a:ext cx="4112787" cy="898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if (a instanceof Dog) {</a:t>
            </a:r>
          </a:p>
          <a:p>
            <a:r>
              <a:t>    Dog d = (Dog) a;</a:t>
            </a:r>
          </a:p>
          <a:p>
            <a:r>
              <a:t>    d.sound();</a:t>
            </a:r>
          </a:p>
          <a:p>
            <a:r>
              <a:t>}</a:t>
            </a:r>
          </a:p>
        </p:txBody>
      </p:sp>
      <p:sp>
        <p:nvSpPr>
          <p:cNvPr id="317" name="Why It Matters…"/>
          <p:cNvSpPr txBox="1"/>
          <p:nvPr/>
        </p:nvSpPr>
        <p:spPr>
          <a:xfrm>
            <a:off x="2700156" y="3263030"/>
            <a:ext cx="4149303" cy="202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It Matters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Without instanceof: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Incorrect casting may cause ClassCastException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Program may fail at runtime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18" name="instanceof acts as a runtime type verification mechanism in polymorphic scenarios."/>
          <p:cNvSpPr txBox="1"/>
          <p:nvPr/>
        </p:nvSpPr>
        <p:spPr>
          <a:xfrm>
            <a:off x="2134594" y="4349543"/>
            <a:ext cx="6446824" cy="858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0500" indent="-190500" defTabSz="4572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instanceof acts as a runtime type verification mechanism in polymorphic scenarios.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267;p42" descr="Google Shape;267;p4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ClassCastException and the Role of instanceof"/>
          <p:cNvSpPr txBox="1"/>
          <p:nvPr/>
        </p:nvSpPr>
        <p:spPr>
          <a:xfrm>
            <a:off x="151445" y="569212"/>
            <a:ext cx="2280290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ClassCastException and the Role of instanceof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22" name="In Java, incorrect type casting during runtime can lead to a ClassCastException.…"/>
          <p:cNvSpPr txBox="1"/>
          <p:nvPr/>
        </p:nvSpPr>
        <p:spPr>
          <a:xfrm>
            <a:off x="2715048" y="583244"/>
            <a:ext cx="5864459" cy="96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Java, incorrect type casting during runtime can lead to a ClassCastException.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typically occurs in polymorphic situations when an object is cast to an incompatible type.</a:t>
            </a:r>
          </a:p>
        </p:txBody>
      </p:sp>
      <p:sp>
        <p:nvSpPr>
          <p:cNvPr id="323" name="What Is ClassCastException?…"/>
          <p:cNvSpPr txBox="1"/>
          <p:nvPr/>
        </p:nvSpPr>
        <p:spPr>
          <a:xfrm>
            <a:off x="2715048" y="1063877"/>
            <a:ext cx="6107506" cy="145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Is ClassCastException?</a:t>
            </a:r>
          </a:p>
          <a:p>
            <a:pPr marL="190500" indent="-190500" defTabSz="4572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ClassCastException is a runtime exception thrown when an object is cast to a class of which it is not an instance.</a:t>
            </a:r>
          </a:p>
        </p:txBody>
      </p:sp>
      <p:sp>
        <p:nvSpPr>
          <p:cNvPr id="324" name="Reference type: Animal…"/>
          <p:cNvSpPr txBox="1"/>
          <p:nvPr/>
        </p:nvSpPr>
        <p:spPr>
          <a:xfrm>
            <a:off x="2715048" y="3105778"/>
            <a:ext cx="2576325" cy="2332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type: Animal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Actual object type: Dog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Casting to Cat is invalid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throws ClassCastException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25" name="Example of Incorrect Casting"/>
          <p:cNvSpPr txBox="1"/>
          <p:nvPr/>
        </p:nvSpPr>
        <p:spPr>
          <a:xfrm>
            <a:off x="2715048" y="1175740"/>
            <a:ext cx="2347738" cy="2218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 of Incorrect Casting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26" name="Animal a = new Dog();…"/>
          <p:cNvSpPr txBox="1"/>
          <p:nvPr/>
        </p:nvSpPr>
        <p:spPr>
          <a:xfrm>
            <a:off x="3363795" y="2750398"/>
            <a:ext cx="2717488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Animal a = new Dog();</a:t>
            </a:r>
          </a:p>
          <a:p>
            <a:r>
              <a:t>Cat c = (Cat) a;   // Runtime Error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274;p43" descr="Google Shape;274;p4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How instanceof Prevents This Error"/>
          <p:cNvSpPr txBox="1"/>
          <p:nvPr/>
        </p:nvSpPr>
        <p:spPr>
          <a:xfrm>
            <a:off x="2721910" y="715517"/>
            <a:ext cx="3536126" cy="287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How instanceof Prevents This Error</a:t>
            </a:r>
          </a:p>
        </p:txBody>
      </p:sp>
      <p:sp>
        <p:nvSpPr>
          <p:cNvPr id="330" name="if (a instanceof Cat) {…"/>
          <p:cNvSpPr txBox="1"/>
          <p:nvPr/>
        </p:nvSpPr>
        <p:spPr>
          <a:xfrm>
            <a:off x="3363054" y="1002604"/>
            <a:ext cx="1754520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if (a instanceof Cat) {</a:t>
            </a:r>
          </a:p>
          <a:p>
            <a:r>
              <a:t>    Cat c = (Cat) a;</a:t>
            </a:r>
          </a:p>
          <a:p>
            <a:r>
              <a:t>}</a:t>
            </a:r>
          </a:p>
        </p:txBody>
      </p:sp>
      <p:sp>
        <p:nvSpPr>
          <p:cNvPr id="331" name="Checks object type before casting…"/>
          <p:cNvSpPr txBox="1"/>
          <p:nvPr/>
        </p:nvSpPr>
        <p:spPr>
          <a:xfrm>
            <a:off x="2721910" y="1697828"/>
            <a:ext cx="2617997" cy="96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Checks object type before casting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Prevents unsafe casting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Ensures runtime safety</a:t>
            </a:r>
          </a:p>
        </p:txBody>
      </p:sp>
      <p:sp>
        <p:nvSpPr>
          <p:cNvPr id="332" name="Why This Is Important…"/>
          <p:cNvSpPr txBox="1"/>
          <p:nvPr/>
        </p:nvSpPr>
        <p:spPr>
          <a:xfrm>
            <a:off x="2721910" y="2853863"/>
            <a:ext cx="3426134" cy="1342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This Is Important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Polymorphic references hide actual object type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Safe casting is essential in large applications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Reduces unexpected runtime failures</a:t>
            </a:r>
          </a:p>
        </p:txBody>
      </p:sp>
      <p:sp>
        <p:nvSpPr>
          <p:cNvPr id="333" name="instanceof ensures that type conversion is valid before performing explicit casting."/>
          <p:cNvSpPr txBox="1"/>
          <p:nvPr/>
        </p:nvSpPr>
        <p:spPr>
          <a:xfrm>
            <a:off x="1837869" y="4695263"/>
            <a:ext cx="6393990" cy="515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marL="190500" indent="-190500" defTabSz="4572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instanceof ensures that type conversion is valid before performing explicit casting.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282;p44" descr="Google Shape;282;p4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Understanding System.out.println() – Internal Structure"/>
          <p:cNvSpPr txBox="1"/>
          <p:nvPr/>
        </p:nvSpPr>
        <p:spPr>
          <a:xfrm>
            <a:off x="100362" y="401634"/>
            <a:ext cx="2382456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Understanding System.out.println() – Internal Structure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37" name="The statement System.out.println() appears simple, but it is actually a chain of class, object, and method references working together."/>
          <p:cNvSpPr txBox="1"/>
          <p:nvPr/>
        </p:nvSpPr>
        <p:spPr>
          <a:xfrm>
            <a:off x="2698455" y="569212"/>
            <a:ext cx="6164367" cy="808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The statement System.out.println() appears simple, but it is actually a chain of class, object, and method references working together.</a:t>
            </a:r>
          </a:p>
        </p:txBody>
      </p:sp>
      <p:sp>
        <p:nvSpPr>
          <p:cNvPr id="338" name="System.out.println(&quot;Hello Java&quot;);"/>
          <p:cNvSpPr txBox="1"/>
          <p:nvPr/>
        </p:nvSpPr>
        <p:spPr>
          <a:xfrm>
            <a:off x="2947190" y="1089255"/>
            <a:ext cx="265133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System.out.println("Hello Java");</a:t>
            </a:r>
          </a:p>
        </p:txBody>
      </p:sp>
      <p:graphicFrame>
        <p:nvGraphicFramePr>
          <p:cNvPr id="339" name="Table"/>
          <p:cNvGraphicFramePr/>
          <p:nvPr/>
        </p:nvGraphicFramePr>
        <p:xfrm>
          <a:off x="3187494" y="1502919"/>
          <a:ext cx="5071011" cy="1016000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027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Predefined class in java.lang package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 Object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static instance of PrintStream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println()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 of PrintStream class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0" name="Detailed Explanation…"/>
          <p:cNvSpPr txBox="1"/>
          <p:nvPr/>
        </p:nvSpPr>
        <p:spPr>
          <a:xfrm>
            <a:off x="2698455" y="2568129"/>
            <a:ext cx="4377997" cy="1534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25000"/>
              </a:lnSpc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Detailed Explanation</a:t>
            </a:r>
          </a:p>
          <a:p>
            <a:pPr marL="457200" indent="-317500" defTabSz="457200">
              <a:lnSpc>
                <a:spcPct val="2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</a:t>
            </a:r>
          </a:p>
          <a:p>
            <a:pPr marL="914400" lvl="1" indent="-317500" defTabSz="457200">
              <a:lnSpc>
                <a:spcPct val="25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final class provided by Java</a:t>
            </a:r>
          </a:p>
          <a:p>
            <a:pPr marL="914400" lvl="1" indent="-317500" defTabSz="457200">
              <a:lnSpc>
                <a:spcPct val="25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Contains useful static members</a:t>
            </a:r>
          </a:p>
          <a:p>
            <a:pPr marL="457200" indent="-317500" defTabSz="457200">
              <a:lnSpc>
                <a:spcPct val="2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</a:t>
            </a:r>
          </a:p>
          <a:p>
            <a:pPr marL="914400" lvl="1" indent="-317500" defTabSz="457200">
              <a:lnSpc>
                <a:spcPct val="25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static variable inside System</a:t>
            </a:r>
          </a:p>
          <a:p>
            <a:pPr marL="914400" lvl="1" indent="-317500" defTabSz="457200">
              <a:lnSpc>
                <a:spcPct val="25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Declared as: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290;p45" descr="Google Shape;290;p4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public static final PrintStream out;"/>
          <p:cNvSpPr txBox="1"/>
          <p:nvPr/>
        </p:nvSpPr>
        <p:spPr>
          <a:xfrm>
            <a:off x="2797964" y="644162"/>
            <a:ext cx="2998687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r>
              <a:t>public static final PrintStream out;</a:t>
            </a:r>
          </a:p>
        </p:txBody>
      </p:sp>
      <p:sp>
        <p:nvSpPr>
          <p:cNvPr id="344" name="Understanding System.out.println() – Internal Structure"/>
          <p:cNvSpPr txBox="1"/>
          <p:nvPr/>
        </p:nvSpPr>
        <p:spPr>
          <a:xfrm>
            <a:off x="100362" y="401634"/>
            <a:ext cx="2382456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Understanding System.out.println() – Internal Structure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45" name="Represents the standard output stream…"/>
          <p:cNvSpPr txBox="1"/>
          <p:nvPr/>
        </p:nvSpPr>
        <p:spPr>
          <a:xfrm>
            <a:off x="2797964" y="1019664"/>
            <a:ext cx="3951572" cy="2314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marL="914400" lvl="1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Represents the standard output stream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println()</a:t>
            </a:r>
          </a:p>
          <a:p>
            <a:pPr marL="914400" lvl="1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method of PrintStream</a:t>
            </a:r>
          </a:p>
          <a:p>
            <a:pPr marL="914400" lvl="1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Prints data and moves the cursor to the next line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Execution Flow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loads System class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Accesses static object out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Calls println() method of PrintStream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is printed to console</a:t>
            </a:r>
          </a:p>
        </p:txBody>
      </p:sp>
      <p:sp>
        <p:nvSpPr>
          <p:cNvPr id="346" name="System.out.println() is a method call on a static object defined inside a predefined class."/>
          <p:cNvSpPr txBox="1"/>
          <p:nvPr/>
        </p:nvSpPr>
        <p:spPr>
          <a:xfrm>
            <a:off x="2797964" y="3748783"/>
            <a:ext cx="5585172" cy="73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marL="190500" indent="-190500" defTabSz="4572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System.out.println() is a method call on a static object defined inside a predefined class.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297;p46" descr="Google Shape;297;p4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Interface Inheritance in Java"/>
          <p:cNvSpPr txBox="1"/>
          <p:nvPr/>
        </p:nvSpPr>
        <p:spPr>
          <a:xfrm>
            <a:off x="85301" y="569212"/>
            <a:ext cx="2296136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Inheritance in Java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50" name="Definition…"/>
          <p:cNvSpPr txBox="1"/>
          <p:nvPr/>
        </p:nvSpPr>
        <p:spPr>
          <a:xfrm>
            <a:off x="2726525" y="453273"/>
            <a:ext cx="5791207" cy="4443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Definition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inheritance is the mechanism in Java where one interface extends another interface using the extends keyword and inherits its abstract method declarations.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Conceptual Understanding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Interfaces can form hierarchical structures.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child interface automatically acquires all abstract methods of the parent interface.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promotes structured abstraction.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Characteristics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Uses the extends keyword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Only interfaces can extend interfaces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Multiple inheritance is supported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 implementation is inherited (only method declarations)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Interface Inheritance is Required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organize related behaviors logically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build modular abstraction layers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extend capability without modifying existing interfaces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support scalable architecture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03;p47" descr="Google Shape;303;p4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Real-Life Analogy…"/>
          <p:cNvSpPr txBox="1"/>
          <p:nvPr/>
        </p:nvSpPr>
        <p:spPr>
          <a:xfrm>
            <a:off x="2729913" y="451101"/>
            <a:ext cx="5861570" cy="4234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Real-Life Analogy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Consider: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Basic Device → defines basic operations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Smart Device → extends Basic Device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Smart Device automatically has all capabilities of a Basic Device, plus additional smart features.</a:t>
            </a:r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Academic Insight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Interface B extends Interface A: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 contains all methods of A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Any class implementing B must implement methods of both A and B</a:t>
            </a:r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Important Rule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an interface extends multiple interfaces, it inherits all abstract methods from each interface.</a:t>
            </a:r>
          </a:p>
        </p:txBody>
      </p:sp>
      <p:sp>
        <p:nvSpPr>
          <p:cNvPr id="354" name="Interface Inheritance in Java"/>
          <p:cNvSpPr txBox="1"/>
          <p:nvPr/>
        </p:nvSpPr>
        <p:spPr>
          <a:xfrm>
            <a:off x="85301" y="569212"/>
            <a:ext cx="2296136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Inheritance in Java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12;p48" descr="Google Shape;312;p4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Multiple Interface Inheritance"/>
          <p:cNvSpPr txBox="1"/>
          <p:nvPr/>
        </p:nvSpPr>
        <p:spPr>
          <a:xfrm>
            <a:off x="71646" y="569212"/>
            <a:ext cx="2575300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Multiple Interface Inheritance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58" name="Definition…"/>
          <p:cNvSpPr txBox="1"/>
          <p:nvPr/>
        </p:nvSpPr>
        <p:spPr>
          <a:xfrm>
            <a:off x="2684099" y="272033"/>
            <a:ext cx="6178723" cy="476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12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Definition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Multiple Interface Inheritance in Java allows one interface to extend more than one interface, thereby inheriting abstract methods from multiple sources.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Conceptual Explanation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Unlike classes, Java allows interfaces to inherit from multiple interfaces.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enables multiple inheritance of behavior without ambiguity because interfaces do not contain method implementations.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Java Allows Multiple Inheritance in Interfaces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Interfaces contain only abstract method declarations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 is no implementation conflict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Therefore, ambiguity problem does not arise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Characteristics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Uses extends keyword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Supports inheritance from multiple interfaces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Child interface inherits all abstract methods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Promotes modular design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19;p49" descr="Google Shape;319;p4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Conceptual Structure…"/>
          <p:cNvSpPr txBox="1"/>
          <p:nvPr/>
        </p:nvSpPr>
        <p:spPr>
          <a:xfrm>
            <a:off x="2882671" y="23935"/>
            <a:ext cx="5864473" cy="511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Conceptual Structure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C extends Interface A and Interface B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Then: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 contains all abstract methods of A and B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Any class implementing C must implement all methods from A, B, and C.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Real-Life Analogy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Printer → print()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Scanner → scan()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Copier extends Printer, Scanner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Copier device must be able to print and scan.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models real-world capability composition.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Academic Insight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Multiple interface inheritance: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Encourages capability-based design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Avoids diamond problem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Supports flexible architecture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an interface extends multiple interfaces, any implementing class must provide implementations for all inherited abstract methods.</a:t>
            </a:r>
          </a:p>
        </p:txBody>
      </p:sp>
      <p:sp>
        <p:nvSpPr>
          <p:cNvPr id="362" name="Multiple Interface Inheritance"/>
          <p:cNvSpPr txBox="1"/>
          <p:nvPr/>
        </p:nvSpPr>
        <p:spPr>
          <a:xfrm>
            <a:off x="71646" y="569212"/>
            <a:ext cx="2575300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Multiple Interface Inheritance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26;p50" descr="Google Shape;326;p5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Implementing Inherited Interfaces"/>
          <p:cNvSpPr txBox="1"/>
          <p:nvPr/>
        </p:nvSpPr>
        <p:spPr>
          <a:xfrm>
            <a:off x="87065" y="474927"/>
            <a:ext cx="2946782" cy="1683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Implementing Inherited Interfaces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66" name="Definition…"/>
          <p:cNvSpPr txBox="1"/>
          <p:nvPr/>
        </p:nvSpPr>
        <p:spPr>
          <a:xfrm>
            <a:off x="2764230" y="715517"/>
            <a:ext cx="5626030" cy="395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457200">
              <a:lnSpc>
                <a:spcPct val="50000"/>
              </a:lnSpc>
              <a:spcBef>
                <a:spcPts val="1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Definition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a class implements an interface that extends one or more interfaces, the class must provide implementations for all abstract methods declared in the entire interface hierarchy.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Conceptual Explanation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C extends A and B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Then: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Any class implementing C must implement: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methods of A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methods of B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methods of C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ensures complete fulfillment of the abstract contract.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This Rule Exists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Interfaces define behavior contracts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Implementation must be complete</a:t>
            </a:r>
          </a:p>
          <a:p>
            <a:pPr marL="457200" indent="-317500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Partial implementation violates abstraction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33;p51" descr="Google Shape;333;p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Hierarchical Understanding…"/>
          <p:cNvSpPr txBox="1"/>
          <p:nvPr/>
        </p:nvSpPr>
        <p:spPr>
          <a:xfrm>
            <a:off x="2711199" y="272033"/>
            <a:ext cx="6151623" cy="497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lnSpc>
                <a:spcPct val="50000"/>
              </a:lnSpc>
              <a:spcBef>
                <a:spcPts val="1400"/>
              </a:spcBef>
              <a:defRPr sz="1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Hierarchical Understanding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A → declares method1()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B → declares method2()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C extends A, B → declares method3()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class implementing C must define: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method1()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method2()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method3()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Important Academic Observation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Even if methods are not directly declared in the child interface, they are inherited and must be implemented.</a:t>
            </a:r>
          </a:p>
          <a:p>
            <a:pPr defTabSz="457200">
              <a:lnSpc>
                <a:spcPct val="50000"/>
              </a:lnSpc>
              <a:spcBef>
                <a:spcPts val="1400"/>
              </a:spcBef>
              <a:defRPr sz="1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Real-Life Analogy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Consider: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BasicDevice → powerOn()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NetworkDevice → connectToNetwork()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SmartDevice extends both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a company manufactures a SmartDevice, it must support:</a:t>
            </a:r>
          </a:p>
          <a:p>
            <a:pPr marL="430741" indent="-291041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powerOn</a:t>
            </a:r>
          </a:p>
          <a:p>
            <a:pPr marL="430741" indent="-291041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connectToNetwork</a:t>
            </a:r>
          </a:p>
          <a:p>
            <a:pPr marL="430741" indent="-291041" defTabSz="457200">
              <a:lnSpc>
                <a:spcPct val="50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any additional smart features</a:t>
            </a:r>
          </a:p>
          <a:p>
            <a:pPr defTabSz="457200">
              <a:lnSpc>
                <a:spcPct val="50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Failure to implement any capability means the device is incomplete.</a:t>
            </a:r>
          </a:p>
        </p:txBody>
      </p:sp>
      <p:sp>
        <p:nvSpPr>
          <p:cNvPr id="370" name="Key Rules…"/>
          <p:cNvSpPr txBox="1"/>
          <p:nvPr/>
        </p:nvSpPr>
        <p:spPr>
          <a:xfrm>
            <a:off x="116674" y="2236702"/>
            <a:ext cx="2181862" cy="2214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1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Rules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class cannot skip inherited interface methods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not fully implemented, the class must be declared abstract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hierarchy does not reduce implementation responsibility</a:t>
            </a:r>
          </a:p>
        </p:txBody>
      </p:sp>
      <p:sp>
        <p:nvSpPr>
          <p:cNvPr id="371" name="Implementing Inherited Interfaces"/>
          <p:cNvSpPr txBox="1"/>
          <p:nvPr/>
        </p:nvSpPr>
        <p:spPr>
          <a:xfrm>
            <a:off x="87065" y="474927"/>
            <a:ext cx="2946782" cy="1683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Implementing Inherited Interfaces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40;p52" descr="Google Shape;340;p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Dynamic Method Dispatch"/>
          <p:cNvSpPr txBox="1"/>
          <p:nvPr/>
        </p:nvSpPr>
        <p:spPr>
          <a:xfrm>
            <a:off x="167746" y="478833"/>
            <a:ext cx="2247688" cy="1683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Dynamic Method Dispatch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75" name="Definition…"/>
          <p:cNvSpPr txBox="1"/>
          <p:nvPr/>
        </p:nvSpPr>
        <p:spPr>
          <a:xfrm>
            <a:off x="2759549" y="318584"/>
            <a:ext cx="5759157" cy="4506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Definition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Dynamic Method Dispatch is the mechanism by which a call to an overridden method is resolved at runtime rather than at compile time.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Java, when a superclass or interface reference refers to a subclass object, the method that gets executed is determined by the actual object type during runtime.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is the foundation of runtime polymorphism.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It Is Called “Dynamic”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 binding happens during execution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determines the correct method implementation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Decision is not made at compile time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Principle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Type → Decides accessible methods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 Type → Decides executed method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47;p53" descr="Google Shape;347;p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Execution Flow Concept…"/>
          <p:cNvSpPr txBox="1"/>
          <p:nvPr/>
        </p:nvSpPr>
        <p:spPr>
          <a:xfrm>
            <a:off x="2680642" y="188256"/>
            <a:ext cx="6182180" cy="517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1400"/>
              </a:spcBef>
              <a:defRPr sz="1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Execution Flow Concept 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variable created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 created using subclass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 is overridden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checks actual object type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AutoNum type="arabicPeriod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Corresponding method executes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Real-Life Analogy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Consider: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remote control (reference)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Connected to a TV (object)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remote is connected to TV → TV functions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connected to AC → AC functions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Same reference, different behavior depending on object.</a:t>
            </a:r>
          </a:p>
          <a:p>
            <a:pPr defTabSz="457200">
              <a:lnSpc>
                <a:spcPct val="75000"/>
              </a:lnSpc>
              <a:spcBef>
                <a:spcPts val="1400"/>
              </a:spcBef>
              <a:defRPr sz="1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Important Conditions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 must be overridden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Inheritance must exist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should be parent type</a:t>
            </a:r>
          </a:p>
          <a:p>
            <a:pPr marL="430741" indent="-291041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 should be child type</a:t>
            </a:r>
          </a:p>
        </p:txBody>
      </p:sp>
      <p:sp>
        <p:nvSpPr>
          <p:cNvPr id="379" name="Dynamic Method Dispatch enables:…"/>
          <p:cNvSpPr txBox="1"/>
          <p:nvPr/>
        </p:nvSpPr>
        <p:spPr>
          <a:xfrm>
            <a:off x="72573" y="2776106"/>
            <a:ext cx="2292212" cy="116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Dynamic Method Dispatch enables: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Runtime polymorphism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Flexible architecture</a:t>
            </a:r>
          </a:p>
          <a:p>
            <a:pPr marL="457200" indent="-317500" defTabSz="457200">
              <a:lnSpc>
                <a:spcPct val="75000"/>
              </a:lnSpc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Extensible system design</a:t>
            </a:r>
          </a:p>
        </p:txBody>
      </p:sp>
      <p:sp>
        <p:nvSpPr>
          <p:cNvPr id="380" name="Dynamic Method Dispatch"/>
          <p:cNvSpPr txBox="1"/>
          <p:nvPr/>
        </p:nvSpPr>
        <p:spPr>
          <a:xfrm>
            <a:off x="167746" y="478833"/>
            <a:ext cx="2247688" cy="1683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Dynamic Method Dispatch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54;p54" descr="Google Shape;354;p5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Internal Working of Dynamic Method Dispatch"/>
          <p:cNvSpPr txBox="1"/>
          <p:nvPr/>
        </p:nvSpPr>
        <p:spPr>
          <a:xfrm>
            <a:off x="74172" y="494457"/>
            <a:ext cx="2206988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Internal Working of Dynamic Method Dispatch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84" name="Concept Overview…"/>
          <p:cNvSpPr txBox="1"/>
          <p:nvPr/>
        </p:nvSpPr>
        <p:spPr>
          <a:xfrm>
            <a:off x="2643272" y="494457"/>
            <a:ext cx="6219550" cy="474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8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 Overview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Dynamic Method Dispatch works through runtime method binding, where the Java Virtual Machine (JVM) determines which overridden method to execute based on the actual object stored in memory.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Compile-Time vs Runtime Behavior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 Compile Time: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type is checked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 existence is verified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Access control is validated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 Runtime: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checks the actual object type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Overridden method is selected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Correct method implementation executes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Memory-Level Understanding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When:</a:t>
            </a:r>
          </a:p>
          <a:p>
            <a:pPr defTabSz="457200">
              <a:lnSpc>
                <a:spcPct val="75000"/>
              </a:lnSpc>
              <a:spcBef>
                <a:spcPts val="8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Parent obj = new Child();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 is a reference variable stored in stack memory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Child object is created in heap memory</a:t>
            </a:r>
          </a:p>
          <a:p>
            <a:pPr marL="457200" indent="-317500" defTabSz="457200">
              <a:lnSpc>
                <a:spcPct val="75000"/>
              </a:lnSpc>
              <a:spcBef>
                <a:spcPts val="8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reference points to the child object</a:t>
            </a:r>
          </a:p>
        </p:txBody>
      </p:sp>
      <p:sp>
        <p:nvSpPr>
          <p:cNvPr id="385" name="During method call:…"/>
          <p:cNvSpPr txBox="1"/>
          <p:nvPr/>
        </p:nvSpPr>
        <p:spPr>
          <a:xfrm>
            <a:off x="186327" y="3049546"/>
            <a:ext cx="1612905" cy="130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During method call: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obj.display();</a:t>
            </a:r>
          </a:p>
          <a:p>
            <a:pPr defTabSz="457200">
              <a:lnSpc>
                <a:spcPct val="75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inspects the actual object in heap and executes the overridden method in Child.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61;p55" descr="Google Shape;361;p5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952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Why Parent Method Does Not Execute…"/>
          <p:cNvSpPr txBox="1"/>
          <p:nvPr/>
        </p:nvSpPr>
        <p:spPr>
          <a:xfrm>
            <a:off x="2656886" y="348233"/>
            <a:ext cx="6205936" cy="453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7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Parent Method Does Not Execute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Even though the reference type is Parent: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method is overridden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JVM prioritizes the object type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Therefore, child method is executed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Technical Insight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Dynamic method dispatch uses virtual method table (VMT) internally to determine the correct method implementation.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Conditions Required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Inheritance must exist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 must be overridden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 type must be parent class or interface</a:t>
            </a:r>
          </a:p>
          <a:p>
            <a:pPr marL="457200" indent="-317500" defTabSz="457200">
              <a:lnSpc>
                <a:spcPct val="75000"/>
              </a:lnSpc>
              <a:spcBef>
                <a:spcPts val="7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 must be subclass implementation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Real-Life Analogy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Think of: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manager (reference)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with different employees (objects)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Depending on the actual employee assigned, behavior differs even though manager reference is same.</a:t>
            </a:r>
          </a:p>
        </p:txBody>
      </p:sp>
      <p:sp>
        <p:nvSpPr>
          <p:cNvPr id="389" name="Internal Working of Dynamic Method Dispatch"/>
          <p:cNvSpPr txBox="1"/>
          <p:nvPr/>
        </p:nvSpPr>
        <p:spPr>
          <a:xfrm>
            <a:off x="74172" y="494457"/>
            <a:ext cx="2206988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Internal Working of Dynamic Method Dispatch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Abstract Class in Java"/>
          <p:cNvSpPr txBox="1"/>
          <p:nvPr/>
        </p:nvSpPr>
        <p:spPr>
          <a:xfrm>
            <a:off x="270422" y="569212"/>
            <a:ext cx="1537160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in Java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93" name="Definition…"/>
          <p:cNvSpPr txBox="1"/>
          <p:nvPr/>
        </p:nvSpPr>
        <p:spPr>
          <a:xfrm>
            <a:off x="2722821" y="272033"/>
            <a:ext cx="5700118" cy="4665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Definition</a:t>
            </a:r>
          </a:p>
          <a:p>
            <a:pPr defTabSz="457200">
              <a:lnSpc>
                <a:spcPct val="75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abstract class in Java is a class declared using the abstract keyword that cannot be instantiated and may contain both abstract and concrete methods.</a:t>
            </a:r>
          </a:p>
          <a:p>
            <a:pPr defTabSz="457200">
              <a:lnSpc>
                <a:spcPct val="75000"/>
              </a:lnSpc>
              <a:spcBef>
                <a:spcPts val="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Conceptual Understanding</a:t>
            </a:r>
          </a:p>
          <a:p>
            <a:pPr defTabSz="457200">
              <a:lnSpc>
                <a:spcPct val="75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abstract class is used when: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want to provide partial implementation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Some methods must be implemented by subclasses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Some common functionality should be shared</a:t>
            </a:r>
          </a:p>
          <a:p>
            <a:pPr defTabSz="457200">
              <a:lnSpc>
                <a:spcPct val="75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represents an incomplete blueprint.</a:t>
            </a:r>
          </a:p>
          <a:p>
            <a:pPr defTabSz="457200">
              <a:lnSpc>
                <a:spcPct val="75000"/>
              </a:lnSpc>
              <a:spcBef>
                <a:spcPts val="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Characteristics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Declared using abstract keyword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Cannot create objects directly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May contain:</a:t>
            </a:r>
            <a:br/>
            <a:endParaRPr/>
          </a:p>
          <a:p>
            <a:pPr marL="914400" lvl="1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methods (without body)</a:t>
            </a:r>
          </a:p>
          <a:p>
            <a:pPr marL="914400" lvl="1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Concrete methods (with body)</a:t>
            </a:r>
          </a:p>
          <a:p>
            <a:pPr marL="914400" lvl="1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Constructors</a:t>
            </a:r>
          </a:p>
          <a:p>
            <a:pPr marL="914400" lvl="1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Instance variables</a:t>
            </a:r>
          </a:p>
          <a:p>
            <a:pPr marL="914400" lvl="1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◦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Static methods</a:t>
            </a:r>
          </a:p>
          <a:p>
            <a:pPr defTabSz="457200">
              <a:lnSpc>
                <a:spcPct val="75000"/>
              </a:lnSpc>
              <a:spcBef>
                <a:spcPts val="4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Abstract Class Is Needed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provide common base functionality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enforce method implementation in subclasses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achieve partial abstraction</a:t>
            </a:r>
          </a:p>
          <a:p>
            <a:pPr marL="457200" indent="-317500" defTabSz="457200">
              <a:lnSpc>
                <a:spcPct val="75000"/>
              </a:lnSpc>
              <a:spcBef>
                <a:spcPts val="4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reduce code duplication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Important Rule…"/>
          <p:cNvSpPr txBox="1"/>
          <p:nvPr/>
        </p:nvSpPr>
        <p:spPr>
          <a:xfrm>
            <a:off x="2733703" y="569212"/>
            <a:ext cx="5473364" cy="4392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6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Important Rule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a class contains even one abstract method, the class must be declared abstract.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Real-Life Analogy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class called Shape.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shapes have area(), but each shape calculates area differently.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Shape defines: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calculateArea()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actual implementation is done in: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Circle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Rectangle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Triangle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Shape is abstract because we cannot define area formula universally.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to Use Abstract Class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classes share common code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hierarchy is clearly defined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you want to provide default implementation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Insight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is a mechanism to achieve partial abstraction, unlike interface which traditionally supports complete abstraction.</a:t>
            </a:r>
          </a:p>
        </p:txBody>
      </p:sp>
      <p:pic>
        <p:nvPicPr>
          <p:cNvPr id="396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Abstract Class in Java"/>
          <p:cNvSpPr txBox="1"/>
          <p:nvPr/>
        </p:nvSpPr>
        <p:spPr>
          <a:xfrm>
            <a:off x="270422" y="569212"/>
            <a:ext cx="1537160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in Java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Understanding Abstract Class (Features in Depth)"/>
          <p:cNvSpPr txBox="1"/>
          <p:nvPr/>
        </p:nvSpPr>
        <p:spPr>
          <a:xfrm>
            <a:off x="141784" y="474927"/>
            <a:ext cx="2441397" cy="1950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Understanding Abstract Class (Features in Depth)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401" name="An abstract class is used when we want to create a base class that gives common functionality but still forces subclasses to implement some specific behavior.…"/>
          <p:cNvSpPr txBox="1"/>
          <p:nvPr/>
        </p:nvSpPr>
        <p:spPr>
          <a:xfrm>
            <a:off x="2780974" y="715517"/>
            <a:ext cx="5615060" cy="3894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abstract class is used when we want to create a base class that gives common functionality but still forces subclasses to implement some specific behavior.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neither completely implemented nor completely undefined — it is partially defined.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Makes an Abstract Class Different?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cannot create its object directly.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may contain abstract methods (methods without body).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may also contain normal methods with full implementation.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can have instance variables.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can have constructors.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supports inheritance, but only single inheritance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Do We Need It?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Sometimes we know that all subclasses must follow certain rules, but the exact implementation will differ.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example: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shapes have an area.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how area is calculated depends on the shape.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 instead of writing separate unrelated classes, we create a common abstract class.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Important Rule…"/>
          <p:cNvSpPr txBox="1"/>
          <p:nvPr/>
        </p:nvSpPr>
        <p:spPr>
          <a:xfrm>
            <a:off x="2788660" y="389535"/>
            <a:ext cx="5093083" cy="4504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Important Rule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even one method is declared abstract, the entire class must be declared abstract.</a:t>
            </a:r>
          </a:p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 Perspective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abstract class is useful when: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to share common code among related classes.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to enforce certain methods in subclasses.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partial abstraction, not complete abstraction.</a:t>
            </a:r>
          </a:p>
          <a:p>
            <a:pPr defTabSz="457200"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Think About This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Can we create: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Shape s = new Shape(); ?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No. Because Shape is incomplete.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we can create: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Circle c = new Circle();</a:t>
            </a:r>
          </a:p>
        </p:txBody>
      </p:sp>
      <p:sp>
        <p:nvSpPr>
          <p:cNvPr id="405" name="Understanding Abstract Class (Features in Depth)"/>
          <p:cNvSpPr txBox="1"/>
          <p:nvPr/>
        </p:nvSpPr>
        <p:spPr>
          <a:xfrm>
            <a:off x="141784" y="474927"/>
            <a:ext cx="2441397" cy="1950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Understanding Abstract Class (Features in Depth)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Abstract Class vs Interface"/>
          <p:cNvSpPr txBox="1"/>
          <p:nvPr/>
        </p:nvSpPr>
        <p:spPr>
          <a:xfrm>
            <a:off x="159369" y="569212"/>
            <a:ext cx="1918581" cy="168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vs Interface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409" name="When should we use an abstract class?…"/>
          <p:cNvSpPr txBox="1"/>
          <p:nvPr/>
        </p:nvSpPr>
        <p:spPr>
          <a:xfrm>
            <a:off x="117658" y="1610484"/>
            <a:ext cx="2465523" cy="96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should we use an abstract class?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should we use an interface?</a:t>
            </a:r>
          </a:p>
        </p:txBody>
      </p:sp>
      <p:sp>
        <p:nvSpPr>
          <p:cNvPr id="410" name="Basic Idea…"/>
          <p:cNvSpPr txBox="1"/>
          <p:nvPr/>
        </p:nvSpPr>
        <p:spPr>
          <a:xfrm>
            <a:off x="2695819" y="337428"/>
            <a:ext cx="6054364" cy="4468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Basic Idea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abstract class is used when classes are closely related and share common code.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interface is used when classes may be unrelated but must follow a common behavior contract.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Differences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Methods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can have both abstract and concrete methods.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traditionally contains only abstract methods (used for full abstraction).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Variables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can have instance variables.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variables are always constants (public, static, final).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Constructors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can have constructors.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cannot have constructors.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Inheritance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class can extend only one abstract class.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class can implement multiple interfaces.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Purpose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→ used for code reuse and partial implementation.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→ used to define behavior contracts.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Choosing Between Abstract Class and Interface"/>
          <p:cNvSpPr txBox="1"/>
          <p:nvPr/>
        </p:nvSpPr>
        <p:spPr>
          <a:xfrm>
            <a:off x="111334" y="569212"/>
            <a:ext cx="2571599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Choosing Between Abstract Class and Interface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414" name="Now the real question is not the difference.…"/>
          <p:cNvSpPr txBox="1"/>
          <p:nvPr/>
        </p:nvSpPr>
        <p:spPr>
          <a:xfrm>
            <a:off x="2760313" y="272033"/>
            <a:ext cx="5502136" cy="4708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Now the real question is not the difference.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real question is: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should we use which?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Because in real projects, both are available.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 Abstract Class When: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Classes are closely related.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to share common code.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need instance variables.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need constructors.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partial abstraction.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vehicles share engine logic → better use abstract class.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 Interface When: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only want to define behavior.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Classes may be unrelated.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Multiple inheritance is required.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loose coupling.</a:t>
            </a:r>
          </a:p>
          <a:p>
            <a:pPr marL="457200" indent="-317500" defTabSz="457200">
              <a:lnSpc>
                <a:spcPct val="75000"/>
              </a:lnSpc>
              <a:spcBef>
                <a:spcPts val="600"/>
              </a:spcBef>
              <a:buSzPct val="100000"/>
              <a:buFont typeface="Times New Roman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 want flexible system design.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Example: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Payment method → UPI, Card, NetBanking</a:t>
            </a:r>
          </a:p>
          <a:p>
            <a:pPr defTabSz="457200">
              <a:lnSpc>
                <a:spcPct val="75000"/>
              </a:lnSpc>
              <a:spcBef>
                <a:spcPts val="6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They are unrelated classes but follow same contract → use interface.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Practical Design Thinking…"/>
          <p:cNvSpPr txBox="1"/>
          <p:nvPr/>
        </p:nvSpPr>
        <p:spPr>
          <a:xfrm>
            <a:off x="2756797" y="569212"/>
            <a:ext cx="5156809" cy="3776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75000"/>
              </a:lnSpc>
              <a:spcBef>
                <a:spcPts val="7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Practical Design Thinking 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you ask yourself: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“Do I need common code?”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→ Use abstract class.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“Do I only need a rule that everyone must follow?”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→ Use interface.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Modern Java Note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modern Java versions, interfaces can have default methods.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still: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→ state + behavior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→ behavior contract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Final Integration Understanding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 Class = Partial abstraction + shared implementation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Interface = Complete abstraction + multiple inheritance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Both are tools for abstraction.</a:t>
            </a:r>
          </a:p>
          <a:p>
            <a:pPr defTabSz="457200">
              <a:lnSpc>
                <a:spcPct val="75000"/>
              </a:lnSpc>
              <a:spcBef>
                <a:spcPts val="7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difference lies in design intention.</a:t>
            </a:r>
          </a:p>
        </p:txBody>
      </p:sp>
      <p:sp>
        <p:nvSpPr>
          <p:cNvPr id="418" name="Choosing Between Abstract Class and Interface"/>
          <p:cNvSpPr txBox="1"/>
          <p:nvPr/>
        </p:nvSpPr>
        <p:spPr>
          <a:xfrm>
            <a:off x="111334" y="569212"/>
            <a:ext cx="2571599" cy="195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400"/>
              </a:spcBef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Choosing Between Abstract Class and Interface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368;p56" descr="Google Shape;368;p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89" y="-171450"/>
            <a:ext cx="1986534" cy="886968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hank you"/>
          <p:cNvSpPr txBox="1"/>
          <p:nvPr/>
        </p:nvSpPr>
        <p:spPr>
          <a:xfrm>
            <a:off x="3478921" y="1971436"/>
            <a:ext cx="4187167" cy="1506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sz="4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</a:t>
            </a:r>
          </a:p>
          <a:p>
            <a:pPr defTabSz="457200"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4258</Words>
  <Application>Microsoft Office PowerPoint</Application>
  <PresentationFormat>On-screen Show (16:9)</PresentationFormat>
  <Paragraphs>723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Arial Unicode MS</vt:lpstr>
      <vt:lpstr>Calibri</vt:lpstr>
      <vt:lpstr>Cambria</vt:lpstr>
      <vt:lpstr>Corbel</vt:lpstr>
      <vt:lpstr>Symbol</vt:lpstr>
      <vt:lpstr>Times New Roman</vt:lpstr>
      <vt:lpstr>Simple Light</vt:lpstr>
      <vt:lpstr>         Unit – 4 Inheritance and Interfaces in Java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Syntax of an Interface in Java</vt:lpstr>
      <vt:lpstr>Real-World Analogy of an Interface</vt:lpstr>
      <vt:lpstr>Mapping to Java Interface </vt:lpstr>
      <vt:lpstr>Interface Vehicle {     void start();     void stop(); }</vt:lpstr>
      <vt:lpstr>Implementing an Interface in Java</vt:lpstr>
      <vt:lpstr>Rules and Restrictions While Implementing an Interface</vt:lpstr>
      <vt:lpstr>Using an Interface Implementation in a Program</vt:lpstr>
      <vt:lpstr>Interface Reference in Java</vt:lpstr>
      <vt:lpstr>Interface Reference – Example</vt:lpstr>
      <vt:lpstr>Runtime Polymorphism Using Interface</vt:lpstr>
      <vt:lpstr>Why JVM Executes Object’s Method (Internal View)</vt:lpstr>
      <vt:lpstr>PowerPoint Presentation</vt:lpstr>
      <vt:lpstr> Using instanceof with Interface – Example </vt:lpstr>
      <vt:lpstr> Using instanceof with Interface – 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Unit – 4 Inheritance and Interfaces in Java </dc:title>
  <cp:lastModifiedBy>tourist</cp:lastModifiedBy>
  <cp:revision>1</cp:revision>
  <dcterms:modified xsi:type="dcterms:W3CDTF">2026-03-09T13:53:52Z</dcterms:modified>
</cp:coreProperties>
</file>