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8"/>
  </p:notesMasterIdLst>
  <p:sldIdLst>
    <p:sldId id="303" r:id="rId2"/>
    <p:sldId id="257" r:id="rId3"/>
    <p:sldId id="284" r:id="rId4"/>
    <p:sldId id="279" r:id="rId5"/>
    <p:sldId id="278" r:id="rId6"/>
    <p:sldId id="289" r:id="rId7"/>
    <p:sldId id="290" r:id="rId8"/>
    <p:sldId id="280" r:id="rId9"/>
    <p:sldId id="281" r:id="rId10"/>
    <p:sldId id="285" r:id="rId11"/>
    <p:sldId id="282" r:id="rId12"/>
    <p:sldId id="283" r:id="rId13"/>
    <p:sldId id="301" r:id="rId14"/>
    <p:sldId id="287" r:id="rId15"/>
    <p:sldId id="292" r:id="rId16"/>
    <p:sldId id="286" r:id="rId17"/>
    <p:sldId id="288" r:id="rId18"/>
    <p:sldId id="291" r:id="rId19"/>
    <p:sldId id="258" r:id="rId20"/>
    <p:sldId id="299" r:id="rId21"/>
    <p:sldId id="261" r:id="rId22"/>
    <p:sldId id="293" r:id="rId23"/>
    <p:sldId id="294" r:id="rId24"/>
    <p:sldId id="295" r:id="rId25"/>
    <p:sldId id="262" r:id="rId26"/>
    <p:sldId id="296" r:id="rId27"/>
    <p:sldId id="263" r:id="rId28"/>
    <p:sldId id="297" r:id="rId29"/>
    <p:sldId id="265" r:id="rId30"/>
    <p:sldId id="266" r:id="rId31"/>
    <p:sldId id="267" r:id="rId32"/>
    <p:sldId id="298" r:id="rId33"/>
    <p:sldId id="268" r:id="rId34"/>
    <p:sldId id="269" r:id="rId35"/>
    <p:sldId id="300" r:id="rId36"/>
    <p:sldId id="271" r:id="rId37"/>
  </p:sldIdLst>
  <p:sldSz cx="12192000" cy="6858000"/>
  <p:notesSz cx="12192000" cy="6858000"/>
  <p:defaultTextStyle>
    <a:defPPr>
      <a:defRPr kern="0"/>
    </a:defPPr>
  </p:defaultTextStyle>
  <p:extLst>
    <p:ext uri="{EFAFB233-063F-42B5-8137-9DF3F51BA10A}">
      <p15:sldGuideLst xmlns:p15="http://schemas.microsoft.com/office/powerpoint/2012/main">
        <p15:guide id="1" orient="horz" pos="2896"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512" y="76"/>
      </p:cViewPr>
      <p:guideLst>
        <p:guide orient="horz" pos="2896"/>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5785F6CB-5D68-4B01-A823-61EA4316B785}" type="datetimeFigureOut">
              <a:rPr lang="en-US" smtClean="0"/>
              <a:t>2/23/2026</a:t>
            </a:fld>
            <a:endParaRPr lang="en-US"/>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7CC7AB0E-F1B4-48F3-8850-B145350957AC}" type="slidenum">
              <a:rPr lang="en-US" smtClean="0"/>
              <a:t>‹#›</a:t>
            </a:fld>
            <a:endParaRPr lang="en-US"/>
          </a:p>
        </p:txBody>
      </p:sp>
    </p:spTree>
    <p:extLst>
      <p:ext uri="{BB962C8B-B14F-4D97-AF65-F5344CB8AC3E}">
        <p14:creationId xmlns:p14="http://schemas.microsoft.com/office/powerpoint/2010/main" val="3478706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038980" y="898601"/>
            <a:ext cx="6944995" cy="939800"/>
          </a:xfrm>
          <a:prstGeom prst="rect">
            <a:avLst/>
          </a:prstGeom>
        </p:spPr>
        <p:txBody>
          <a:bodyPr wrap="square" lIns="0" tIns="0" rIns="0" bIns="0">
            <a:spAutoFit/>
          </a:bodyPr>
          <a:lstStyle>
            <a:lvl1pPr>
              <a:defRPr sz="3600" b="1" i="0">
                <a:solidFill>
                  <a:schemeClr val="bg1"/>
                </a:solidFill>
                <a:latin typeface="Corbel"/>
                <a:cs typeface="Corbel"/>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sz="2200" b="0" i="0">
                <a:solidFill>
                  <a:srgbClr val="575757"/>
                </a:solidFill>
                <a:latin typeface="Corbel"/>
                <a:cs typeface="Corbe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9217B6DA-3EC3-4197-A37C-F09A359EB3BA}" type="datetime1">
              <a:rPr lang="en-US" smtClean="0"/>
              <a:t>2/23/2026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bg1"/>
                </a:solidFill>
                <a:latin typeface="Corbel"/>
                <a:cs typeface="Corbel"/>
              </a:defRPr>
            </a:lvl1pPr>
          </a:lstStyle>
          <a:p>
            <a:endParaRPr/>
          </a:p>
        </p:txBody>
      </p:sp>
      <p:sp>
        <p:nvSpPr>
          <p:cNvPr id="3" name="Holder 3"/>
          <p:cNvSpPr>
            <a:spLocks noGrp="1"/>
          </p:cNvSpPr>
          <p:nvPr>
            <p:ph type="body" idx="1"/>
          </p:nvPr>
        </p:nvSpPr>
        <p:spPr/>
        <p:txBody>
          <a:bodyPr lIns="0" tIns="0" rIns="0" bIns="0"/>
          <a:lstStyle>
            <a:lvl1pPr>
              <a:defRPr sz="2200" b="0" i="0">
                <a:solidFill>
                  <a:srgbClr val="575757"/>
                </a:solidFill>
                <a:latin typeface="Corbel"/>
                <a:cs typeface="Corbe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895E014C-FA46-4D08-AB2A-FA372BF391C2}" type="datetime1">
              <a:rPr lang="en-US" smtClean="0"/>
              <a:t>2/23/2026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bg1"/>
                </a:solidFill>
                <a:latin typeface="Corbel"/>
                <a:cs typeface="Corbel"/>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6206763B-C997-400E-846C-B243ACAF01E6}" type="datetime1">
              <a:rPr lang="en-US" smtClean="0"/>
              <a:t>2/23/2026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600" b="1" i="0">
                <a:solidFill>
                  <a:schemeClr val="bg1"/>
                </a:solidFill>
                <a:latin typeface="Corbel"/>
                <a:cs typeface="Corbe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26B550CD-00B6-4816-82D6-0E44B8820028}" type="datetime1">
              <a:rPr lang="en-US" smtClean="0"/>
              <a:t>2/23/2026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EE1020CF-39B7-49DA-8F92-4B95540293AB}" type="datetime1">
              <a:rPr lang="en-US" smtClean="0"/>
              <a:t>2/23/2026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758951"/>
            <a:ext cx="3444240" cy="5330825"/>
          </a:xfrm>
          <a:custGeom>
            <a:avLst/>
            <a:gdLst/>
            <a:ahLst/>
            <a:cxnLst/>
            <a:rect l="l" t="t" r="r" b="b"/>
            <a:pathLst>
              <a:path w="3444240" h="5330825">
                <a:moveTo>
                  <a:pt x="3444240" y="0"/>
                </a:moveTo>
                <a:lnTo>
                  <a:pt x="0" y="0"/>
                </a:lnTo>
                <a:lnTo>
                  <a:pt x="0" y="5330444"/>
                </a:lnTo>
                <a:lnTo>
                  <a:pt x="3444240" y="5330444"/>
                </a:lnTo>
                <a:lnTo>
                  <a:pt x="3444240" y="0"/>
                </a:lnTo>
                <a:close/>
              </a:path>
            </a:pathLst>
          </a:custGeom>
          <a:solidFill>
            <a:srgbClr val="40B8D2"/>
          </a:solidFill>
        </p:spPr>
        <p:txBody>
          <a:bodyPr wrap="square" lIns="0" tIns="0" rIns="0" bIns="0" rtlCol="0"/>
          <a:lstStyle/>
          <a:p>
            <a:endParaRPr/>
          </a:p>
        </p:txBody>
      </p:sp>
      <p:sp>
        <p:nvSpPr>
          <p:cNvPr id="17" name="bg object 17"/>
          <p:cNvSpPr/>
          <p:nvPr/>
        </p:nvSpPr>
        <p:spPr>
          <a:xfrm>
            <a:off x="11817095" y="758951"/>
            <a:ext cx="374650" cy="5330825"/>
          </a:xfrm>
          <a:custGeom>
            <a:avLst/>
            <a:gdLst/>
            <a:ahLst/>
            <a:cxnLst/>
            <a:rect l="l" t="t" r="r" b="b"/>
            <a:pathLst>
              <a:path w="374650" h="5330825">
                <a:moveTo>
                  <a:pt x="374523" y="0"/>
                </a:moveTo>
                <a:lnTo>
                  <a:pt x="0" y="0"/>
                </a:lnTo>
                <a:lnTo>
                  <a:pt x="0" y="5330444"/>
                </a:lnTo>
                <a:lnTo>
                  <a:pt x="374523" y="5330444"/>
                </a:lnTo>
                <a:lnTo>
                  <a:pt x="374523" y="0"/>
                </a:lnTo>
                <a:close/>
              </a:path>
            </a:pathLst>
          </a:custGeom>
          <a:solidFill>
            <a:srgbClr val="C6C6C6">
              <a:alpha val="49803"/>
            </a:srgbClr>
          </a:solidFill>
        </p:spPr>
        <p:txBody>
          <a:bodyPr wrap="square" lIns="0" tIns="0" rIns="0" bIns="0" rtlCol="0"/>
          <a:lstStyle/>
          <a:p>
            <a:endParaRPr/>
          </a:p>
        </p:txBody>
      </p:sp>
      <p:sp>
        <p:nvSpPr>
          <p:cNvPr id="2" name="Holder 2"/>
          <p:cNvSpPr>
            <a:spLocks noGrp="1"/>
          </p:cNvSpPr>
          <p:nvPr>
            <p:ph type="title"/>
          </p:nvPr>
        </p:nvSpPr>
        <p:spPr>
          <a:xfrm>
            <a:off x="331419" y="2814904"/>
            <a:ext cx="2745105" cy="1068704"/>
          </a:xfrm>
          <a:prstGeom prst="rect">
            <a:avLst/>
          </a:prstGeom>
        </p:spPr>
        <p:txBody>
          <a:bodyPr wrap="square" lIns="0" tIns="0" rIns="0" bIns="0">
            <a:spAutoFit/>
          </a:bodyPr>
          <a:lstStyle>
            <a:lvl1pPr>
              <a:defRPr sz="3600" b="1" i="0">
                <a:solidFill>
                  <a:schemeClr val="bg1"/>
                </a:solidFill>
                <a:latin typeface="Corbel"/>
                <a:cs typeface="Corbel"/>
              </a:defRPr>
            </a:lvl1pPr>
          </a:lstStyle>
          <a:p>
            <a:endParaRPr/>
          </a:p>
        </p:txBody>
      </p:sp>
      <p:sp>
        <p:nvSpPr>
          <p:cNvPr id="3" name="Holder 3"/>
          <p:cNvSpPr>
            <a:spLocks noGrp="1"/>
          </p:cNvSpPr>
          <p:nvPr>
            <p:ph type="body" idx="1"/>
          </p:nvPr>
        </p:nvSpPr>
        <p:spPr>
          <a:xfrm>
            <a:off x="4050284" y="2825026"/>
            <a:ext cx="6004559" cy="2416175"/>
          </a:xfrm>
          <a:prstGeom prst="rect">
            <a:avLst/>
          </a:prstGeom>
        </p:spPr>
        <p:txBody>
          <a:bodyPr wrap="square" lIns="0" tIns="0" rIns="0" bIns="0">
            <a:spAutoFit/>
          </a:bodyPr>
          <a:lstStyle>
            <a:lvl1pPr>
              <a:defRPr sz="2200" b="0" i="0">
                <a:solidFill>
                  <a:srgbClr val="575757"/>
                </a:solidFill>
                <a:latin typeface="Corbel"/>
                <a:cs typeface="Corbel"/>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3F2E8EC1-CF5C-4372-A278-13494E3E3775}" type="datetime1">
              <a:rPr lang="en-US" smtClean="0"/>
              <a:t>2/23/2026</a:t>
            </a:fld>
            <a:endParaRPr lang="en-US"/>
          </a:p>
        </p:txBody>
      </p:sp>
      <p:sp>
        <p:nvSpPr>
          <p:cNvPr id="6" name="Holder 6"/>
          <p:cNvSpPr>
            <a:spLocks noGrp="1"/>
          </p:cNvSpPr>
          <p:nvPr>
            <p:ph type="sldNum" sz="quarter" idx="7"/>
          </p:nvPr>
        </p:nvSpPr>
        <p:spPr>
          <a:xfrm>
            <a:off x="8778240" y="6377940"/>
            <a:ext cx="280416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emf"/><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81400" y="1752600"/>
            <a:ext cx="8153400" cy="3693319"/>
          </a:xfrm>
        </p:spPr>
        <p:txBody>
          <a:bodyPr/>
          <a:lstStyle/>
          <a:p>
            <a:pPr algn="ctr"/>
            <a:r>
              <a:rPr lang="en-GB" sz="6000" dirty="0" smtClean="0">
                <a:solidFill>
                  <a:schemeClr val="tx1"/>
                </a:solidFill>
                <a:latin typeface="+mj-lt"/>
              </a:rPr>
              <a:t>Unit No 4</a:t>
            </a:r>
            <a:br>
              <a:rPr lang="en-GB" sz="6000" dirty="0" smtClean="0">
                <a:solidFill>
                  <a:schemeClr val="tx1"/>
                </a:solidFill>
                <a:latin typeface="+mj-lt"/>
              </a:rPr>
            </a:br>
            <a:r>
              <a:rPr lang="en-GB" sz="6000" dirty="0" smtClean="0">
                <a:solidFill>
                  <a:schemeClr val="tx1"/>
                </a:solidFill>
                <a:latin typeface="+mj-lt"/>
              </a:rPr>
              <a:t> Inheritance</a:t>
            </a:r>
            <a:br>
              <a:rPr lang="en-GB" sz="6000" dirty="0" smtClean="0">
                <a:solidFill>
                  <a:schemeClr val="tx1"/>
                </a:solidFill>
                <a:latin typeface="+mj-lt"/>
              </a:rPr>
            </a:br>
            <a:r>
              <a:rPr lang="en-GB" sz="6000" dirty="0" smtClean="0">
                <a:solidFill>
                  <a:schemeClr val="tx1"/>
                </a:solidFill>
                <a:latin typeface="+mj-lt"/>
              </a:rPr>
              <a:t> and</a:t>
            </a:r>
            <a:br>
              <a:rPr lang="en-GB" sz="6000" dirty="0" smtClean="0">
                <a:solidFill>
                  <a:schemeClr val="tx1"/>
                </a:solidFill>
                <a:latin typeface="+mj-lt"/>
              </a:rPr>
            </a:br>
            <a:r>
              <a:rPr lang="en-GB" sz="6000" dirty="0" smtClean="0">
                <a:solidFill>
                  <a:schemeClr val="tx1"/>
                </a:solidFill>
                <a:latin typeface="+mj-lt"/>
              </a:rPr>
              <a:t>    </a:t>
            </a:r>
            <a:r>
              <a:rPr lang="en-GB" sz="6000" dirty="0">
                <a:solidFill>
                  <a:schemeClr val="tx1"/>
                </a:solidFill>
                <a:latin typeface="+mj-lt"/>
              </a:rPr>
              <a:t>Interfaces in Java </a:t>
            </a:r>
            <a:r>
              <a:rPr lang="en-GB" b="0" dirty="0"/>
              <a:t>	</a:t>
            </a:r>
            <a:endParaRPr lang="en-GB" dirty="0"/>
          </a:p>
        </p:txBody>
      </p:sp>
      <p:pic>
        <p:nvPicPr>
          <p:cNvPr id="3" name="object 7"/>
          <p:cNvPicPr/>
          <p:nvPr/>
        </p:nvPicPr>
        <p:blipFill>
          <a:blip r:embed="rId2" cstate="print"/>
          <a:stretch>
            <a:fillRect/>
          </a:stretch>
        </p:blipFill>
        <p:spPr>
          <a:xfrm>
            <a:off x="9513719" y="-228600"/>
            <a:ext cx="2648711" cy="1182624"/>
          </a:xfrm>
          <a:prstGeom prst="rect">
            <a:avLst/>
          </a:prstGeom>
        </p:spPr>
      </p:pic>
    </p:spTree>
    <p:extLst>
      <p:ext uri="{BB962C8B-B14F-4D97-AF65-F5344CB8AC3E}">
        <p14:creationId xmlns:p14="http://schemas.microsoft.com/office/powerpoint/2010/main" val="165148572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9657" y="1993481"/>
            <a:ext cx="2938780" cy="998991"/>
          </a:xfrm>
          <a:prstGeom prst="rect">
            <a:avLst/>
          </a:prstGeom>
        </p:spPr>
        <p:txBody>
          <a:bodyPr vert="horz" wrap="square" lIns="0" tIns="13970" rIns="0" bIns="0" rtlCol="0">
            <a:spAutoFit/>
          </a:bodyPr>
          <a:lstStyle/>
          <a:p>
            <a:pPr marL="12065" marR="5080" indent="0" algn="ctr">
              <a:lnSpc>
                <a:spcPct val="100000"/>
              </a:lnSpc>
              <a:spcBef>
                <a:spcPts val="110"/>
              </a:spcBef>
              <a:buNone/>
            </a:pPr>
            <a:r>
              <a:rPr lang="en-GB" sz="3200" b="1" dirty="0" smtClean="0"/>
              <a:t>Inheritance</a:t>
            </a:r>
            <a:r>
              <a:rPr lang="en-GB" sz="3200" dirty="0" smtClean="0"/>
              <a:t> </a:t>
            </a:r>
            <a:r>
              <a:rPr lang="en-GB" sz="3200" b="1" dirty="0" smtClean="0"/>
              <a:t>Overview</a:t>
            </a:r>
            <a:endParaRPr sz="3200" b="1" dirty="0">
              <a:latin typeface="Times New Roman" panose="02020503050405090304" charset="0"/>
              <a:cs typeface="Times New Roman" panose="02020503050405090304" charset="0"/>
            </a:endParaRPr>
          </a:p>
        </p:txBody>
      </p:sp>
      <p:sp>
        <p:nvSpPr>
          <p:cNvPr id="4" name="object 4"/>
          <p:cNvSpPr txBox="1"/>
          <p:nvPr/>
        </p:nvSpPr>
        <p:spPr>
          <a:xfrm>
            <a:off x="4038726" y="1142745"/>
            <a:ext cx="6165215" cy="960519"/>
          </a:xfrm>
          <a:prstGeom prst="rect">
            <a:avLst/>
          </a:prstGeom>
        </p:spPr>
        <p:txBody>
          <a:bodyPr vert="horz" wrap="square" lIns="0" tIns="11430" rIns="0" bIns="0" rtlCol="0">
            <a:spAutoFit/>
          </a:bodyPr>
          <a:lstStyle/>
          <a:p>
            <a:pPr marL="355600" indent="-342900">
              <a:spcBef>
                <a:spcPts val="90"/>
              </a:spcBef>
              <a:buFont typeface="Arial" panose="020B0604020202090204" pitchFamily="34" charset="0"/>
              <a:buChar char="•"/>
            </a:pPr>
            <a:endParaRPr lang="en-US" sz="2000" dirty="0" smtClean="0">
              <a:latin typeface="Times New Roman" panose="02020503050405090304" charset="0"/>
              <a:cs typeface="Times New Roman" panose="02020503050405090304" charset="0"/>
            </a:endParaRPr>
          </a:p>
          <a:p>
            <a:pPr marL="355600" indent="-342900">
              <a:lnSpc>
                <a:spcPct val="100000"/>
              </a:lnSpc>
              <a:spcBef>
                <a:spcPts val="90"/>
              </a:spcBef>
              <a:buFont typeface="Arial" panose="020B0604020202090204" pitchFamily="34" charset="0"/>
              <a:buChar char="•"/>
            </a:pPr>
            <a:endParaRPr lang="en-US" sz="2000" spc="-10" dirty="0" smtClean="0">
              <a:latin typeface="Times New Roman" panose="02020503050405090304" charset="0"/>
              <a:cs typeface="Times New Roman" panose="02020503050405090304" charset="0"/>
            </a:endParaRPr>
          </a:p>
          <a:p>
            <a:pPr marL="355600" indent="-342900">
              <a:lnSpc>
                <a:spcPct val="100000"/>
              </a:lnSpc>
              <a:spcBef>
                <a:spcPts val="90"/>
              </a:spcBef>
              <a:buFont typeface="Arial" panose="020B0604020202090204" pitchFamily="34" charset="0"/>
              <a:buChar char="•"/>
            </a:pPr>
            <a:endParaRPr sz="2000" dirty="0">
              <a:latin typeface="Times New Roman" panose="02020503050405090304" charset="0"/>
              <a:cs typeface="Times New Roman" panose="02020503050405090304" charset="0"/>
            </a:endParaRPr>
          </a:p>
        </p:txBody>
      </p:sp>
      <p:pic>
        <p:nvPicPr>
          <p:cNvPr id="10" name="object 7"/>
          <p:cNvPicPr/>
          <p:nvPr/>
        </p:nvPicPr>
        <p:blipFill>
          <a:blip r:embed="rId2" cstate="print"/>
          <a:stretch>
            <a:fillRect/>
          </a:stretch>
        </p:blipFill>
        <p:spPr>
          <a:xfrm>
            <a:off x="9513719" y="-228600"/>
            <a:ext cx="2648711" cy="1182624"/>
          </a:xfrm>
          <a:prstGeom prst="rect">
            <a:avLst/>
          </a:prstGeom>
        </p:spPr>
      </p:pic>
      <p:sp>
        <p:nvSpPr>
          <p:cNvPr id="3" name="Rectangle 2"/>
          <p:cNvSpPr/>
          <p:nvPr/>
        </p:nvSpPr>
        <p:spPr>
          <a:xfrm>
            <a:off x="3505200" y="1115036"/>
            <a:ext cx="8153400" cy="4247317"/>
          </a:xfrm>
          <a:prstGeom prst="rect">
            <a:avLst/>
          </a:prstGeom>
        </p:spPr>
        <p:txBody>
          <a:bodyPr wrap="square">
            <a:spAutoFit/>
          </a:bodyPr>
          <a:lstStyle/>
          <a:p>
            <a:pPr marL="285750" indent="-285750">
              <a:buFont typeface="Arial" panose="020B0604020202020204" pitchFamily="34" charset="0"/>
              <a:buChar char="•"/>
            </a:pPr>
            <a:r>
              <a:rPr lang="en-GB" dirty="0" smtClean="0"/>
              <a:t>Inheritance is one of the cornerstones of object-oriented programming because it allows the creation of hierarchical classifications.</a:t>
            </a:r>
          </a:p>
          <a:p>
            <a:endParaRPr lang="en-GB" dirty="0"/>
          </a:p>
          <a:p>
            <a:pPr marL="285750" indent="-285750">
              <a:buFont typeface="Arial" panose="020B0604020202020204" pitchFamily="34" charset="0"/>
              <a:buChar char="•"/>
            </a:pPr>
            <a:r>
              <a:rPr lang="en-GB" dirty="0" smtClean="0"/>
              <a:t> Using inheritance, you can create a general class that defines traits common to a set of related items. </a:t>
            </a:r>
          </a:p>
          <a:p>
            <a:endParaRPr lang="en-GB" dirty="0"/>
          </a:p>
          <a:p>
            <a:pPr marL="285750" indent="-285750">
              <a:buFont typeface="Arial" panose="020B0604020202020204" pitchFamily="34" charset="0"/>
              <a:buChar char="•"/>
            </a:pPr>
            <a:r>
              <a:rPr lang="en-GB" dirty="0" smtClean="0"/>
              <a:t>This class can then be inherited by other, more specific classes, each adding those things that are unique to it. In the terminology of Java, a class that is inherited is called a superclass. </a:t>
            </a:r>
          </a:p>
          <a:p>
            <a:endParaRPr lang="en-GB" dirty="0"/>
          </a:p>
          <a:p>
            <a:pPr marL="285750" indent="-285750">
              <a:buFont typeface="Arial" panose="020B0604020202020204" pitchFamily="34" charset="0"/>
              <a:buChar char="•"/>
            </a:pPr>
            <a:r>
              <a:rPr lang="en-GB" dirty="0" smtClean="0"/>
              <a:t>The class that does the inheriting is called a subclass. Therefore, a subclass is a specialized version of a superclass.</a:t>
            </a:r>
          </a:p>
          <a:p>
            <a:endParaRPr lang="en-GB" dirty="0"/>
          </a:p>
          <a:p>
            <a:pPr marL="285750" indent="-285750">
              <a:buFont typeface="Arial" panose="020B0604020202020204" pitchFamily="34" charset="0"/>
              <a:buChar char="•"/>
            </a:pPr>
            <a:r>
              <a:rPr lang="en-GB" dirty="0" smtClean="0"/>
              <a:t> It inherits all of the instance variables and methods defined by the superclass and adds its own, unique elements.</a:t>
            </a:r>
            <a:endParaRPr lang="en-GB"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524000"/>
            <a:ext cx="2971800" cy="1754326"/>
          </a:xfrm>
          <a:prstGeom prst="rect">
            <a:avLst/>
          </a:prstGeom>
        </p:spPr>
        <p:txBody>
          <a:bodyPr wrap="square">
            <a:spAutoFit/>
          </a:bodyPr>
          <a:lstStyle/>
          <a:p>
            <a:pPr algn="ctr"/>
            <a:r>
              <a:rPr lang="en-GB" sz="3600" b="1" i="0" u="none" strike="noStrike" baseline="0" dirty="0" smtClean="0">
                <a:solidFill>
                  <a:srgbClr val="000000"/>
                </a:solidFill>
                <a:latin typeface="Times New Roman" panose="02020603050405020304" pitchFamily="18" charset="0"/>
              </a:rPr>
              <a:t>Benefits</a:t>
            </a:r>
          </a:p>
          <a:p>
            <a:pPr algn="ctr"/>
            <a:r>
              <a:rPr lang="en-GB" sz="3600" b="1" i="0" u="none" strike="noStrike" baseline="0" dirty="0" smtClean="0">
                <a:solidFill>
                  <a:srgbClr val="000000"/>
                </a:solidFill>
                <a:latin typeface="Times New Roman" panose="02020603050405020304" pitchFamily="18" charset="0"/>
              </a:rPr>
              <a:t> of </a:t>
            </a:r>
          </a:p>
          <a:p>
            <a:pPr algn="ctr"/>
            <a:r>
              <a:rPr lang="en-GB" sz="3600" b="1" i="0" u="none" strike="noStrike" baseline="0" dirty="0" smtClean="0">
                <a:solidFill>
                  <a:srgbClr val="000000"/>
                </a:solidFill>
                <a:latin typeface="Times New Roman" panose="02020603050405020304" pitchFamily="18" charset="0"/>
              </a:rPr>
              <a:t>Inheritance </a:t>
            </a:r>
            <a:endParaRPr lang="en-GB" sz="3600" dirty="0"/>
          </a:p>
        </p:txBody>
      </p:sp>
      <p:sp>
        <p:nvSpPr>
          <p:cNvPr id="3" name="Rectangle 2"/>
          <p:cNvSpPr/>
          <p:nvPr/>
        </p:nvSpPr>
        <p:spPr>
          <a:xfrm>
            <a:off x="4038600" y="1231612"/>
            <a:ext cx="7620000" cy="4647426"/>
          </a:xfrm>
          <a:prstGeom prst="rect">
            <a:avLst/>
          </a:prstGeom>
        </p:spPr>
        <p:txBody>
          <a:bodyPr wrap="square">
            <a:spAutoFit/>
          </a:bodyPr>
          <a:lstStyle/>
          <a:p>
            <a:pPr algn="l"/>
            <a:endParaRPr lang="en-GB" sz="2000" b="0" i="0" u="none" strike="noStrike" baseline="0" dirty="0" smtClean="0">
              <a:solidFill>
                <a:srgbClr val="000000"/>
              </a:solidFill>
              <a:latin typeface="Times New Roman" panose="02020603050405020304" pitchFamily="18" charset="0"/>
            </a:endParaRPr>
          </a:p>
          <a:p>
            <a:pPr marL="285750" indent="-285750">
              <a:lnSpc>
                <a:spcPct val="150000"/>
              </a:lnSpc>
              <a:buFont typeface="Arial" panose="020B0604020202020204" pitchFamily="34" charset="0"/>
              <a:buChar char="•"/>
            </a:pPr>
            <a:r>
              <a:rPr lang="en-GB" sz="3200" dirty="0" smtClean="0">
                <a:solidFill>
                  <a:srgbClr val="2F2F2F"/>
                </a:solidFill>
                <a:latin typeface="Times New Roman" panose="02020603050405020304" pitchFamily="18" charset="0"/>
              </a:rPr>
              <a:t>T</a:t>
            </a:r>
            <a:r>
              <a:rPr lang="en-GB" sz="3200" i="0" u="none" strike="noStrike" baseline="0" dirty="0" smtClean="0">
                <a:solidFill>
                  <a:srgbClr val="2F2F2F"/>
                </a:solidFill>
                <a:latin typeface="Times New Roman" panose="02020603050405020304" pitchFamily="18" charset="0"/>
              </a:rPr>
              <a:t>o minimize the amount of duplicate code in an application </a:t>
            </a:r>
            <a:endParaRPr lang="en-GB" sz="3200" dirty="0"/>
          </a:p>
          <a:p>
            <a:pPr marL="285750" indent="-285750">
              <a:lnSpc>
                <a:spcPct val="150000"/>
              </a:lnSpc>
              <a:buFont typeface="Arial" panose="020B0604020202020204" pitchFamily="34" charset="0"/>
              <a:buChar char="•"/>
            </a:pPr>
            <a:r>
              <a:rPr lang="en-GB" sz="3200" dirty="0" smtClean="0">
                <a:latin typeface="Times New Roman" panose="02020603050405020304" pitchFamily="18" charset="0"/>
                <a:cs typeface="Times New Roman" panose="02020603050405020304" pitchFamily="18" charset="0"/>
              </a:rPr>
              <a:t>Reusability </a:t>
            </a:r>
          </a:p>
          <a:p>
            <a:pPr marL="342900" indent="-342900">
              <a:lnSpc>
                <a:spcPct val="150000"/>
              </a:lnSpc>
              <a:buFont typeface="Arial" panose="020B0604020202020204" pitchFamily="34" charset="0"/>
              <a:buChar char="•"/>
            </a:pPr>
            <a:r>
              <a:rPr lang="en-GB" sz="3200" dirty="0" smtClean="0">
                <a:latin typeface="Times New Roman" panose="02020603050405020304" pitchFamily="18" charset="0"/>
                <a:cs typeface="Times New Roman" panose="02020603050405020304" pitchFamily="18" charset="0"/>
              </a:rPr>
              <a:t>Extensibility </a:t>
            </a:r>
          </a:p>
          <a:p>
            <a:pPr marL="342900" indent="-342900">
              <a:lnSpc>
                <a:spcPct val="150000"/>
              </a:lnSpc>
              <a:buFont typeface="Arial" panose="020B0604020202020204" pitchFamily="34" charset="0"/>
              <a:buChar char="•"/>
            </a:pPr>
            <a:r>
              <a:rPr lang="en-GB" sz="3200" dirty="0" smtClean="0">
                <a:latin typeface="Times New Roman" panose="02020603050405020304" pitchFamily="18" charset="0"/>
                <a:cs typeface="Times New Roman" panose="02020603050405020304" pitchFamily="18" charset="0"/>
              </a:rPr>
              <a:t>Data hiding</a:t>
            </a:r>
          </a:p>
          <a:p>
            <a:pPr marL="285750" indent="-285750">
              <a:buFont typeface="Arial" panose="020B0604020202020204" pitchFamily="34" charset="0"/>
              <a:buChar char="•"/>
            </a:pPr>
            <a:endParaRPr lang="en-GB" dirty="0"/>
          </a:p>
          <a:p>
            <a:pPr marL="285750" indent="-285750">
              <a:buFont typeface="Arial" panose="020B0604020202020204" pitchFamily="34" charset="0"/>
              <a:buChar char="•"/>
            </a:pPr>
            <a:endParaRPr lang="en-GB" b="0" i="0" u="none" strike="noStrike" baseline="0" dirty="0" smtClean="0">
              <a:solidFill>
                <a:srgbClr val="000000"/>
              </a:solidFill>
              <a:latin typeface="Times New Roman" panose="02020603050405020304" pitchFamily="18" charset="0"/>
            </a:endParaRPr>
          </a:p>
        </p:txBody>
      </p:sp>
      <p:pic>
        <p:nvPicPr>
          <p:cNvPr id="4" name="object 7"/>
          <p:cNvPicPr/>
          <p:nvPr/>
        </p:nvPicPr>
        <p:blipFill>
          <a:blip r:embed="rId2" cstate="print"/>
          <a:stretch>
            <a:fillRect/>
          </a:stretch>
        </p:blipFill>
        <p:spPr>
          <a:xfrm>
            <a:off x="9513719" y="-228600"/>
            <a:ext cx="2648711" cy="1182624"/>
          </a:xfrm>
          <a:prstGeom prst="rect">
            <a:avLst/>
          </a:prstGeom>
        </p:spPr>
      </p:pic>
    </p:spTree>
    <p:extLst>
      <p:ext uri="{BB962C8B-B14F-4D97-AF65-F5344CB8AC3E}">
        <p14:creationId xmlns:p14="http://schemas.microsoft.com/office/powerpoint/2010/main" val="283307242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86200" y="1600200"/>
            <a:ext cx="7239000" cy="3253968"/>
          </a:xfrm>
          <a:prstGeom prst="rect">
            <a:avLst/>
          </a:prstGeom>
        </p:spPr>
        <p:txBody>
          <a:bodyPr wrap="square">
            <a:spAutoFit/>
          </a:bodyPr>
          <a:lstStyle/>
          <a:p>
            <a:pPr fontAlgn="base">
              <a:lnSpc>
                <a:spcPct val="107000"/>
              </a:lnSpc>
              <a:spcAft>
                <a:spcPts val="0"/>
              </a:spcAft>
            </a:pPr>
            <a:r>
              <a:rPr lang="en-GB" sz="3200" b="1" i="1" dirty="0" smtClean="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class Parent {</a:t>
            </a:r>
            <a:endParaRPr lang="en-GB" sz="2400" b="1"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pPr>
            <a:r>
              <a:rPr lang="en-GB" sz="3200" b="1" i="1" dirty="0" smtClean="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 fields and methods</a:t>
            </a:r>
            <a:endParaRPr lang="en-GB" sz="2400" b="1"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pPr>
            <a:r>
              <a:rPr lang="en-GB" sz="3200" b="1" i="1" dirty="0" smtClean="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a:t>
            </a:r>
            <a:br>
              <a:rPr lang="en-GB" sz="3200" b="1" i="1" dirty="0" smtClean="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br>
            <a:r>
              <a:rPr lang="en-GB" sz="3200" b="1" i="1" dirty="0" smtClean="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class Child extends Parent {</a:t>
            </a:r>
            <a:endParaRPr lang="en-GB" sz="2400" b="1"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pPr>
            <a:r>
              <a:rPr lang="en-GB" sz="3200" b="1" i="1" dirty="0" smtClean="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 additional fields and methods</a:t>
            </a:r>
            <a:endParaRPr lang="en-GB" sz="2400" b="1"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800"/>
              </a:spcAft>
            </a:pPr>
            <a:r>
              <a:rPr lang="en-GB" sz="3200" b="1" i="1" dirty="0" smtClean="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a:t>
            </a:r>
            <a:endParaRPr lang="en-GB" sz="2400" b="1"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1"/>
          <p:cNvSpPr>
            <a:spLocks noChangeArrowheads="1"/>
          </p:cNvSpPr>
          <p:nvPr/>
        </p:nvSpPr>
        <p:spPr bwMode="auto">
          <a:xfrm>
            <a:off x="1219200" y="5298759"/>
            <a:ext cx="11055912"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i="0" u="none" strike="noStrike" cap="none" normalizeH="0" baseline="0" dirty="0" smtClean="0">
                <a:ln>
                  <a:noFill/>
                </a:ln>
                <a:solidFill>
                  <a:schemeClr val="tx1"/>
                </a:solidFill>
                <a:effectLst/>
                <a:latin typeface="Nunito"/>
              </a:rPr>
              <a:t>Note: In Java, inheritance is implemented using the extends keyword.</a:t>
            </a:r>
            <a:endParaRPr kumimoji="0" lang="en-US" sz="240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smtClean="0">
                <a:ln>
                  <a:noFill/>
                </a:ln>
                <a:solidFill>
                  <a:schemeClr val="tx1"/>
                </a:solidFill>
                <a:effectLst/>
                <a:latin typeface="Arial" panose="020B0604020202020204" pitchFamily="34" charset="0"/>
              </a:rPr>
              <a:t/>
            </a:r>
            <a:br>
              <a:rPr kumimoji="0" lang="en-US" sz="1800" b="0" i="0" u="none" strike="noStrike" cap="none" normalizeH="0" baseline="0" dirty="0" smtClean="0">
                <a:ln>
                  <a:noFill/>
                </a:ln>
                <a:solidFill>
                  <a:schemeClr val="tx1"/>
                </a:solidFill>
                <a:effectLst/>
                <a:latin typeface="Arial" panose="020B0604020202020204" pitchFamily="34" charset="0"/>
              </a:rPr>
            </a:b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4" name="Rectangle 3"/>
          <p:cNvSpPr/>
          <p:nvPr/>
        </p:nvSpPr>
        <p:spPr>
          <a:xfrm>
            <a:off x="277917" y="1752600"/>
            <a:ext cx="2770083" cy="425758"/>
          </a:xfrm>
          <a:prstGeom prst="rect">
            <a:avLst/>
          </a:prstGeom>
        </p:spPr>
        <p:txBody>
          <a:bodyPr wrap="square">
            <a:spAutoFit/>
          </a:bodyPr>
          <a:lstStyle/>
          <a:p>
            <a:pPr algn="ctr" fontAlgn="base">
              <a:lnSpc>
                <a:spcPts val="2100"/>
              </a:lnSpc>
              <a:spcBef>
                <a:spcPts val="1800"/>
              </a:spcBef>
              <a:spcAft>
                <a:spcPts val="1800"/>
              </a:spcAft>
            </a:pPr>
            <a:r>
              <a:rPr lang="en-GB" sz="3600" b="1" dirty="0" smtClean="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Syntax</a:t>
            </a:r>
            <a:endParaRPr lang="en-GB" sz="3200" b="1" dirty="0" smtClean="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5" name="object 7"/>
          <p:cNvPicPr/>
          <p:nvPr/>
        </p:nvPicPr>
        <p:blipFill>
          <a:blip r:embed="rId2" cstate="print"/>
          <a:stretch>
            <a:fillRect/>
          </a:stretch>
        </p:blipFill>
        <p:spPr>
          <a:xfrm>
            <a:off x="9513719" y="-228600"/>
            <a:ext cx="2648711" cy="1182624"/>
          </a:xfrm>
          <a:prstGeom prst="rect">
            <a:avLst/>
          </a:prstGeom>
        </p:spPr>
      </p:pic>
    </p:spTree>
    <p:extLst>
      <p:ext uri="{BB962C8B-B14F-4D97-AF65-F5344CB8AC3E}">
        <p14:creationId xmlns:p14="http://schemas.microsoft.com/office/powerpoint/2010/main" val="70903399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304800" y="381000"/>
            <a:ext cx="11430000" cy="6172200"/>
          </a:xfrm>
          <a:prstGeom prst="rect">
            <a:avLst/>
          </a:prstGeom>
        </p:spPr>
      </p:pic>
      <p:pic>
        <p:nvPicPr>
          <p:cNvPr id="3" name="object 7"/>
          <p:cNvPicPr/>
          <p:nvPr/>
        </p:nvPicPr>
        <p:blipFill>
          <a:blip r:embed="rId3" cstate="print"/>
          <a:stretch>
            <a:fillRect/>
          </a:stretch>
        </p:blipFill>
        <p:spPr>
          <a:xfrm>
            <a:off x="9513719" y="-228600"/>
            <a:ext cx="2648711" cy="1182624"/>
          </a:xfrm>
          <a:prstGeom prst="rect">
            <a:avLst/>
          </a:prstGeom>
        </p:spPr>
      </p:pic>
    </p:spTree>
    <p:extLst>
      <p:ext uri="{BB962C8B-B14F-4D97-AF65-F5344CB8AC3E}">
        <p14:creationId xmlns:p14="http://schemas.microsoft.com/office/powerpoint/2010/main" val="32249863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05200" y="0"/>
            <a:ext cx="8382000" cy="6020110"/>
          </a:xfrm>
          <a:prstGeom prst="rect">
            <a:avLst/>
          </a:prstGeom>
        </p:spPr>
        <p:txBody>
          <a:bodyPr wrap="square">
            <a:spAutoFit/>
          </a:bodyPr>
          <a:lstStyle/>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dirty="0" smtClean="0">
                <a:solidFill>
                  <a:srgbClr val="AA5500"/>
                </a:solidFill>
                <a:effectLst/>
                <a:latin typeface="Courier New" panose="02070309020205020404" pitchFamily="49" charset="0"/>
                <a:ea typeface="Times New Roman" panose="02020603050405020304" pitchFamily="18" charset="0"/>
                <a:cs typeface="Times New Roman" panose="02020603050405020304" pitchFamily="18" charset="0"/>
              </a:rPr>
              <a:t>// Parent class</a:t>
            </a:r>
            <a:endParaRPr lang="en-GB"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dirty="0" smtClean="0">
                <a:solidFill>
                  <a:srgbClr val="770088"/>
                </a:solidFill>
                <a:effectLst/>
                <a:latin typeface="Courier New" panose="02070309020205020404" pitchFamily="49" charset="0"/>
                <a:ea typeface="Times New Roman" panose="02020603050405020304" pitchFamily="18" charset="0"/>
                <a:cs typeface="Times New Roman" panose="02020603050405020304" pitchFamily="18" charset="0"/>
              </a:rPr>
              <a:t>class</a:t>
            </a: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GB" sz="2000" dirty="0" smtClean="0">
                <a:solidFill>
                  <a:srgbClr val="0000FF"/>
                </a:solidFill>
                <a:effectLst/>
                <a:latin typeface="Courier New" panose="02070309020205020404" pitchFamily="49" charset="0"/>
                <a:ea typeface="Times New Roman" panose="02020603050405020304" pitchFamily="18" charset="0"/>
                <a:cs typeface="Times New Roman" panose="02020603050405020304" pitchFamily="18" charset="0"/>
              </a:rPr>
              <a:t>Animal</a:t>
            </a: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endParaRPr lang="en-GB"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GB" sz="2000" dirty="0" smtClean="0">
                <a:solidFill>
                  <a:srgbClr val="008855"/>
                </a:solidFill>
                <a:effectLst/>
                <a:latin typeface="Courier New" panose="02070309020205020404" pitchFamily="49" charset="0"/>
                <a:ea typeface="Times New Roman" panose="02020603050405020304" pitchFamily="18" charset="0"/>
                <a:cs typeface="Times New Roman" panose="02020603050405020304" pitchFamily="18" charset="0"/>
              </a:rPr>
              <a:t>void</a:t>
            </a: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sound() {</a:t>
            </a:r>
            <a:endParaRPr lang="en-GB"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System.out.println(</a:t>
            </a:r>
            <a:r>
              <a:rPr lang="en-GB" sz="2000" dirty="0" smtClean="0">
                <a:solidFill>
                  <a:srgbClr val="AA1111"/>
                </a:solidFill>
                <a:effectLst/>
                <a:latin typeface="Courier New" panose="02070309020205020404" pitchFamily="49" charset="0"/>
                <a:ea typeface="Times New Roman" panose="02020603050405020304" pitchFamily="18" charset="0"/>
                <a:cs typeface="Times New Roman" panose="02020603050405020304" pitchFamily="18" charset="0"/>
              </a:rPr>
              <a:t>"Animal makes a sound"</a:t>
            </a: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a:t>
            </a:r>
            <a:endParaRPr lang="en-GB"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endParaRPr lang="en-GB"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a:t>
            </a:r>
            <a:endParaRPr lang="en-GB"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dirty="0" smtClean="0">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a:t>​</a:t>
            </a:r>
            <a:r>
              <a:rPr lang="en-GB" sz="2000" dirty="0" smtClean="0">
                <a:solidFill>
                  <a:srgbClr val="AA5500"/>
                </a:solidFill>
                <a:effectLst/>
                <a:latin typeface="Courier New" panose="02070309020205020404" pitchFamily="49" charset="0"/>
                <a:ea typeface="Times New Roman" panose="02020603050405020304" pitchFamily="18" charset="0"/>
                <a:cs typeface="Times New Roman" panose="02020603050405020304" pitchFamily="18" charset="0"/>
              </a:rPr>
              <a:t>// Child class</a:t>
            </a:r>
            <a:endParaRPr lang="en-GB"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dirty="0" smtClean="0">
                <a:solidFill>
                  <a:srgbClr val="770088"/>
                </a:solidFill>
                <a:effectLst/>
                <a:latin typeface="Courier New" panose="02070309020205020404" pitchFamily="49" charset="0"/>
                <a:ea typeface="Times New Roman" panose="02020603050405020304" pitchFamily="18" charset="0"/>
                <a:cs typeface="Times New Roman" panose="02020603050405020304" pitchFamily="18" charset="0"/>
              </a:rPr>
              <a:t>class</a:t>
            </a: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GB" sz="2000" dirty="0" smtClean="0">
                <a:solidFill>
                  <a:srgbClr val="0000FF"/>
                </a:solidFill>
                <a:effectLst/>
                <a:latin typeface="Courier New" panose="02070309020205020404" pitchFamily="49" charset="0"/>
                <a:ea typeface="Times New Roman" panose="02020603050405020304" pitchFamily="18" charset="0"/>
                <a:cs typeface="Times New Roman" panose="02020603050405020304" pitchFamily="18" charset="0"/>
              </a:rPr>
              <a:t>Dog</a:t>
            </a: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GB" sz="2000" dirty="0" smtClean="0">
                <a:solidFill>
                  <a:srgbClr val="770088"/>
                </a:solidFill>
                <a:effectLst/>
                <a:latin typeface="Courier New" panose="02070309020205020404" pitchFamily="49" charset="0"/>
                <a:ea typeface="Times New Roman" panose="02020603050405020304" pitchFamily="18" charset="0"/>
                <a:cs typeface="Times New Roman" panose="02020603050405020304" pitchFamily="18" charset="0"/>
              </a:rPr>
              <a:t>extends</a:t>
            </a: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Animal {</a:t>
            </a:r>
            <a:endParaRPr lang="en-GB"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GB" sz="2000" dirty="0" smtClean="0">
                <a:solidFill>
                  <a:srgbClr val="008855"/>
                </a:solidFill>
                <a:effectLst/>
                <a:latin typeface="Courier New" panose="02070309020205020404" pitchFamily="49" charset="0"/>
                <a:ea typeface="Times New Roman" panose="02020603050405020304" pitchFamily="18" charset="0"/>
                <a:cs typeface="Times New Roman" panose="02020603050405020304" pitchFamily="18" charset="0"/>
              </a:rPr>
              <a:t>void</a:t>
            </a: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sound() {</a:t>
            </a:r>
            <a:endParaRPr lang="en-GB"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System.out.println(</a:t>
            </a:r>
            <a:r>
              <a:rPr lang="en-GB" sz="2000" dirty="0" smtClean="0">
                <a:solidFill>
                  <a:srgbClr val="AA1111"/>
                </a:solidFill>
                <a:effectLst/>
                <a:latin typeface="Courier New" panose="02070309020205020404" pitchFamily="49" charset="0"/>
                <a:ea typeface="Times New Roman" panose="02020603050405020304" pitchFamily="18" charset="0"/>
                <a:cs typeface="Times New Roman" panose="02020603050405020304" pitchFamily="18" charset="0"/>
              </a:rPr>
              <a:t>"Dog barks"</a:t>
            </a: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a:t>
            </a:r>
            <a:endParaRPr lang="en-GB"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endParaRPr lang="en-GB"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a:t>
            </a:r>
            <a:endParaRPr lang="en-GB"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dirty="0" smtClean="0">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a:t>​</a:t>
            </a:r>
            <a:r>
              <a:rPr lang="en-GB" sz="2000" dirty="0" smtClean="0">
                <a:solidFill>
                  <a:srgbClr val="AA5500"/>
                </a:solidFill>
                <a:effectLst/>
                <a:latin typeface="Courier New" panose="02070309020205020404" pitchFamily="49" charset="0"/>
                <a:ea typeface="Times New Roman" panose="02020603050405020304" pitchFamily="18" charset="0"/>
                <a:cs typeface="Times New Roman" panose="02020603050405020304" pitchFamily="18" charset="0"/>
              </a:rPr>
              <a:t>// Child class</a:t>
            </a:r>
            <a:endParaRPr lang="en-GB"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dirty="0" smtClean="0">
                <a:solidFill>
                  <a:srgbClr val="770088"/>
                </a:solidFill>
                <a:effectLst/>
                <a:latin typeface="Courier New" panose="02070309020205020404" pitchFamily="49" charset="0"/>
                <a:ea typeface="Times New Roman" panose="02020603050405020304" pitchFamily="18" charset="0"/>
                <a:cs typeface="Times New Roman" panose="02020603050405020304" pitchFamily="18" charset="0"/>
              </a:rPr>
              <a:t>class</a:t>
            </a: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GB" sz="2000" dirty="0" smtClean="0">
                <a:solidFill>
                  <a:srgbClr val="0000FF"/>
                </a:solidFill>
                <a:effectLst/>
                <a:latin typeface="Courier New" panose="02070309020205020404" pitchFamily="49" charset="0"/>
                <a:ea typeface="Times New Roman" panose="02020603050405020304" pitchFamily="18" charset="0"/>
                <a:cs typeface="Times New Roman" panose="02020603050405020304" pitchFamily="18" charset="0"/>
              </a:rPr>
              <a:t>Cat</a:t>
            </a: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GB" sz="2000" dirty="0" smtClean="0">
                <a:solidFill>
                  <a:srgbClr val="770088"/>
                </a:solidFill>
                <a:effectLst/>
                <a:latin typeface="Courier New" panose="02070309020205020404" pitchFamily="49" charset="0"/>
                <a:ea typeface="Times New Roman" panose="02020603050405020304" pitchFamily="18" charset="0"/>
                <a:cs typeface="Times New Roman" panose="02020603050405020304" pitchFamily="18" charset="0"/>
              </a:rPr>
              <a:t>extends</a:t>
            </a: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Animal {</a:t>
            </a:r>
            <a:endParaRPr lang="en-GB"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GB" sz="2000" dirty="0" smtClean="0">
                <a:solidFill>
                  <a:srgbClr val="008855"/>
                </a:solidFill>
                <a:effectLst/>
                <a:latin typeface="Courier New" panose="02070309020205020404" pitchFamily="49" charset="0"/>
                <a:ea typeface="Times New Roman" panose="02020603050405020304" pitchFamily="18" charset="0"/>
                <a:cs typeface="Times New Roman" panose="02020603050405020304" pitchFamily="18" charset="0"/>
              </a:rPr>
              <a:t>void</a:t>
            </a: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sound() {</a:t>
            </a:r>
            <a:endParaRPr lang="en-GB"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System.out.println(</a:t>
            </a:r>
            <a:r>
              <a:rPr lang="en-GB" sz="2000" dirty="0" smtClean="0">
                <a:solidFill>
                  <a:srgbClr val="AA1111"/>
                </a:solidFill>
                <a:effectLst/>
                <a:latin typeface="Courier New" panose="02070309020205020404" pitchFamily="49" charset="0"/>
                <a:ea typeface="Times New Roman" panose="02020603050405020304" pitchFamily="18" charset="0"/>
                <a:cs typeface="Times New Roman" panose="02020603050405020304" pitchFamily="18" charset="0"/>
              </a:rPr>
              <a:t>"Cat meows"</a:t>
            </a: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a:t>
            </a:r>
            <a:endParaRPr lang="en-GB"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endParaRPr lang="en-GB"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a:t>
            </a:r>
            <a:endParaRPr lang="en-GB"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Rectangle 2"/>
          <p:cNvSpPr/>
          <p:nvPr/>
        </p:nvSpPr>
        <p:spPr>
          <a:xfrm>
            <a:off x="0" y="1676400"/>
            <a:ext cx="3276600" cy="2397579"/>
          </a:xfrm>
          <a:prstGeom prst="rect">
            <a:avLst/>
          </a:prstGeom>
        </p:spPr>
        <p:txBody>
          <a:bodyPr wrap="square">
            <a:spAutoFit/>
          </a:bodyPr>
          <a:lstStyle/>
          <a:p>
            <a:pPr algn="ctr" fontAlgn="base">
              <a:lnSpc>
                <a:spcPct val="107000"/>
              </a:lnSpc>
              <a:spcAft>
                <a:spcPts val="0"/>
              </a:spcAft>
            </a:pPr>
            <a:r>
              <a:rPr lang="en-GB" sz="2000" b="1" dirty="0" smtClean="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Example:</a:t>
            </a:r>
          </a:p>
          <a:p>
            <a:pPr algn="just" fontAlgn="base">
              <a:lnSpc>
                <a:spcPct val="107000"/>
              </a:lnSpc>
              <a:spcAft>
                <a:spcPts val="0"/>
              </a:spcAft>
            </a:pPr>
            <a:endParaRPr lang="en-GB" sz="2000" b="1" dirty="0" smtClean="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endParaRPr>
          </a:p>
          <a:p>
            <a:pPr algn="just" fontAlgn="base">
              <a:lnSpc>
                <a:spcPct val="107000"/>
              </a:lnSpc>
              <a:spcAft>
                <a:spcPts val="0"/>
              </a:spcAft>
            </a:pPr>
            <a:r>
              <a:rPr lang="en-GB" sz="2000" dirty="0" smtClean="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rPr>
              <a:t> In the following example, Animal is the base class and Dog, Cat, and Cow are derived classes that extend the Animal class.</a:t>
            </a:r>
            <a:endParaRPr lang="en-GB" sz="16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p:cNvSpPr/>
          <p:nvPr/>
        </p:nvSpPr>
        <p:spPr>
          <a:xfrm>
            <a:off x="7543800" y="6020110"/>
            <a:ext cx="3505200" cy="400110"/>
          </a:xfrm>
          <a:prstGeom prst="rect">
            <a:avLst/>
          </a:prstGeom>
        </p:spPr>
        <p:txBody>
          <a:bodyPr wrap="square">
            <a:spAutoFit/>
          </a:bodyPr>
          <a:lstStyle/>
          <a:p>
            <a:r>
              <a:rPr lang="en-GB" sz="2000" dirty="0"/>
              <a:t>"Continued on next slide</a:t>
            </a:r>
            <a:r>
              <a:rPr lang="en-GB" sz="2000" dirty="0" smtClean="0"/>
              <a:t>."</a:t>
            </a:r>
            <a:endParaRPr lang="en-GB" sz="2000" dirty="0"/>
          </a:p>
        </p:txBody>
      </p:sp>
      <p:pic>
        <p:nvPicPr>
          <p:cNvPr id="6" name="object 7"/>
          <p:cNvPicPr/>
          <p:nvPr/>
        </p:nvPicPr>
        <p:blipFill>
          <a:blip r:embed="rId2" cstate="print"/>
          <a:stretch>
            <a:fillRect/>
          </a:stretch>
        </p:blipFill>
        <p:spPr>
          <a:xfrm>
            <a:off x="9513719" y="-228600"/>
            <a:ext cx="2648711" cy="1182624"/>
          </a:xfrm>
          <a:prstGeom prst="rect">
            <a:avLst/>
          </a:prstGeom>
        </p:spPr>
      </p:pic>
    </p:spTree>
    <p:extLst>
      <p:ext uri="{BB962C8B-B14F-4D97-AF65-F5344CB8AC3E}">
        <p14:creationId xmlns:p14="http://schemas.microsoft.com/office/powerpoint/2010/main" val="176558339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33800" y="206958"/>
            <a:ext cx="7620000" cy="6678751"/>
          </a:xfrm>
          <a:prstGeom prst="rect">
            <a:avLst/>
          </a:prstGeom>
        </p:spPr>
        <p:txBody>
          <a:bodyPr wrap="square">
            <a:spAutoFit/>
          </a:bodyPr>
          <a:lstStyle/>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dirty="0" smtClean="0">
                <a:solidFill>
                  <a:srgbClr val="AA5500"/>
                </a:solidFill>
                <a:effectLst/>
                <a:latin typeface="Courier New" panose="02070309020205020404" pitchFamily="49" charset="0"/>
                <a:ea typeface="Times New Roman" panose="02020603050405020304" pitchFamily="18" charset="0"/>
                <a:cs typeface="Times New Roman" panose="02020603050405020304" pitchFamily="18" charset="0"/>
              </a:rPr>
              <a:t>// Child class</a:t>
            </a:r>
            <a:endParaRPr lang="en-GB"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dirty="0" smtClean="0">
                <a:solidFill>
                  <a:srgbClr val="770088"/>
                </a:solidFill>
                <a:effectLst/>
                <a:latin typeface="Courier New" panose="02070309020205020404" pitchFamily="49" charset="0"/>
                <a:ea typeface="Times New Roman" panose="02020603050405020304" pitchFamily="18" charset="0"/>
                <a:cs typeface="Times New Roman" panose="02020603050405020304" pitchFamily="18" charset="0"/>
              </a:rPr>
              <a:t>class</a:t>
            </a: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GB" sz="2000" dirty="0" smtClean="0">
                <a:solidFill>
                  <a:srgbClr val="0000FF"/>
                </a:solidFill>
                <a:effectLst/>
                <a:latin typeface="Courier New" panose="02070309020205020404" pitchFamily="49" charset="0"/>
                <a:ea typeface="Times New Roman" panose="02020603050405020304" pitchFamily="18" charset="0"/>
                <a:cs typeface="Times New Roman" panose="02020603050405020304" pitchFamily="18" charset="0"/>
              </a:rPr>
              <a:t>Cow</a:t>
            </a: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GB" sz="2000" dirty="0" smtClean="0">
                <a:solidFill>
                  <a:srgbClr val="770088"/>
                </a:solidFill>
                <a:effectLst/>
                <a:latin typeface="Courier New" panose="02070309020205020404" pitchFamily="49" charset="0"/>
                <a:ea typeface="Times New Roman" panose="02020603050405020304" pitchFamily="18" charset="0"/>
                <a:cs typeface="Times New Roman" panose="02020603050405020304" pitchFamily="18" charset="0"/>
              </a:rPr>
              <a:t>extends</a:t>
            </a: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Animal {</a:t>
            </a:r>
            <a:endParaRPr lang="en-GB"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GB" sz="2000" dirty="0" smtClean="0">
                <a:solidFill>
                  <a:srgbClr val="008855"/>
                </a:solidFill>
                <a:effectLst/>
                <a:latin typeface="Courier New" panose="02070309020205020404" pitchFamily="49" charset="0"/>
                <a:ea typeface="Times New Roman" panose="02020603050405020304" pitchFamily="18" charset="0"/>
                <a:cs typeface="Times New Roman" panose="02020603050405020304" pitchFamily="18" charset="0"/>
              </a:rPr>
              <a:t>void</a:t>
            </a: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sound() {</a:t>
            </a:r>
            <a:endParaRPr lang="en-GB"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System.out.println(</a:t>
            </a:r>
            <a:r>
              <a:rPr lang="en-GB" sz="2000" dirty="0" smtClean="0">
                <a:solidFill>
                  <a:srgbClr val="AA1111"/>
                </a:solidFill>
                <a:effectLst/>
                <a:latin typeface="Courier New" panose="02070309020205020404" pitchFamily="49" charset="0"/>
                <a:ea typeface="Times New Roman" panose="02020603050405020304" pitchFamily="18" charset="0"/>
                <a:cs typeface="Times New Roman" panose="02020603050405020304" pitchFamily="18" charset="0"/>
              </a:rPr>
              <a:t>"Cow moos"</a:t>
            </a: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a:t>
            </a:r>
            <a:endParaRPr lang="en-GB"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endParaRPr lang="en-GB"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a:t>
            </a:r>
            <a:endParaRPr lang="en-GB"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dirty="0" smtClean="0">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a:t>​</a:t>
            </a:r>
            <a:r>
              <a:rPr lang="en-GB" sz="2000" dirty="0" smtClean="0">
                <a:solidFill>
                  <a:srgbClr val="AA5500"/>
                </a:solidFill>
                <a:effectLst/>
                <a:latin typeface="Courier New" panose="02070309020205020404" pitchFamily="49" charset="0"/>
                <a:ea typeface="Times New Roman" panose="02020603050405020304" pitchFamily="18" charset="0"/>
                <a:cs typeface="Times New Roman" panose="02020603050405020304" pitchFamily="18" charset="0"/>
              </a:rPr>
              <a:t>// Main class</a:t>
            </a:r>
            <a:endParaRPr lang="en-GB"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dirty="0" smtClean="0">
                <a:solidFill>
                  <a:srgbClr val="770088"/>
                </a:solidFill>
                <a:effectLst/>
                <a:latin typeface="Courier New" panose="02070309020205020404" pitchFamily="49" charset="0"/>
                <a:ea typeface="Times New Roman" panose="02020603050405020304" pitchFamily="18" charset="0"/>
                <a:cs typeface="Times New Roman" panose="02020603050405020304" pitchFamily="18" charset="0"/>
              </a:rPr>
              <a:t>public</a:t>
            </a: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GB" sz="2000" dirty="0" smtClean="0">
                <a:solidFill>
                  <a:srgbClr val="770088"/>
                </a:solidFill>
                <a:effectLst/>
                <a:latin typeface="Courier New" panose="02070309020205020404" pitchFamily="49" charset="0"/>
                <a:ea typeface="Times New Roman" panose="02020603050405020304" pitchFamily="18" charset="0"/>
                <a:cs typeface="Times New Roman" panose="02020603050405020304" pitchFamily="18" charset="0"/>
              </a:rPr>
              <a:t>class</a:t>
            </a: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GB" sz="2000" dirty="0" smtClean="0">
                <a:solidFill>
                  <a:srgbClr val="0000FF"/>
                </a:solidFill>
                <a:effectLst/>
                <a:latin typeface="Courier New" panose="02070309020205020404" pitchFamily="49" charset="0"/>
                <a:ea typeface="Times New Roman" panose="02020603050405020304" pitchFamily="18" charset="0"/>
                <a:cs typeface="Times New Roman" panose="02020603050405020304" pitchFamily="18" charset="0"/>
              </a:rPr>
              <a:t>InheritanceProg</a:t>
            </a: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a:t>
            </a:r>
            <a:endParaRPr lang="en-GB"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GB" sz="2000" dirty="0" smtClean="0">
                <a:solidFill>
                  <a:srgbClr val="770088"/>
                </a:solidFill>
                <a:effectLst/>
                <a:latin typeface="Courier New" panose="02070309020205020404" pitchFamily="49" charset="0"/>
                <a:ea typeface="Times New Roman" panose="02020603050405020304" pitchFamily="18" charset="0"/>
                <a:cs typeface="Times New Roman" panose="02020603050405020304" pitchFamily="18" charset="0"/>
              </a:rPr>
              <a:t>public</a:t>
            </a: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GB" sz="2000" dirty="0" smtClean="0">
                <a:solidFill>
                  <a:srgbClr val="770088"/>
                </a:solidFill>
                <a:effectLst/>
                <a:latin typeface="Courier New" panose="02070309020205020404" pitchFamily="49" charset="0"/>
                <a:ea typeface="Times New Roman" panose="02020603050405020304" pitchFamily="18" charset="0"/>
                <a:cs typeface="Times New Roman" panose="02020603050405020304" pitchFamily="18" charset="0"/>
              </a:rPr>
              <a:t>static</a:t>
            </a: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GB" sz="2000" dirty="0" smtClean="0">
                <a:solidFill>
                  <a:srgbClr val="008855"/>
                </a:solidFill>
                <a:effectLst/>
                <a:latin typeface="Courier New" panose="02070309020205020404" pitchFamily="49" charset="0"/>
                <a:ea typeface="Times New Roman" panose="02020603050405020304" pitchFamily="18" charset="0"/>
                <a:cs typeface="Times New Roman" panose="02020603050405020304" pitchFamily="18" charset="0"/>
              </a:rPr>
              <a:t>void</a:t>
            </a: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main(</a:t>
            </a:r>
            <a:r>
              <a:rPr lang="en-GB" sz="2000" dirty="0" smtClean="0">
                <a:solidFill>
                  <a:srgbClr val="008855"/>
                </a:solidFill>
                <a:effectLst/>
                <a:latin typeface="Courier New" panose="02070309020205020404" pitchFamily="49" charset="0"/>
                <a:ea typeface="Times New Roman" panose="02020603050405020304" pitchFamily="18" charset="0"/>
                <a:cs typeface="Times New Roman" panose="02020603050405020304" pitchFamily="18" charset="0"/>
              </a:rPr>
              <a:t>String</a:t>
            </a: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args) {</a:t>
            </a:r>
            <a:endParaRPr lang="en-GB"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Animal a;</a:t>
            </a:r>
            <a:endParaRPr lang="en-GB"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 = </a:t>
            </a:r>
            <a:r>
              <a:rPr lang="en-GB" sz="2000" dirty="0" smtClean="0">
                <a:solidFill>
                  <a:srgbClr val="770088"/>
                </a:solidFill>
                <a:effectLst/>
                <a:latin typeface="Courier New" panose="02070309020205020404" pitchFamily="49" charset="0"/>
                <a:ea typeface="Times New Roman" panose="02020603050405020304" pitchFamily="18" charset="0"/>
                <a:cs typeface="Times New Roman" panose="02020603050405020304" pitchFamily="18" charset="0"/>
              </a:rPr>
              <a:t>new</a:t>
            </a: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Dog();</a:t>
            </a:r>
            <a:endParaRPr lang="en-GB"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a.sound();  </a:t>
            </a:r>
            <a:endParaRPr lang="en-GB"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dirty="0" smtClean="0">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a:t>​</a:t>
            </a:r>
            <a:endParaRPr lang="en-GB"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 = </a:t>
            </a:r>
            <a:r>
              <a:rPr lang="en-GB" sz="2000" dirty="0" smtClean="0">
                <a:solidFill>
                  <a:srgbClr val="770088"/>
                </a:solidFill>
                <a:effectLst/>
                <a:latin typeface="Courier New" panose="02070309020205020404" pitchFamily="49" charset="0"/>
                <a:ea typeface="Times New Roman" panose="02020603050405020304" pitchFamily="18" charset="0"/>
                <a:cs typeface="Times New Roman" panose="02020603050405020304" pitchFamily="18" charset="0"/>
              </a:rPr>
              <a:t>new</a:t>
            </a: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Cat();</a:t>
            </a:r>
            <a:endParaRPr lang="en-GB"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a.sound(); </a:t>
            </a:r>
            <a:endParaRPr lang="en-GB"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dirty="0" smtClean="0">
                <a:solidFill>
                  <a:srgbClr val="000000"/>
                </a:solidFill>
                <a:effectLst/>
                <a:latin typeface="Cambria Math" panose="02040503050406030204" pitchFamily="18" charset="0"/>
                <a:ea typeface="Times New Roman" panose="02020603050405020304" pitchFamily="18" charset="0"/>
                <a:cs typeface="Cambria Math" panose="02040503050406030204" pitchFamily="18" charset="0"/>
              </a:rPr>
              <a:t>​</a:t>
            </a:r>
            <a:endParaRPr lang="en-GB"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 = </a:t>
            </a:r>
            <a:r>
              <a:rPr lang="en-GB" sz="2000" dirty="0" smtClean="0">
                <a:solidFill>
                  <a:srgbClr val="770088"/>
                </a:solidFill>
                <a:effectLst/>
                <a:latin typeface="Courier New" panose="02070309020205020404" pitchFamily="49" charset="0"/>
                <a:ea typeface="Times New Roman" panose="02020603050405020304" pitchFamily="18" charset="0"/>
                <a:cs typeface="Times New Roman" panose="02020603050405020304" pitchFamily="18" charset="0"/>
              </a:rPr>
              <a:t>new</a:t>
            </a: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Cow();</a:t>
            </a:r>
            <a:endParaRPr lang="en-GB"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a.sound();  </a:t>
            </a:r>
            <a:endParaRPr lang="en-GB"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endParaRPr lang="en-GB"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a:t>
            </a:r>
            <a:endParaRPr lang="en-GB"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Rectangle 3"/>
          <p:cNvSpPr/>
          <p:nvPr/>
        </p:nvSpPr>
        <p:spPr>
          <a:xfrm>
            <a:off x="9601200" y="3657600"/>
            <a:ext cx="1263487" cy="523220"/>
          </a:xfrm>
          <a:prstGeom prst="rect">
            <a:avLst/>
          </a:prstGeom>
        </p:spPr>
        <p:txBody>
          <a:bodyPr wrap="none">
            <a:spAutoFit/>
          </a:bodyPr>
          <a:lstStyle/>
          <a:p>
            <a:r>
              <a:rPr lang="en-GB" sz="2800" dirty="0" smtClean="0"/>
              <a:t>Output</a:t>
            </a:r>
            <a:endParaRPr lang="en-GB" sz="2800" dirty="0"/>
          </a:p>
        </p:txBody>
      </p:sp>
      <p:pic>
        <p:nvPicPr>
          <p:cNvPr id="5" name="Picture 4"/>
          <p:cNvPicPr>
            <a:picLocks noChangeAspect="1"/>
          </p:cNvPicPr>
          <p:nvPr/>
        </p:nvPicPr>
        <p:blipFill>
          <a:blip r:embed="rId2"/>
          <a:stretch>
            <a:fillRect/>
          </a:stretch>
        </p:blipFill>
        <p:spPr>
          <a:xfrm>
            <a:off x="7010400" y="4343400"/>
            <a:ext cx="4991616" cy="2286000"/>
          </a:xfrm>
          <a:prstGeom prst="rect">
            <a:avLst/>
          </a:prstGeom>
        </p:spPr>
      </p:pic>
      <p:sp>
        <p:nvSpPr>
          <p:cNvPr id="6" name="Rectangle 5"/>
          <p:cNvSpPr/>
          <p:nvPr/>
        </p:nvSpPr>
        <p:spPr>
          <a:xfrm>
            <a:off x="685800" y="1524000"/>
            <a:ext cx="1984839" cy="523220"/>
          </a:xfrm>
          <a:prstGeom prst="rect">
            <a:avLst/>
          </a:prstGeom>
        </p:spPr>
        <p:txBody>
          <a:bodyPr wrap="none">
            <a:spAutoFit/>
          </a:bodyPr>
          <a:lstStyle/>
          <a:p>
            <a:r>
              <a:rPr lang="en-GB" sz="2800" dirty="0" smtClean="0"/>
              <a:t>Continue…</a:t>
            </a:r>
            <a:endParaRPr lang="en-GB" sz="2800" dirty="0"/>
          </a:p>
        </p:txBody>
      </p:sp>
      <p:pic>
        <p:nvPicPr>
          <p:cNvPr id="7" name="object 7"/>
          <p:cNvPicPr/>
          <p:nvPr/>
        </p:nvPicPr>
        <p:blipFill>
          <a:blip r:embed="rId3" cstate="print"/>
          <a:stretch>
            <a:fillRect/>
          </a:stretch>
        </p:blipFill>
        <p:spPr>
          <a:xfrm>
            <a:off x="9513719" y="-228600"/>
            <a:ext cx="2648711" cy="1182624"/>
          </a:xfrm>
          <a:prstGeom prst="rect">
            <a:avLst/>
          </a:prstGeom>
        </p:spPr>
      </p:pic>
    </p:spTree>
    <p:extLst>
      <p:ext uri="{BB962C8B-B14F-4D97-AF65-F5344CB8AC3E}">
        <p14:creationId xmlns:p14="http://schemas.microsoft.com/office/powerpoint/2010/main" val="45050139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034406104"/>
              </p:ext>
            </p:extLst>
          </p:nvPr>
        </p:nvGraphicFramePr>
        <p:xfrm>
          <a:off x="4572000" y="1371600"/>
          <a:ext cx="6084170" cy="4251633"/>
        </p:xfrm>
        <a:graphic>
          <a:graphicData uri="http://schemas.openxmlformats.org/drawingml/2006/table">
            <a:tbl>
              <a:tblPr/>
              <a:tblGrid>
                <a:gridCol w="1905000">
                  <a:extLst>
                    <a:ext uri="{9D8B030D-6E8A-4147-A177-3AD203B41FA5}">
                      <a16:colId xmlns:a16="http://schemas.microsoft.com/office/drawing/2014/main" val="20000"/>
                    </a:ext>
                  </a:extLst>
                </a:gridCol>
                <a:gridCol w="4179170">
                  <a:extLst>
                    <a:ext uri="{9D8B030D-6E8A-4147-A177-3AD203B41FA5}">
                      <a16:colId xmlns:a16="http://schemas.microsoft.com/office/drawing/2014/main" val="20001"/>
                    </a:ext>
                  </a:extLst>
                </a:gridCol>
              </a:tblGrid>
              <a:tr h="709506">
                <a:tc>
                  <a:txBody>
                    <a:bodyPr/>
                    <a:lstStyle/>
                    <a:p>
                      <a:pPr algn="ctr" fontAlgn="base"/>
                      <a:r>
                        <a:rPr lang="en-GB" sz="2000" b="1" dirty="0">
                          <a:effectLst/>
                          <a:latin typeface="Nunito"/>
                        </a:rPr>
                        <a:t>Term</a:t>
                      </a:r>
                    </a:p>
                  </a:txBody>
                  <a:tcPr marL="37990" marR="37990" marT="94975" marB="949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tc>
                  <a:txBody>
                    <a:bodyPr/>
                    <a:lstStyle/>
                    <a:p>
                      <a:pPr algn="ctr" fontAlgn="base"/>
                      <a:r>
                        <a:rPr lang="en-GB" sz="2000" b="1" dirty="0">
                          <a:effectLst/>
                          <a:latin typeface="Nunito"/>
                        </a:rPr>
                        <a:t>Description</a:t>
                      </a:r>
                    </a:p>
                  </a:txBody>
                  <a:tcPr marL="94975" marR="94975" marT="94975" marB="9497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9F9F9"/>
                    </a:solidFill>
                  </a:tcPr>
                </a:tc>
                <a:extLst>
                  <a:ext uri="{0D108BD9-81ED-4DB2-BD59-A6C34878D82A}">
                    <a16:rowId xmlns:a16="http://schemas.microsoft.com/office/drawing/2014/main" val="10000"/>
                  </a:ext>
                </a:extLst>
              </a:tr>
              <a:tr h="1136154">
                <a:tc>
                  <a:txBody>
                    <a:bodyPr/>
                    <a:lstStyle/>
                    <a:p>
                      <a:pPr algn="ctr" fontAlgn="ctr"/>
                      <a:r>
                        <a:rPr lang="en-GB" sz="1800" b="0" dirty="0">
                          <a:effectLst/>
                          <a:latin typeface="Nunito"/>
                        </a:rPr>
                        <a:t>Class</a:t>
                      </a:r>
                    </a:p>
                  </a:txBody>
                  <a:tcPr marL="94975" marR="94975" marT="132966" marB="1329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GB" sz="1800" b="0" dirty="0">
                          <a:effectLst/>
                          <a:latin typeface="Nunito"/>
                        </a:rPr>
                        <a:t>Blueprint from which objects are created</a:t>
                      </a:r>
                    </a:p>
                  </a:txBody>
                  <a:tcPr marL="94975" marR="94975" marT="132966" marB="1329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01991">
                <a:tc>
                  <a:txBody>
                    <a:bodyPr/>
                    <a:lstStyle/>
                    <a:p>
                      <a:pPr algn="ctr" fontAlgn="ctr"/>
                      <a:r>
                        <a:rPr lang="en-GB" sz="1800" b="0" dirty="0">
                          <a:effectLst/>
                          <a:latin typeface="Nunito"/>
                        </a:rPr>
                        <a:t>Superclass</a:t>
                      </a:r>
                    </a:p>
                  </a:txBody>
                  <a:tcPr marL="94975" marR="94975" marT="132966" marB="1329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GB" sz="1800" b="0" dirty="0">
                          <a:effectLst/>
                          <a:latin typeface="Nunito"/>
                        </a:rPr>
                        <a:t>Class whose properties are inherited</a:t>
                      </a:r>
                    </a:p>
                  </a:txBody>
                  <a:tcPr marL="94975" marR="94975" marT="132966" marB="1329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801991">
                <a:tc>
                  <a:txBody>
                    <a:bodyPr/>
                    <a:lstStyle/>
                    <a:p>
                      <a:pPr algn="ctr" fontAlgn="ctr"/>
                      <a:r>
                        <a:rPr lang="en-GB" sz="1800" b="0" dirty="0">
                          <a:effectLst/>
                          <a:latin typeface="Nunito"/>
                        </a:rPr>
                        <a:t>Subclass</a:t>
                      </a:r>
                    </a:p>
                  </a:txBody>
                  <a:tcPr marL="94975" marR="94975" marT="132966" marB="1329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GB" sz="1800" b="0" dirty="0">
                          <a:effectLst/>
                          <a:latin typeface="Nunito"/>
                        </a:rPr>
                        <a:t>Class that inherits another class</a:t>
                      </a:r>
                    </a:p>
                  </a:txBody>
                  <a:tcPr marL="94975" marR="94975" marT="132966" marB="1329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01991">
                <a:tc>
                  <a:txBody>
                    <a:bodyPr/>
                    <a:lstStyle/>
                    <a:p>
                      <a:pPr algn="ctr" fontAlgn="ctr"/>
                      <a:r>
                        <a:rPr lang="en-GB" sz="1800" b="0">
                          <a:effectLst/>
                          <a:latin typeface="Nunito"/>
                        </a:rPr>
                        <a:t>extends</a:t>
                      </a:r>
                    </a:p>
                  </a:txBody>
                  <a:tcPr marL="94975" marR="94975" marT="132966" marB="1329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ctr"/>
                      <a:r>
                        <a:rPr lang="en-GB" sz="1800" b="0" dirty="0">
                          <a:effectLst/>
                          <a:latin typeface="Nunito"/>
                        </a:rPr>
                        <a:t>Keyword used to inherit a class</a:t>
                      </a:r>
                    </a:p>
                  </a:txBody>
                  <a:tcPr marL="94975" marR="94975" marT="132966" marB="13296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4" name="Rectangle 3"/>
          <p:cNvSpPr/>
          <p:nvPr/>
        </p:nvSpPr>
        <p:spPr>
          <a:xfrm>
            <a:off x="34636" y="1600200"/>
            <a:ext cx="3400290" cy="138499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800" b="1" i="0" u="none" strike="noStrike" cap="none" normalizeH="0" baseline="0" dirty="0" smtClean="0">
                <a:ln>
                  <a:noFill/>
                </a:ln>
                <a:solidFill>
                  <a:srgbClr val="273239"/>
                </a:solidFill>
                <a:effectLst/>
                <a:latin typeface="Nunito"/>
              </a:rPr>
              <a:t>Key Terminologies</a:t>
            </a: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800" b="1" i="0" u="none" strike="noStrike" cap="none" normalizeH="0" baseline="0" dirty="0" smtClean="0">
                <a:ln>
                  <a:noFill/>
                </a:ln>
                <a:solidFill>
                  <a:srgbClr val="273239"/>
                </a:solidFill>
                <a:effectLst/>
                <a:latin typeface="Nunito"/>
              </a:rPr>
              <a:t> in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400" b="1" i="0" u="none" strike="noStrike" cap="none" normalizeH="0" baseline="0" dirty="0" smtClean="0">
                <a:ln>
                  <a:noFill/>
                </a:ln>
                <a:solidFill>
                  <a:srgbClr val="273239"/>
                </a:solidFill>
                <a:effectLst/>
                <a:latin typeface="Nunito"/>
              </a:rPr>
              <a:t> </a:t>
            </a:r>
            <a:r>
              <a:rPr kumimoji="0" lang="en-US" sz="2800" b="1" i="0" u="none" strike="noStrike" cap="none" normalizeH="0" baseline="0" dirty="0" smtClean="0">
                <a:ln>
                  <a:noFill/>
                </a:ln>
                <a:solidFill>
                  <a:srgbClr val="273239"/>
                </a:solidFill>
                <a:effectLst/>
                <a:latin typeface="Nunito"/>
              </a:rPr>
              <a:t>Java Inheritance</a:t>
            </a:r>
            <a:endParaRPr kumimoji="0" lang="en-US" sz="2400" b="1" i="0" u="none" strike="noStrike" cap="none" normalizeH="0" baseline="0" dirty="0" smtClean="0">
              <a:ln>
                <a:noFill/>
              </a:ln>
              <a:solidFill>
                <a:srgbClr val="273239"/>
              </a:solidFill>
              <a:effectLst/>
              <a:latin typeface="Nunito"/>
            </a:endParaRPr>
          </a:p>
        </p:txBody>
      </p:sp>
      <p:pic>
        <p:nvPicPr>
          <p:cNvPr id="5" name="object 7"/>
          <p:cNvPicPr/>
          <p:nvPr/>
        </p:nvPicPr>
        <p:blipFill>
          <a:blip r:embed="rId2" cstate="print"/>
          <a:stretch>
            <a:fillRect/>
          </a:stretch>
        </p:blipFill>
        <p:spPr>
          <a:xfrm>
            <a:off x="9513719" y="-228600"/>
            <a:ext cx="2648711" cy="1182624"/>
          </a:xfrm>
          <a:prstGeom prst="rect">
            <a:avLst/>
          </a:prstGeom>
        </p:spPr>
      </p:pic>
    </p:spTree>
    <p:extLst>
      <p:ext uri="{BB962C8B-B14F-4D97-AF65-F5344CB8AC3E}">
        <p14:creationId xmlns:p14="http://schemas.microsoft.com/office/powerpoint/2010/main" val="401699010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810000" y="152400"/>
            <a:ext cx="8035338" cy="5334000"/>
          </a:xfrm>
          <a:prstGeom prst="rect">
            <a:avLst/>
          </a:prstGeom>
        </p:spPr>
      </p:pic>
      <p:sp>
        <p:nvSpPr>
          <p:cNvPr id="3" name="Rectangle 2"/>
          <p:cNvSpPr/>
          <p:nvPr/>
        </p:nvSpPr>
        <p:spPr>
          <a:xfrm>
            <a:off x="228600" y="2209800"/>
            <a:ext cx="3048000" cy="2123658"/>
          </a:xfrm>
          <a:prstGeom prst="rect">
            <a:avLst/>
          </a:prstGeom>
        </p:spPr>
        <p:txBody>
          <a:bodyPr wrap="square">
            <a:spAutoFit/>
          </a:bodyPr>
          <a:lstStyle/>
          <a:p>
            <a:pPr algn="ctr" fontAlgn="base"/>
            <a:r>
              <a:rPr lang="en-GB" sz="3200" b="1" i="0" dirty="0" smtClean="0">
                <a:solidFill>
                  <a:srgbClr val="273239"/>
                </a:solidFill>
                <a:effectLst/>
                <a:latin typeface="Nunito"/>
              </a:rPr>
              <a:t>Types of Inheritance in Java</a:t>
            </a:r>
          </a:p>
          <a:p>
            <a:r>
              <a:rPr lang="en-GB" dirty="0" smtClean="0"/>
              <a:t/>
            </a:r>
            <a:br>
              <a:rPr lang="en-GB" dirty="0" smtClean="0"/>
            </a:br>
            <a:endParaRPr lang="en-GB" dirty="0"/>
          </a:p>
        </p:txBody>
      </p:sp>
      <p:pic>
        <p:nvPicPr>
          <p:cNvPr id="4" name="object 7"/>
          <p:cNvPicPr/>
          <p:nvPr/>
        </p:nvPicPr>
        <p:blipFill>
          <a:blip r:embed="rId3" cstate="print"/>
          <a:stretch>
            <a:fillRect/>
          </a:stretch>
        </p:blipFill>
        <p:spPr>
          <a:xfrm>
            <a:off x="9513719" y="-228600"/>
            <a:ext cx="2648711" cy="1182624"/>
          </a:xfrm>
          <a:prstGeom prst="rect">
            <a:avLst/>
          </a:prstGeom>
        </p:spPr>
      </p:pic>
    </p:spTree>
    <p:extLst>
      <p:ext uri="{BB962C8B-B14F-4D97-AF65-F5344CB8AC3E}">
        <p14:creationId xmlns:p14="http://schemas.microsoft.com/office/powerpoint/2010/main" val="52377915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0979" y="2514600"/>
            <a:ext cx="12171021" cy="4134814"/>
          </a:xfrm>
          <a:prstGeom prst="rect">
            <a:avLst/>
          </a:prstGeom>
        </p:spPr>
      </p:pic>
      <p:sp>
        <p:nvSpPr>
          <p:cNvPr id="3" name="Rectangle 2"/>
          <p:cNvSpPr/>
          <p:nvPr/>
        </p:nvSpPr>
        <p:spPr>
          <a:xfrm>
            <a:off x="-76200" y="914400"/>
            <a:ext cx="4166525" cy="1077218"/>
          </a:xfrm>
          <a:prstGeom prst="rect">
            <a:avLst/>
          </a:prstGeom>
        </p:spPr>
        <p:txBody>
          <a:bodyPr wrap="none">
            <a:spAutoFit/>
          </a:bodyPr>
          <a:lstStyle/>
          <a:p>
            <a:r>
              <a:rPr lang="en-GB" sz="3200" b="1" dirty="0" smtClean="0"/>
              <a:t>Types of inheritance</a:t>
            </a:r>
          </a:p>
          <a:p>
            <a:r>
              <a:rPr lang="en-GB" sz="3200" b="1" dirty="0" smtClean="0"/>
              <a:t> in java</a:t>
            </a:r>
            <a:endParaRPr lang="en-GB" sz="3200" b="1" dirty="0"/>
          </a:p>
        </p:txBody>
      </p:sp>
      <p:pic>
        <p:nvPicPr>
          <p:cNvPr id="4" name="object 7"/>
          <p:cNvPicPr/>
          <p:nvPr/>
        </p:nvPicPr>
        <p:blipFill>
          <a:blip r:embed="rId3" cstate="print"/>
          <a:stretch>
            <a:fillRect/>
          </a:stretch>
        </p:blipFill>
        <p:spPr>
          <a:xfrm>
            <a:off x="9513719" y="-228600"/>
            <a:ext cx="2648711" cy="1182624"/>
          </a:xfrm>
          <a:prstGeom prst="rect">
            <a:avLst/>
          </a:prstGeom>
        </p:spPr>
      </p:pic>
    </p:spTree>
    <p:extLst>
      <p:ext uri="{BB962C8B-B14F-4D97-AF65-F5344CB8AC3E}">
        <p14:creationId xmlns:p14="http://schemas.microsoft.com/office/powerpoint/2010/main" val="357536759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33800" y="-13855"/>
            <a:ext cx="7772400" cy="7171194"/>
          </a:xfrm>
          <a:prstGeom prst="rect">
            <a:avLst/>
          </a:prstGeom>
        </p:spPr>
        <p:txBody>
          <a:bodyPr wrap="square">
            <a:spAutoFit/>
          </a:bodyPr>
          <a:lstStyle/>
          <a:p>
            <a:pPr algn="l"/>
            <a:r>
              <a:rPr lang="en-GB" sz="2000" i="0" u="none" strike="noStrike" baseline="0" dirty="0" smtClean="0">
                <a:latin typeface="Courier"/>
              </a:rPr>
              <a:t>// Create a superclass.</a:t>
            </a:r>
          </a:p>
          <a:p>
            <a:pPr algn="l"/>
            <a:r>
              <a:rPr lang="en-GB" sz="2000" i="0" u="none" strike="noStrike" baseline="0" dirty="0" smtClean="0">
                <a:latin typeface="Courier"/>
              </a:rPr>
              <a:t>class A {</a:t>
            </a:r>
          </a:p>
          <a:p>
            <a:pPr algn="l"/>
            <a:r>
              <a:rPr lang="en-GB" sz="2000" i="0" u="none" strike="noStrike" baseline="0" dirty="0" smtClean="0">
                <a:latin typeface="Courier"/>
              </a:rPr>
              <a:t>int </a:t>
            </a:r>
            <a:r>
              <a:rPr lang="en-GB" sz="2000" i="0" u="none" strike="noStrike" baseline="0" dirty="0" err="1" smtClean="0">
                <a:latin typeface="Courier"/>
              </a:rPr>
              <a:t>i</a:t>
            </a:r>
            <a:r>
              <a:rPr lang="en-GB" sz="2000" i="0" u="none" strike="noStrike" baseline="0" dirty="0" smtClean="0">
                <a:latin typeface="Courier"/>
              </a:rPr>
              <a:t>=10, j=20;</a:t>
            </a:r>
          </a:p>
          <a:p>
            <a:pPr algn="l"/>
            <a:r>
              <a:rPr lang="en-GB" sz="2000" i="0" u="none" strike="noStrike" baseline="0" dirty="0" smtClean="0">
                <a:latin typeface="Courier"/>
              </a:rPr>
              <a:t>void showij() {</a:t>
            </a:r>
          </a:p>
          <a:p>
            <a:pPr algn="l"/>
            <a:r>
              <a:rPr lang="en-GB" sz="2000" i="0" u="none" strike="noStrike" baseline="0" dirty="0" smtClean="0">
                <a:latin typeface="Courier"/>
              </a:rPr>
              <a:t>System.out.println("</a:t>
            </a:r>
            <a:r>
              <a:rPr lang="en-GB" sz="2000" i="0" u="none" strike="noStrike" baseline="0" dirty="0" err="1" smtClean="0">
                <a:latin typeface="Courier"/>
              </a:rPr>
              <a:t>i</a:t>
            </a:r>
            <a:r>
              <a:rPr lang="en-GB" sz="2000" i="0" u="none" strike="noStrike" baseline="0" dirty="0" smtClean="0">
                <a:latin typeface="Courier"/>
              </a:rPr>
              <a:t> and j: " + </a:t>
            </a:r>
            <a:r>
              <a:rPr lang="en-GB" sz="2000" i="0" u="none" strike="noStrike" baseline="0" dirty="0" err="1" smtClean="0">
                <a:latin typeface="Courier"/>
              </a:rPr>
              <a:t>i</a:t>
            </a:r>
            <a:r>
              <a:rPr lang="en-GB" sz="2000" i="0" u="none" strike="noStrike" baseline="0" dirty="0" smtClean="0">
                <a:latin typeface="Courier"/>
              </a:rPr>
              <a:t> + " " + j);</a:t>
            </a:r>
          </a:p>
          <a:p>
            <a:pPr algn="l"/>
            <a:r>
              <a:rPr lang="en-GB" sz="2000" i="0" u="none" strike="noStrike" baseline="0" dirty="0" smtClean="0">
                <a:latin typeface="Courier"/>
              </a:rPr>
              <a:t>}</a:t>
            </a:r>
          </a:p>
          <a:p>
            <a:pPr algn="l"/>
            <a:r>
              <a:rPr lang="en-GB" sz="2000" i="0" u="none" strike="noStrike" baseline="0" dirty="0" smtClean="0">
                <a:latin typeface="Courier"/>
              </a:rPr>
              <a:t>}</a:t>
            </a:r>
          </a:p>
          <a:p>
            <a:pPr algn="l"/>
            <a:r>
              <a:rPr lang="en-GB" sz="2000" i="0" u="none" strike="noStrike" baseline="0" dirty="0" smtClean="0">
                <a:latin typeface="Courier"/>
              </a:rPr>
              <a:t>// Create a subclass by extending class A.</a:t>
            </a:r>
          </a:p>
          <a:p>
            <a:pPr algn="l"/>
            <a:r>
              <a:rPr lang="en-GB" sz="2000" i="0" u="none" strike="noStrike" baseline="0" dirty="0" smtClean="0">
                <a:latin typeface="Courier"/>
              </a:rPr>
              <a:t>class B5 extends A {</a:t>
            </a:r>
          </a:p>
          <a:p>
            <a:pPr algn="l"/>
            <a:r>
              <a:rPr lang="en-GB" sz="2000" i="0" u="none" strike="noStrike" baseline="0" dirty="0" smtClean="0">
                <a:latin typeface="Courier"/>
              </a:rPr>
              <a:t>int k=30;</a:t>
            </a:r>
          </a:p>
          <a:p>
            <a:pPr algn="l"/>
            <a:r>
              <a:rPr lang="en-GB" sz="2000" i="0" u="none" strike="noStrike" baseline="0" dirty="0" smtClean="0">
                <a:latin typeface="Courier"/>
              </a:rPr>
              <a:t>void showk() {</a:t>
            </a:r>
          </a:p>
          <a:p>
            <a:pPr algn="l"/>
            <a:r>
              <a:rPr lang="en-GB" sz="2000" i="0" u="none" strike="noStrike" baseline="0" dirty="0" smtClean="0">
                <a:latin typeface="Courier"/>
              </a:rPr>
              <a:t>System.out.println("k: " + k);</a:t>
            </a:r>
          </a:p>
          <a:p>
            <a:pPr algn="l"/>
            <a:r>
              <a:rPr lang="en-GB" sz="2000" i="0" u="none" strike="noStrike" baseline="0" dirty="0" smtClean="0">
                <a:latin typeface="Courier"/>
              </a:rPr>
              <a:t>}</a:t>
            </a:r>
          </a:p>
          <a:p>
            <a:pPr algn="l"/>
            <a:r>
              <a:rPr lang="en-GB" sz="2000" i="0" u="none" strike="noStrike" baseline="0" dirty="0" smtClean="0">
                <a:latin typeface="Courier"/>
              </a:rPr>
              <a:t>void sum() {</a:t>
            </a:r>
          </a:p>
          <a:p>
            <a:pPr algn="l"/>
            <a:r>
              <a:rPr lang="en-GB" sz="2000" i="0" u="none" strike="noStrike" baseline="0" dirty="0" smtClean="0">
                <a:latin typeface="Courier"/>
              </a:rPr>
              <a:t>System.out.println("i+j+k: " + (i+j+k));</a:t>
            </a:r>
          </a:p>
          <a:p>
            <a:pPr algn="l"/>
            <a:r>
              <a:rPr lang="en-GB" sz="2000" i="0" u="none" strike="noStrike" baseline="0" dirty="0" smtClean="0">
                <a:latin typeface="Courier"/>
              </a:rPr>
              <a:t>}</a:t>
            </a:r>
          </a:p>
          <a:p>
            <a:pPr algn="l"/>
            <a:r>
              <a:rPr lang="en-GB" sz="2000" i="0" u="none" strike="noStrike" baseline="0" dirty="0" smtClean="0">
                <a:latin typeface="Courier"/>
              </a:rPr>
              <a:t>public static void main(String args [])</a:t>
            </a:r>
          </a:p>
          <a:p>
            <a:pPr algn="l"/>
            <a:r>
              <a:rPr lang="en-GB" sz="2000" i="0" u="none" strike="noStrike" baseline="0" dirty="0" smtClean="0">
                <a:latin typeface="Courier"/>
              </a:rPr>
              <a:t>{ B5 obj = new B5();</a:t>
            </a:r>
          </a:p>
          <a:p>
            <a:pPr algn="l"/>
            <a:r>
              <a:rPr lang="en-GB" sz="2000" i="0" u="none" strike="noStrike" baseline="0" dirty="0" smtClean="0">
                <a:latin typeface="Courier"/>
              </a:rPr>
              <a:t>obj.showij();</a:t>
            </a:r>
          </a:p>
          <a:p>
            <a:pPr algn="l"/>
            <a:r>
              <a:rPr lang="en-GB" sz="2000" i="0" u="none" strike="noStrike" baseline="0" dirty="0" smtClean="0">
                <a:latin typeface="Courier"/>
              </a:rPr>
              <a:t>obj.showk();</a:t>
            </a:r>
          </a:p>
          <a:p>
            <a:pPr algn="l"/>
            <a:r>
              <a:rPr lang="en-GB" sz="2000" i="0" u="none" strike="noStrike" baseline="0" dirty="0" smtClean="0">
                <a:latin typeface="Courier"/>
              </a:rPr>
              <a:t>obj.sum();</a:t>
            </a:r>
          </a:p>
          <a:p>
            <a:pPr algn="l"/>
            <a:r>
              <a:rPr lang="en-GB" sz="2000" i="0" u="none" strike="noStrike" baseline="0" dirty="0" smtClean="0">
                <a:latin typeface="Courier"/>
              </a:rPr>
              <a:t>}</a:t>
            </a:r>
          </a:p>
          <a:p>
            <a:pPr algn="l"/>
            <a:r>
              <a:rPr lang="en-GB" sz="2000" i="0" u="none" strike="noStrike" baseline="0" dirty="0" smtClean="0">
                <a:latin typeface="Courier"/>
              </a:rPr>
              <a:t>}</a:t>
            </a:r>
          </a:p>
        </p:txBody>
      </p:sp>
      <p:sp>
        <p:nvSpPr>
          <p:cNvPr id="3" name="Rectangle 2"/>
          <p:cNvSpPr/>
          <p:nvPr/>
        </p:nvSpPr>
        <p:spPr>
          <a:xfrm>
            <a:off x="427201" y="2286000"/>
            <a:ext cx="2541081" cy="523220"/>
          </a:xfrm>
          <a:prstGeom prst="rect">
            <a:avLst/>
          </a:prstGeom>
        </p:spPr>
        <p:txBody>
          <a:bodyPr wrap="none">
            <a:spAutoFit/>
          </a:bodyPr>
          <a:lstStyle/>
          <a:p>
            <a:pPr algn="ctr"/>
            <a:r>
              <a:rPr lang="en-GB" sz="2800" b="1" dirty="0" smtClean="0"/>
              <a:t>Example No 1</a:t>
            </a:r>
            <a:endParaRPr lang="en-GB" sz="2800" b="1" dirty="0"/>
          </a:p>
        </p:txBody>
      </p:sp>
      <p:pic>
        <p:nvPicPr>
          <p:cNvPr id="4" name="Picture 3"/>
          <p:cNvPicPr>
            <a:picLocks noChangeAspect="1"/>
          </p:cNvPicPr>
          <p:nvPr/>
        </p:nvPicPr>
        <p:blipFill>
          <a:blip r:embed="rId2"/>
          <a:stretch>
            <a:fillRect/>
          </a:stretch>
        </p:blipFill>
        <p:spPr>
          <a:xfrm>
            <a:off x="7086600" y="5562600"/>
            <a:ext cx="4648200" cy="1295400"/>
          </a:xfrm>
          <a:prstGeom prst="rect">
            <a:avLst/>
          </a:prstGeom>
        </p:spPr>
      </p:pic>
      <p:pic>
        <p:nvPicPr>
          <p:cNvPr id="5" name="object 7"/>
          <p:cNvPicPr/>
          <p:nvPr/>
        </p:nvPicPr>
        <p:blipFill>
          <a:blip r:embed="rId3" cstate="print"/>
          <a:stretch>
            <a:fillRect/>
          </a:stretch>
        </p:blipFill>
        <p:spPr>
          <a:xfrm>
            <a:off x="9513719" y="-228600"/>
            <a:ext cx="2648711" cy="1182624"/>
          </a:xfrm>
          <a:prstGeom prst="rect">
            <a:avLst/>
          </a:prstGeom>
        </p:spPr>
      </p:pic>
    </p:spTree>
    <p:extLst>
      <p:ext uri="{BB962C8B-B14F-4D97-AF65-F5344CB8AC3E}">
        <p14:creationId xmlns:p14="http://schemas.microsoft.com/office/powerpoint/2010/main" val="12853357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315200" y="948690"/>
            <a:ext cx="4876800" cy="5909310"/>
          </a:xfrm>
          <a:prstGeom prst="rect">
            <a:avLst/>
          </a:prstGeom>
        </p:spPr>
        <p:txBody>
          <a:bodyPr wrap="square">
            <a:spAutoFit/>
          </a:bodyPr>
          <a:lstStyle/>
          <a:p>
            <a:pPr algn="l"/>
            <a:r>
              <a:rPr lang="en-GB" i="0" u="none" strike="noStrike" baseline="0" dirty="0" smtClean="0">
                <a:solidFill>
                  <a:srgbClr val="231F20"/>
                </a:solidFill>
                <a:latin typeface="+mj-lt"/>
              </a:rPr>
              <a:t>class </a:t>
            </a:r>
            <a:r>
              <a:rPr lang="en-GB" i="0" u="none" strike="noStrike" baseline="0" dirty="0" smtClean="0">
                <a:solidFill>
                  <a:srgbClr val="FF0000"/>
                </a:solidFill>
                <a:latin typeface="+mj-lt"/>
              </a:rPr>
              <a:t>SimpleInheritance</a:t>
            </a:r>
            <a:r>
              <a:rPr lang="en-GB" i="0" u="none" strike="noStrike" baseline="0" dirty="0" smtClean="0">
                <a:solidFill>
                  <a:srgbClr val="231F20"/>
                </a:solidFill>
                <a:latin typeface="+mj-lt"/>
              </a:rPr>
              <a:t> {</a:t>
            </a:r>
          </a:p>
          <a:p>
            <a:pPr algn="l"/>
            <a:r>
              <a:rPr lang="en-GB" i="0" u="none" strike="noStrike" baseline="0" dirty="0" smtClean="0">
                <a:solidFill>
                  <a:srgbClr val="231F20"/>
                </a:solidFill>
                <a:latin typeface="+mj-lt"/>
              </a:rPr>
              <a:t>public static void main(String args[]) {</a:t>
            </a:r>
          </a:p>
          <a:p>
            <a:pPr algn="l"/>
            <a:r>
              <a:rPr lang="en-GB" i="0" u="none" strike="noStrike" baseline="0" dirty="0" smtClean="0">
                <a:solidFill>
                  <a:srgbClr val="231F20"/>
                </a:solidFill>
                <a:latin typeface="+mj-lt"/>
              </a:rPr>
              <a:t> A superOb = new A();</a:t>
            </a:r>
          </a:p>
          <a:p>
            <a:pPr algn="l"/>
            <a:r>
              <a:rPr lang="en-GB" i="0" u="none" strike="noStrike" baseline="0" dirty="0" smtClean="0">
                <a:solidFill>
                  <a:srgbClr val="231F20"/>
                </a:solidFill>
                <a:latin typeface="+mj-lt"/>
              </a:rPr>
              <a:t>B subOb = new B();</a:t>
            </a:r>
          </a:p>
          <a:p>
            <a:pPr algn="l"/>
            <a:r>
              <a:rPr lang="en-GB" i="0" u="none" strike="noStrike" baseline="0" dirty="0" smtClean="0">
                <a:solidFill>
                  <a:srgbClr val="231F20"/>
                </a:solidFill>
                <a:latin typeface="+mj-lt"/>
              </a:rPr>
              <a:t>// The superclass may be used by itself.</a:t>
            </a:r>
          </a:p>
          <a:p>
            <a:pPr algn="l"/>
            <a:r>
              <a:rPr lang="en-GB" i="0" u="none" strike="noStrike" baseline="0" dirty="0" smtClean="0">
                <a:solidFill>
                  <a:srgbClr val="231F20"/>
                </a:solidFill>
                <a:latin typeface="+mj-lt"/>
              </a:rPr>
              <a:t>superOb.i = 10;</a:t>
            </a:r>
          </a:p>
          <a:p>
            <a:pPr algn="l"/>
            <a:r>
              <a:rPr lang="en-GB" i="0" u="none" strike="noStrike" baseline="0" dirty="0" smtClean="0">
                <a:solidFill>
                  <a:srgbClr val="231F20"/>
                </a:solidFill>
                <a:latin typeface="+mj-lt"/>
              </a:rPr>
              <a:t>superOb.j = 20;</a:t>
            </a:r>
          </a:p>
          <a:p>
            <a:pPr algn="l"/>
            <a:r>
              <a:rPr lang="en-GB" i="0" u="none" strike="noStrike" baseline="0" dirty="0" smtClean="0">
                <a:solidFill>
                  <a:srgbClr val="231F20"/>
                </a:solidFill>
                <a:latin typeface="+mj-lt"/>
              </a:rPr>
              <a:t>System.out.println("Contents of superOb: ");</a:t>
            </a:r>
          </a:p>
          <a:p>
            <a:pPr algn="l"/>
            <a:r>
              <a:rPr lang="en-GB" i="0" u="none" strike="noStrike" baseline="0" dirty="0" smtClean="0">
                <a:solidFill>
                  <a:srgbClr val="231F20"/>
                </a:solidFill>
                <a:latin typeface="+mj-lt"/>
              </a:rPr>
              <a:t>superOb.showij();</a:t>
            </a:r>
          </a:p>
          <a:p>
            <a:pPr algn="l"/>
            <a:r>
              <a:rPr lang="en-GB" i="0" u="none" strike="noStrike" baseline="0" dirty="0" smtClean="0">
                <a:solidFill>
                  <a:srgbClr val="231F20"/>
                </a:solidFill>
                <a:latin typeface="+mj-lt"/>
              </a:rPr>
              <a:t>/* The subclass has access to all public members of its superclass*/</a:t>
            </a:r>
          </a:p>
          <a:p>
            <a:pPr algn="l"/>
            <a:r>
              <a:rPr lang="en-GB" i="0" u="none" strike="noStrike" baseline="0" dirty="0" smtClean="0">
                <a:solidFill>
                  <a:srgbClr val="231F20"/>
                </a:solidFill>
                <a:latin typeface="+mj-lt"/>
              </a:rPr>
              <a:t>subOb.i = 7;</a:t>
            </a:r>
          </a:p>
          <a:p>
            <a:pPr algn="l"/>
            <a:r>
              <a:rPr lang="en-GB" i="0" u="none" strike="noStrike" baseline="0" dirty="0" smtClean="0">
                <a:solidFill>
                  <a:srgbClr val="231F20"/>
                </a:solidFill>
                <a:latin typeface="+mj-lt"/>
              </a:rPr>
              <a:t>subOb.j = 8;</a:t>
            </a:r>
          </a:p>
          <a:p>
            <a:pPr algn="l"/>
            <a:r>
              <a:rPr lang="en-GB" i="0" u="none" strike="noStrike" baseline="0" dirty="0" smtClean="0">
                <a:solidFill>
                  <a:srgbClr val="231F20"/>
                </a:solidFill>
                <a:latin typeface="+mj-lt"/>
              </a:rPr>
              <a:t>subOb.k = 9;</a:t>
            </a:r>
          </a:p>
          <a:p>
            <a:pPr algn="l"/>
            <a:r>
              <a:rPr lang="en-GB" i="0" u="none" strike="noStrike" baseline="0" dirty="0" smtClean="0">
                <a:solidFill>
                  <a:srgbClr val="231F20"/>
                </a:solidFill>
                <a:latin typeface="+mj-lt"/>
              </a:rPr>
              <a:t>System.out.println("Contents of subOb: ");</a:t>
            </a:r>
          </a:p>
          <a:p>
            <a:pPr algn="l"/>
            <a:r>
              <a:rPr lang="en-GB" i="0" u="none" strike="noStrike" baseline="0" dirty="0" smtClean="0">
                <a:solidFill>
                  <a:srgbClr val="231F20"/>
                </a:solidFill>
                <a:latin typeface="+mj-lt"/>
              </a:rPr>
              <a:t>subOb.showij();</a:t>
            </a:r>
          </a:p>
          <a:p>
            <a:pPr algn="l"/>
            <a:r>
              <a:rPr lang="en-GB" i="0" u="none" strike="noStrike" baseline="0" dirty="0" smtClean="0">
                <a:solidFill>
                  <a:srgbClr val="231F20"/>
                </a:solidFill>
                <a:latin typeface="+mj-lt"/>
              </a:rPr>
              <a:t>subOb.showk();</a:t>
            </a:r>
          </a:p>
          <a:p>
            <a:pPr algn="l"/>
            <a:r>
              <a:rPr lang="en-GB" i="0" u="none" strike="noStrike" baseline="0" dirty="0" smtClean="0">
                <a:solidFill>
                  <a:srgbClr val="231F20"/>
                </a:solidFill>
                <a:latin typeface="+mj-lt"/>
              </a:rPr>
              <a:t>System.out.println("Sum of </a:t>
            </a:r>
            <a:r>
              <a:rPr lang="en-GB" i="0" u="none" strike="noStrike" baseline="0" dirty="0" err="1" smtClean="0">
                <a:solidFill>
                  <a:srgbClr val="231F20"/>
                </a:solidFill>
                <a:latin typeface="+mj-lt"/>
              </a:rPr>
              <a:t>i</a:t>
            </a:r>
            <a:r>
              <a:rPr lang="en-GB" i="0" u="none" strike="noStrike" baseline="0" dirty="0" smtClean="0">
                <a:solidFill>
                  <a:srgbClr val="231F20"/>
                </a:solidFill>
                <a:latin typeface="+mj-lt"/>
              </a:rPr>
              <a:t>, j and k in subOb:");</a:t>
            </a:r>
          </a:p>
          <a:p>
            <a:pPr algn="l"/>
            <a:r>
              <a:rPr lang="en-GB" i="0" u="none" strike="noStrike" baseline="0" dirty="0" smtClean="0">
                <a:solidFill>
                  <a:srgbClr val="231F20"/>
                </a:solidFill>
                <a:latin typeface="+mj-lt"/>
              </a:rPr>
              <a:t>subOb.sum();</a:t>
            </a:r>
          </a:p>
          <a:p>
            <a:pPr algn="l"/>
            <a:r>
              <a:rPr lang="en-GB" i="0" u="none" strike="noStrike" baseline="0" dirty="0" smtClean="0">
                <a:solidFill>
                  <a:srgbClr val="231F20"/>
                </a:solidFill>
                <a:latin typeface="+mj-lt"/>
              </a:rPr>
              <a:t>}</a:t>
            </a:r>
          </a:p>
          <a:p>
            <a:pPr algn="l"/>
            <a:r>
              <a:rPr lang="en-GB" i="0" u="none" strike="noStrike" baseline="0" dirty="0" smtClean="0">
                <a:solidFill>
                  <a:srgbClr val="231F20"/>
                </a:solidFill>
                <a:latin typeface="+mj-lt"/>
              </a:rPr>
              <a:t>}</a:t>
            </a:r>
            <a:endParaRPr lang="en-GB" dirty="0">
              <a:latin typeface="+mj-lt"/>
            </a:endParaRPr>
          </a:p>
        </p:txBody>
      </p:sp>
      <p:sp>
        <p:nvSpPr>
          <p:cNvPr id="3" name="Rectangle 2"/>
          <p:cNvSpPr/>
          <p:nvPr/>
        </p:nvSpPr>
        <p:spPr>
          <a:xfrm>
            <a:off x="228600" y="1600200"/>
            <a:ext cx="2985655" cy="523220"/>
          </a:xfrm>
          <a:prstGeom prst="rect">
            <a:avLst/>
          </a:prstGeom>
        </p:spPr>
        <p:txBody>
          <a:bodyPr wrap="square">
            <a:spAutoFit/>
          </a:bodyPr>
          <a:lstStyle/>
          <a:p>
            <a:r>
              <a:rPr lang="en-GB" sz="2800" b="1" dirty="0" smtClean="0"/>
              <a:t>Example No 2</a:t>
            </a:r>
            <a:endParaRPr lang="en-GB" sz="2800" b="1" dirty="0"/>
          </a:p>
        </p:txBody>
      </p:sp>
      <p:sp>
        <p:nvSpPr>
          <p:cNvPr id="5" name="Rectangle 4"/>
          <p:cNvSpPr/>
          <p:nvPr/>
        </p:nvSpPr>
        <p:spPr>
          <a:xfrm>
            <a:off x="3429000" y="381000"/>
            <a:ext cx="3733800" cy="5355312"/>
          </a:xfrm>
          <a:prstGeom prst="rect">
            <a:avLst/>
          </a:prstGeom>
        </p:spPr>
        <p:txBody>
          <a:bodyPr wrap="square">
            <a:spAutoFit/>
          </a:bodyPr>
          <a:lstStyle/>
          <a:p>
            <a:r>
              <a:rPr lang="en-GB" dirty="0" smtClean="0">
                <a:latin typeface="+mj-lt"/>
              </a:rPr>
              <a:t>// Create a superclass.</a:t>
            </a:r>
          </a:p>
          <a:p>
            <a:r>
              <a:rPr lang="en-GB" dirty="0" smtClean="0">
                <a:latin typeface="+mj-lt"/>
              </a:rPr>
              <a:t>class A {</a:t>
            </a:r>
          </a:p>
          <a:p>
            <a:r>
              <a:rPr lang="en-GB" dirty="0" smtClean="0">
                <a:latin typeface="+mj-lt"/>
              </a:rPr>
              <a:t>int </a:t>
            </a:r>
            <a:r>
              <a:rPr lang="en-GB" dirty="0" err="1" smtClean="0">
                <a:latin typeface="+mj-lt"/>
              </a:rPr>
              <a:t>i</a:t>
            </a:r>
            <a:r>
              <a:rPr lang="en-GB" dirty="0" smtClean="0">
                <a:latin typeface="+mj-lt"/>
              </a:rPr>
              <a:t>=10, j=20;</a:t>
            </a:r>
          </a:p>
          <a:p>
            <a:r>
              <a:rPr lang="en-GB" dirty="0" smtClean="0">
                <a:latin typeface="+mj-lt"/>
              </a:rPr>
              <a:t>void showij() {</a:t>
            </a:r>
          </a:p>
          <a:p>
            <a:r>
              <a:rPr lang="en-GB" dirty="0" smtClean="0">
                <a:latin typeface="+mj-lt"/>
              </a:rPr>
              <a:t>System.out.println("</a:t>
            </a:r>
            <a:r>
              <a:rPr lang="en-GB" dirty="0" err="1" smtClean="0">
                <a:latin typeface="+mj-lt"/>
              </a:rPr>
              <a:t>i</a:t>
            </a:r>
            <a:r>
              <a:rPr lang="en-GB" dirty="0" smtClean="0">
                <a:latin typeface="+mj-lt"/>
              </a:rPr>
              <a:t> and j: " + </a:t>
            </a:r>
            <a:r>
              <a:rPr lang="en-GB" dirty="0" err="1" smtClean="0">
                <a:latin typeface="+mj-lt"/>
              </a:rPr>
              <a:t>i</a:t>
            </a:r>
            <a:r>
              <a:rPr lang="en-GB" dirty="0" smtClean="0">
                <a:latin typeface="+mj-lt"/>
              </a:rPr>
              <a:t> + " " + j);</a:t>
            </a:r>
          </a:p>
          <a:p>
            <a:r>
              <a:rPr lang="en-GB" dirty="0" smtClean="0">
                <a:latin typeface="+mj-lt"/>
              </a:rPr>
              <a:t>}</a:t>
            </a:r>
          </a:p>
          <a:p>
            <a:r>
              <a:rPr lang="en-GB" dirty="0" smtClean="0">
                <a:latin typeface="+mj-lt"/>
              </a:rPr>
              <a:t>}</a:t>
            </a:r>
          </a:p>
          <a:p>
            <a:r>
              <a:rPr lang="en-GB" dirty="0" smtClean="0">
                <a:latin typeface="+mj-lt"/>
              </a:rPr>
              <a:t>// Create a subclass by extending class A.</a:t>
            </a:r>
          </a:p>
          <a:p>
            <a:r>
              <a:rPr lang="en-GB" dirty="0" smtClean="0">
                <a:latin typeface="+mj-lt"/>
              </a:rPr>
              <a:t>class B6 extends A {</a:t>
            </a:r>
          </a:p>
          <a:p>
            <a:r>
              <a:rPr lang="en-GB" dirty="0" smtClean="0">
                <a:latin typeface="+mj-lt"/>
              </a:rPr>
              <a:t>int k=30;</a:t>
            </a:r>
          </a:p>
          <a:p>
            <a:r>
              <a:rPr lang="en-GB" dirty="0" smtClean="0">
                <a:latin typeface="+mj-lt"/>
              </a:rPr>
              <a:t>void showk() {</a:t>
            </a:r>
          </a:p>
          <a:p>
            <a:r>
              <a:rPr lang="en-GB" dirty="0" smtClean="0">
                <a:latin typeface="+mj-lt"/>
              </a:rPr>
              <a:t>System.out.println("k: " + k);</a:t>
            </a:r>
          </a:p>
          <a:p>
            <a:r>
              <a:rPr lang="en-GB" dirty="0" smtClean="0">
                <a:latin typeface="+mj-lt"/>
              </a:rPr>
              <a:t>}</a:t>
            </a:r>
          </a:p>
          <a:p>
            <a:r>
              <a:rPr lang="en-GB" dirty="0" smtClean="0">
                <a:latin typeface="+mj-lt"/>
              </a:rPr>
              <a:t>void sum() {</a:t>
            </a:r>
          </a:p>
          <a:p>
            <a:r>
              <a:rPr lang="en-GB" dirty="0" smtClean="0">
                <a:latin typeface="+mj-lt"/>
              </a:rPr>
              <a:t>System.out.println("i+j+k: " + (i+j+k));</a:t>
            </a:r>
          </a:p>
          <a:p>
            <a:r>
              <a:rPr lang="en-GB" dirty="0" smtClean="0">
                <a:latin typeface="+mj-lt"/>
              </a:rPr>
              <a:t>}</a:t>
            </a:r>
          </a:p>
          <a:p>
            <a:r>
              <a:rPr lang="en-GB" dirty="0" smtClean="0">
                <a:latin typeface="+mj-lt"/>
              </a:rPr>
              <a:t>}</a:t>
            </a:r>
            <a:endParaRPr lang="en-GB" dirty="0">
              <a:latin typeface="+mj-lt"/>
            </a:endParaRPr>
          </a:p>
        </p:txBody>
      </p:sp>
      <p:sp>
        <p:nvSpPr>
          <p:cNvPr id="7" name="Rectangle 6"/>
          <p:cNvSpPr/>
          <p:nvPr/>
        </p:nvSpPr>
        <p:spPr>
          <a:xfrm>
            <a:off x="228601" y="6172200"/>
            <a:ext cx="5714999" cy="707886"/>
          </a:xfrm>
          <a:prstGeom prst="rect">
            <a:avLst/>
          </a:prstGeom>
        </p:spPr>
        <p:txBody>
          <a:bodyPr wrap="square">
            <a:spAutoFit/>
          </a:bodyPr>
          <a:lstStyle/>
          <a:p>
            <a:r>
              <a:rPr lang="en-GB" sz="2000" dirty="0" smtClean="0">
                <a:solidFill>
                  <a:srgbClr val="FF0000"/>
                </a:solidFill>
              </a:rPr>
              <a:t>Question:- What will be the output for given program….????????</a:t>
            </a:r>
            <a:endParaRPr lang="en-GB" sz="2000" dirty="0">
              <a:solidFill>
                <a:srgbClr val="FF0000"/>
              </a:solidFill>
            </a:endParaRPr>
          </a:p>
        </p:txBody>
      </p:sp>
      <p:pic>
        <p:nvPicPr>
          <p:cNvPr id="6" name="object 7"/>
          <p:cNvPicPr/>
          <p:nvPr/>
        </p:nvPicPr>
        <p:blipFill>
          <a:blip r:embed="rId2" cstate="print"/>
          <a:stretch>
            <a:fillRect/>
          </a:stretch>
        </p:blipFill>
        <p:spPr>
          <a:xfrm>
            <a:off x="9513719" y="-228600"/>
            <a:ext cx="2648711" cy="1182624"/>
          </a:xfrm>
          <a:prstGeom prst="rect">
            <a:avLst/>
          </a:prstGeom>
        </p:spPr>
      </p:pic>
    </p:spTree>
    <p:extLst>
      <p:ext uri="{BB962C8B-B14F-4D97-AF65-F5344CB8AC3E}">
        <p14:creationId xmlns:p14="http://schemas.microsoft.com/office/powerpoint/2010/main" val="347588759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581400" y="954024"/>
            <a:ext cx="8305800" cy="5141976"/>
          </a:xfrm>
          <a:prstGeom prst="rect">
            <a:avLst/>
          </a:prstGeom>
        </p:spPr>
      </p:pic>
      <p:sp>
        <p:nvSpPr>
          <p:cNvPr id="3" name="Rectangle 2"/>
          <p:cNvSpPr/>
          <p:nvPr/>
        </p:nvSpPr>
        <p:spPr>
          <a:xfrm>
            <a:off x="457200" y="2667000"/>
            <a:ext cx="2696572" cy="584775"/>
          </a:xfrm>
          <a:prstGeom prst="rect">
            <a:avLst/>
          </a:prstGeom>
        </p:spPr>
        <p:txBody>
          <a:bodyPr wrap="none">
            <a:spAutoFit/>
          </a:bodyPr>
          <a:lstStyle/>
          <a:p>
            <a:r>
              <a:rPr lang="en-GB" sz="3200" dirty="0" smtClean="0"/>
              <a:t>****Output****</a:t>
            </a:r>
            <a:endParaRPr lang="en-GB" sz="3200" dirty="0"/>
          </a:p>
        </p:txBody>
      </p:sp>
      <p:pic>
        <p:nvPicPr>
          <p:cNvPr id="4" name="object 7"/>
          <p:cNvPicPr/>
          <p:nvPr/>
        </p:nvPicPr>
        <p:blipFill>
          <a:blip r:embed="rId3" cstate="print"/>
          <a:stretch>
            <a:fillRect/>
          </a:stretch>
        </p:blipFill>
        <p:spPr>
          <a:xfrm>
            <a:off x="9513719" y="-228600"/>
            <a:ext cx="2648711" cy="1182624"/>
          </a:xfrm>
          <a:prstGeom prst="rect">
            <a:avLst/>
          </a:prstGeom>
        </p:spPr>
      </p:pic>
    </p:spTree>
    <p:extLst>
      <p:ext uri="{BB962C8B-B14F-4D97-AF65-F5344CB8AC3E}">
        <p14:creationId xmlns:p14="http://schemas.microsoft.com/office/powerpoint/2010/main" val="18033220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953000" y="0"/>
            <a:ext cx="6248400" cy="6555641"/>
          </a:xfrm>
          <a:prstGeom prst="rect">
            <a:avLst/>
          </a:prstGeom>
        </p:spPr>
        <p:txBody>
          <a:bodyPr wrap="square">
            <a:spAutoFit/>
          </a:bodyPr>
          <a:lstStyle/>
          <a:p>
            <a:r>
              <a:rPr lang="en-GB" sz="2000" dirty="0" smtClean="0"/>
              <a:t>class Animal{ </a:t>
            </a:r>
          </a:p>
          <a:p>
            <a:r>
              <a:rPr lang="en-GB" sz="2000" dirty="0" smtClean="0"/>
              <a:t>void eat()</a:t>
            </a:r>
          </a:p>
          <a:p>
            <a:r>
              <a:rPr lang="en-GB" sz="2000" dirty="0" smtClean="0"/>
              <a:t>{System.out.println("eating...");</a:t>
            </a:r>
          </a:p>
          <a:p>
            <a:r>
              <a:rPr lang="en-GB" sz="2000" dirty="0" smtClean="0"/>
              <a:t>}</a:t>
            </a:r>
          </a:p>
          <a:p>
            <a:r>
              <a:rPr lang="en-GB" sz="2000" dirty="0" smtClean="0"/>
              <a:t>}</a:t>
            </a:r>
          </a:p>
          <a:p>
            <a:r>
              <a:rPr lang="en-GB" sz="2000" dirty="0" smtClean="0"/>
              <a:t>class Dog extends Animal{</a:t>
            </a:r>
          </a:p>
          <a:p>
            <a:r>
              <a:rPr lang="en-GB" sz="2000" dirty="0" smtClean="0"/>
              <a:t>void bark()</a:t>
            </a:r>
          </a:p>
          <a:p>
            <a:r>
              <a:rPr lang="en-GB" sz="2000" dirty="0" smtClean="0"/>
              <a:t>{System.out.println("barking...");</a:t>
            </a:r>
          </a:p>
          <a:p>
            <a:r>
              <a:rPr lang="en-GB" sz="2000" dirty="0" smtClean="0"/>
              <a:t>}</a:t>
            </a:r>
          </a:p>
          <a:p>
            <a:r>
              <a:rPr lang="en-GB" sz="2000" dirty="0" smtClean="0"/>
              <a:t>}</a:t>
            </a:r>
          </a:p>
          <a:p>
            <a:r>
              <a:rPr lang="en-GB" sz="2000" dirty="0" smtClean="0"/>
              <a:t>class TestInheritance{</a:t>
            </a:r>
          </a:p>
          <a:p>
            <a:r>
              <a:rPr lang="en-GB" sz="2000" dirty="0" smtClean="0"/>
              <a:t>public static void main(String args[ ])</a:t>
            </a:r>
          </a:p>
          <a:p>
            <a:r>
              <a:rPr lang="en-GB" sz="2000" dirty="0" smtClean="0"/>
              <a:t>{ Dog d=new Dog();</a:t>
            </a:r>
          </a:p>
          <a:p>
            <a:r>
              <a:rPr lang="en-GB" sz="2000" dirty="0" smtClean="0"/>
              <a:t>d.bark();</a:t>
            </a:r>
          </a:p>
          <a:p>
            <a:r>
              <a:rPr lang="en-GB" sz="2000" dirty="0" smtClean="0"/>
              <a:t>d.eat();</a:t>
            </a:r>
          </a:p>
          <a:p>
            <a:r>
              <a:rPr lang="en-GB" sz="2000" dirty="0" smtClean="0"/>
              <a:t>}</a:t>
            </a:r>
          </a:p>
          <a:p>
            <a:r>
              <a:rPr lang="en-GB" sz="2000" dirty="0" smtClean="0"/>
              <a:t>}</a:t>
            </a:r>
          </a:p>
          <a:p>
            <a:endParaRPr lang="en-GB" sz="2000" dirty="0"/>
          </a:p>
          <a:p>
            <a:r>
              <a:rPr lang="en-GB" sz="2000" dirty="0"/>
              <a:t>Output: </a:t>
            </a:r>
          </a:p>
          <a:p>
            <a:r>
              <a:rPr lang="en-GB" sz="2000" dirty="0"/>
              <a:t>barking</a:t>
            </a:r>
            <a:r>
              <a:rPr lang="en-GB" sz="2000" dirty="0" smtClean="0"/>
              <a:t>...</a:t>
            </a:r>
          </a:p>
          <a:p>
            <a:r>
              <a:rPr lang="en-GB" sz="2000" dirty="0" smtClean="0"/>
              <a:t> </a:t>
            </a:r>
            <a:r>
              <a:rPr lang="en-GB" sz="2000" dirty="0"/>
              <a:t>eating... </a:t>
            </a:r>
          </a:p>
        </p:txBody>
      </p:sp>
      <p:sp>
        <p:nvSpPr>
          <p:cNvPr id="3" name="Rectangle 2"/>
          <p:cNvSpPr/>
          <p:nvPr/>
        </p:nvSpPr>
        <p:spPr>
          <a:xfrm>
            <a:off x="228600" y="1828800"/>
            <a:ext cx="3200400" cy="584775"/>
          </a:xfrm>
          <a:prstGeom prst="rect">
            <a:avLst/>
          </a:prstGeom>
        </p:spPr>
        <p:txBody>
          <a:bodyPr wrap="square">
            <a:spAutoFit/>
          </a:bodyPr>
          <a:lstStyle/>
          <a:p>
            <a:r>
              <a:rPr lang="en-GB" sz="3200" dirty="0" smtClean="0"/>
              <a:t>Example No 2</a:t>
            </a:r>
            <a:endParaRPr lang="en-GB" sz="3200" dirty="0"/>
          </a:p>
        </p:txBody>
      </p:sp>
      <p:pic>
        <p:nvPicPr>
          <p:cNvPr id="4" name="object 7"/>
          <p:cNvPicPr/>
          <p:nvPr/>
        </p:nvPicPr>
        <p:blipFill>
          <a:blip r:embed="rId2" cstate="print"/>
          <a:stretch>
            <a:fillRect/>
          </a:stretch>
        </p:blipFill>
        <p:spPr>
          <a:xfrm>
            <a:off x="9513719" y="-228600"/>
            <a:ext cx="2648711" cy="1182624"/>
          </a:xfrm>
          <a:prstGeom prst="rect">
            <a:avLst/>
          </a:prstGeom>
        </p:spPr>
      </p:pic>
    </p:spTree>
    <p:extLst>
      <p:ext uri="{BB962C8B-B14F-4D97-AF65-F5344CB8AC3E}">
        <p14:creationId xmlns:p14="http://schemas.microsoft.com/office/powerpoint/2010/main" val="154438424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0" y="1631721"/>
            <a:ext cx="8111836" cy="3477875"/>
          </a:xfrm>
          <a:prstGeom prst="rect">
            <a:avLst/>
          </a:prstGeom>
        </p:spPr>
        <p:txBody>
          <a:bodyPr wrap="square">
            <a:spAutoFit/>
          </a:bodyPr>
          <a:lstStyle/>
          <a:p>
            <a:r>
              <a:rPr lang="en-GB" sz="2400" dirty="0" smtClean="0"/>
              <a:t>In Java, constructor inheritance is not done directly because constructors are not inherited</a:t>
            </a:r>
          </a:p>
          <a:p>
            <a:r>
              <a:rPr lang="en-GB" sz="2400" dirty="0" smtClean="0"/>
              <a:t>like methods. </a:t>
            </a:r>
          </a:p>
          <a:p>
            <a:endParaRPr lang="en-GB" sz="2400" dirty="0"/>
          </a:p>
          <a:p>
            <a:r>
              <a:rPr lang="en-GB" sz="2400" dirty="0" smtClean="0"/>
              <a:t>However, a subclass can call a superclass constructor using the </a:t>
            </a:r>
            <a:r>
              <a:rPr lang="en-GB" sz="2400" dirty="0" smtClean="0">
                <a:solidFill>
                  <a:srgbClr val="FF0000"/>
                </a:solidFill>
              </a:rPr>
              <a:t>super()</a:t>
            </a:r>
          </a:p>
          <a:p>
            <a:r>
              <a:rPr lang="en-GB" sz="2400" dirty="0" smtClean="0"/>
              <a:t>keyword to initialize the parent class before executing its own constructor.</a:t>
            </a:r>
          </a:p>
          <a:p>
            <a:endParaRPr lang="en-GB" sz="2800" dirty="0">
              <a:solidFill>
                <a:srgbClr val="FF0000"/>
              </a:solidFill>
            </a:endParaRPr>
          </a:p>
        </p:txBody>
      </p:sp>
      <p:sp>
        <p:nvSpPr>
          <p:cNvPr id="3" name="Rectangle 2"/>
          <p:cNvSpPr/>
          <p:nvPr/>
        </p:nvSpPr>
        <p:spPr>
          <a:xfrm>
            <a:off x="-228600" y="1524000"/>
            <a:ext cx="3886200" cy="1846659"/>
          </a:xfrm>
          <a:prstGeom prst="rect">
            <a:avLst/>
          </a:prstGeom>
        </p:spPr>
        <p:txBody>
          <a:bodyPr wrap="square">
            <a:spAutoFit/>
          </a:bodyPr>
          <a:lstStyle/>
          <a:p>
            <a:pPr algn="ctr"/>
            <a:r>
              <a:rPr lang="en-GB" sz="3200" b="1" dirty="0" smtClean="0"/>
              <a:t>Inheritance </a:t>
            </a:r>
          </a:p>
          <a:p>
            <a:pPr algn="ctr"/>
            <a:r>
              <a:rPr lang="en-GB" sz="3200" b="1" dirty="0" smtClean="0"/>
              <a:t>In</a:t>
            </a:r>
          </a:p>
          <a:p>
            <a:pPr algn="ctr"/>
            <a:r>
              <a:rPr lang="en-GB" sz="3200" b="1" dirty="0" smtClean="0"/>
              <a:t> constructor</a:t>
            </a:r>
          </a:p>
          <a:p>
            <a:endParaRPr lang="en-GB" dirty="0" smtClean="0"/>
          </a:p>
        </p:txBody>
      </p:sp>
      <p:pic>
        <p:nvPicPr>
          <p:cNvPr id="4" name="object 7"/>
          <p:cNvPicPr/>
          <p:nvPr/>
        </p:nvPicPr>
        <p:blipFill>
          <a:blip r:embed="rId2" cstate="print"/>
          <a:stretch>
            <a:fillRect/>
          </a:stretch>
        </p:blipFill>
        <p:spPr>
          <a:xfrm>
            <a:off x="9513719" y="-228600"/>
            <a:ext cx="2648711" cy="1182624"/>
          </a:xfrm>
          <a:prstGeom prst="rect">
            <a:avLst/>
          </a:prstGeom>
        </p:spPr>
      </p:pic>
    </p:spTree>
    <p:extLst>
      <p:ext uri="{BB962C8B-B14F-4D97-AF65-F5344CB8AC3E}">
        <p14:creationId xmlns:p14="http://schemas.microsoft.com/office/powerpoint/2010/main" val="1492555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83824" y="1382762"/>
            <a:ext cx="5836823" cy="523220"/>
          </a:xfrm>
          <a:prstGeom prst="rect">
            <a:avLst/>
          </a:prstGeom>
        </p:spPr>
        <p:txBody>
          <a:bodyPr wrap="square">
            <a:spAutoFit/>
          </a:bodyPr>
          <a:lstStyle/>
          <a:p>
            <a:pPr algn="ctr"/>
            <a:r>
              <a:rPr lang="en-GB" sz="2800" b="1" dirty="0" smtClean="0"/>
              <a:t>Continue…</a:t>
            </a:r>
          </a:p>
        </p:txBody>
      </p:sp>
      <p:sp>
        <p:nvSpPr>
          <p:cNvPr id="4" name="Rectangle 3"/>
          <p:cNvSpPr/>
          <p:nvPr/>
        </p:nvSpPr>
        <p:spPr>
          <a:xfrm>
            <a:off x="3733800" y="609600"/>
            <a:ext cx="8077200" cy="6124754"/>
          </a:xfrm>
          <a:prstGeom prst="rect">
            <a:avLst/>
          </a:prstGeom>
        </p:spPr>
        <p:txBody>
          <a:bodyPr wrap="square">
            <a:spAutoFit/>
          </a:bodyPr>
          <a:lstStyle/>
          <a:p>
            <a:r>
              <a:rPr lang="en-GB" sz="2800" dirty="0" smtClean="0"/>
              <a:t>Key Points:</a:t>
            </a:r>
          </a:p>
          <a:p>
            <a:r>
              <a:rPr lang="en-GB" sz="2800" dirty="0" smtClean="0">
                <a:solidFill>
                  <a:srgbClr val="FF0000"/>
                </a:solidFill>
              </a:rPr>
              <a:t>The super() Call </a:t>
            </a:r>
          </a:p>
          <a:p>
            <a:endParaRPr lang="en-GB" sz="2800" dirty="0" smtClean="0">
              <a:solidFill>
                <a:srgbClr val="FF0000"/>
              </a:solidFill>
            </a:endParaRPr>
          </a:p>
          <a:p>
            <a:r>
              <a:rPr lang="en-GB" sz="2800" dirty="0" smtClean="0"/>
              <a:t>The first statement in a subclass constructor must be a call to </a:t>
            </a:r>
            <a:r>
              <a:rPr lang="en-GB" sz="2800" dirty="0" smtClean="0">
                <a:solidFill>
                  <a:srgbClr val="FF0000"/>
                </a:solidFill>
              </a:rPr>
              <a:t>super() </a:t>
            </a:r>
            <a:r>
              <a:rPr lang="en-GB" sz="2800" dirty="0" smtClean="0"/>
              <a:t>if you want to invoke a</a:t>
            </a:r>
          </a:p>
          <a:p>
            <a:r>
              <a:rPr lang="en-GB" sz="2800" dirty="0" smtClean="0"/>
              <a:t>specific constructor of the parent class.</a:t>
            </a:r>
          </a:p>
          <a:p>
            <a:endParaRPr lang="en-GB" sz="2800" dirty="0" smtClean="0"/>
          </a:p>
          <a:p>
            <a:r>
              <a:rPr lang="en-GB" sz="2800" dirty="0" smtClean="0"/>
              <a:t>If no explicit </a:t>
            </a:r>
            <a:r>
              <a:rPr lang="en-GB" sz="2800" dirty="0" smtClean="0">
                <a:solidFill>
                  <a:srgbClr val="FF0000"/>
                </a:solidFill>
              </a:rPr>
              <a:t>super() </a:t>
            </a:r>
            <a:r>
              <a:rPr lang="en-GB" sz="2800" dirty="0" smtClean="0"/>
              <a:t>is provided, Java automatically calls the default (no-argument)</a:t>
            </a:r>
          </a:p>
          <a:p>
            <a:r>
              <a:rPr lang="en-GB" sz="2800" dirty="0" smtClean="0"/>
              <a:t>constructor of the parent class.</a:t>
            </a:r>
          </a:p>
          <a:p>
            <a:endParaRPr lang="en-GB" sz="2800" dirty="0" smtClean="0"/>
          </a:p>
          <a:p>
            <a:r>
              <a:rPr lang="en-GB" sz="2800" dirty="0" smtClean="0"/>
              <a:t>If the parent class has only parameterized constructors, the subclass must explicitly call one</a:t>
            </a:r>
          </a:p>
          <a:p>
            <a:r>
              <a:rPr lang="en-GB" sz="2800" dirty="0" smtClean="0"/>
              <a:t>using </a:t>
            </a:r>
            <a:r>
              <a:rPr lang="en-GB" sz="2800" dirty="0" smtClean="0">
                <a:solidFill>
                  <a:srgbClr val="FF0000"/>
                </a:solidFill>
              </a:rPr>
              <a:t>super(arguments)</a:t>
            </a:r>
            <a:r>
              <a:rPr lang="en-GB" sz="2800" dirty="0" smtClean="0"/>
              <a:t>.</a:t>
            </a:r>
            <a:endParaRPr lang="en-GB" sz="2800" dirty="0"/>
          </a:p>
        </p:txBody>
      </p:sp>
      <p:pic>
        <p:nvPicPr>
          <p:cNvPr id="5" name="object 7"/>
          <p:cNvPicPr/>
          <p:nvPr/>
        </p:nvPicPr>
        <p:blipFill>
          <a:blip r:embed="rId2" cstate="print"/>
          <a:stretch>
            <a:fillRect/>
          </a:stretch>
        </p:blipFill>
        <p:spPr>
          <a:xfrm>
            <a:off x="9513719" y="-228600"/>
            <a:ext cx="2648711" cy="1182624"/>
          </a:xfrm>
          <a:prstGeom prst="rect">
            <a:avLst/>
          </a:prstGeom>
        </p:spPr>
      </p:pic>
    </p:spTree>
    <p:extLst>
      <p:ext uri="{BB962C8B-B14F-4D97-AF65-F5344CB8AC3E}">
        <p14:creationId xmlns:p14="http://schemas.microsoft.com/office/powerpoint/2010/main" val="424714010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62400" y="13855"/>
            <a:ext cx="6096000" cy="6863417"/>
          </a:xfrm>
          <a:prstGeom prst="rect">
            <a:avLst/>
          </a:prstGeom>
        </p:spPr>
        <p:txBody>
          <a:bodyPr>
            <a:spAutoFit/>
          </a:bodyPr>
          <a:lstStyle/>
          <a:p>
            <a:r>
              <a:rPr lang="en-GB" sz="2000" dirty="0" smtClean="0"/>
              <a:t>class Parent{</a:t>
            </a:r>
          </a:p>
          <a:p>
            <a:r>
              <a:rPr lang="en-GB" sz="2000" dirty="0" smtClean="0"/>
              <a:t>    </a:t>
            </a:r>
          </a:p>
          <a:p>
            <a:r>
              <a:rPr lang="en-GB" sz="2000" dirty="0" smtClean="0"/>
              <a:t>    Parent(){</a:t>
            </a:r>
          </a:p>
          <a:p>
            <a:r>
              <a:rPr lang="en-GB" sz="2000" dirty="0" smtClean="0"/>
              <a:t>        </a:t>
            </a:r>
          </a:p>
          <a:p>
            <a:r>
              <a:rPr lang="en-GB" sz="2000" dirty="0" smtClean="0"/>
              <a:t>        System.out.println("Parent constructor");</a:t>
            </a:r>
          </a:p>
          <a:p>
            <a:r>
              <a:rPr lang="en-GB" sz="2000" dirty="0" smtClean="0"/>
              <a:t>    }</a:t>
            </a:r>
          </a:p>
          <a:p>
            <a:r>
              <a:rPr lang="en-GB" sz="2000" dirty="0" smtClean="0"/>
              <a:t>}</a:t>
            </a:r>
          </a:p>
          <a:p>
            <a:endParaRPr lang="en-GB" sz="2000" dirty="0" smtClean="0"/>
          </a:p>
          <a:p>
            <a:r>
              <a:rPr lang="en-GB" sz="2000" dirty="0" smtClean="0"/>
              <a:t>class Child extends Parent{</a:t>
            </a:r>
          </a:p>
          <a:p>
            <a:r>
              <a:rPr lang="en-GB" sz="2000" dirty="0" smtClean="0"/>
              <a:t>    </a:t>
            </a:r>
          </a:p>
          <a:p>
            <a:r>
              <a:rPr lang="en-GB" sz="2000" dirty="0" smtClean="0"/>
              <a:t>    Child(){</a:t>
            </a:r>
          </a:p>
          <a:p>
            <a:r>
              <a:rPr lang="en-GB" sz="2000" dirty="0" smtClean="0"/>
              <a:t>        </a:t>
            </a:r>
          </a:p>
          <a:p>
            <a:r>
              <a:rPr lang="en-GB" sz="2000" dirty="0" smtClean="0"/>
              <a:t>        System.out.println("Child constructor");</a:t>
            </a:r>
          </a:p>
          <a:p>
            <a:r>
              <a:rPr lang="en-GB" sz="2000" dirty="0" smtClean="0"/>
              <a:t>    }</a:t>
            </a:r>
          </a:p>
          <a:p>
            <a:r>
              <a:rPr lang="en-GB" sz="2000" dirty="0" smtClean="0"/>
              <a:t>}</a:t>
            </a:r>
          </a:p>
          <a:p>
            <a:endParaRPr lang="en-GB" sz="2000" dirty="0" smtClean="0"/>
          </a:p>
          <a:p>
            <a:r>
              <a:rPr lang="en-GB" sz="2000" dirty="0" smtClean="0"/>
              <a:t>public class ConstructorInherit{</a:t>
            </a:r>
          </a:p>
          <a:p>
            <a:r>
              <a:rPr lang="en-GB" sz="2000" dirty="0" smtClean="0"/>
              <a:t>    </a:t>
            </a:r>
          </a:p>
          <a:p>
            <a:r>
              <a:rPr lang="en-GB" sz="2000" dirty="0" smtClean="0"/>
              <a:t>    public static void main(String[] args) {</a:t>
            </a:r>
          </a:p>
          <a:p>
            <a:r>
              <a:rPr lang="en-GB" sz="2000" dirty="0" smtClean="0"/>
              <a:t>        Child obj = new Child();</a:t>
            </a:r>
          </a:p>
          <a:p>
            <a:r>
              <a:rPr lang="en-GB" sz="2000" dirty="0" smtClean="0"/>
              <a:t>    }</a:t>
            </a:r>
          </a:p>
          <a:p>
            <a:r>
              <a:rPr lang="en-GB" sz="2000" dirty="0" smtClean="0"/>
              <a:t>}</a:t>
            </a:r>
            <a:endParaRPr lang="en-GB" sz="2000" dirty="0"/>
          </a:p>
        </p:txBody>
      </p:sp>
      <p:sp>
        <p:nvSpPr>
          <p:cNvPr id="3" name="Rectangle 2"/>
          <p:cNvSpPr/>
          <p:nvPr/>
        </p:nvSpPr>
        <p:spPr>
          <a:xfrm>
            <a:off x="228600" y="1524000"/>
            <a:ext cx="2743200" cy="1323439"/>
          </a:xfrm>
          <a:prstGeom prst="rect">
            <a:avLst/>
          </a:prstGeom>
        </p:spPr>
        <p:txBody>
          <a:bodyPr wrap="square">
            <a:spAutoFit/>
          </a:bodyPr>
          <a:lstStyle/>
          <a:p>
            <a:r>
              <a:rPr lang="en-GB" sz="3200" b="1" dirty="0" smtClean="0"/>
              <a:t>Output :-</a:t>
            </a:r>
            <a:endParaRPr lang="en-GB" sz="2400" b="1" dirty="0" smtClean="0"/>
          </a:p>
          <a:p>
            <a:r>
              <a:rPr lang="en-GB" sz="2400" dirty="0" smtClean="0"/>
              <a:t>Parent constructor</a:t>
            </a:r>
          </a:p>
          <a:p>
            <a:r>
              <a:rPr lang="en-GB" sz="2400" dirty="0" smtClean="0"/>
              <a:t>Child constructor</a:t>
            </a:r>
            <a:endParaRPr lang="en-GB" sz="2400" dirty="0"/>
          </a:p>
        </p:txBody>
      </p:sp>
      <p:pic>
        <p:nvPicPr>
          <p:cNvPr id="4" name="Picture 3"/>
          <p:cNvPicPr>
            <a:picLocks noChangeAspect="1"/>
          </p:cNvPicPr>
          <p:nvPr/>
        </p:nvPicPr>
        <p:blipFill>
          <a:blip r:embed="rId2"/>
          <a:stretch>
            <a:fillRect/>
          </a:stretch>
        </p:blipFill>
        <p:spPr>
          <a:xfrm>
            <a:off x="0" y="3200400"/>
            <a:ext cx="3733800" cy="2819400"/>
          </a:xfrm>
          <a:prstGeom prst="rect">
            <a:avLst/>
          </a:prstGeom>
        </p:spPr>
      </p:pic>
      <p:pic>
        <p:nvPicPr>
          <p:cNvPr id="5" name="object 7"/>
          <p:cNvPicPr/>
          <p:nvPr/>
        </p:nvPicPr>
        <p:blipFill>
          <a:blip r:embed="rId3" cstate="print"/>
          <a:stretch>
            <a:fillRect/>
          </a:stretch>
        </p:blipFill>
        <p:spPr>
          <a:xfrm>
            <a:off x="9513719" y="-228600"/>
            <a:ext cx="2648711" cy="1182624"/>
          </a:xfrm>
          <a:prstGeom prst="rect">
            <a:avLst/>
          </a:prstGeom>
        </p:spPr>
      </p:pic>
    </p:spTree>
    <p:extLst>
      <p:ext uri="{BB962C8B-B14F-4D97-AF65-F5344CB8AC3E}">
        <p14:creationId xmlns:p14="http://schemas.microsoft.com/office/powerpoint/2010/main" val="394804559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876800" y="0"/>
            <a:ext cx="7086600" cy="6863417"/>
          </a:xfrm>
          <a:prstGeom prst="rect">
            <a:avLst/>
          </a:prstGeom>
        </p:spPr>
        <p:txBody>
          <a:bodyPr wrap="square">
            <a:spAutoFit/>
          </a:bodyPr>
          <a:lstStyle/>
          <a:p>
            <a:r>
              <a:rPr lang="en-GB" sz="2000" dirty="0" smtClean="0"/>
              <a:t>class Parent {</a:t>
            </a:r>
          </a:p>
          <a:p>
            <a:r>
              <a:rPr lang="en-GB" sz="2000" dirty="0" smtClean="0"/>
              <a:t>int x;</a:t>
            </a:r>
          </a:p>
          <a:p>
            <a:r>
              <a:rPr lang="en-GB" sz="2000" dirty="0" smtClean="0"/>
              <a:t>// Parameterized constructor</a:t>
            </a:r>
          </a:p>
          <a:p>
            <a:r>
              <a:rPr lang="en-GB" sz="2000" dirty="0" smtClean="0"/>
              <a:t>Parent(</a:t>
            </a:r>
            <a:r>
              <a:rPr lang="en-GB" sz="2000" dirty="0" err="1" smtClean="0"/>
              <a:t>int</a:t>
            </a:r>
            <a:r>
              <a:rPr lang="en-GB" sz="2000" dirty="0" smtClean="0"/>
              <a:t> x) {</a:t>
            </a:r>
          </a:p>
          <a:p>
            <a:r>
              <a:rPr lang="en-GB" sz="2000" dirty="0" smtClean="0"/>
              <a:t>this.x = x;</a:t>
            </a:r>
          </a:p>
          <a:p>
            <a:r>
              <a:rPr lang="en-GB" sz="2000" dirty="0" smtClean="0"/>
              <a:t>System.out.println("Parent constructor called with x = " + x);</a:t>
            </a:r>
          </a:p>
          <a:p>
            <a:r>
              <a:rPr lang="en-GB" sz="2000" dirty="0" smtClean="0"/>
              <a:t>}</a:t>
            </a:r>
          </a:p>
          <a:p>
            <a:r>
              <a:rPr lang="en-GB" sz="2000" dirty="0" smtClean="0"/>
              <a:t>}</a:t>
            </a:r>
          </a:p>
          <a:p>
            <a:r>
              <a:rPr lang="en-GB" sz="2000" dirty="0" smtClean="0"/>
              <a:t>class Child extends Parent {</a:t>
            </a:r>
          </a:p>
          <a:p>
            <a:r>
              <a:rPr lang="en-GB" sz="2000" dirty="0" smtClean="0"/>
              <a:t>int y;</a:t>
            </a:r>
          </a:p>
          <a:p>
            <a:r>
              <a:rPr lang="en-GB" sz="2000" dirty="0" smtClean="0"/>
              <a:t>// Child constructor</a:t>
            </a:r>
          </a:p>
          <a:p>
            <a:r>
              <a:rPr lang="en-GB" sz="2000" dirty="0" smtClean="0"/>
              <a:t>Child(int x, int y) {</a:t>
            </a:r>
          </a:p>
          <a:p>
            <a:r>
              <a:rPr lang="en-GB" sz="2000" dirty="0" smtClean="0"/>
              <a:t>super(x); // Calls Parent constructor</a:t>
            </a:r>
          </a:p>
          <a:p>
            <a:r>
              <a:rPr lang="en-GB" sz="2000" dirty="0" smtClean="0"/>
              <a:t>this.y = y;</a:t>
            </a:r>
          </a:p>
          <a:p>
            <a:r>
              <a:rPr lang="en-GB" sz="2000" dirty="0" smtClean="0"/>
              <a:t>System.out.println("Child constructor called with y = " + y);</a:t>
            </a:r>
          </a:p>
          <a:p>
            <a:r>
              <a:rPr lang="en-GB" sz="2000" dirty="0" smtClean="0"/>
              <a:t>}</a:t>
            </a:r>
          </a:p>
          <a:p>
            <a:r>
              <a:rPr lang="en-GB" sz="2000" dirty="0" smtClean="0"/>
              <a:t>}</a:t>
            </a:r>
          </a:p>
          <a:p>
            <a:r>
              <a:rPr lang="en-GB" sz="2000" dirty="0" smtClean="0"/>
              <a:t>public class InheritConstr{</a:t>
            </a:r>
          </a:p>
          <a:p>
            <a:r>
              <a:rPr lang="en-GB" sz="2000" dirty="0" smtClean="0"/>
              <a:t>public static void main(String [ ] args) {</a:t>
            </a:r>
          </a:p>
          <a:p>
            <a:r>
              <a:rPr lang="en-GB" sz="2000" dirty="0" smtClean="0"/>
              <a:t>Child obj = new Child(10, 20);</a:t>
            </a:r>
          </a:p>
          <a:p>
            <a:r>
              <a:rPr lang="en-GB" sz="2000" dirty="0" smtClean="0"/>
              <a:t>}</a:t>
            </a:r>
          </a:p>
          <a:p>
            <a:r>
              <a:rPr lang="en-GB" sz="2000" dirty="0" smtClean="0"/>
              <a:t>}</a:t>
            </a:r>
            <a:endParaRPr lang="en-GB" sz="2000" dirty="0"/>
          </a:p>
        </p:txBody>
      </p:sp>
      <p:pic>
        <p:nvPicPr>
          <p:cNvPr id="4" name="Picture 3"/>
          <p:cNvPicPr>
            <a:picLocks noChangeAspect="1"/>
          </p:cNvPicPr>
          <p:nvPr/>
        </p:nvPicPr>
        <p:blipFill>
          <a:blip r:embed="rId2"/>
          <a:stretch>
            <a:fillRect/>
          </a:stretch>
        </p:blipFill>
        <p:spPr>
          <a:xfrm>
            <a:off x="0" y="3581400"/>
            <a:ext cx="4648200" cy="3241964"/>
          </a:xfrm>
          <a:prstGeom prst="rect">
            <a:avLst/>
          </a:prstGeom>
        </p:spPr>
      </p:pic>
      <p:sp>
        <p:nvSpPr>
          <p:cNvPr id="5" name="TextBox 4"/>
          <p:cNvSpPr txBox="1"/>
          <p:nvPr/>
        </p:nvSpPr>
        <p:spPr>
          <a:xfrm>
            <a:off x="837208" y="990600"/>
            <a:ext cx="1871025" cy="584775"/>
          </a:xfrm>
          <a:prstGeom prst="rect">
            <a:avLst/>
          </a:prstGeom>
          <a:noFill/>
        </p:spPr>
        <p:txBody>
          <a:bodyPr wrap="none" rtlCol="0">
            <a:spAutoFit/>
          </a:bodyPr>
          <a:lstStyle/>
          <a:p>
            <a:r>
              <a:rPr lang="en-GB" sz="3200" b="1" dirty="0" smtClean="0"/>
              <a:t>Example</a:t>
            </a:r>
            <a:endParaRPr lang="en-GB" sz="4000" b="1" dirty="0"/>
          </a:p>
        </p:txBody>
      </p:sp>
      <p:sp>
        <p:nvSpPr>
          <p:cNvPr id="2" name="TextBox 1"/>
          <p:cNvSpPr txBox="1"/>
          <p:nvPr/>
        </p:nvSpPr>
        <p:spPr>
          <a:xfrm>
            <a:off x="1219200" y="2819400"/>
            <a:ext cx="1219200" cy="461665"/>
          </a:xfrm>
          <a:prstGeom prst="rect">
            <a:avLst/>
          </a:prstGeom>
          <a:noFill/>
        </p:spPr>
        <p:txBody>
          <a:bodyPr wrap="square" rtlCol="0">
            <a:spAutoFit/>
          </a:bodyPr>
          <a:lstStyle/>
          <a:p>
            <a:r>
              <a:rPr lang="en-GB" sz="2400" b="1" dirty="0" smtClean="0"/>
              <a:t>Output</a:t>
            </a:r>
            <a:endParaRPr lang="en-GB" sz="2400" b="1" dirty="0"/>
          </a:p>
        </p:txBody>
      </p:sp>
      <p:pic>
        <p:nvPicPr>
          <p:cNvPr id="6" name="object 7"/>
          <p:cNvPicPr/>
          <p:nvPr/>
        </p:nvPicPr>
        <p:blipFill>
          <a:blip r:embed="rId3" cstate="print"/>
          <a:stretch>
            <a:fillRect/>
          </a:stretch>
        </p:blipFill>
        <p:spPr>
          <a:xfrm>
            <a:off x="9513719" y="-228600"/>
            <a:ext cx="2648711" cy="1182624"/>
          </a:xfrm>
          <a:prstGeom prst="rect">
            <a:avLst/>
          </a:prstGeom>
        </p:spPr>
      </p:pic>
    </p:spTree>
    <p:extLst>
      <p:ext uri="{BB962C8B-B14F-4D97-AF65-F5344CB8AC3E}">
        <p14:creationId xmlns:p14="http://schemas.microsoft.com/office/powerpoint/2010/main" val="20703191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762000"/>
            <a:ext cx="2745105" cy="1354217"/>
          </a:xfrm>
        </p:spPr>
        <p:txBody>
          <a:bodyPr/>
          <a:lstStyle/>
          <a:p>
            <a:pPr algn="ctr"/>
            <a:r>
              <a:rPr lang="en-GB" sz="4400" dirty="0">
                <a:solidFill>
                  <a:schemeClr val="tx1"/>
                </a:solidFill>
              </a:rPr>
              <a:t>super keyword</a:t>
            </a:r>
            <a:endParaRPr sz="4400" dirty="0">
              <a:solidFill>
                <a:schemeClr val="tx1"/>
              </a:solidFill>
            </a:endParaRPr>
          </a:p>
        </p:txBody>
      </p:sp>
      <p:sp>
        <p:nvSpPr>
          <p:cNvPr id="4" name="Rectangle 3"/>
          <p:cNvSpPr/>
          <p:nvPr/>
        </p:nvSpPr>
        <p:spPr>
          <a:xfrm>
            <a:off x="4876800" y="-27709"/>
            <a:ext cx="7010400" cy="7109639"/>
          </a:xfrm>
          <a:prstGeom prst="rect">
            <a:avLst/>
          </a:prstGeom>
        </p:spPr>
        <p:txBody>
          <a:bodyPr wrap="square">
            <a:spAutoFit/>
          </a:bodyPr>
          <a:lstStyle/>
          <a:p>
            <a:r>
              <a:rPr lang="en-GB" sz="2400" dirty="0" smtClean="0"/>
              <a:t>//import java.lang.*;</a:t>
            </a:r>
          </a:p>
          <a:p>
            <a:r>
              <a:rPr lang="en-GB" sz="2400" dirty="0" smtClean="0"/>
              <a:t>class A {</a:t>
            </a:r>
          </a:p>
          <a:p>
            <a:r>
              <a:rPr lang="en-GB" sz="2400" dirty="0" smtClean="0"/>
              <a:t>int a=10;</a:t>
            </a:r>
          </a:p>
          <a:p>
            <a:r>
              <a:rPr lang="en-GB" sz="2400" dirty="0" smtClean="0"/>
              <a:t>}</a:t>
            </a:r>
          </a:p>
          <a:p>
            <a:r>
              <a:rPr lang="en-GB" sz="2400" dirty="0" smtClean="0"/>
              <a:t>class B extends A</a:t>
            </a:r>
          </a:p>
          <a:p>
            <a:r>
              <a:rPr lang="en-GB" sz="2400" dirty="0" smtClean="0"/>
              <a:t>{</a:t>
            </a:r>
          </a:p>
          <a:p>
            <a:r>
              <a:rPr lang="en-GB" sz="2400" dirty="0" smtClean="0"/>
              <a:t>int a=20;</a:t>
            </a:r>
          </a:p>
          <a:p>
            <a:r>
              <a:rPr lang="en-GB" sz="2400" dirty="0" smtClean="0"/>
              <a:t>void show(</a:t>
            </a:r>
            <a:r>
              <a:rPr lang="en-GB" sz="2400" dirty="0" err="1" smtClean="0"/>
              <a:t>int</a:t>
            </a:r>
            <a:r>
              <a:rPr lang="en-GB" sz="2400" dirty="0" smtClean="0"/>
              <a:t> a)</a:t>
            </a:r>
          </a:p>
          <a:p>
            <a:r>
              <a:rPr lang="en-GB" sz="2400" dirty="0" smtClean="0"/>
              <a:t>{</a:t>
            </a:r>
          </a:p>
          <a:p>
            <a:r>
              <a:rPr lang="en-GB" sz="2400" dirty="0" smtClean="0"/>
              <a:t>System.out.println(a);</a:t>
            </a:r>
          </a:p>
          <a:p>
            <a:r>
              <a:rPr lang="en-GB" sz="2400" dirty="0" smtClean="0"/>
              <a:t>System.out.println(</a:t>
            </a:r>
            <a:r>
              <a:rPr lang="en-GB" sz="2400" dirty="0" err="1" smtClean="0"/>
              <a:t>this.a</a:t>
            </a:r>
            <a:r>
              <a:rPr lang="en-GB" sz="2400" dirty="0" smtClean="0"/>
              <a:t>);</a:t>
            </a:r>
          </a:p>
          <a:p>
            <a:r>
              <a:rPr lang="en-GB" sz="2400" dirty="0" smtClean="0"/>
              <a:t>System.out.println(</a:t>
            </a:r>
            <a:r>
              <a:rPr lang="en-GB" sz="2400" dirty="0" err="1" smtClean="0"/>
              <a:t>super.a</a:t>
            </a:r>
            <a:r>
              <a:rPr lang="en-GB" sz="2400" dirty="0" smtClean="0"/>
              <a:t>);</a:t>
            </a:r>
          </a:p>
          <a:p>
            <a:r>
              <a:rPr lang="en-GB" sz="2400" dirty="0" smtClean="0"/>
              <a:t>}</a:t>
            </a:r>
          </a:p>
          <a:p>
            <a:r>
              <a:rPr lang="en-GB" sz="2400" dirty="0" smtClean="0"/>
              <a:t>public static void main(String args [])</a:t>
            </a:r>
          </a:p>
          <a:p>
            <a:r>
              <a:rPr lang="en-GB" sz="2400" dirty="0" smtClean="0"/>
              <a:t>{</a:t>
            </a:r>
          </a:p>
          <a:p>
            <a:r>
              <a:rPr lang="en-GB" sz="2400" dirty="0" smtClean="0"/>
              <a:t>B obj = new B();</a:t>
            </a:r>
          </a:p>
          <a:p>
            <a:r>
              <a:rPr lang="en-GB" sz="2400" dirty="0" smtClean="0"/>
              <a:t>obj.show(30);</a:t>
            </a:r>
          </a:p>
          <a:p>
            <a:r>
              <a:rPr lang="en-GB" sz="2400" dirty="0" smtClean="0"/>
              <a:t>}</a:t>
            </a:r>
          </a:p>
          <a:p>
            <a:r>
              <a:rPr lang="en-GB" sz="2400" dirty="0" smtClean="0"/>
              <a:t>}</a:t>
            </a:r>
            <a:endParaRPr lang="en-GB" sz="2400" dirty="0"/>
          </a:p>
        </p:txBody>
      </p:sp>
      <p:pic>
        <p:nvPicPr>
          <p:cNvPr id="6" name="Picture 5"/>
          <p:cNvPicPr>
            <a:picLocks noChangeAspect="1"/>
          </p:cNvPicPr>
          <p:nvPr/>
        </p:nvPicPr>
        <p:blipFill>
          <a:blip r:embed="rId2"/>
          <a:stretch>
            <a:fillRect/>
          </a:stretch>
        </p:blipFill>
        <p:spPr>
          <a:xfrm>
            <a:off x="76200" y="3124200"/>
            <a:ext cx="3962400" cy="2362200"/>
          </a:xfrm>
          <a:prstGeom prst="rect">
            <a:avLst/>
          </a:prstGeom>
        </p:spPr>
      </p:pic>
      <p:pic>
        <p:nvPicPr>
          <p:cNvPr id="5" name="object 7"/>
          <p:cNvPicPr/>
          <p:nvPr/>
        </p:nvPicPr>
        <p:blipFill>
          <a:blip r:embed="rId3" cstate="print"/>
          <a:stretch>
            <a:fillRect/>
          </a:stretch>
        </p:blipFill>
        <p:spPr>
          <a:xfrm>
            <a:off x="9513719" y="-228600"/>
            <a:ext cx="2648711" cy="1182624"/>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2895" y="1600200"/>
            <a:ext cx="2745105" cy="1661993"/>
          </a:xfrm>
        </p:spPr>
        <p:txBody>
          <a:bodyPr/>
          <a:lstStyle/>
          <a:p>
            <a:r>
              <a:rPr lang="en-GB" dirty="0" smtClean="0">
                <a:solidFill>
                  <a:schemeClr val="tx1"/>
                </a:solidFill>
                <a:latin typeface="+mj-lt"/>
              </a:rPr>
              <a:t> </a:t>
            </a:r>
            <a:r>
              <a:rPr lang="en-GB" dirty="0">
                <a:solidFill>
                  <a:schemeClr val="tx1"/>
                </a:solidFill>
                <a:latin typeface="+mj-lt"/>
              </a:rPr>
              <a:t>Using super to Call Parent </a:t>
            </a:r>
            <a:r>
              <a:rPr lang="en-GB" dirty="0" smtClean="0">
                <a:solidFill>
                  <a:schemeClr val="tx1"/>
                </a:solidFill>
                <a:latin typeface="+mj-lt"/>
              </a:rPr>
              <a:t>Method</a:t>
            </a:r>
            <a:endParaRPr lang="en-GB" dirty="0">
              <a:solidFill>
                <a:schemeClr val="tx1"/>
              </a:solidFill>
              <a:latin typeface="+mj-lt"/>
            </a:endParaRPr>
          </a:p>
        </p:txBody>
      </p:sp>
      <p:sp>
        <p:nvSpPr>
          <p:cNvPr id="4" name="Rectangle 3"/>
          <p:cNvSpPr/>
          <p:nvPr/>
        </p:nvSpPr>
        <p:spPr>
          <a:xfrm>
            <a:off x="4876800" y="381000"/>
            <a:ext cx="5181600" cy="6186309"/>
          </a:xfrm>
          <a:prstGeom prst="rect">
            <a:avLst/>
          </a:prstGeom>
        </p:spPr>
        <p:txBody>
          <a:bodyPr wrap="square">
            <a:spAutoFit/>
          </a:bodyPr>
          <a:lstStyle/>
          <a:p>
            <a:r>
              <a:rPr lang="en-GB" dirty="0" smtClean="0"/>
              <a:t>class Parent {</a:t>
            </a:r>
          </a:p>
          <a:p>
            <a:r>
              <a:rPr lang="en-GB" dirty="0" smtClean="0"/>
              <a:t>void show() {</a:t>
            </a:r>
          </a:p>
          <a:p>
            <a:r>
              <a:rPr lang="en-GB" dirty="0" smtClean="0"/>
              <a:t>System.out.println("Parent method");</a:t>
            </a:r>
          </a:p>
          <a:p>
            <a:r>
              <a:rPr lang="en-GB" dirty="0" smtClean="0"/>
              <a:t>}</a:t>
            </a:r>
          </a:p>
          <a:p>
            <a:r>
              <a:rPr lang="en-GB" dirty="0" smtClean="0"/>
              <a:t>}</a:t>
            </a:r>
          </a:p>
          <a:p>
            <a:r>
              <a:rPr lang="en-GB" dirty="0" smtClean="0"/>
              <a:t>class Child extends Parent {</a:t>
            </a:r>
          </a:p>
          <a:p>
            <a:r>
              <a:rPr lang="en-GB" dirty="0" smtClean="0"/>
              <a:t>@Override</a:t>
            </a:r>
          </a:p>
          <a:p>
            <a:r>
              <a:rPr lang="en-GB" dirty="0" smtClean="0"/>
              <a:t>void show() {</a:t>
            </a:r>
          </a:p>
          <a:p>
            <a:r>
              <a:rPr lang="en-GB" dirty="0" smtClean="0"/>
              <a:t>super.show(); // Calls Parent's method</a:t>
            </a:r>
          </a:p>
          <a:p>
            <a:r>
              <a:rPr lang="en-GB" dirty="0" smtClean="0"/>
              <a:t>System.out.println("Child method");</a:t>
            </a:r>
          </a:p>
          <a:p>
            <a:r>
              <a:rPr lang="en-GB" dirty="0" smtClean="0"/>
              <a:t>}</a:t>
            </a:r>
          </a:p>
          <a:p>
            <a:r>
              <a:rPr lang="en-GB" dirty="0" smtClean="0"/>
              <a:t>}</a:t>
            </a:r>
          </a:p>
          <a:p>
            <a:r>
              <a:rPr lang="en-GB" dirty="0" smtClean="0"/>
              <a:t>public class Main {</a:t>
            </a:r>
          </a:p>
          <a:p>
            <a:r>
              <a:rPr lang="en-GB" dirty="0" smtClean="0"/>
              <a:t>public static void main(String[] args) {</a:t>
            </a:r>
          </a:p>
          <a:p>
            <a:r>
              <a:rPr lang="en-GB" dirty="0" smtClean="0"/>
              <a:t>Child obj = new Child();</a:t>
            </a:r>
          </a:p>
          <a:p>
            <a:r>
              <a:rPr lang="en-GB" dirty="0" smtClean="0"/>
              <a:t>obj.show();</a:t>
            </a:r>
          </a:p>
          <a:p>
            <a:r>
              <a:rPr lang="en-GB" dirty="0" smtClean="0"/>
              <a:t>}</a:t>
            </a:r>
          </a:p>
          <a:p>
            <a:r>
              <a:rPr lang="en-GB" dirty="0" smtClean="0"/>
              <a:t>}</a:t>
            </a:r>
          </a:p>
          <a:p>
            <a:endParaRPr lang="en-GB" dirty="0" smtClean="0"/>
          </a:p>
          <a:p>
            <a:r>
              <a:rPr lang="en-GB" dirty="0" smtClean="0"/>
              <a:t>Output:</a:t>
            </a:r>
          </a:p>
          <a:p>
            <a:r>
              <a:rPr lang="en-GB" dirty="0" smtClean="0"/>
              <a:t>Parent method</a:t>
            </a:r>
          </a:p>
          <a:p>
            <a:r>
              <a:rPr lang="en-GB" dirty="0" smtClean="0"/>
              <a:t>Child method</a:t>
            </a:r>
            <a:endParaRPr lang="en-GB" dirty="0"/>
          </a:p>
        </p:txBody>
      </p:sp>
      <p:pic>
        <p:nvPicPr>
          <p:cNvPr id="5" name="object 7"/>
          <p:cNvPicPr/>
          <p:nvPr/>
        </p:nvPicPr>
        <p:blipFill>
          <a:blip r:embed="rId2" cstate="print"/>
          <a:stretch>
            <a:fillRect/>
          </a:stretch>
        </p:blipFill>
        <p:spPr>
          <a:xfrm>
            <a:off x="9513719" y="-228600"/>
            <a:ext cx="2648711" cy="1182624"/>
          </a:xfrm>
          <a:prstGeom prst="rect">
            <a:avLst/>
          </a:prstGeom>
        </p:spPr>
      </p:pic>
    </p:spTree>
    <p:extLst>
      <p:ext uri="{BB962C8B-B14F-4D97-AF65-F5344CB8AC3E}">
        <p14:creationId xmlns:p14="http://schemas.microsoft.com/office/powerpoint/2010/main" val="229356537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796584"/>
            <a:ext cx="2745105" cy="1661993"/>
          </a:xfrm>
        </p:spPr>
        <p:txBody>
          <a:bodyPr/>
          <a:lstStyle/>
          <a:p>
            <a:r>
              <a:rPr dirty="0">
                <a:solidFill>
                  <a:schemeClr val="tx1"/>
                </a:solidFill>
              </a:rPr>
              <a:t>Inheriting Data Members</a:t>
            </a:r>
          </a:p>
        </p:txBody>
      </p:sp>
      <p:sp>
        <p:nvSpPr>
          <p:cNvPr id="3" name="Text Placeholder 2"/>
          <p:cNvSpPr>
            <a:spLocks noGrp="1"/>
          </p:cNvSpPr>
          <p:nvPr>
            <p:ph type="body" idx="1"/>
          </p:nvPr>
        </p:nvSpPr>
        <p:spPr>
          <a:xfrm>
            <a:off x="3886200" y="2421001"/>
            <a:ext cx="7772400" cy="4431983"/>
          </a:xfrm>
        </p:spPr>
        <p:txBody>
          <a:bodyPr/>
          <a:lstStyle/>
          <a:p>
            <a:r>
              <a:rPr lang="en-GB" sz="2400" dirty="0">
                <a:solidFill>
                  <a:schemeClr val="tx1"/>
                </a:solidFill>
              </a:rPr>
              <a:t>class </a:t>
            </a:r>
            <a:r>
              <a:rPr lang="en-GB" sz="2400" dirty="0" smtClean="0">
                <a:solidFill>
                  <a:schemeClr val="tx1"/>
                </a:solidFill>
              </a:rPr>
              <a:t>A {</a:t>
            </a:r>
            <a:endParaRPr lang="en-GB" sz="2400" dirty="0">
              <a:solidFill>
                <a:schemeClr val="tx1"/>
              </a:solidFill>
            </a:endParaRPr>
          </a:p>
          <a:p>
            <a:r>
              <a:rPr lang="en-GB" sz="2400" dirty="0">
                <a:solidFill>
                  <a:schemeClr val="tx1"/>
                </a:solidFill>
              </a:rPr>
              <a:t>int x=10;</a:t>
            </a:r>
          </a:p>
          <a:p>
            <a:r>
              <a:rPr lang="en-GB" sz="2400" dirty="0">
                <a:solidFill>
                  <a:schemeClr val="tx1"/>
                </a:solidFill>
              </a:rPr>
              <a:t>}</a:t>
            </a:r>
          </a:p>
          <a:p>
            <a:r>
              <a:rPr lang="en-GB" sz="2400" dirty="0">
                <a:solidFill>
                  <a:schemeClr val="tx1"/>
                </a:solidFill>
              </a:rPr>
              <a:t>class B1 extends A{</a:t>
            </a:r>
          </a:p>
          <a:p>
            <a:r>
              <a:rPr lang="en-GB" sz="2400" dirty="0">
                <a:solidFill>
                  <a:schemeClr val="tx1"/>
                </a:solidFill>
              </a:rPr>
              <a:t>void show(){</a:t>
            </a:r>
          </a:p>
          <a:p>
            <a:r>
              <a:rPr lang="en-GB" sz="2400" dirty="0">
                <a:solidFill>
                  <a:schemeClr val="tx1"/>
                </a:solidFill>
              </a:rPr>
              <a:t>System.out.println(x);</a:t>
            </a:r>
          </a:p>
          <a:p>
            <a:r>
              <a:rPr lang="en-GB" sz="2400" dirty="0">
                <a:solidFill>
                  <a:schemeClr val="tx1"/>
                </a:solidFill>
              </a:rPr>
              <a:t>}</a:t>
            </a:r>
          </a:p>
          <a:p>
            <a:r>
              <a:rPr lang="en-GB" sz="2400" dirty="0">
                <a:solidFill>
                  <a:schemeClr val="tx1"/>
                </a:solidFill>
              </a:rPr>
              <a:t>public static void main (String args </a:t>
            </a:r>
            <a:r>
              <a:rPr lang="en-GB" sz="2400" dirty="0" smtClean="0">
                <a:solidFill>
                  <a:schemeClr val="tx1"/>
                </a:solidFill>
              </a:rPr>
              <a:t>[]) {</a:t>
            </a:r>
            <a:endParaRPr lang="en-GB" sz="2400" dirty="0">
              <a:solidFill>
                <a:schemeClr val="tx1"/>
              </a:solidFill>
            </a:endParaRPr>
          </a:p>
          <a:p>
            <a:r>
              <a:rPr lang="en-GB" sz="2400" dirty="0">
                <a:solidFill>
                  <a:schemeClr val="tx1"/>
                </a:solidFill>
              </a:rPr>
              <a:t>B1 obj = new B1();</a:t>
            </a:r>
          </a:p>
          <a:p>
            <a:r>
              <a:rPr lang="en-GB" sz="2400" dirty="0">
                <a:solidFill>
                  <a:schemeClr val="tx1"/>
                </a:solidFill>
              </a:rPr>
              <a:t>obj.show();</a:t>
            </a:r>
          </a:p>
          <a:p>
            <a:r>
              <a:rPr lang="en-GB" sz="2400" dirty="0">
                <a:solidFill>
                  <a:schemeClr val="tx1"/>
                </a:solidFill>
              </a:rPr>
              <a:t>}</a:t>
            </a:r>
          </a:p>
          <a:p>
            <a:r>
              <a:rPr lang="en-GB" sz="2400" dirty="0">
                <a:solidFill>
                  <a:schemeClr val="tx1"/>
                </a:solidFill>
              </a:rPr>
              <a:t>}</a:t>
            </a:r>
            <a:endParaRPr sz="2400" dirty="0">
              <a:solidFill>
                <a:schemeClr val="tx1"/>
              </a:solidFill>
            </a:endParaRPr>
          </a:p>
        </p:txBody>
      </p:sp>
      <p:sp>
        <p:nvSpPr>
          <p:cNvPr id="4" name="Rectangle 3"/>
          <p:cNvSpPr/>
          <p:nvPr/>
        </p:nvSpPr>
        <p:spPr>
          <a:xfrm>
            <a:off x="4114800" y="762000"/>
            <a:ext cx="7772400" cy="1323439"/>
          </a:xfrm>
          <a:prstGeom prst="rect">
            <a:avLst/>
          </a:prstGeom>
        </p:spPr>
        <p:txBody>
          <a:bodyPr wrap="square">
            <a:spAutoFit/>
          </a:bodyPr>
          <a:lstStyle/>
          <a:p>
            <a:pPr marL="342900" indent="-342900">
              <a:buAutoNum type="arabicPeriod"/>
            </a:pPr>
            <a:r>
              <a:rPr lang="en-GB" sz="2000" b="1" u="sng" dirty="0" smtClean="0">
                <a:solidFill>
                  <a:schemeClr val="tx1"/>
                </a:solidFill>
              </a:rPr>
              <a:t>Inheriting Data Members (Fields) : -</a:t>
            </a:r>
          </a:p>
          <a:p>
            <a:endParaRPr lang="en-GB" sz="2000" dirty="0" smtClean="0">
              <a:solidFill>
                <a:schemeClr val="tx1"/>
              </a:solidFill>
            </a:endParaRPr>
          </a:p>
          <a:p>
            <a:r>
              <a:rPr lang="en-GB" sz="2000" dirty="0" smtClean="0">
                <a:solidFill>
                  <a:schemeClr val="tx1"/>
                </a:solidFill>
              </a:rPr>
              <a:t>Data members (variables) of a superclass can be inherited by the subclass based on their access modifiers:</a:t>
            </a:r>
            <a:endParaRPr lang="en-GB" sz="2000" dirty="0">
              <a:solidFill>
                <a:schemeClr val="tx1"/>
              </a:solidFill>
            </a:endParaRPr>
          </a:p>
        </p:txBody>
      </p:sp>
      <p:pic>
        <p:nvPicPr>
          <p:cNvPr id="5" name="Picture 4"/>
          <p:cNvPicPr>
            <a:picLocks noChangeAspect="1"/>
          </p:cNvPicPr>
          <p:nvPr/>
        </p:nvPicPr>
        <p:blipFill>
          <a:blip r:embed="rId2"/>
          <a:stretch>
            <a:fillRect/>
          </a:stretch>
        </p:blipFill>
        <p:spPr>
          <a:xfrm>
            <a:off x="7086600" y="5486400"/>
            <a:ext cx="4114800" cy="1214184"/>
          </a:xfrm>
          <a:prstGeom prst="rect">
            <a:avLst/>
          </a:prstGeom>
        </p:spPr>
      </p:pic>
      <p:pic>
        <p:nvPicPr>
          <p:cNvPr id="6" name="object 7"/>
          <p:cNvPicPr/>
          <p:nvPr/>
        </p:nvPicPr>
        <p:blipFill>
          <a:blip r:embed="rId3" cstate="print"/>
          <a:stretch>
            <a:fillRect/>
          </a:stretch>
        </p:blipFill>
        <p:spPr>
          <a:xfrm>
            <a:off x="9513719" y="-228600"/>
            <a:ext cx="2648711" cy="1182624"/>
          </a:xfrm>
          <a:prstGeom prst="rect">
            <a:avLst/>
          </a:prstGeom>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1419" y="2814904"/>
            <a:ext cx="2745105" cy="553998"/>
          </a:xfrm>
        </p:spPr>
        <p:txBody>
          <a:bodyPr/>
          <a:lstStyle/>
          <a:p>
            <a:r>
              <a:rPr lang="en-GB" dirty="0" smtClean="0">
                <a:solidFill>
                  <a:schemeClr val="tx1"/>
                </a:solidFill>
              </a:rPr>
              <a:t>Continue…</a:t>
            </a:r>
            <a:endParaRPr lang="en-GB" dirty="0">
              <a:solidFill>
                <a:schemeClr val="tx1"/>
              </a:solidFill>
            </a:endParaRPr>
          </a:p>
        </p:txBody>
      </p:sp>
      <p:sp>
        <p:nvSpPr>
          <p:cNvPr id="3" name="Text Placeholder 2"/>
          <p:cNvSpPr>
            <a:spLocks noGrp="1"/>
          </p:cNvSpPr>
          <p:nvPr>
            <p:ph type="body" idx="1"/>
          </p:nvPr>
        </p:nvSpPr>
        <p:spPr>
          <a:xfrm>
            <a:off x="3962400" y="990600"/>
            <a:ext cx="8001000" cy="2585323"/>
          </a:xfrm>
        </p:spPr>
        <p:txBody>
          <a:bodyPr/>
          <a:lstStyle/>
          <a:p>
            <a:r>
              <a:rPr lang="en-GB" sz="2800" dirty="0">
                <a:solidFill>
                  <a:schemeClr val="tx1"/>
                </a:solidFill>
              </a:rPr>
              <a:t>Inheritance in Java allows a subclass to acquire the properties and </a:t>
            </a:r>
            <a:r>
              <a:rPr lang="en-GB" sz="2800" dirty="0" smtClean="0">
                <a:solidFill>
                  <a:schemeClr val="tx1"/>
                </a:solidFill>
              </a:rPr>
              <a:t>behaviours </a:t>
            </a:r>
            <a:r>
              <a:rPr lang="en-GB" sz="2800" dirty="0">
                <a:solidFill>
                  <a:schemeClr val="tx1"/>
                </a:solidFill>
              </a:rPr>
              <a:t>(fields </a:t>
            </a:r>
            <a:r>
              <a:rPr lang="en-GB" sz="2800" dirty="0" smtClean="0">
                <a:solidFill>
                  <a:schemeClr val="tx1"/>
                </a:solidFill>
              </a:rPr>
              <a:t>and methods</a:t>
            </a:r>
            <a:r>
              <a:rPr lang="en-GB" sz="2800" dirty="0">
                <a:solidFill>
                  <a:schemeClr val="tx1"/>
                </a:solidFill>
              </a:rPr>
              <a:t>) of a parent class. </a:t>
            </a:r>
            <a:endParaRPr lang="en-GB" sz="2800" dirty="0" smtClean="0">
              <a:solidFill>
                <a:schemeClr val="tx1"/>
              </a:solidFill>
            </a:endParaRPr>
          </a:p>
          <a:p>
            <a:endParaRPr lang="en-GB" sz="2800" dirty="0">
              <a:solidFill>
                <a:schemeClr val="tx1"/>
              </a:solidFill>
            </a:endParaRPr>
          </a:p>
          <a:p>
            <a:r>
              <a:rPr lang="en-GB" sz="2800" dirty="0" smtClean="0">
                <a:solidFill>
                  <a:schemeClr val="tx1"/>
                </a:solidFill>
              </a:rPr>
              <a:t>This </a:t>
            </a:r>
            <a:r>
              <a:rPr lang="en-GB" sz="2800" dirty="0">
                <a:solidFill>
                  <a:schemeClr val="tx1"/>
                </a:solidFill>
              </a:rPr>
              <a:t>promotes code reuse and supports the </a:t>
            </a:r>
            <a:r>
              <a:rPr lang="en-GB" sz="2800" dirty="0" smtClean="0">
                <a:solidFill>
                  <a:schemeClr val="tx1"/>
                </a:solidFill>
              </a:rPr>
              <a:t>hierarchical classification </a:t>
            </a:r>
            <a:r>
              <a:rPr lang="en-GB" sz="2800" dirty="0">
                <a:solidFill>
                  <a:schemeClr val="tx1"/>
                </a:solidFill>
              </a:rPr>
              <a:t>of classes.</a:t>
            </a:r>
          </a:p>
        </p:txBody>
      </p:sp>
      <p:pic>
        <p:nvPicPr>
          <p:cNvPr id="4" name="object 7"/>
          <p:cNvPicPr/>
          <p:nvPr/>
        </p:nvPicPr>
        <p:blipFill>
          <a:blip r:embed="rId2" cstate="print"/>
          <a:stretch>
            <a:fillRect/>
          </a:stretch>
        </p:blipFill>
        <p:spPr>
          <a:xfrm>
            <a:off x="9513719" y="-228600"/>
            <a:ext cx="2648711" cy="1182624"/>
          </a:xfrm>
          <a:prstGeom prst="rect">
            <a:avLst/>
          </a:prstGeom>
        </p:spPr>
      </p:pic>
    </p:spTree>
    <p:extLst>
      <p:ext uri="{BB962C8B-B14F-4D97-AF65-F5344CB8AC3E}">
        <p14:creationId xmlns:p14="http://schemas.microsoft.com/office/powerpoint/2010/main" val="379066677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dirty="0"/>
          </a:p>
        </p:txBody>
      </p:sp>
      <p:pic>
        <p:nvPicPr>
          <p:cNvPr id="6" name="Picture 5"/>
          <p:cNvPicPr>
            <a:picLocks noChangeAspect="1"/>
          </p:cNvPicPr>
          <p:nvPr/>
        </p:nvPicPr>
        <p:blipFill>
          <a:blip r:embed="rId2"/>
          <a:stretch>
            <a:fillRect/>
          </a:stretch>
        </p:blipFill>
        <p:spPr>
          <a:xfrm>
            <a:off x="152400" y="609601"/>
            <a:ext cx="11353800" cy="5562600"/>
          </a:xfrm>
          <a:prstGeom prst="rect">
            <a:avLst/>
          </a:prstGeom>
        </p:spPr>
      </p:pic>
      <p:pic>
        <p:nvPicPr>
          <p:cNvPr id="4" name="object 7"/>
          <p:cNvPicPr/>
          <p:nvPr/>
        </p:nvPicPr>
        <p:blipFill>
          <a:blip r:embed="rId3" cstate="print"/>
          <a:stretch>
            <a:fillRect/>
          </a:stretch>
        </p:blipFill>
        <p:spPr>
          <a:xfrm>
            <a:off x="9513719" y="-228600"/>
            <a:ext cx="2648711" cy="1182624"/>
          </a:xfrm>
          <a:prstGeom prst="rect">
            <a:avLst/>
          </a:prstGeom>
        </p:spPr>
      </p:pic>
    </p:spTree>
    <p:extLst>
      <p:ext uri="{BB962C8B-B14F-4D97-AF65-F5344CB8AC3E}">
        <p14:creationId xmlns:p14="http://schemas.microsoft.com/office/powerpoint/2010/main" val="269685950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927" y="3352800"/>
            <a:ext cx="3448531" cy="2209800"/>
          </a:xfrm>
          <a:prstGeom prst="rect">
            <a:avLst/>
          </a:prstGeom>
        </p:spPr>
      </p:pic>
      <p:sp>
        <p:nvSpPr>
          <p:cNvPr id="5" name="Rectangle 4"/>
          <p:cNvSpPr/>
          <p:nvPr/>
        </p:nvSpPr>
        <p:spPr>
          <a:xfrm>
            <a:off x="3581400" y="335846"/>
            <a:ext cx="8458200" cy="6186309"/>
          </a:xfrm>
          <a:prstGeom prst="rect">
            <a:avLst/>
          </a:prstGeom>
        </p:spPr>
        <p:txBody>
          <a:bodyPr wrap="square">
            <a:spAutoFit/>
          </a:bodyPr>
          <a:lstStyle/>
          <a:p>
            <a:r>
              <a:rPr lang="en-GB" dirty="0" smtClean="0">
                <a:solidFill>
                  <a:schemeClr val="tx1"/>
                </a:solidFill>
              </a:rPr>
              <a:t>class Parent {</a:t>
            </a:r>
          </a:p>
          <a:p>
            <a:r>
              <a:rPr lang="en-GB" dirty="0" smtClean="0">
                <a:solidFill>
                  <a:schemeClr val="tx1"/>
                </a:solidFill>
              </a:rPr>
              <a:t>public int a = 10;</a:t>
            </a:r>
          </a:p>
          <a:p>
            <a:r>
              <a:rPr lang="en-GB" dirty="0" smtClean="0">
                <a:solidFill>
                  <a:schemeClr val="tx1"/>
                </a:solidFill>
              </a:rPr>
              <a:t>protected int b = 20;</a:t>
            </a:r>
          </a:p>
          <a:p>
            <a:r>
              <a:rPr lang="en-GB" dirty="0" smtClean="0">
                <a:solidFill>
                  <a:schemeClr val="tx1"/>
                </a:solidFill>
              </a:rPr>
              <a:t>private int c = 30; // Not inherited</a:t>
            </a:r>
          </a:p>
          <a:p>
            <a:r>
              <a:rPr lang="en-GB" dirty="0" smtClean="0">
                <a:solidFill>
                  <a:schemeClr val="tx1"/>
                </a:solidFill>
              </a:rPr>
              <a:t>int d = 40; // Default, inherited within package</a:t>
            </a:r>
          </a:p>
          <a:p>
            <a:r>
              <a:rPr lang="en-GB" dirty="0" smtClean="0">
                <a:solidFill>
                  <a:schemeClr val="tx1"/>
                </a:solidFill>
              </a:rPr>
              <a:t>}</a:t>
            </a:r>
          </a:p>
          <a:p>
            <a:r>
              <a:rPr lang="en-GB" dirty="0" smtClean="0">
                <a:solidFill>
                  <a:schemeClr val="tx1"/>
                </a:solidFill>
              </a:rPr>
              <a:t>class Child extends Parent {</a:t>
            </a:r>
          </a:p>
          <a:p>
            <a:r>
              <a:rPr lang="en-GB" dirty="0" smtClean="0">
                <a:solidFill>
                  <a:schemeClr val="tx1"/>
                </a:solidFill>
              </a:rPr>
              <a:t>void display() {</a:t>
            </a:r>
          </a:p>
          <a:p>
            <a:r>
              <a:rPr lang="en-GB" dirty="0" smtClean="0">
                <a:solidFill>
                  <a:schemeClr val="tx1"/>
                </a:solidFill>
              </a:rPr>
              <a:t>System.out.println("a = " + a); // Accessible (public)</a:t>
            </a:r>
          </a:p>
          <a:p>
            <a:r>
              <a:rPr lang="en-GB" dirty="0" smtClean="0">
                <a:solidFill>
                  <a:schemeClr val="tx1"/>
                </a:solidFill>
              </a:rPr>
              <a:t>System.out.println("b = " + b); // Accessible (protected)</a:t>
            </a:r>
          </a:p>
          <a:p>
            <a:r>
              <a:rPr lang="en-GB" dirty="0" smtClean="0">
                <a:solidFill>
                  <a:schemeClr val="tx1"/>
                </a:solidFill>
              </a:rPr>
              <a:t>// System.out.println("c = " + c); // Not accessible (private)</a:t>
            </a:r>
          </a:p>
          <a:p>
            <a:endParaRPr lang="en-GB" dirty="0" smtClean="0">
              <a:solidFill>
                <a:schemeClr val="tx1"/>
              </a:solidFill>
            </a:endParaRPr>
          </a:p>
          <a:p>
            <a:r>
              <a:rPr lang="en-GB" dirty="0" smtClean="0">
                <a:solidFill>
                  <a:schemeClr val="tx1"/>
                </a:solidFill>
              </a:rPr>
              <a:t>System.out.println("d = " + d); // Accessible (default, only within the same package)</a:t>
            </a:r>
          </a:p>
          <a:p>
            <a:r>
              <a:rPr lang="en-GB" dirty="0" smtClean="0">
                <a:solidFill>
                  <a:schemeClr val="tx1"/>
                </a:solidFill>
              </a:rPr>
              <a:t>}</a:t>
            </a:r>
          </a:p>
          <a:p>
            <a:r>
              <a:rPr lang="en-GB" dirty="0" smtClean="0">
                <a:solidFill>
                  <a:schemeClr val="tx1"/>
                </a:solidFill>
              </a:rPr>
              <a:t>}</a:t>
            </a:r>
          </a:p>
          <a:p>
            <a:r>
              <a:rPr lang="en-GB" dirty="0" smtClean="0">
                <a:solidFill>
                  <a:schemeClr val="tx1"/>
                </a:solidFill>
              </a:rPr>
              <a:t>public class InheritDatavar {</a:t>
            </a:r>
          </a:p>
          <a:p>
            <a:r>
              <a:rPr lang="en-GB" dirty="0" smtClean="0">
                <a:solidFill>
                  <a:schemeClr val="tx1"/>
                </a:solidFill>
              </a:rPr>
              <a:t>public static void main(String  [ ] args) {</a:t>
            </a:r>
          </a:p>
          <a:p>
            <a:r>
              <a:rPr lang="en-GB" dirty="0" smtClean="0">
                <a:solidFill>
                  <a:schemeClr val="tx1"/>
                </a:solidFill>
              </a:rPr>
              <a:t>Child obj = new Child();</a:t>
            </a:r>
          </a:p>
          <a:p>
            <a:r>
              <a:rPr lang="en-GB" dirty="0" smtClean="0">
                <a:solidFill>
                  <a:schemeClr val="tx1"/>
                </a:solidFill>
              </a:rPr>
              <a:t>obj.display();</a:t>
            </a:r>
          </a:p>
          <a:p>
            <a:r>
              <a:rPr lang="en-GB" dirty="0" smtClean="0">
                <a:solidFill>
                  <a:schemeClr val="tx1"/>
                </a:solidFill>
              </a:rPr>
              <a:t>}</a:t>
            </a:r>
          </a:p>
          <a:p>
            <a:r>
              <a:rPr lang="en-GB" dirty="0" smtClean="0">
                <a:solidFill>
                  <a:schemeClr val="tx1"/>
                </a:solidFill>
              </a:rPr>
              <a:t>}</a:t>
            </a:r>
            <a:endParaRPr lang="en-GB" dirty="0">
              <a:solidFill>
                <a:schemeClr val="tx1"/>
              </a:solidFill>
            </a:endParaRPr>
          </a:p>
        </p:txBody>
      </p:sp>
      <p:sp>
        <p:nvSpPr>
          <p:cNvPr id="6" name="Rectangle 5"/>
          <p:cNvSpPr/>
          <p:nvPr/>
        </p:nvSpPr>
        <p:spPr>
          <a:xfrm>
            <a:off x="-6927" y="838200"/>
            <a:ext cx="3448531" cy="707886"/>
          </a:xfrm>
          <a:prstGeom prst="rect">
            <a:avLst/>
          </a:prstGeom>
        </p:spPr>
        <p:txBody>
          <a:bodyPr wrap="square">
            <a:spAutoFit/>
          </a:bodyPr>
          <a:lstStyle/>
          <a:p>
            <a:r>
              <a:rPr lang="en-GB" sz="2000" b="1" dirty="0" smtClean="0"/>
              <a:t>Example: </a:t>
            </a:r>
          </a:p>
          <a:p>
            <a:r>
              <a:rPr lang="en-GB" sz="2000" b="1" dirty="0" smtClean="0"/>
              <a:t>Inheriting Data Members</a:t>
            </a:r>
            <a:endParaRPr lang="en-GB" sz="2000" b="1" dirty="0"/>
          </a:p>
        </p:txBody>
      </p:sp>
      <p:pic>
        <p:nvPicPr>
          <p:cNvPr id="7" name="object 7"/>
          <p:cNvPicPr/>
          <p:nvPr/>
        </p:nvPicPr>
        <p:blipFill>
          <a:blip r:embed="rId3" cstate="print"/>
          <a:stretch>
            <a:fillRect/>
          </a:stretch>
        </p:blipFill>
        <p:spPr>
          <a:xfrm>
            <a:off x="9513719" y="-228600"/>
            <a:ext cx="2648711" cy="1182624"/>
          </a:xfrm>
          <a:prstGeom prst="rect">
            <a:avLst/>
          </a:prstGeom>
        </p:spPr>
      </p:pic>
    </p:spTree>
    <p:extLst>
      <p:ext uri="{BB962C8B-B14F-4D97-AF65-F5344CB8AC3E}">
        <p14:creationId xmlns:p14="http://schemas.microsoft.com/office/powerpoint/2010/main" val="39004383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905000"/>
            <a:ext cx="2745105" cy="1107996"/>
          </a:xfrm>
        </p:spPr>
        <p:txBody>
          <a:bodyPr/>
          <a:lstStyle/>
          <a:p>
            <a:r>
              <a:rPr dirty="0">
                <a:solidFill>
                  <a:schemeClr val="tx1"/>
                </a:solidFill>
              </a:rPr>
              <a:t>Inheriting Methods</a:t>
            </a:r>
          </a:p>
        </p:txBody>
      </p:sp>
      <p:sp>
        <p:nvSpPr>
          <p:cNvPr id="4" name="Rectangle 3"/>
          <p:cNvSpPr/>
          <p:nvPr/>
        </p:nvSpPr>
        <p:spPr>
          <a:xfrm>
            <a:off x="3657600" y="473839"/>
            <a:ext cx="8305800" cy="5632311"/>
          </a:xfrm>
          <a:prstGeom prst="rect">
            <a:avLst/>
          </a:prstGeom>
        </p:spPr>
        <p:txBody>
          <a:bodyPr wrap="square">
            <a:spAutoFit/>
          </a:bodyPr>
          <a:lstStyle/>
          <a:p>
            <a:r>
              <a:rPr lang="en-GB" sz="2400" dirty="0" smtClean="0"/>
              <a:t>2. Inheriting Methods :-</a:t>
            </a:r>
          </a:p>
          <a:p>
            <a:r>
              <a:rPr lang="en-GB" sz="2400" dirty="0" smtClean="0"/>
              <a:t>Just like data members, methods of a superclass can also be inherited based on their access modifiers.</a:t>
            </a:r>
          </a:p>
          <a:p>
            <a:endParaRPr lang="en-GB" sz="2400" dirty="0" smtClean="0"/>
          </a:p>
          <a:p>
            <a:r>
              <a:rPr lang="en-GB" sz="2400" dirty="0" smtClean="0"/>
              <a:t>Method Inheritance Rules</a:t>
            </a:r>
          </a:p>
          <a:p>
            <a:r>
              <a:rPr lang="en-GB" sz="2400" dirty="0" smtClean="0"/>
              <a:t>● Public &amp; Protected Methods → Inherited and accessible in the subclass.</a:t>
            </a:r>
          </a:p>
          <a:p>
            <a:endParaRPr lang="en-GB" sz="2400" dirty="0" smtClean="0"/>
          </a:p>
          <a:p>
            <a:r>
              <a:rPr lang="en-GB" sz="2400" dirty="0" smtClean="0"/>
              <a:t>● Default Methods → Inherited but accessible only within the same package.</a:t>
            </a:r>
          </a:p>
          <a:p>
            <a:endParaRPr lang="en-GB" sz="2400" dirty="0" smtClean="0"/>
          </a:p>
          <a:p>
            <a:r>
              <a:rPr lang="en-GB" sz="2400" dirty="0" smtClean="0"/>
              <a:t>● Private Methods → Not inherited.</a:t>
            </a:r>
          </a:p>
          <a:p>
            <a:r>
              <a:rPr lang="en-GB" sz="2400" dirty="0" smtClean="0"/>
              <a:t>● Final Methods → Inherited but cannot be overridden.</a:t>
            </a:r>
          </a:p>
          <a:p>
            <a:r>
              <a:rPr lang="en-GB" sz="2400" dirty="0" smtClean="0"/>
              <a:t>● Static Methods → Inherited, but cannot be overridden (they are hidden).</a:t>
            </a:r>
            <a:endParaRPr lang="en-GB" sz="2400" dirty="0"/>
          </a:p>
        </p:txBody>
      </p:sp>
      <p:pic>
        <p:nvPicPr>
          <p:cNvPr id="5" name="object 7"/>
          <p:cNvPicPr/>
          <p:nvPr/>
        </p:nvPicPr>
        <p:blipFill>
          <a:blip r:embed="rId2" cstate="print"/>
          <a:stretch>
            <a:fillRect/>
          </a:stretch>
        </p:blipFill>
        <p:spPr>
          <a:xfrm>
            <a:off x="9513719" y="-228600"/>
            <a:ext cx="2648711" cy="1182624"/>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914400"/>
            <a:ext cx="2745105" cy="1969770"/>
          </a:xfrm>
        </p:spPr>
        <p:txBody>
          <a:bodyPr/>
          <a:lstStyle/>
          <a:p>
            <a:pPr algn="l"/>
            <a:r>
              <a:rPr lang="en-GB" sz="3200" dirty="0">
                <a:solidFill>
                  <a:schemeClr val="tx1"/>
                </a:solidFill>
              </a:rPr>
              <a:t>Example: Inheriting and Overriding Methods</a:t>
            </a:r>
          </a:p>
        </p:txBody>
      </p:sp>
      <p:sp>
        <p:nvSpPr>
          <p:cNvPr id="4" name="Rectangle 3"/>
          <p:cNvSpPr/>
          <p:nvPr/>
        </p:nvSpPr>
        <p:spPr>
          <a:xfrm>
            <a:off x="3810000" y="483513"/>
            <a:ext cx="8077200" cy="4801314"/>
          </a:xfrm>
          <a:prstGeom prst="rect">
            <a:avLst/>
          </a:prstGeom>
        </p:spPr>
        <p:txBody>
          <a:bodyPr wrap="square">
            <a:spAutoFit/>
          </a:bodyPr>
          <a:lstStyle/>
          <a:p>
            <a:r>
              <a:rPr lang="en-GB" dirty="0" smtClean="0">
                <a:solidFill>
                  <a:schemeClr val="tx1"/>
                </a:solidFill>
              </a:rPr>
              <a:t>class Parent {</a:t>
            </a:r>
          </a:p>
          <a:p>
            <a:r>
              <a:rPr lang="en-GB" dirty="0" smtClean="0">
                <a:solidFill>
                  <a:schemeClr val="tx1"/>
                </a:solidFill>
              </a:rPr>
              <a:t> void show() {</a:t>
            </a:r>
          </a:p>
          <a:p>
            <a:r>
              <a:rPr lang="en-GB" dirty="0" smtClean="0">
                <a:solidFill>
                  <a:schemeClr val="tx1"/>
                </a:solidFill>
              </a:rPr>
              <a:t>System.out.println("Parent method");</a:t>
            </a:r>
          </a:p>
          <a:p>
            <a:r>
              <a:rPr lang="en-GB" dirty="0" smtClean="0">
                <a:solidFill>
                  <a:schemeClr val="tx1"/>
                </a:solidFill>
              </a:rPr>
              <a:t>}</a:t>
            </a:r>
          </a:p>
          <a:p>
            <a:r>
              <a:rPr lang="en-GB" dirty="0" smtClean="0">
                <a:solidFill>
                  <a:schemeClr val="tx1"/>
                </a:solidFill>
              </a:rPr>
              <a:t>}</a:t>
            </a:r>
          </a:p>
          <a:p>
            <a:r>
              <a:rPr lang="en-GB" dirty="0" smtClean="0">
                <a:solidFill>
                  <a:schemeClr val="tx1"/>
                </a:solidFill>
              </a:rPr>
              <a:t>class Child extends Parent {</a:t>
            </a:r>
          </a:p>
          <a:p>
            <a:r>
              <a:rPr lang="en-GB" dirty="0" smtClean="0">
                <a:solidFill>
                  <a:schemeClr val="tx1"/>
                </a:solidFill>
              </a:rPr>
              <a:t>//@Override</a:t>
            </a:r>
          </a:p>
          <a:p>
            <a:r>
              <a:rPr lang="en-GB" dirty="0" smtClean="0">
                <a:solidFill>
                  <a:schemeClr val="tx1"/>
                </a:solidFill>
              </a:rPr>
              <a:t> void show() { // Overriding the inherited method</a:t>
            </a:r>
          </a:p>
          <a:p>
            <a:r>
              <a:rPr lang="en-GB" dirty="0" smtClean="0">
                <a:solidFill>
                  <a:schemeClr val="tx1"/>
                </a:solidFill>
              </a:rPr>
              <a:t>System.out.println("Child method" );</a:t>
            </a:r>
          </a:p>
          <a:p>
            <a:r>
              <a:rPr lang="en-GB" dirty="0" smtClean="0">
                <a:solidFill>
                  <a:schemeClr val="tx1"/>
                </a:solidFill>
              </a:rPr>
              <a:t>}</a:t>
            </a:r>
          </a:p>
          <a:p>
            <a:r>
              <a:rPr lang="en-GB" dirty="0" smtClean="0">
                <a:solidFill>
                  <a:schemeClr val="tx1"/>
                </a:solidFill>
              </a:rPr>
              <a:t>}</a:t>
            </a:r>
          </a:p>
          <a:p>
            <a:r>
              <a:rPr lang="en-GB" dirty="0" smtClean="0">
                <a:solidFill>
                  <a:schemeClr val="tx1"/>
                </a:solidFill>
              </a:rPr>
              <a:t>public class MethodOverride {</a:t>
            </a:r>
          </a:p>
          <a:p>
            <a:r>
              <a:rPr lang="en-GB" dirty="0" smtClean="0">
                <a:solidFill>
                  <a:schemeClr val="tx1"/>
                </a:solidFill>
              </a:rPr>
              <a:t>public static void main(String [ ] args) {</a:t>
            </a:r>
          </a:p>
          <a:p>
            <a:r>
              <a:rPr lang="en-GB" dirty="0" smtClean="0">
                <a:solidFill>
                  <a:schemeClr val="tx1"/>
                </a:solidFill>
              </a:rPr>
              <a:t>Child obj = new Child();</a:t>
            </a:r>
          </a:p>
          <a:p>
            <a:r>
              <a:rPr lang="en-GB" dirty="0" smtClean="0">
                <a:solidFill>
                  <a:schemeClr val="tx1"/>
                </a:solidFill>
              </a:rPr>
              <a:t>obj.show(); // Calls the overridden method in Child class</a:t>
            </a:r>
          </a:p>
          <a:p>
            <a:r>
              <a:rPr lang="en-GB" dirty="0" smtClean="0">
                <a:solidFill>
                  <a:schemeClr val="tx1"/>
                </a:solidFill>
              </a:rPr>
              <a:t>}</a:t>
            </a:r>
          </a:p>
          <a:p>
            <a:r>
              <a:rPr lang="en-GB" dirty="0" smtClean="0">
                <a:solidFill>
                  <a:schemeClr val="tx1"/>
                </a:solidFill>
              </a:rPr>
              <a:t>}             </a:t>
            </a:r>
            <a:r>
              <a:rPr lang="en-GB" dirty="0" smtClean="0"/>
              <a:t>******Output *********</a:t>
            </a:r>
            <a:endParaRPr lang="en-GB" dirty="0"/>
          </a:p>
        </p:txBody>
      </p:sp>
      <p:pic>
        <p:nvPicPr>
          <p:cNvPr id="5" name="Picture 4"/>
          <p:cNvPicPr>
            <a:picLocks noChangeAspect="1"/>
          </p:cNvPicPr>
          <p:nvPr/>
        </p:nvPicPr>
        <p:blipFill>
          <a:blip r:embed="rId2"/>
          <a:stretch>
            <a:fillRect/>
          </a:stretch>
        </p:blipFill>
        <p:spPr>
          <a:xfrm>
            <a:off x="3837708" y="5486400"/>
            <a:ext cx="6144491" cy="1371600"/>
          </a:xfrm>
          <a:prstGeom prst="rect">
            <a:avLst/>
          </a:prstGeom>
        </p:spPr>
      </p:pic>
      <p:pic>
        <p:nvPicPr>
          <p:cNvPr id="6" name="object 7"/>
          <p:cNvPicPr/>
          <p:nvPr/>
        </p:nvPicPr>
        <p:blipFill>
          <a:blip r:embed="rId3" cstate="print"/>
          <a:stretch>
            <a:fillRect/>
          </a:stretch>
        </p:blipFill>
        <p:spPr>
          <a:xfrm>
            <a:off x="9513719" y="-228600"/>
            <a:ext cx="2648711" cy="1182624"/>
          </a:xfrm>
          <a:prstGeom prst="rect">
            <a:avLst/>
          </a:prstGeom>
        </p:spPr>
      </p:pic>
    </p:spTree>
    <p:extLst>
      <p:ext uri="{BB962C8B-B14F-4D97-AF65-F5344CB8AC3E}">
        <p14:creationId xmlns:p14="http://schemas.microsoft.com/office/powerpoint/2010/main" val="1489174028"/>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057400"/>
            <a:ext cx="3202305" cy="1661993"/>
          </a:xfrm>
        </p:spPr>
        <p:txBody>
          <a:bodyPr/>
          <a:lstStyle/>
          <a:p>
            <a:pPr algn="ctr"/>
            <a:r>
              <a:rPr lang="en-GB" dirty="0">
                <a:solidFill>
                  <a:schemeClr val="tx1"/>
                </a:solidFill>
              </a:rPr>
              <a:t>Multilevel Inheritance in Java</a:t>
            </a:r>
          </a:p>
        </p:txBody>
      </p:sp>
      <p:sp>
        <p:nvSpPr>
          <p:cNvPr id="5" name="Rectangle 4"/>
          <p:cNvSpPr/>
          <p:nvPr/>
        </p:nvSpPr>
        <p:spPr>
          <a:xfrm>
            <a:off x="4218708" y="559290"/>
            <a:ext cx="7363691" cy="2308324"/>
          </a:xfrm>
          <a:prstGeom prst="rect">
            <a:avLst/>
          </a:prstGeom>
        </p:spPr>
        <p:txBody>
          <a:bodyPr wrap="square">
            <a:spAutoFit/>
          </a:bodyPr>
          <a:lstStyle/>
          <a:p>
            <a:endParaRPr lang="en-GB" dirty="0" smtClean="0">
              <a:solidFill>
                <a:schemeClr val="tx1"/>
              </a:solidFill>
            </a:endParaRPr>
          </a:p>
          <a:p>
            <a:r>
              <a:rPr lang="en-GB" dirty="0" smtClean="0">
                <a:solidFill>
                  <a:schemeClr val="tx1"/>
                </a:solidFill>
              </a:rPr>
              <a:t>1. Introduction</a:t>
            </a:r>
          </a:p>
          <a:p>
            <a:r>
              <a:rPr lang="en-GB" dirty="0" smtClean="0">
                <a:solidFill>
                  <a:schemeClr val="tx1"/>
                </a:solidFill>
              </a:rPr>
              <a:t>Multilevel Inheritance is a type of inheritance in Java where a class is derived from another derived class. </a:t>
            </a:r>
          </a:p>
          <a:p>
            <a:endParaRPr lang="en-GB" dirty="0">
              <a:solidFill>
                <a:schemeClr val="tx1"/>
              </a:solidFill>
            </a:endParaRPr>
          </a:p>
          <a:p>
            <a:r>
              <a:rPr lang="en-GB" dirty="0" smtClean="0">
                <a:solidFill>
                  <a:schemeClr val="tx1"/>
                </a:solidFill>
              </a:rPr>
              <a:t>In other words, a subclass inherits from a parent class, and then another class inherits from that subclass, forming a chain of inheritance.</a:t>
            </a:r>
            <a:endParaRPr lang="en-GB" dirty="0">
              <a:solidFill>
                <a:schemeClr val="tx1"/>
              </a:solidFill>
            </a:endParaRPr>
          </a:p>
        </p:txBody>
      </p:sp>
      <p:sp>
        <p:nvSpPr>
          <p:cNvPr id="6" name="Rectangle 5"/>
          <p:cNvSpPr/>
          <p:nvPr/>
        </p:nvSpPr>
        <p:spPr>
          <a:xfrm>
            <a:off x="4191000" y="3352800"/>
            <a:ext cx="7620000" cy="2585323"/>
          </a:xfrm>
          <a:prstGeom prst="rect">
            <a:avLst/>
          </a:prstGeom>
        </p:spPr>
        <p:txBody>
          <a:bodyPr wrap="square">
            <a:spAutoFit/>
          </a:bodyPr>
          <a:lstStyle/>
          <a:p>
            <a:r>
              <a:rPr lang="en-GB" dirty="0" smtClean="0"/>
              <a:t>2. Key Features</a:t>
            </a:r>
          </a:p>
          <a:p>
            <a:r>
              <a:rPr lang="en-GB" dirty="0" smtClean="0"/>
              <a:t>- Allows for the reuse of code across multiple levels.</a:t>
            </a:r>
          </a:p>
          <a:p>
            <a:r>
              <a:rPr lang="en-GB" dirty="0" smtClean="0"/>
              <a:t>-  Inherited members (fields and methods) pass from one class to another.</a:t>
            </a:r>
          </a:p>
          <a:p>
            <a:r>
              <a:rPr lang="en-GB" dirty="0" smtClean="0"/>
              <a:t>-  The subclass of a parent class becomes the parent for another subclass.</a:t>
            </a:r>
          </a:p>
          <a:p>
            <a:r>
              <a:rPr lang="en-GB" dirty="0" smtClean="0"/>
              <a:t>-  Constructors are called in a top-down manner (from parent to child).</a:t>
            </a:r>
          </a:p>
          <a:p>
            <a:r>
              <a:rPr lang="en-GB" dirty="0" smtClean="0"/>
              <a:t>- If a method is overridden in an intermediate class, the most recent version is used.</a:t>
            </a:r>
            <a:endParaRPr lang="en-GB" dirty="0"/>
          </a:p>
        </p:txBody>
      </p:sp>
      <p:pic>
        <p:nvPicPr>
          <p:cNvPr id="7" name="object 7"/>
          <p:cNvPicPr/>
          <p:nvPr/>
        </p:nvPicPr>
        <p:blipFill>
          <a:blip r:embed="rId2" cstate="print"/>
          <a:stretch>
            <a:fillRect/>
          </a:stretch>
        </p:blipFill>
        <p:spPr>
          <a:xfrm>
            <a:off x="9513719" y="-228600"/>
            <a:ext cx="2648711" cy="1182624"/>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1419" y="2814904"/>
            <a:ext cx="2745105" cy="1292662"/>
          </a:xfrm>
        </p:spPr>
        <p:txBody>
          <a:bodyPr/>
          <a:lstStyle/>
          <a:p>
            <a:r>
              <a:rPr lang="en-GB" sz="2800" dirty="0">
                <a:solidFill>
                  <a:schemeClr val="tx1"/>
                </a:solidFill>
              </a:rPr>
              <a:t>3. Example of Multilevel Inheritance</a:t>
            </a:r>
          </a:p>
        </p:txBody>
      </p:sp>
      <p:sp>
        <p:nvSpPr>
          <p:cNvPr id="4" name="Rectangle 3"/>
          <p:cNvSpPr/>
          <p:nvPr/>
        </p:nvSpPr>
        <p:spPr>
          <a:xfrm>
            <a:off x="3581400" y="304800"/>
            <a:ext cx="4038600" cy="4247317"/>
          </a:xfrm>
          <a:prstGeom prst="rect">
            <a:avLst/>
          </a:prstGeom>
        </p:spPr>
        <p:txBody>
          <a:bodyPr wrap="square">
            <a:spAutoFit/>
          </a:bodyPr>
          <a:lstStyle/>
          <a:p>
            <a:r>
              <a:rPr lang="en-GB" dirty="0" smtClean="0"/>
              <a:t>// Base class (Parent)</a:t>
            </a:r>
          </a:p>
          <a:p>
            <a:r>
              <a:rPr lang="en-GB" dirty="0" smtClean="0"/>
              <a:t>class Grandparent {</a:t>
            </a:r>
          </a:p>
          <a:p>
            <a:r>
              <a:rPr lang="en-GB" dirty="0" smtClean="0"/>
              <a:t>void displayGrandparent() {</a:t>
            </a:r>
          </a:p>
          <a:p>
            <a:r>
              <a:rPr lang="en-GB" dirty="0" smtClean="0"/>
              <a:t>System.out.println("Grandparent class method");</a:t>
            </a:r>
          </a:p>
          <a:p>
            <a:r>
              <a:rPr lang="en-GB" dirty="0" smtClean="0"/>
              <a:t>}</a:t>
            </a:r>
          </a:p>
          <a:p>
            <a:r>
              <a:rPr lang="en-GB" dirty="0" smtClean="0"/>
              <a:t>}</a:t>
            </a:r>
          </a:p>
          <a:p>
            <a:r>
              <a:rPr lang="en-GB" dirty="0" smtClean="0"/>
              <a:t>// Intermediate class (Child of Grandparent)</a:t>
            </a:r>
          </a:p>
          <a:p>
            <a:r>
              <a:rPr lang="en-GB" dirty="0" smtClean="0"/>
              <a:t>class Parent extends Grandparent {</a:t>
            </a:r>
          </a:p>
          <a:p>
            <a:r>
              <a:rPr lang="en-GB" dirty="0" smtClean="0"/>
              <a:t>void displayParent() {</a:t>
            </a:r>
          </a:p>
          <a:p>
            <a:r>
              <a:rPr lang="en-GB" dirty="0" smtClean="0"/>
              <a:t>System.out.println("Parent class method");</a:t>
            </a:r>
          </a:p>
          <a:p>
            <a:r>
              <a:rPr lang="en-GB" dirty="0" smtClean="0"/>
              <a:t>}</a:t>
            </a:r>
          </a:p>
          <a:p>
            <a:r>
              <a:rPr lang="en-GB" dirty="0" smtClean="0"/>
              <a:t>}</a:t>
            </a:r>
            <a:endParaRPr lang="en-GB" dirty="0"/>
          </a:p>
        </p:txBody>
      </p:sp>
      <p:sp>
        <p:nvSpPr>
          <p:cNvPr id="5" name="Rectangle 4"/>
          <p:cNvSpPr/>
          <p:nvPr/>
        </p:nvSpPr>
        <p:spPr>
          <a:xfrm>
            <a:off x="7647709" y="997727"/>
            <a:ext cx="4495800" cy="4247317"/>
          </a:xfrm>
          <a:prstGeom prst="rect">
            <a:avLst/>
          </a:prstGeom>
        </p:spPr>
        <p:txBody>
          <a:bodyPr wrap="square">
            <a:spAutoFit/>
          </a:bodyPr>
          <a:lstStyle/>
          <a:p>
            <a:r>
              <a:rPr lang="en-GB" dirty="0" smtClean="0"/>
              <a:t>// Derived class (Child of Parent)</a:t>
            </a:r>
          </a:p>
          <a:p>
            <a:r>
              <a:rPr lang="en-GB" dirty="0" smtClean="0"/>
              <a:t>class Child extends Parent {</a:t>
            </a:r>
          </a:p>
          <a:p>
            <a:endParaRPr lang="en-GB" dirty="0" smtClean="0"/>
          </a:p>
          <a:p>
            <a:r>
              <a:rPr lang="en-GB" dirty="0" smtClean="0"/>
              <a:t>void displayChild() {</a:t>
            </a:r>
          </a:p>
          <a:p>
            <a:r>
              <a:rPr lang="en-GB" dirty="0" smtClean="0"/>
              <a:t>System.out.println("Child class method");</a:t>
            </a:r>
          </a:p>
          <a:p>
            <a:r>
              <a:rPr lang="en-GB" dirty="0" smtClean="0"/>
              <a:t>}  }</a:t>
            </a:r>
          </a:p>
          <a:p>
            <a:r>
              <a:rPr lang="en-GB" dirty="0" smtClean="0"/>
              <a:t>public class Main {</a:t>
            </a:r>
          </a:p>
          <a:p>
            <a:r>
              <a:rPr lang="en-GB" dirty="0" smtClean="0"/>
              <a:t>public static void main(String[] args) {</a:t>
            </a:r>
          </a:p>
          <a:p>
            <a:r>
              <a:rPr lang="en-GB" dirty="0" smtClean="0"/>
              <a:t>Child obj = new Child();</a:t>
            </a:r>
          </a:p>
          <a:p>
            <a:r>
              <a:rPr lang="en-GB" dirty="0" smtClean="0"/>
              <a:t>obj.displayGrandparent(); // Inherited from Grandparent</a:t>
            </a:r>
          </a:p>
          <a:p>
            <a:r>
              <a:rPr lang="en-GB" dirty="0" smtClean="0"/>
              <a:t>obj.displayParent(); // Inherited from Parent</a:t>
            </a:r>
          </a:p>
          <a:p>
            <a:r>
              <a:rPr lang="en-GB" dirty="0" smtClean="0"/>
              <a:t>obj.displayChild(); // Own method</a:t>
            </a:r>
          </a:p>
          <a:p>
            <a:r>
              <a:rPr lang="en-GB" dirty="0" smtClean="0"/>
              <a:t>}  }</a:t>
            </a:r>
            <a:endParaRPr lang="en-GB" dirty="0"/>
          </a:p>
        </p:txBody>
      </p:sp>
      <p:pic>
        <p:nvPicPr>
          <p:cNvPr id="6" name="Picture 5"/>
          <p:cNvPicPr>
            <a:picLocks noChangeAspect="1"/>
          </p:cNvPicPr>
          <p:nvPr/>
        </p:nvPicPr>
        <p:blipFill>
          <a:blip r:embed="rId2"/>
          <a:stretch>
            <a:fillRect/>
          </a:stretch>
        </p:blipFill>
        <p:spPr>
          <a:xfrm>
            <a:off x="3818995" y="5562600"/>
            <a:ext cx="6772805" cy="1219200"/>
          </a:xfrm>
          <a:prstGeom prst="rect">
            <a:avLst/>
          </a:prstGeom>
        </p:spPr>
      </p:pic>
      <p:sp>
        <p:nvSpPr>
          <p:cNvPr id="7" name="Rectangle 6"/>
          <p:cNvSpPr/>
          <p:nvPr/>
        </p:nvSpPr>
        <p:spPr>
          <a:xfrm>
            <a:off x="4191000" y="5078405"/>
            <a:ext cx="1776448" cy="388696"/>
          </a:xfrm>
          <a:prstGeom prst="rect">
            <a:avLst/>
          </a:prstGeom>
        </p:spPr>
        <p:txBody>
          <a:bodyPr wrap="none">
            <a:spAutoFit/>
          </a:bodyPr>
          <a:lstStyle/>
          <a:p>
            <a:pPr>
              <a:lnSpc>
                <a:spcPct val="107000"/>
              </a:lnSpc>
              <a:spcAft>
                <a:spcPts val="800"/>
              </a:spcAft>
            </a:pPr>
            <a:r>
              <a:rPr lang="en-GB" dirty="0" smtClean="0">
                <a:effectLst/>
                <a:latin typeface="Calibri" panose="020F0502020204030204" pitchFamily="34" charset="0"/>
                <a:ea typeface="Calibri" panose="020F0502020204030204" pitchFamily="34" charset="0"/>
                <a:cs typeface="Times New Roman" panose="02020603050405020304" pitchFamily="18" charset="0"/>
              </a:rPr>
              <a:t>****</a:t>
            </a:r>
            <a:r>
              <a:rPr lang="en-GB" dirty="0" err="1" smtClean="0">
                <a:effectLst/>
                <a:latin typeface="Calibri" panose="020F0502020204030204" pitchFamily="34" charset="0"/>
                <a:ea typeface="Calibri" panose="020F0502020204030204" pitchFamily="34" charset="0"/>
                <a:cs typeface="Times New Roman" panose="02020603050405020304" pitchFamily="18" charset="0"/>
              </a:rPr>
              <a:t>OutPut</a:t>
            </a:r>
            <a:r>
              <a:rPr lang="en-GB" dirty="0" smtClean="0">
                <a:effectLst/>
                <a:latin typeface="Calibri" panose="020F0502020204030204" pitchFamily="34" charset="0"/>
                <a:ea typeface="Calibri" panose="020F0502020204030204" pitchFamily="34" charset="0"/>
                <a:cs typeface="Times New Roman" panose="02020603050405020304" pitchFamily="18" charset="0"/>
              </a:rPr>
              <a:t>****</a:t>
            </a:r>
            <a:endParaRPr lang="en-GB"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object 7"/>
          <p:cNvPicPr/>
          <p:nvPr/>
        </p:nvPicPr>
        <p:blipFill>
          <a:blip r:embed="rId3" cstate="print"/>
          <a:stretch>
            <a:fillRect/>
          </a:stretch>
        </p:blipFill>
        <p:spPr>
          <a:xfrm>
            <a:off x="9513719" y="-228600"/>
            <a:ext cx="2648711" cy="1182624"/>
          </a:xfrm>
          <a:prstGeom prst="rect">
            <a:avLst/>
          </a:prstGeom>
        </p:spPr>
      </p:pic>
    </p:spTree>
    <p:extLst>
      <p:ext uri="{BB962C8B-B14F-4D97-AF65-F5344CB8AC3E}">
        <p14:creationId xmlns:p14="http://schemas.microsoft.com/office/powerpoint/2010/main" val="243377817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447800"/>
            <a:ext cx="2745105" cy="2769989"/>
          </a:xfrm>
        </p:spPr>
        <p:txBody>
          <a:bodyPr/>
          <a:lstStyle/>
          <a:p>
            <a:r>
              <a:rPr lang="en-GB" dirty="0">
                <a:solidFill>
                  <a:schemeClr val="tx1"/>
                </a:solidFill>
              </a:rPr>
              <a:t>4. Constructor Execution in Multilevel Inheritance</a:t>
            </a:r>
            <a:endParaRPr dirty="0">
              <a:solidFill>
                <a:schemeClr val="tx1"/>
              </a:solidFill>
            </a:endParaRPr>
          </a:p>
        </p:txBody>
      </p:sp>
      <p:sp>
        <p:nvSpPr>
          <p:cNvPr id="6" name="Rectangle 5"/>
          <p:cNvSpPr/>
          <p:nvPr/>
        </p:nvSpPr>
        <p:spPr>
          <a:xfrm>
            <a:off x="3962400" y="1676400"/>
            <a:ext cx="7772400" cy="1631216"/>
          </a:xfrm>
          <a:prstGeom prst="rect">
            <a:avLst/>
          </a:prstGeom>
        </p:spPr>
        <p:txBody>
          <a:bodyPr wrap="square">
            <a:spAutoFit/>
          </a:bodyPr>
          <a:lstStyle/>
          <a:p>
            <a:r>
              <a:rPr lang="en-GB" sz="2000" dirty="0" smtClean="0"/>
              <a:t>● In Java, constructors are called from the top of the hierarchy to the bottom.</a:t>
            </a:r>
          </a:p>
          <a:p>
            <a:endParaRPr lang="en-GB" sz="2000" dirty="0" smtClean="0"/>
          </a:p>
          <a:p>
            <a:r>
              <a:rPr lang="en-GB" sz="2000" dirty="0" smtClean="0"/>
              <a:t>● If no explicit constructor call is made using super(), Java automatically calls the default constructor of the parent class.</a:t>
            </a:r>
            <a:endParaRPr lang="en-GB" sz="2000" dirty="0"/>
          </a:p>
        </p:txBody>
      </p:sp>
      <p:pic>
        <p:nvPicPr>
          <p:cNvPr id="4" name="object 7"/>
          <p:cNvPicPr/>
          <p:nvPr/>
        </p:nvPicPr>
        <p:blipFill>
          <a:blip r:embed="rId2" cstate="print"/>
          <a:stretch>
            <a:fillRect/>
          </a:stretch>
        </p:blipFill>
        <p:spPr>
          <a:xfrm>
            <a:off x="9513719" y="-192024"/>
            <a:ext cx="2648711" cy="1182624"/>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1600200"/>
            <a:ext cx="2745105" cy="2215991"/>
          </a:xfrm>
        </p:spPr>
        <p:txBody>
          <a:bodyPr/>
          <a:lstStyle/>
          <a:p>
            <a:r>
              <a:rPr lang="en-GB" dirty="0">
                <a:solidFill>
                  <a:schemeClr val="tx1"/>
                </a:solidFill>
              </a:rPr>
              <a:t>Example of Constructor </a:t>
            </a:r>
            <a:r>
              <a:rPr lang="en-GB" dirty="0" smtClean="0">
                <a:solidFill>
                  <a:schemeClr val="tx1"/>
                </a:solidFill>
              </a:rPr>
              <a:t>Execution Order</a:t>
            </a:r>
            <a:endParaRPr lang="en-GB" dirty="0">
              <a:solidFill>
                <a:schemeClr val="tx1"/>
              </a:solidFill>
            </a:endParaRPr>
          </a:p>
        </p:txBody>
      </p:sp>
      <p:sp>
        <p:nvSpPr>
          <p:cNvPr id="5" name="Rectangle 4"/>
          <p:cNvSpPr/>
          <p:nvPr/>
        </p:nvSpPr>
        <p:spPr>
          <a:xfrm>
            <a:off x="3657600" y="76200"/>
            <a:ext cx="8991600" cy="5632311"/>
          </a:xfrm>
          <a:prstGeom prst="rect">
            <a:avLst/>
          </a:prstGeom>
        </p:spPr>
        <p:txBody>
          <a:bodyPr wrap="square">
            <a:spAutoFit/>
          </a:bodyPr>
          <a:lstStyle/>
          <a:p>
            <a:r>
              <a:rPr lang="en-GB" dirty="0" smtClean="0"/>
              <a:t>class Grandparent {</a:t>
            </a:r>
          </a:p>
          <a:p>
            <a:r>
              <a:rPr lang="en-GB" dirty="0" smtClean="0"/>
              <a:t>Grandparent() {</a:t>
            </a:r>
          </a:p>
          <a:p>
            <a:r>
              <a:rPr lang="en-GB" dirty="0" smtClean="0"/>
              <a:t>System.out.println("Grandparent Constructor");</a:t>
            </a:r>
          </a:p>
          <a:p>
            <a:r>
              <a:rPr lang="en-GB" dirty="0" smtClean="0"/>
              <a:t>}</a:t>
            </a:r>
          </a:p>
          <a:p>
            <a:r>
              <a:rPr lang="en-GB" dirty="0" smtClean="0"/>
              <a:t>}</a:t>
            </a:r>
          </a:p>
          <a:p>
            <a:r>
              <a:rPr lang="en-GB" dirty="0" smtClean="0"/>
              <a:t>class Parent extends Grandparent {</a:t>
            </a:r>
          </a:p>
          <a:p>
            <a:r>
              <a:rPr lang="en-GB" dirty="0" smtClean="0"/>
              <a:t>Parent() {</a:t>
            </a:r>
          </a:p>
          <a:p>
            <a:r>
              <a:rPr lang="en-GB" dirty="0" smtClean="0"/>
              <a:t>System.out.println("Parent Constructor");</a:t>
            </a:r>
          </a:p>
          <a:p>
            <a:r>
              <a:rPr lang="en-GB" dirty="0" smtClean="0"/>
              <a:t>}</a:t>
            </a:r>
          </a:p>
          <a:p>
            <a:r>
              <a:rPr lang="en-GB" dirty="0" smtClean="0"/>
              <a:t>}</a:t>
            </a:r>
          </a:p>
          <a:p>
            <a:r>
              <a:rPr lang="en-GB" dirty="0" smtClean="0"/>
              <a:t>class Child extends Parent {</a:t>
            </a:r>
          </a:p>
          <a:p>
            <a:r>
              <a:rPr lang="en-GB" dirty="0" smtClean="0"/>
              <a:t>Child() {</a:t>
            </a:r>
          </a:p>
          <a:p>
            <a:r>
              <a:rPr lang="en-GB" dirty="0" smtClean="0"/>
              <a:t>System.out.println("Child Constructor");</a:t>
            </a:r>
          </a:p>
          <a:p>
            <a:r>
              <a:rPr lang="en-GB" dirty="0" smtClean="0"/>
              <a:t>}</a:t>
            </a:r>
          </a:p>
          <a:p>
            <a:r>
              <a:rPr lang="en-GB" dirty="0" smtClean="0"/>
              <a:t>}</a:t>
            </a:r>
          </a:p>
          <a:p>
            <a:r>
              <a:rPr lang="en-GB" dirty="0" smtClean="0"/>
              <a:t>public class Main {</a:t>
            </a:r>
          </a:p>
          <a:p>
            <a:r>
              <a:rPr lang="en-GB" dirty="0" smtClean="0"/>
              <a:t>public static void main(String[] args) {</a:t>
            </a:r>
          </a:p>
          <a:p>
            <a:r>
              <a:rPr lang="en-GB" dirty="0" smtClean="0"/>
              <a:t>Child obj = new Child(); // Creating an object of Child</a:t>
            </a:r>
          </a:p>
          <a:p>
            <a:r>
              <a:rPr lang="en-GB" dirty="0" smtClean="0"/>
              <a:t>}</a:t>
            </a:r>
          </a:p>
          <a:p>
            <a:r>
              <a:rPr lang="en-GB" dirty="0" smtClean="0"/>
              <a:t>}</a:t>
            </a:r>
            <a:endParaRPr lang="en-GB" dirty="0"/>
          </a:p>
        </p:txBody>
      </p:sp>
      <p:pic>
        <p:nvPicPr>
          <p:cNvPr id="6" name="Picture 5"/>
          <p:cNvPicPr>
            <a:picLocks noChangeAspect="1"/>
          </p:cNvPicPr>
          <p:nvPr/>
        </p:nvPicPr>
        <p:blipFill>
          <a:blip r:embed="rId2"/>
          <a:stretch>
            <a:fillRect/>
          </a:stretch>
        </p:blipFill>
        <p:spPr>
          <a:xfrm>
            <a:off x="6248400" y="5486400"/>
            <a:ext cx="4648200" cy="1260481"/>
          </a:xfrm>
          <a:prstGeom prst="rect">
            <a:avLst/>
          </a:prstGeom>
        </p:spPr>
      </p:pic>
      <p:sp>
        <p:nvSpPr>
          <p:cNvPr id="7" name="Rectangle 6"/>
          <p:cNvSpPr/>
          <p:nvPr/>
        </p:nvSpPr>
        <p:spPr>
          <a:xfrm>
            <a:off x="4085558" y="5839000"/>
            <a:ext cx="1776448" cy="388696"/>
          </a:xfrm>
          <a:prstGeom prst="rect">
            <a:avLst/>
          </a:prstGeom>
        </p:spPr>
        <p:txBody>
          <a:bodyPr wrap="none">
            <a:spAutoFit/>
          </a:bodyPr>
          <a:lstStyle/>
          <a:p>
            <a:pPr>
              <a:lnSpc>
                <a:spcPct val="107000"/>
              </a:lnSpc>
              <a:spcAft>
                <a:spcPts val="800"/>
              </a:spcAft>
            </a:pPr>
            <a:r>
              <a:rPr lang="en-GB" dirty="0" smtClean="0">
                <a:effectLst/>
                <a:latin typeface="Calibri" panose="020F0502020204030204" pitchFamily="34" charset="0"/>
                <a:ea typeface="Calibri" panose="020F0502020204030204" pitchFamily="34" charset="0"/>
                <a:cs typeface="Times New Roman" panose="02020603050405020304" pitchFamily="18" charset="0"/>
              </a:rPr>
              <a:t>****</a:t>
            </a:r>
            <a:r>
              <a:rPr lang="en-GB" dirty="0" err="1" smtClean="0">
                <a:effectLst/>
                <a:latin typeface="Calibri" panose="020F0502020204030204" pitchFamily="34" charset="0"/>
                <a:ea typeface="Calibri" panose="020F0502020204030204" pitchFamily="34" charset="0"/>
                <a:cs typeface="Times New Roman" panose="02020603050405020304" pitchFamily="18" charset="0"/>
              </a:rPr>
              <a:t>OutPut</a:t>
            </a:r>
            <a:r>
              <a:rPr lang="en-GB" dirty="0" smtClean="0">
                <a:effectLst/>
                <a:latin typeface="Calibri" panose="020F0502020204030204" pitchFamily="34" charset="0"/>
                <a:ea typeface="Calibri" panose="020F0502020204030204" pitchFamily="34" charset="0"/>
                <a:cs typeface="Times New Roman" panose="02020603050405020304" pitchFamily="18" charset="0"/>
              </a:rPr>
              <a:t>****</a:t>
            </a:r>
            <a:endParaRPr lang="en-GB"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object 7"/>
          <p:cNvPicPr/>
          <p:nvPr/>
        </p:nvPicPr>
        <p:blipFill>
          <a:blip r:embed="rId3" cstate="print"/>
          <a:stretch>
            <a:fillRect/>
          </a:stretch>
        </p:blipFill>
        <p:spPr>
          <a:xfrm>
            <a:off x="9513719" y="-228600"/>
            <a:ext cx="2648711" cy="1182624"/>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717030"/>
            <a:ext cx="2745105" cy="2215991"/>
          </a:xfrm>
        </p:spPr>
        <p:txBody>
          <a:bodyPr/>
          <a:lstStyle/>
          <a:p>
            <a:r>
              <a:rPr lang="en-GB" dirty="0">
                <a:solidFill>
                  <a:schemeClr val="tx1"/>
                </a:solidFill>
              </a:rPr>
              <a:t>5. Method Overriding in Multilevel Inheritance</a:t>
            </a:r>
            <a:endParaRPr dirty="0">
              <a:solidFill>
                <a:schemeClr val="tx1"/>
              </a:solidFill>
            </a:endParaRPr>
          </a:p>
        </p:txBody>
      </p:sp>
      <p:sp>
        <p:nvSpPr>
          <p:cNvPr id="5" name="Rectangle 4"/>
          <p:cNvSpPr/>
          <p:nvPr/>
        </p:nvSpPr>
        <p:spPr>
          <a:xfrm>
            <a:off x="3962400" y="6927"/>
            <a:ext cx="6096000" cy="5909310"/>
          </a:xfrm>
          <a:prstGeom prst="rect">
            <a:avLst/>
          </a:prstGeom>
        </p:spPr>
        <p:txBody>
          <a:bodyPr>
            <a:spAutoFit/>
          </a:bodyPr>
          <a:lstStyle/>
          <a:p>
            <a:r>
              <a:rPr lang="en-GB" dirty="0" smtClean="0"/>
              <a:t>class Grandparent {</a:t>
            </a:r>
          </a:p>
          <a:p>
            <a:r>
              <a:rPr lang="en-GB" dirty="0" smtClean="0"/>
              <a:t>void show() {</a:t>
            </a:r>
          </a:p>
          <a:p>
            <a:r>
              <a:rPr lang="en-GB" dirty="0" smtClean="0"/>
              <a:t>System.out.println("Grandparent method");</a:t>
            </a:r>
          </a:p>
          <a:p>
            <a:r>
              <a:rPr lang="en-GB" dirty="0" smtClean="0"/>
              <a:t>} }</a:t>
            </a:r>
          </a:p>
          <a:p>
            <a:r>
              <a:rPr lang="en-GB" dirty="0" smtClean="0"/>
              <a:t>class Parent extends Grandparent {</a:t>
            </a:r>
          </a:p>
          <a:p>
            <a:r>
              <a:rPr lang="en-GB" dirty="0" smtClean="0"/>
              <a:t>@Override</a:t>
            </a:r>
          </a:p>
          <a:p>
            <a:r>
              <a:rPr lang="en-GB" dirty="0" smtClean="0"/>
              <a:t>void show() {</a:t>
            </a:r>
          </a:p>
          <a:p>
            <a:r>
              <a:rPr lang="en-GB" dirty="0" smtClean="0"/>
              <a:t>System.out.println("Parent method");</a:t>
            </a:r>
          </a:p>
          <a:p>
            <a:r>
              <a:rPr lang="en-GB" dirty="0" smtClean="0"/>
              <a:t>} }</a:t>
            </a:r>
          </a:p>
          <a:p>
            <a:r>
              <a:rPr lang="en-GB" dirty="0" smtClean="0"/>
              <a:t>class Child extends Parent {</a:t>
            </a:r>
          </a:p>
          <a:p>
            <a:r>
              <a:rPr lang="en-GB" dirty="0" smtClean="0"/>
              <a:t>@Override</a:t>
            </a:r>
          </a:p>
          <a:p>
            <a:r>
              <a:rPr lang="en-GB" dirty="0" smtClean="0"/>
              <a:t>void show() {</a:t>
            </a:r>
          </a:p>
          <a:p>
            <a:r>
              <a:rPr lang="en-GB" dirty="0" smtClean="0"/>
              <a:t>System.out.println("Child method");</a:t>
            </a:r>
          </a:p>
          <a:p>
            <a:r>
              <a:rPr lang="en-GB" dirty="0" smtClean="0"/>
              <a:t>}</a:t>
            </a:r>
          </a:p>
          <a:p>
            <a:r>
              <a:rPr lang="en-GB" dirty="0" smtClean="0"/>
              <a:t>}</a:t>
            </a:r>
          </a:p>
          <a:p>
            <a:r>
              <a:rPr lang="en-GB" dirty="0" smtClean="0"/>
              <a:t>public class Main {</a:t>
            </a:r>
          </a:p>
          <a:p>
            <a:r>
              <a:rPr lang="en-GB" dirty="0" smtClean="0"/>
              <a:t>public static void main(String[] args) {</a:t>
            </a:r>
          </a:p>
          <a:p>
            <a:r>
              <a:rPr lang="en-GB" dirty="0" smtClean="0"/>
              <a:t>Child obj = new Child();</a:t>
            </a:r>
          </a:p>
          <a:p>
            <a:r>
              <a:rPr lang="en-GB" dirty="0" smtClean="0"/>
              <a:t>obj.show(); // Calls the overridden method in Child class</a:t>
            </a:r>
          </a:p>
          <a:p>
            <a:r>
              <a:rPr lang="en-GB" dirty="0" smtClean="0"/>
              <a:t>}</a:t>
            </a:r>
          </a:p>
          <a:p>
            <a:r>
              <a:rPr lang="en-GB" dirty="0" smtClean="0"/>
              <a:t>}</a:t>
            </a:r>
            <a:endParaRPr lang="en-GB" dirty="0"/>
          </a:p>
        </p:txBody>
      </p:sp>
      <p:pic>
        <p:nvPicPr>
          <p:cNvPr id="6" name="Picture 5"/>
          <p:cNvPicPr>
            <a:picLocks noChangeAspect="1"/>
          </p:cNvPicPr>
          <p:nvPr/>
        </p:nvPicPr>
        <p:blipFill>
          <a:blip r:embed="rId2"/>
          <a:stretch>
            <a:fillRect/>
          </a:stretch>
        </p:blipFill>
        <p:spPr>
          <a:xfrm>
            <a:off x="5867400" y="5638800"/>
            <a:ext cx="5257800" cy="1143000"/>
          </a:xfrm>
          <a:prstGeom prst="rect">
            <a:avLst/>
          </a:prstGeom>
        </p:spPr>
      </p:pic>
      <p:sp>
        <p:nvSpPr>
          <p:cNvPr id="7" name="Rectangle 6"/>
          <p:cNvSpPr/>
          <p:nvPr/>
        </p:nvSpPr>
        <p:spPr>
          <a:xfrm>
            <a:off x="3886200" y="6015952"/>
            <a:ext cx="1776448" cy="388696"/>
          </a:xfrm>
          <a:prstGeom prst="rect">
            <a:avLst/>
          </a:prstGeom>
        </p:spPr>
        <p:txBody>
          <a:bodyPr wrap="none">
            <a:spAutoFit/>
          </a:bodyPr>
          <a:lstStyle/>
          <a:p>
            <a:pPr>
              <a:lnSpc>
                <a:spcPct val="107000"/>
              </a:lnSpc>
              <a:spcAft>
                <a:spcPts val="800"/>
              </a:spcAft>
            </a:pPr>
            <a:r>
              <a:rPr lang="en-GB" dirty="0" smtClean="0">
                <a:effectLst/>
                <a:latin typeface="Calibri" panose="020F0502020204030204" pitchFamily="34" charset="0"/>
                <a:ea typeface="Calibri" panose="020F0502020204030204" pitchFamily="34" charset="0"/>
                <a:cs typeface="Times New Roman" panose="02020603050405020304" pitchFamily="18" charset="0"/>
              </a:rPr>
              <a:t>****</a:t>
            </a:r>
            <a:r>
              <a:rPr lang="en-GB" dirty="0" err="1" smtClean="0">
                <a:effectLst/>
                <a:latin typeface="Calibri" panose="020F0502020204030204" pitchFamily="34" charset="0"/>
                <a:ea typeface="Calibri" panose="020F0502020204030204" pitchFamily="34" charset="0"/>
                <a:cs typeface="Times New Roman" panose="02020603050405020304" pitchFamily="18" charset="0"/>
              </a:rPr>
              <a:t>OutPut</a:t>
            </a:r>
            <a:r>
              <a:rPr lang="en-GB" dirty="0" smtClean="0">
                <a:effectLst/>
                <a:latin typeface="Calibri" panose="020F0502020204030204" pitchFamily="34" charset="0"/>
                <a:ea typeface="Calibri" panose="020F0502020204030204" pitchFamily="34" charset="0"/>
                <a:cs typeface="Times New Roman" panose="02020603050405020304" pitchFamily="18" charset="0"/>
              </a:rPr>
              <a:t>****</a:t>
            </a:r>
            <a:endParaRPr lang="en-GB"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8" name="object 7"/>
          <p:cNvPicPr/>
          <p:nvPr/>
        </p:nvPicPr>
        <p:blipFill>
          <a:blip r:embed="rId3" cstate="print"/>
          <a:stretch>
            <a:fillRect/>
          </a:stretch>
        </p:blipFill>
        <p:spPr>
          <a:xfrm>
            <a:off x="9513719" y="-228600"/>
            <a:ext cx="2648711" cy="1182624"/>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09800"/>
            <a:ext cx="2745105" cy="1107996"/>
          </a:xfrm>
        </p:spPr>
        <p:txBody>
          <a:bodyPr/>
          <a:lstStyle/>
          <a:p>
            <a:pPr algn="ctr"/>
            <a:r>
              <a:rPr lang="en-GB" dirty="0">
                <a:solidFill>
                  <a:schemeClr val="tx1"/>
                </a:solidFill>
                <a:latin typeface="+mj-lt"/>
              </a:rPr>
              <a:t>Stop Inheritance</a:t>
            </a:r>
          </a:p>
        </p:txBody>
      </p:sp>
      <p:sp>
        <p:nvSpPr>
          <p:cNvPr id="6" name="Rectangle 5"/>
          <p:cNvSpPr/>
          <p:nvPr/>
        </p:nvSpPr>
        <p:spPr>
          <a:xfrm>
            <a:off x="3810000" y="762000"/>
            <a:ext cx="8077200" cy="1182888"/>
          </a:xfrm>
          <a:prstGeom prst="rect">
            <a:avLst/>
          </a:prstGeom>
        </p:spPr>
        <p:txBody>
          <a:bodyPr wrap="square">
            <a:spAutoFit/>
          </a:bodyPr>
          <a:lstStyle/>
          <a:p>
            <a:pPr>
              <a:lnSpc>
                <a:spcPct val="107000"/>
              </a:lnSpc>
              <a:spcAft>
                <a:spcPts val="800"/>
              </a:spcAft>
            </a:pPr>
            <a:r>
              <a:rPr lang="en-GB" sz="2000" dirty="0" smtClean="0">
                <a:effectLst/>
                <a:latin typeface="Calibri" panose="020F0502020204030204" pitchFamily="34" charset="0"/>
                <a:ea typeface="Calibri" panose="020F0502020204030204" pitchFamily="34" charset="0"/>
                <a:cs typeface="Times New Roman" panose="02020603050405020304" pitchFamily="18" charset="0"/>
              </a:rPr>
              <a:t>* In Java, you can stop inheritance primarily by using the final keyword.</a:t>
            </a:r>
          </a:p>
          <a:p>
            <a:pPr>
              <a:lnSpc>
                <a:spcPct val="107000"/>
              </a:lnSpc>
              <a:spcAft>
                <a:spcPts val="800"/>
              </a:spcAft>
            </a:pPr>
            <a:r>
              <a:rPr lang="en-GB" sz="2000" dirty="0" smtClean="0">
                <a:effectLst/>
                <a:latin typeface="Calibri" panose="020F0502020204030204" pitchFamily="34" charset="0"/>
                <a:ea typeface="Calibri" panose="020F0502020204030204" pitchFamily="34" charset="0"/>
                <a:cs typeface="Times New Roman" panose="02020603050405020304" pitchFamily="18" charset="0"/>
              </a:rPr>
              <a:t> * This can be applied to an entire class to prevent it from being subclassed, or to specific methods to prevent them from being overridden</a:t>
            </a:r>
            <a:endParaRPr lang="en-GB" sz="20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4"/>
          <p:cNvSpPr>
            <a:spLocks noChangeArrowheads="1"/>
          </p:cNvSpPr>
          <p:nvPr/>
        </p:nvSpPr>
        <p:spPr bwMode="auto">
          <a:xfrm>
            <a:off x="3810000" y="2017054"/>
            <a:ext cx="3251211" cy="40011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algn="l" rtl="0" eaLnBrk="0" fontAlgn="base" hangingPunct="0">
              <a:spcBef>
                <a:spcPct val="0"/>
              </a:spcBef>
              <a:spcAft>
                <a:spcPct val="0"/>
              </a:spcAft>
            </a:pPr>
            <a:r>
              <a:rPr kumimoji="0" lang="en-US" sz="2000" b="1" i="0" u="none" strike="noStrike" cap="none" normalizeH="0" baseline="0" dirty="0" smtClean="0">
                <a:ln>
                  <a:noFill/>
                </a:ln>
                <a:solidFill>
                  <a:srgbClr val="0A0A0A"/>
                </a:solidFill>
                <a:effectLst/>
                <a:latin typeface="+mj-lt"/>
              </a:rPr>
              <a:t>1. Stopping Class Inheritance</a:t>
            </a:r>
            <a:endParaRPr kumimoji="0" lang="en-US" sz="1400" b="0" i="0" u="none" strike="noStrike" cap="none" normalizeH="0" baseline="0" dirty="0" smtClean="0">
              <a:ln>
                <a:noFill/>
              </a:ln>
              <a:solidFill>
                <a:schemeClr val="tx1"/>
              </a:solidFill>
              <a:effectLst/>
              <a:latin typeface="+mj-lt"/>
            </a:endParaRPr>
          </a:p>
        </p:txBody>
      </p:sp>
      <p:sp>
        <p:nvSpPr>
          <p:cNvPr id="10" name="Rectangle 9"/>
          <p:cNvSpPr/>
          <p:nvPr/>
        </p:nvSpPr>
        <p:spPr>
          <a:xfrm>
            <a:off x="3775364" y="2565345"/>
            <a:ext cx="6096000" cy="1836400"/>
          </a:xfrm>
          <a:prstGeom prst="rect">
            <a:avLst/>
          </a:prstGeom>
        </p:spPr>
        <p:txBody>
          <a:bodyPr>
            <a:spAutoFit/>
          </a:bodyPr>
          <a:lstStyle/>
          <a:p>
            <a:pPr>
              <a:lnSpc>
                <a:spcPts val="16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b="1" dirty="0" smtClean="0">
                <a:solidFill>
                  <a:srgbClr val="C00000"/>
                </a:solidFill>
                <a:effectLst/>
                <a:latin typeface="+mj-lt"/>
                <a:ea typeface="Times New Roman" panose="02020603050405020304" pitchFamily="18" charset="0"/>
                <a:cs typeface="Times New Roman" panose="02020603050405020304" pitchFamily="18" charset="0"/>
              </a:rPr>
              <a:t>public final class MyClass </a:t>
            </a:r>
            <a:r>
              <a:rPr lang="en-GB" sz="2000" dirty="0" smtClean="0">
                <a:solidFill>
                  <a:srgbClr val="002060"/>
                </a:solidFill>
                <a:effectLst/>
                <a:latin typeface="+mj-lt"/>
                <a:ea typeface="Times New Roman" panose="02020603050405020304" pitchFamily="18" charset="0"/>
                <a:cs typeface="Times New Roman" panose="02020603050405020304" pitchFamily="18" charset="0"/>
              </a:rPr>
              <a:t>{</a:t>
            </a:r>
            <a:endParaRPr lang="en-GB" sz="2800" dirty="0" smtClean="0">
              <a:solidFill>
                <a:srgbClr val="002060"/>
              </a:solidFill>
              <a:effectLst/>
              <a:latin typeface="+mj-lt"/>
              <a:ea typeface="Calibri" panose="020F0502020204030204" pitchFamily="34" charset="0"/>
              <a:cs typeface="Times New Roman" panose="02020603050405020304" pitchFamily="18" charset="0"/>
            </a:endParaRPr>
          </a:p>
          <a:p>
            <a:pPr>
              <a:lnSpc>
                <a:spcPts val="16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b="1" dirty="0" smtClean="0">
                <a:solidFill>
                  <a:schemeClr val="tx1"/>
                </a:solidFill>
                <a:effectLst/>
                <a:latin typeface="+mj-lt"/>
                <a:ea typeface="Times New Roman" panose="02020603050405020304" pitchFamily="18" charset="0"/>
                <a:cs typeface="Times New Roman" panose="02020603050405020304" pitchFamily="18" charset="0"/>
              </a:rPr>
              <a:t>    // This class cannot be extended by any other class</a:t>
            </a:r>
            <a:endParaRPr lang="en-GB" sz="2800" b="1" dirty="0" smtClean="0">
              <a:solidFill>
                <a:schemeClr val="tx1"/>
              </a:solidFill>
              <a:effectLst/>
              <a:latin typeface="+mj-lt"/>
              <a:ea typeface="Calibri" panose="020F0502020204030204" pitchFamily="34" charset="0"/>
              <a:cs typeface="Times New Roman" panose="02020603050405020304" pitchFamily="18" charset="0"/>
            </a:endParaRPr>
          </a:p>
          <a:p>
            <a:pPr>
              <a:lnSpc>
                <a:spcPts val="16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b="1" dirty="0" smtClean="0">
                <a:solidFill>
                  <a:schemeClr val="tx1"/>
                </a:solidFill>
                <a:effectLst/>
                <a:latin typeface="+mj-lt"/>
                <a:ea typeface="Times New Roman" panose="02020603050405020304" pitchFamily="18" charset="0"/>
                <a:cs typeface="Times New Roman" panose="02020603050405020304" pitchFamily="18" charset="0"/>
              </a:rPr>
              <a:t>}</a:t>
            </a:r>
            <a:endParaRPr lang="en-GB" sz="2800" b="1" dirty="0" smtClean="0">
              <a:solidFill>
                <a:schemeClr val="tx1"/>
              </a:solidFill>
              <a:effectLst/>
              <a:latin typeface="+mj-lt"/>
              <a:ea typeface="Calibri" panose="020F0502020204030204" pitchFamily="34" charset="0"/>
              <a:cs typeface="Times New Roman" panose="02020603050405020304" pitchFamily="18" charset="0"/>
            </a:endParaRPr>
          </a:p>
          <a:p>
            <a:pPr>
              <a:lnSpc>
                <a:spcPts val="16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b="1" dirty="0" smtClean="0">
                <a:solidFill>
                  <a:schemeClr val="tx1"/>
                </a:solidFill>
                <a:effectLst/>
                <a:latin typeface="+mj-lt"/>
                <a:ea typeface="Times New Roman" panose="02020603050405020304" pitchFamily="18" charset="0"/>
                <a:cs typeface="Times New Roman" panose="02020603050405020304" pitchFamily="18" charset="0"/>
              </a:rPr>
              <a:t>// This will result in a compilation error:</a:t>
            </a:r>
            <a:endParaRPr lang="en-GB" sz="2800" b="1" dirty="0" smtClean="0">
              <a:solidFill>
                <a:schemeClr val="tx1"/>
              </a:solidFill>
              <a:effectLst/>
              <a:latin typeface="+mj-lt"/>
              <a:ea typeface="Calibri" panose="020F0502020204030204" pitchFamily="34" charset="0"/>
              <a:cs typeface="Times New Roman" panose="02020603050405020304" pitchFamily="18" charset="0"/>
            </a:endParaRPr>
          </a:p>
          <a:p>
            <a:pPr>
              <a:lnSpc>
                <a:spcPts val="16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b="1" dirty="0" smtClean="0">
                <a:solidFill>
                  <a:schemeClr val="tx1"/>
                </a:solidFill>
                <a:effectLst/>
                <a:latin typeface="+mj-lt"/>
                <a:ea typeface="Times New Roman" panose="02020603050405020304" pitchFamily="18" charset="0"/>
                <a:cs typeface="Times New Roman" panose="02020603050405020304" pitchFamily="18" charset="0"/>
              </a:rPr>
              <a:t>// class SubClass extends MyClass</a:t>
            </a:r>
          </a:p>
          <a:p>
            <a:pPr>
              <a:lnSpc>
                <a:spcPts val="16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endParaRPr lang="en-GB" sz="2000" b="1" dirty="0" smtClean="0">
              <a:solidFill>
                <a:schemeClr val="tx1"/>
              </a:solidFill>
              <a:effectLst/>
              <a:latin typeface="+mj-lt"/>
              <a:ea typeface="Times New Roman" panose="02020603050405020304" pitchFamily="18" charset="0"/>
              <a:cs typeface="Times New Roman" panose="02020603050405020304" pitchFamily="18" charset="0"/>
            </a:endParaRPr>
          </a:p>
          <a:p>
            <a:pPr>
              <a:lnSpc>
                <a:spcPts val="16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b="1" dirty="0" smtClean="0">
                <a:solidFill>
                  <a:srgbClr val="C00000"/>
                </a:solidFill>
                <a:effectLst/>
                <a:latin typeface="+mj-lt"/>
                <a:ea typeface="Times New Roman" panose="02020603050405020304" pitchFamily="18" charset="0"/>
                <a:cs typeface="Times New Roman" panose="02020603050405020304" pitchFamily="18" charset="0"/>
              </a:rPr>
              <a:t> {</a:t>
            </a:r>
          </a:p>
          <a:p>
            <a:pPr>
              <a:lnSpc>
                <a:spcPts val="165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2000" b="1" dirty="0" smtClean="0">
                <a:solidFill>
                  <a:srgbClr val="C00000"/>
                </a:solidFill>
                <a:effectLst/>
                <a:latin typeface="+mj-lt"/>
                <a:ea typeface="Times New Roman" panose="02020603050405020304" pitchFamily="18" charset="0"/>
                <a:cs typeface="Times New Roman" panose="02020603050405020304" pitchFamily="18" charset="0"/>
              </a:rPr>
              <a:t>}</a:t>
            </a:r>
            <a:r>
              <a:rPr lang="en-GB" sz="2000" b="1" dirty="0" smtClean="0">
                <a:solidFill>
                  <a:schemeClr val="tx1"/>
                </a:solidFill>
                <a:effectLst/>
                <a:latin typeface="+mj-lt"/>
                <a:ea typeface="Times New Roman" panose="02020603050405020304" pitchFamily="18" charset="0"/>
                <a:cs typeface="Times New Roman" panose="02020603050405020304" pitchFamily="18" charset="0"/>
              </a:rPr>
              <a:t> </a:t>
            </a:r>
            <a:endParaRPr lang="en-GB" sz="2800" b="1" dirty="0">
              <a:solidFill>
                <a:schemeClr val="tx1"/>
              </a:solidFill>
              <a:effectLst/>
              <a:latin typeface="+mj-lt"/>
              <a:ea typeface="Calibri" panose="020F0502020204030204" pitchFamily="34" charset="0"/>
              <a:cs typeface="Times New Roman" panose="02020603050405020304" pitchFamily="18" charset="0"/>
            </a:endParaRPr>
          </a:p>
        </p:txBody>
      </p:sp>
      <p:sp>
        <p:nvSpPr>
          <p:cNvPr id="17" name="Rectangle 16"/>
          <p:cNvSpPr/>
          <p:nvPr/>
        </p:nvSpPr>
        <p:spPr>
          <a:xfrm>
            <a:off x="4038600" y="4347308"/>
            <a:ext cx="7086600" cy="2185214"/>
          </a:xfrm>
          <a:prstGeom prst="rect">
            <a:avLst/>
          </a:prstGeom>
        </p:spPr>
        <p:txBody>
          <a:bodyPr wrap="square">
            <a:spAutoFit/>
          </a:bodyPr>
          <a:lstStyle/>
          <a:p>
            <a:r>
              <a:rPr lang="en-GB" b="1" dirty="0" smtClean="0">
                <a:solidFill>
                  <a:schemeClr val="tx1"/>
                </a:solidFill>
                <a:latin typeface="+mj-lt"/>
              </a:rPr>
              <a:t>2. Stopping Method Overriding</a:t>
            </a:r>
          </a:p>
          <a:p>
            <a:endParaRPr lang="en-GB" dirty="0" smtClean="0">
              <a:solidFill>
                <a:schemeClr val="tx1"/>
              </a:solidFill>
            </a:endParaRPr>
          </a:p>
          <a:p>
            <a:r>
              <a:rPr lang="en-GB" sz="2000" b="1" dirty="0" smtClean="0">
                <a:solidFill>
                  <a:schemeClr val="tx1"/>
                </a:solidFill>
                <a:latin typeface="+mj-lt"/>
              </a:rPr>
              <a:t>public class Parent {</a:t>
            </a:r>
          </a:p>
          <a:p>
            <a:r>
              <a:rPr lang="en-GB" sz="2000" b="1" dirty="0" smtClean="0">
                <a:solidFill>
                  <a:schemeClr val="tx1"/>
                </a:solidFill>
                <a:latin typeface="+mj-lt"/>
              </a:rPr>
              <a:t>    </a:t>
            </a:r>
            <a:r>
              <a:rPr lang="en-GB" sz="2000" b="1" dirty="0" smtClean="0">
                <a:solidFill>
                  <a:srgbClr val="C00000"/>
                </a:solidFill>
                <a:latin typeface="+mj-lt"/>
              </a:rPr>
              <a:t>public final void criticalMethod() </a:t>
            </a:r>
            <a:r>
              <a:rPr lang="en-GB" sz="2000" b="1" dirty="0" smtClean="0">
                <a:solidFill>
                  <a:schemeClr val="tx1"/>
                </a:solidFill>
                <a:latin typeface="+mj-lt"/>
              </a:rPr>
              <a:t>{</a:t>
            </a:r>
          </a:p>
          <a:p>
            <a:r>
              <a:rPr lang="en-GB" sz="2000" b="1" dirty="0" smtClean="0">
                <a:solidFill>
                  <a:schemeClr val="tx1"/>
                </a:solidFill>
                <a:latin typeface="+mj-lt"/>
              </a:rPr>
              <a:t>        // Subclasses can use this method but cannot override it</a:t>
            </a:r>
          </a:p>
          <a:p>
            <a:r>
              <a:rPr lang="en-GB" sz="2000" b="1" dirty="0" smtClean="0">
                <a:solidFill>
                  <a:schemeClr val="tx1"/>
                </a:solidFill>
                <a:latin typeface="+mj-lt"/>
              </a:rPr>
              <a:t>    }</a:t>
            </a:r>
          </a:p>
          <a:p>
            <a:r>
              <a:rPr lang="en-GB" sz="2000" b="1" dirty="0" smtClean="0">
                <a:solidFill>
                  <a:schemeClr val="tx1"/>
                </a:solidFill>
                <a:latin typeface="+mj-lt"/>
              </a:rPr>
              <a:t>}</a:t>
            </a:r>
            <a:endParaRPr lang="en-GB" sz="2000" b="1" dirty="0">
              <a:solidFill>
                <a:schemeClr val="tx1"/>
              </a:solidFill>
              <a:latin typeface="+mj-lt"/>
            </a:endParaRPr>
          </a:p>
        </p:txBody>
      </p:sp>
      <p:pic>
        <p:nvPicPr>
          <p:cNvPr id="8" name="object 7"/>
          <p:cNvPicPr/>
          <p:nvPr/>
        </p:nvPicPr>
        <p:blipFill>
          <a:blip r:embed="rId2" cstate="print"/>
          <a:stretch>
            <a:fillRect/>
          </a:stretch>
        </p:blipFill>
        <p:spPr>
          <a:xfrm>
            <a:off x="9513719" y="-228600"/>
            <a:ext cx="2648711" cy="1182624"/>
          </a:xfrm>
          <a:prstGeom prst="rect">
            <a:avLst/>
          </a:prstGeom>
        </p:spPr>
      </p:pic>
    </p:spTree>
    <p:extLst>
      <p:ext uri="{BB962C8B-B14F-4D97-AF65-F5344CB8AC3E}">
        <p14:creationId xmlns:p14="http://schemas.microsoft.com/office/powerpoint/2010/main" val="147302514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1419" y="2814904"/>
            <a:ext cx="2745105" cy="1107996"/>
          </a:xfrm>
        </p:spPr>
        <p:txBody>
          <a:bodyPr/>
          <a:lstStyle/>
          <a:p>
            <a:r>
              <a:rPr dirty="0">
                <a:solidFill>
                  <a:schemeClr val="tx1"/>
                </a:solidFill>
              </a:rPr>
              <a:t>final </a:t>
            </a:r>
            <a:r>
              <a:rPr dirty="0" smtClean="0">
                <a:solidFill>
                  <a:schemeClr val="tx1"/>
                </a:solidFill>
              </a:rPr>
              <a:t>Keyword</a:t>
            </a:r>
            <a:r>
              <a:rPr lang="en-GB" dirty="0" smtClean="0">
                <a:solidFill>
                  <a:schemeClr val="tx1"/>
                </a:solidFill>
              </a:rPr>
              <a:t> in Java</a:t>
            </a:r>
            <a:endParaRPr dirty="0">
              <a:solidFill>
                <a:schemeClr val="tx1"/>
              </a:solidFill>
            </a:endParaRPr>
          </a:p>
        </p:txBody>
      </p:sp>
      <p:sp>
        <p:nvSpPr>
          <p:cNvPr id="6" name="Rectangle 5"/>
          <p:cNvSpPr/>
          <p:nvPr/>
        </p:nvSpPr>
        <p:spPr>
          <a:xfrm>
            <a:off x="3581400" y="998081"/>
            <a:ext cx="8382000" cy="2585323"/>
          </a:xfrm>
          <a:prstGeom prst="rect">
            <a:avLst/>
          </a:prstGeom>
        </p:spPr>
        <p:txBody>
          <a:bodyPr wrap="square">
            <a:spAutoFit/>
          </a:bodyPr>
          <a:lstStyle/>
          <a:p>
            <a:pPr algn="l" rtl="0" fontAlgn="base"/>
            <a:r>
              <a:rPr lang="en-GB" b="0" i="0" dirty="0" smtClean="0">
                <a:solidFill>
                  <a:srgbClr val="273239"/>
                </a:solidFill>
                <a:effectLst/>
                <a:latin typeface="Nunito"/>
              </a:rPr>
              <a:t>The final keyword is a non-access modifier used to restrict modification. It applies to variables (value cannot change) methods (cannot be overridden) and classes (cannot be extended). It helps create constants, control inheritance and enforce fixed behaviour.</a:t>
            </a:r>
          </a:p>
          <a:p>
            <a:pPr algn="l" rtl="0" fontAlgn="base"/>
            <a:endParaRPr lang="en-GB" b="0" i="0" dirty="0" smtClean="0">
              <a:solidFill>
                <a:srgbClr val="273239"/>
              </a:solidFill>
              <a:effectLst/>
              <a:latin typeface="Nunito"/>
            </a:endParaRPr>
          </a:p>
          <a:p>
            <a:pPr algn="l" rtl="0" fontAlgn="base"/>
            <a:r>
              <a:rPr lang="en-GB" b="0" i="0" dirty="0" smtClean="0">
                <a:solidFill>
                  <a:srgbClr val="273239"/>
                </a:solidFill>
                <a:effectLst/>
                <a:latin typeface="Nunito"/>
              </a:rPr>
              <a:t>The following are different contexts where the final is used:</a:t>
            </a:r>
          </a:p>
          <a:p>
            <a:pPr algn="l" fontAlgn="base">
              <a:buFont typeface="+mj-lt"/>
              <a:buAutoNum type="arabicPeriod"/>
            </a:pPr>
            <a:r>
              <a:rPr lang="en-GB" b="0" i="0" dirty="0" smtClean="0">
                <a:solidFill>
                  <a:srgbClr val="273239"/>
                </a:solidFill>
                <a:effectLst/>
                <a:latin typeface="Nunito"/>
              </a:rPr>
              <a:t>Variable</a:t>
            </a:r>
          </a:p>
          <a:p>
            <a:pPr algn="l" fontAlgn="base">
              <a:buFont typeface="+mj-lt"/>
              <a:buAutoNum type="arabicPeriod" startAt="2"/>
            </a:pPr>
            <a:r>
              <a:rPr lang="en-GB" b="0" i="0" dirty="0" smtClean="0">
                <a:solidFill>
                  <a:srgbClr val="273239"/>
                </a:solidFill>
                <a:effectLst/>
                <a:latin typeface="Nunito"/>
              </a:rPr>
              <a:t>Method</a:t>
            </a:r>
          </a:p>
          <a:p>
            <a:pPr algn="l" fontAlgn="base">
              <a:buFont typeface="+mj-lt"/>
              <a:buAutoNum type="arabicPeriod" startAt="3"/>
            </a:pPr>
            <a:r>
              <a:rPr lang="en-GB" b="0" i="0" dirty="0" smtClean="0">
                <a:solidFill>
                  <a:srgbClr val="273239"/>
                </a:solidFill>
                <a:effectLst/>
                <a:latin typeface="Nunito"/>
              </a:rPr>
              <a:t>Class</a:t>
            </a:r>
            <a:endParaRPr lang="en-GB" b="0" i="0" dirty="0">
              <a:solidFill>
                <a:srgbClr val="273239"/>
              </a:solidFill>
              <a:effectLst/>
              <a:latin typeface="Nunito"/>
            </a:endParaRPr>
          </a:p>
        </p:txBody>
      </p:sp>
      <p:pic>
        <p:nvPicPr>
          <p:cNvPr id="7" name="Picture 6"/>
          <p:cNvPicPr>
            <a:picLocks noChangeAspect="1"/>
          </p:cNvPicPr>
          <p:nvPr/>
        </p:nvPicPr>
        <p:blipFill>
          <a:blip r:embed="rId2"/>
          <a:stretch>
            <a:fillRect/>
          </a:stretch>
        </p:blipFill>
        <p:spPr>
          <a:xfrm>
            <a:off x="3581400" y="3823926"/>
            <a:ext cx="8056418" cy="2938542"/>
          </a:xfrm>
          <a:prstGeom prst="rect">
            <a:avLst/>
          </a:prstGeom>
        </p:spPr>
      </p:pic>
      <p:pic>
        <p:nvPicPr>
          <p:cNvPr id="5" name="object 7"/>
          <p:cNvPicPr/>
          <p:nvPr/>
        </p:nvPicPr>
        <p:blipFill>
          <a:blip r:embed="rId3" cstate="print"/>
          <a:stretch>
            <a:fillRect/>
          </a:stretch>
        </p:blipFill>
        <p:spPr>
          <a:xfrm>
            <a:off x="9513719" y="-228600"/>
            <a:ext cx="2648711" cy="1182624"/>
          </a:xfrm>
          <a:prstGeom prst="rect">
            <a:avLst/>
          </a:prstGeom>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1419" y="2814904"/>
            <a:ext cx="2745105" cy="553998"/>
          </a:xfrm>
        </p:spPr>
        <p:txBody>
          <a:bodyPr/>
          <a:lstStyle/>
          <a:p>
            <a:pPr algn="ctr"/>
            <a:r>
              <a:rPr lang="en-GB" dirty="0" smtClean="0">
                <a:solidFill>
                  <a:schemeClr val="tx1"/>
                </a:solidFill>
              </a:rPr>
              <a:t>Final Variable</a:t>
            </a:r>
            <a:endParaRPr dirty="0">
              <a:solidFill>
                <a:schemeClr val="tx1"/>
              </a:solidFill>
            </a:endParaRPr>
          </a:p>
        </p:txBody>
      </p:sp>
      <p:sp>
        <p:nvSpPr>
          <p:cNvPr id="5" name="Rectangle 4"/>
          <p:cNvSpPr/>
          <p:nvPr/>
        </p:nvSpPr>
        <p:spPr>
          <a:xfrm>
            <a:off x="3733800" y="457200"/>
            <a:ext cx="8153400" cy="3329438"/>
          </a:xfrm>
          <a:prstGeom prst="rect">
            <a:avLst/>
          </a:prstGeom>
        </p:spPr>
        <p:txBody>
          <a:bodyPr wrap="square">
            <a:spAutoFit/>
          </a:bodyPr>
          <a:lstStyle/>
          <a:p>
            <a:pPr fontAlgn="base">
              <a:lnSpc>
                <a:spcPts val="2100"/>
              </a:lnSpc>
              <a:spcBef>
                <a:spcPts val="1800"/>
              </a:spcBef>
              <a:spcAft>
                <a:spcPts val="1800"/>
              </a:spcAft>
            </a:pPr>
            <a:r>
              <a:rPr lang="en-GB" sz="2000" b="1" dirty="0" smtClean="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1. Final Variable</a:t>
            </a:r>
            <a:endParaRPr lang="en-GB" sz="14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750"/>
              </a:spcAft>
            </a:pPr>
            <a:r>
              <a:rPr lang="en-GB" dirty="0" smtClean="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A variable declared with final becomes constant after one assignment.</a:t>
            </a:r>
            <a:endParaRPr lang="en-GB" sz="14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1600" dirty="0" smtClean="0">
                <a:solidFill>
                  <a:srgbClr val="770088"/>
                </a:solidFill>
                <a:effectLst/>
                <a:latin typeface="Courier New" panose="02070309020205020404" pitchFamily="49" charset="0"/>
                <a:ea typeface="Times New Roman" panose="02020603050405020304" pitchFamily="18" charset="0"/>
                <a:cs typeface="Times New Roman" panose="02020603050405020304" pitchFamily="18" charset="0"/>
              </a:rPr>
              <a:t> </a:t>
            </a:r>
            <a:endParaRPr lang="en-GB" sz="14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dirty="0" smtClean="0">
                <a:solidFill>
                  <a:srgbClr val="770088"/>
                </a:solidFill>
                <a:effectLst/>
                <a:latin typeface="Courier New" panose="02070309020205020404" pitchFamily="49" charset="0"/>
                <a:ea typeface="Times New Roman" panose="02020603050405020304" pitchFamily="18" charset="0"/>
                <a:cs typeface="Times New Roman" panose="02020603050405020304" pitchFamily="18" charset="0"/>
              </a:rPr>
              <a:t>public</a:t>
            </a:r>
            <a:r>
              <a:rPr lang="en-GB"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GB" dirty="0" smtClean="0">
                <a:solidFill>
                  <a:srgbClr val="770088"/>
                </a:solidFill>
                <a:effectLst/>
                <a:latin typeface="Courier New" panose="02070309020205020404" pitchFamily="49" charset="0"/>
                <a:ea typeface="Times New Roman" panose="02020603050405020304" pitchFamily="18" charset="0"/>
                <a:cs typeface="Times New Roman" panose="02020603050405020304" pitchFamily="18" charset="0"/>
              </a:rPr>
              <a:t>class</a:t>
            </a:r>
            <a:r>
              <a:rPr lang="en-GB"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GB" dirty="0" smtClean="0">
                <a:solidFill>
                  <a:srgbClr val="0000FF"/>
                </a:solidFill>
                <a:effectLst/>
                <a:latin typeface="Courier New" panose="02070309020205020404" pitchFamily="49" charset="0"/>
                <a:ea typeface="Times New Roman" panose="02020603050405020304" pitchFamily="18" charset="0"/>
                <a:cs typeface="Times New Roman" panose="02020603050405020304" pitchFamily="18" charset="0"/>
              </a:rPr>
              <a:t>Main</a:t>
            </a:r>
            <a:r>
              <a:rPr lang="en-GB"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a:t>
            </a:r>
            <a:endParaRPr lang="en-GB"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endParaRPr lang="en-GB"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GB" dirty="0" smtClean="0">
                <a:solidFill>
                  <a:srgbClr val="770088"/>
                </a:solidFill>
                <a:effectLst/>
                <a:latin typeface="Courier New" panose="02070309020205020404" pitchFamily="49" charset="0"/>
                <a:ea typeface="Times New Roman" panose="02020603050405020304" pitchFamily="18" charset="0"/>
                <a:cs typeface="Times New Roman" panose="02020603050405020304" pitchFamily="18" charset="0"/>
              </a:rPr>
              <a:t>public</a:t>
            </a:r>
            <a:r>
              <a:rPr lang="en-GB"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GB" dirty="0" smtClean="0">
                <a:solidFill>
                  <a:srgbClr val="770088"/>
                </a:solidFill>
                <a:effectLst/>
                <a:latin typeface="Courier New" panose="02070309020205020404" pitchFamily="49" charset="0"/>
                <a:ea typeface="Times New Roman" panose="02020603050405020304" pitchFamily="18" charset="0"/>
                <a:cs typeface="Times New Roman" panose="02020603050405020304" pitchFamily="18" charset="0"/>
              </a:rPr>
              <a:t>static</a:t>
            </a:r>
            <a:r>
              <a:rPr lang="en-GB"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GB" dirty="0" smtClean="0">
                <a:solidFill>
                  <a:srgbClr val="008855"/>
                </a:solidFill>
                <a:effectLst/>
                <a:latin typeface="Courier New" panose="02070309020205020404" pitchFamily="49" charset="0"/>
                <a:ea typeface="Times New Roman" panose="02020603050405020304" pitchFamily="18" charset="0"/>
                <a:cs typeface="Times New Roman" panose="02020603050405020304" pitchFamily="18" charset="0"/>
              </a:rPr>
              <a:t>void</a:t>
            </a:r>
            <a:r>
              <a:rPr lang="en-GB"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main(</a:t>
            </a:r>
            <a:r>
              <a:rPr lang="en-GB" dirty="0" smtClean="0">
                <a:solidFill>
                  <a:srgbClr val="008855"/>
                </a:solidFill>
                <a:effectLst/>
                <a:latin typeface="Courier New" panose="02070309020205020404" pitchFamily="49" charset="0"/>
                <a:ea typeface="Times New Roman" panose="02020603050405020304" pitchFamily="18" charset="0"/>
                <a:cs typeface="Times New Roman" panose="02020603050405020304" pitchFamily="18" charset="0"/>
              </a:rPr>
              <a:t>String</a:t>
            </a:r>
            <a:r>
              <a:rPr lang="en-GB"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args) {</a:t>
            </a:r>
            <a:endParaRPr lang="en-GB"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GB" dirty="0" smtClean="0">
                <a:solidFill>
                  <a:srgbClr val="770088"/>
                </a:solidFill>
                <a:effectLst/>
                <a:latin typeface="Courier New" panose="02070309020205020404" pitchFamily="49" charset="0"/>
                <a:ea typeface="Times New Roman" panose="02020603050405020304" pitchFamily="18" charset="0"/>
                <a:cs typeface="Times New Roman" panose="02020603050405020304" pitchFamily="18" charset="0"/>
              </a:rPr>
              <a:t>final</a:t>
            </a:r>
            <a:r>
              <a:rPr lang="en-GB"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GB" dirty="0" smtClean="0">
                <a:solidFill>
                  <a:srgbClr val="008855"/>
                </a:solidFill>
                <a:effectLst/>
                <a:latin typeface="Courier New" panose="02070309020205020404" pitchFamily="49" charset="0"/>
                <a:ea typeface="Times New Roman" panose="02020603050405020304" pitchFamily="18" charset="0"/>
                <a:cs typeface="Times New Roman" panose="02020603050405020304" pitchFamily="18" charset="0"/>
              </a:rPr>
              <a:t>double</a:t>
            </a:r>
            <a:r>
              <a:rPr lang="en-GB"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PI = </a:t>
            </a:r>
            <a:r>
              <a:rPr lang="en-GB" dirty="0" smtClean="0">
                <a:solidFill>
                  <a:srgbClr val="116644"/>
                </a:solidFill>
                <a:effectLst/>
                <a:latin typeface="Courier New" panose="02070309020205020404" pitchFamily="49" charset="0"/>
                <a:ea typeface="Times New Roman" panose="02020603050405020304" pitchFamily="18" charset="0"/>
                <a:cs typeface="Times New Roman" panose="02020603050405020304" pitchFamily="18" charset="0"/>
              </a:rPr>
              <a:t>3.14159</a:t>
            </a:r>
            <a:r>
              <a:rPr lang="en-GB"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a:t>
            </a:r>
            <a:endParaRPr lang="en-GB"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System.out.println(</a:t>
            </a:r>
            <a:r>
              <a:rPr lang="en-GB" dirty="0" smtClean="0">
                <a:solidFill>
                  <a:srgbClr val="AA1111"/>
                </a:solidFill>
                <a:effectLst/>
                <a:latin typeface="Courier New" panose="02070309020205020404" pitchFamily="49" charset="0"/>
                <a:ea typeface="Times New Roman" panose="02020603050405020304" pitchFamily="18" charset="0"/>
                <a:cs typeface="Times New Roman" panose="02020603050405020304" pitchFamily="18" charset="0"/>
              </a:rPr>
              <a:t>"Value of PI: "</a:t>
            </a:r>
            <a:r>
              <a:rPr lang="en-GB"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 PI);</a:t>
            </a:r>
            <a:endParaRPr lang="en-GB"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    }</a:t>
            </a:r>
            <a:endParaRPr lang="en-GB" sz="1600" dirty="0" smtClean="0">
              <a:effectLst/>
              <a:latin typeface="Calibri" panose="020F0502020204030204" pitchFamily="34" charset="0"/>
              <a:ea typeface="Calibri" panose="020F0502020204030204" pitchFamily="34" charset="0"/>
              <a:cs typeface="Times New Roman" panose="02020603050405020304" pitchFamily="18" charset="0"/>
            </a:endParaRPr>
          </a:p>
          <a:p>
            <a:pPr fontAlgn="base">
              <a:lnSpc>
                <a:spcPct val="107000"/>
              </a:lnSpc>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dirty="0" smtClean="0">
                <a:solidFill>
                  <a:srgbClr val="000000"/>
                </a:solidFill>
                <a:effectLst/>
                <a:latin typeface="Courier New" panose="02070309020205020404" pitchFamily="49" charset="0"/>
                <a:ea typeface="Times New Roman" panose="02020603050405020304" pitchFamily="18" charset="0"/>
                <a:cs typeface="Times New Roman" panose="02020603050405020304" pitchFamily="18" charset="0"/>
              </a:rPr>
              <a:t>}</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Rectangle 1"/>
          <p:cNvSpPr>
            <a:spLocks noChangeArrowheads="1"/>
          </p:cNvSpPr>
          <p:nvPr/>
        </p:nvSpPr>
        <p:spPr bwMode="auto">
          <a:xfrm>
            <a:off x="4419600" y="4235524"/>
            <a:ext cx="2667000" cy="1166958"/>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88872"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Consolas" panose="020B0609020204030204" pitchFamily="49" charset="0"/>
              </a:rPr>
              <a:t>****Output ******</a:t>
            </a:r>
          </a:p>
          <a:p>
            <a:pPr marL="0" marR="0" lvl="0" indent="0" algn="ctr"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smtClean="0">
              <a:ln>
                <a:noFill/>
              </a:ln>
              <a:solidFill>
                <a:schemeClr val="tx1"/>
              </a:solidFill>
              <a:effectLst/>
              <a:latin typeface="Consolas" panose="020B0609020204030204" pitchFamily="49"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chemeClr val="tx1"/>
                </a:solidFill>
                <a:effectLst/>
                <a:latin typeface="Consolas" panose="020B0609020204030204" pitchFamily="49" charset="0"/>
              </a:rPr>
              <a:t>Value of PI: 3.14159</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chemeClr val="tx1"/>
              </a:solidFill>
              <a:effectLst/>
              <a:latin typeface="Consolas" panose="020B0609020204030204" pitchFamily="49" charset="0"/>
            </a:endParaRPr>
          </a:p>
        </p:txBody>
      </p:sp>
      <p:pic>
        <p:nvPicPr>
          <p:cNvPr id="7" name="object 7"/>
          <p:cNvPicPr/>
          <p:nvPr/>
        </p:nvPicPr>
        <p:blipFill>
          <a:blip r:embed="rId2" cstate="print"/>
          <a:stretch>
            <a:fillRect/>
          </a:stretch>
        </p:blipFill>
        <p:spPr>
          <a:xfrm>
            <a:off x="9513719" y="-228600"/>
            <a:ext cx="2648711" cy="1182624"/>
          </a:xfrm>
          <a:prstGeom prst="rect">
            <a:avLst/>
          </a:prstGeom>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154690"/>
            <a:ext cx="3354705" cy="1107996"/>
          </a:xfrm>
        </p:spPr>
        <p:txBody>
          <a:bodyPr/>
          <a:lstStyle/>
          <a:p>
            <a:pPr marL="0" marR="0" lvl="0" indent="0" algn="ctr" defTabSz="914400" rtl="0" eaLnBrk="0" fontAlgn="base" latinLnBrk="0" hangingPunct="0">
              <a:lnSpc>
                <a:spcPct val="100000"/>
              </a:lnSpc>
              <a:spcBef>
                <a:spcPct val="0"/>
              </a:spcBef>
              <a:spcAft>
                <a:spcPct val="0"/>
              </a:spcAft>
              <a:tabLst/>
            </a:pPr>
            <a:r>
              <a:rPr lang="en-US" dirty="0">
                <a:solidFill>
                  <a:srgbClr val="273239"/>
                </a:solidFill>
              </a:rPr>
              <a:t>2</a:t>
            </a:r>
            <a:r>
              <a:rPr lang="en-US" dirty="0" smtClean="0">
                <a:solidFill>
                  <a:srgbClr val="273239"/>
                </a:solidFill>
              </a:rPr>
              <a:t>.</a:t>
            </a:r>
            <a:br>
              <a:rPr lang="en-US" dirty="0" smtClean="0">
                <a:solidFill>
                  <a:srgbClr val="273239"/>
                </a:solidFill>
              </a:rPr>
            </a:br>
            <a:r>
              <a:rPr lang="en-US" dirty="0" smtClean="0">
                <a:solidFill>
                  <a:srgbClr val="273239"/>
                </a:solidFill>
              </a:rPr>
              <a:t>Final </a:t>
            </a:r>
            <a:r>
              <a:rPr lang="en-US" dirty="0">
                <a:solidFill>
                  <a:srgbClr val="273239"/>
                </a:solidFill>
              </a:rPr>
              <a:t>Method</a:t>
            </a:r>
          </a:p>
        </p:txBody>
      </p:sp>
      <p:sp>
        <p:nvSpPr>
          <p:cNvPr id="4" name="Rectangle 1"/>
          <p:cNvSpPr>
            <a:spLocks noChangeArrowheads="1"/>
          </p:cNvSpPr>
          <p:nvPr/>
        </p:nvSpPr>
        <p:spPr bwMode="auto">
          <a:xfrm>
            <a:off x="4392982" y="877417"/>
            <a:ext cx="6960818" cy="1092607"/>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smtClean="0">
              <a:ln>
                <a:noFill/>
              </a:ln>
              <a:solidFill>
                <a:srgbClr val="273239"/>
              </a:solidFill>
              <a:effectLst/>
              <a:latin typeface="Nuni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effectLst/>
                <a:latin typeface="+mj-lt"/>
              </a:rPr>
              <a:t>When a method is declared with final keyword, it is called a final method in Java. A final method cannot be </a:t>
            </a:r>
            <a:r>
              <a:rPr kumimoji="0" lang="en-US" b="0" i="0" u="sng" strike="noStrike" cap="none" normalizeH="0" baseline="0" dirty="0" smtClean="0">
                <a:ln>
                  <a:noFill/>
                </a:ln>
                <a:effectLst/>
                <a:latin typeface="+mj-lt"/>
              </a:rPr>
              <a:t>overridden.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100" b="0" i="0" u="none" strike="noStrike" cap="none" normalizeH="0" baseline="0" dirty="0" smtClean="0">
              <a:ln>
                <a:noFill/>
              </a:ln>
              <a:effectLst/>
            </a:endParaRPr>
          </a:p>
        </p:txBody>
      </p:sp>
      <p:sp>
        <p:nvSpPr>
          <p:cNvPr id="5" name="Rectangle 2"/>
          <p:cNvSpPr>
            <a:spLocks noChangeArrowheads="1"/>
          </p:cNvSpPr>
          <p:nvPr/>
        </p:nvSpPr>
        <p:spPr bwMode="auto">
          <a:xfrm>
            <a:off x="4495800" y="2142935"/>
            <a:ext cx="5079262" cy="3717941"/>
          </a:xfrm>
          <a:prstGeom prst="rect">
            <a:avLst/>
          </a:prstGeom>
          <a:solidFill>
            <a:srgbClr val="F8F8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b="1" i="0" u="none" strike="noStrike" cap="none" normalizeH="0" baseline="0" dirty="0" smtClean="0">
                <a:ln>
                  <a:noFill/>
                </a:ln>
                <a:solidFill>
                  <a:srgbClr val="008000"/>
                </a:solidFill>
                <a:effectLst/>
                <a:latin typeface="+mj-lt"/>
                <a:cs typeface="Arial" panose="020B0604020202020204" pitchFamily="34" charset="0"/>
              </a:rPr>
              <a:t>class</a:t>
            </a:r>
            <a:r>
              <a:rPr kumimoji="0" lang="en-US" b="0" i="0" u="none" strike="noStrike" cap="none" normalizeH="0" baseline="0" dirty="0" smtClean="0">
                <a:ln>
                  <a:noFill/>
                </a:ln>
                <a:solidFill>
                  <a:schemeClr val="tx1"/>
                </a:solidFill>
                <a:effectLst/>
                <a:latin typeface="+mj-lt"/>
                <a:cs typeface="Arial" panose="020B0604020202020204" pitchFamily="34" charset="0"/>
              </a:rPr>
              <a:t> </a:t>
            </a:r>
            <a:r>
              <a:rPr kumimoji="0" lang="en-US" b="1" i="0" u="none" strike="noStrike" cap="none" normalizeH="0" baseline="0" dirty="0" smtClean="0">
                <a:ln>
                  <a:noFill/>
                </a:ln>
                <a:solidFill>
                  <a:srgbClr val="0000FF"/>
                </a:solidFill>
                <a:effectLst/>
                <a:latin typeface="+mj-lt"/>
                <a:cs typeface="Arial" panose="020B0604020202020204" pitchFamily="34" charset="0"/>
              </a:rPr>
              <a:t>A</a:t>
            </a:r>
            <a:r>
              <a:rPr kumimoji="0" lang="en-US" b="0" i="0" u="none" strike="noStrike" cap="none" normalizeH="0" baseline="0" dirty="0" smtClean="0">
                <a:ln>
                  <a:noFill/>
                </a:ln>
                <a:solidFill>
                  <a:srgbClr val="BBBBBB"/>
                </a:solidFill>
                <a:effectLst/>
                <a:latin typeface="+mj-lt"/>
                <a:cs typeface="Arial" panose="020B0604020202020204" pitchFamily="34"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b="0" i="0" u="none" strike="noStrike" cap="none" normalizeH="0" baseline="0" dirty="0" smtClean="0">
                <a:ln>
                  <a:noFill/>
                </a:ln>
                <a:solidFill>
                  <a:schemeClr val="tx1"/>
                </a:solidFill>
                <a:effectLst/>
                <a:latin typeface="+mj-lt"/>
                <a:cs typeface="Arial" panose="020B0604020202020204" pitchFamily="34" charset="0"/>
              </a:rPr>
              <a:t>{</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b="0" i="0" u="none" strike="noStrike" cap="none" normalizeH="0" baseline="0" dirty="0" smtClean="0">
                <a:ln>
                  <a:noFill/>
                </a:ln>
                <a:solidFill>
                  <a:schemeClr val="tx1"/>
                </a:solidFill>
                <a:effectLst/>
                <a:latin typeface="+mj-lt"/>
                <a:cs typeface="Arial" panose="020B0604020202020204" pitchFamily="34" charset="0"/>
              </a:rPr>
              <a:t> </a:t>
            </a:r>
            <a:r>
              <a:rPr kumimoji="0" lang="en-US" b="1" i="0" u="none" strike="noStrike" cap="none" normalizeH="0" baseline="0" dirty="0" smtClean="0">
                <a:ln>
                  <a:noFill/>
                </a:ln>
                <a:solidFill>
                  <a:srgbClr val="008000"/>
                </a:solidFill>
                <a:effectLst/>
                <a:latin typeface="+mj-lt"/>
                <a:cs typeface="Arial" panose="020B0604020202020204" pitchFamily="34" charset="0"/>
              </a:rPr>
              <a:t>final</a:t>
            </a:r>
            <a:r>
              <a:rPr kumimoji="0" lang="en-US" b="0" i="0" u="none" strike="noStrike" cap="none" normalizeH="0" baseline="0" dirty="0" smtClean="0">
                <a:ln>
                  <a:noFill/>
                </a:ln>
                <a:solidFill>
                  <a:srgbClr val="BBBBBB"/>
                </a:solidFill>
                <a:effectLst/>
                <a:latin typeface="+mj-lt"/>
                <a:cs typeface="Arial" panose="020B0604020202020204" pitchFamily="34" charset="0"/>
              </a:rPr>
              <a:t> </a:t>
            </a:r>
            <a:r>
              <a:rPr kumimoji="0" lang="en-US" b="0" i="0" u="none" strike="noStrike" cap="none" normalizeH="0" baseline="0" dirty="0" smtClean="0">
                <a:ln>
                  <a:noFill/>
                </a:ln>
                <a:solidFill>
                  <a:srgbClr val="B00040"/>
                </a:solidFill>
                <a:effectLst/>
                <a:latin typeface="+mj-lt"/>
                <a:cs typeface="Arial" panose="020B0604020202020204" pitchFamily="34" charset="0"/>
              </a:rPr>
              <a:t>void</a:t>
            </a:r>
            <a:r>
              <a:rPr kumimoji="0" lang="en-US" b="0" i="0" u="none" strike="noStrike" cap="none" normalizeH="0" baseline="0" dirty="0" smtClean="0">
                <a:ln>
                  <a:noFill/>
                </a:ln>
                <a:solidFill>
                  <a:srgbClr val="BBBBBB"/>
                </a:solidFill>
                <a:effectLst/>
                <a:latin typeface="+mj-lt"/>
                <a:cs typeface="Arial" panose="020B0604020202020204" pitchFamily="34" charset="0"/>
              </a:rPr>
              <a:t> </a:t>
            </a:r>
            <a:r>
              <a:rPr kumimoji="0" lang="en-US" b="0" i="0" u="none" strike="noStrike" cap="none" normalizeH="0" baseline="0" dirty="0" smtClean="0">
                <a:ln>
                  <a:noFill/>
                </a:ln>
                <a:solidFill>
                  <a:srgbClr val="0000FF"/>
                </a:solidFill>
                <a:effectLst/>
                <a:latin typeface="+mj-lt"/>
                <a:cs typeface="Arial" panose="020B0604020202020204" pitchFamily="34" charset="0"/>
              </a:rPr>
              <a:t>m1</a:t>
            </a:r>
            <a:r>
              <a:rPr kumimoji="0" lang="en-US" b="0" i="0" u="none" strike="noStrike" cap="none" normalizeH="0" baseline="0" dirty="0" smtClean="0">
                <a:ln>
                  <a:noFill/>
                </a:ln>
                <a:solidFill>
                  <a:schemeClr val="tx1"/>
                </a:solidFill>
                <a:effectLst/>
                <a:latin typeface="+mj-lt"/>
                <a:cs typeface="Arial" panose="020B0604020202020204" pitchFamily="34" charset="0"/>
              </a:rPr>
              <a:t>()</a:t>
            </a:r>
            <a:r>
              <a:rPr kumimoji="0" lang="en-US" b="0" i="0" u="none" strike="noStrike" cap="none" normalizeH="0" baseline="0" dirty="0" smtClean="0">
                <a:ln>
                  <a:noFill/>
                </a:ln>
                <a:solidFill>
                  <a:srgbClr val="BBBBBB"/>
                </a:solidFill>
                <a:effectLst/>
                <a:latin typeface="+mj-lt"/>
                <a:cs typeface="Arial" panose="020B0604020202020204" pitchFamily="34"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b="0" i="0" u="none" strike="noStrike" cap="none" normalizeH="0" baseline="0" dirty="0" smtClean="0">
                <a:ln>
                  <a:noFill/>
                </a:ln>
                <a:solidFill>
                  <a:schemeClr val="tx1"/>
                </a:solidFill>
                <a:effectLst/>
                <a:latin typeface="+mj-lt"/>
                <a:cs typeface="Arial" panose="020B0604020202020204" pitchFamily="34" charset="0"/>
              </a:rPr>
              <a:t>{ </a:t>
            </a:r>
            <a:r>
              <a:rPr kumimoji="0" lang="en-US" b="0" i="0" u="none" strike="noStrike" cap="none" normalizeH="0" baseline="0" dirty="0" err="1" smtClean="0">
                <a:ln>
                  <a:noFill/>
                </a:ln>
                <a:solidFill>
                  <a:schemeClr val="tx1"/>
                </a:solidFill>
                <a:effectLst/>
                <a:latin typeface="+mj-lt"/>
              </a:rPr>
              <a:t>System</a:t>
            </a:r>
            <a:r>
              <a:rPr kumimoji="0" lang="en-US" b="0" i="0" u="none" strike="noStrike" cap="none" normalizeH="0" baseline="0" dirty="0" err="1" smtClean="0">
                <a:ln>
                  <a:noFill/>
                </a:ln>
                <a:solidFill>
                  <a:schemeClr val="tx1"/>
                </a:solidFill>
                <a:effectLst/>
                <a:latin typeface="+mj-lt"/>
                <a:cs typeface="Arial" panose="020B0604020202020204" pitchFamily="34" charset="0"/>
              </a:rPr>
              <a:t>.</a:t>
            </a:r>
            <a:r>
              <a:rPr kumimoji="0" lang="en-US" b="0" i="0" u="none" strike="noStrike" cap="none" normalizeH="0" baseline="0" dirty="0" err="1" smtClean="0">
                <a:ln>
                  <a:noFill/>
                </a:ln>
                <a:solidFill>
                  <a:srgbClr val="687822"/>
                </a:solidFill>
                <a:effectLst/>
                <a:latin typeface="+mj-lt"/>
                <a:cs typeface="Arial" panose="020B0604020202020204" pitchFamily="34" charset="0"/>
              </a:rPr>
              <a:t>out</a:t>
            </a:r>
            <a:r>
              <a:rPr kumimoji="0" lang="en-US" b="0" i="0" u="none" strike="noStrike" cap="none" normalizeH="0" baseline="0" dirty="0" err="1" smtClean="0">
                <a:ln>
                  <a:noFill/>
                </a:ln>
                <a:solidFill>
                  <a:schemeClr val="tx1"/>
                </a:solidFill>
                <a:effectLst/>
                <a:latin typeface="+mj-lt"/>
                <a:cs typeface="Arial" panose="020B0604020202020204" pitchFamily="34" charset="0"/>
              </a:rPr>
              <a:t>.</a:t>
            </a:r>
            <a:r>
              <a:rPr kumimoji="0" lang="en-US" b="0" i="0" u="none" strike="noStrike" cap="none" normalizeH="0" baseline="0" dirty="0" err="1" smtClean="0">
                <a:ln>
                  <a:noFill/>
                </a:ln>
                <a:solidFill>
                  <a:srgbClr val="687822"/>
                </a:solidFill>
                <a:effectLst/>
                <a:latin typeface="+mj-lt"/>
                <a:cs typeface="Arial" panose="020B0604020202020204" pitchFamily="34" charset="0"/>
              </a:rPr>
              <a:t>println</a:t>
            </a:r>
            <a:r>
              <a:rPr kumimoji="0" lang="en-US" b="0" i="0" u="none" strike="noStrike" cap="none" normalizeH="0" baseline="0" dirty="0" smtClean="0">
                <a:ln>
                  <a:noFill/>
                </a:ln>
                <a:solidFill>
                  <a:schemeClr val="tx1"/>
                </a:solidFill>
                <a:effectLst/>
                <a:latin typeface="+mj-lt"/>
                <a:cs typeface="Arial" panose="020B0604020202020204" pitchFamily="34" charset="0"/>
              </a:rPr>
              <a:t>(</a:t>
            </a:r>
            <a:r>
              <a:rPr kumimoji="0" lang="en-US" b="0" i="0" u="none" strike="noStrike" cap="none" normalizeH="0" baseline="0" dirty="0" smtClean="0">
                <a:ln>
                  <a:noFill/>
                </a:ln>
                <a:solidFill>
                  <a:srgbClr val="BA2121"/>
                </a:solidFill>
                <a:effectLst/>
                <a:latin typeface="+mj-lt"/>
                <a:cs typeface="Arial" panose="020B0604020202020204" pitchFamily="34" charset="0"/>
              </a:rPr>
              <a:t>"Final method"</a:t>
            </a:r>
            <a:r>
              <a:rPr kumimoji="0" lang="en-US" b="0" i="0" u="none" strike="noStrike" cap="none" normalizeH="0" baseline="0" dirty="0" smtClean="0">
                <a:ln>
                  <a:noFill/>
                </a:ln>
                <a:solidFill>
                  <a:schemeClr val="tx1"/>
                </a:solidFill>
                <a:effectLst/>
                <a:latin typeface="+mj-lt"/>
                <a:cs typeface="Arial" panose="020B0604020202020204" pitchFamily="34" charset="0"/>
              </a:rPr>
              <a:t>);</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b="0" i="0" u="none" strike="noStrike" cap="none" normalizeH="0" baseline="0" dirty="0" smtClean="0">
                <a:ln>
                  <a:noFill/>
                </a:ln>
                <a:solidFill>
                  <a:schemeClr val="tx1"/>
                </a:solidFill>
                <a:effectLst/>
                <a:latin typeface="+mj-lt"/>
                <a:cs typeface="Arial" panose="020B0604020202020204" pitchFamily="34" charset="0"/>
              </a:rPr>
              <a:t> }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b="0" i="0" u="none" strike="noStrike" cap="none" normalizeH="0" baseline="0" dirty="0" smtClean="0">
                <a:ln>
                  <a:noFill/>
                </a:ln>
                <a:solidFill>
                  <a:schemeClr val="tx1"/>
                </a:solidFill>
                <a:effectLst/>
                <a:latin typeface="+mj-lt"/>
                <a:cs typeface="Arial" panose="020B0604020202020204" pitchFamily="34" charset="0"/>
              </a:rPr>
              <a:t>} </a:t>
            </a:r>
            <a:r>
              <a:rPr kumimoji="0" lang="en-US" b="1" i="0" u="none" strike="noStrike" cap="none" normalizeH="0" baseline="0" dirty="0" smtClean="0">
                <a:ln>
                  <a:noFill/>
                </a:ln>
                <a:solidFill>
                  <a:srgbClr val="008000"/>
                </a:solidFill>
                <a:effectLst/>
                <a:latin typeface="+mj-lt"/>
                <a:cs typeface="Arial" panose="020B0604020202020204" pitchFamily="34" charset="0"/>
              </a:rPr>
              <a:t>class</a:t>
            </a:r>
            <a:r>
              <a:rPr kumimoji="0" lang="en-US" b="0" i="0" u="none" strike="noStrike" cap="none" normalizeH="0" baseline="0" dirty="0" smtClean="0">
                <a:ln>
                  <a:noFill/>
                </a:ln>
                <a:solidFill>
                  <a:schemeClr val="tx1"/>
                </a:solidFill>
                <a:effectLst/>
                <a:latin typeface="+mj-lt"/>
                <a:cs typeface="Arial" panose="020B0604020202020204" pitchFamily="34" charset="0"/>
              </a:rPr>
              <a:t> </a:t>
            </a:r>
            <a:r>
              <a:rPr kumimoji="0" lang="en-US" b="1" i="0" u="none" strike="noStrike" cap="none" normalizeH="0" baseline="0" dirty="0" smtClean="0">
                <a:ln>
                  <a:noFill/>
                </a:ln>
                <a:solidFill>
                  <a:srgbClr val="0000FF"/>
                </a:solidFill>
                <a:effectLst/>
                <a:latin typeface="+mj-lt"/>
                <a:cs typeface="Arial" panose="020B0604020202020204" pitchFamily="34" charset="0"/>
              </a:rPr>
              <a:t>B</a:t>
            </a:r>
            <a:r>
              <a:rPr kumimoji="0" lang="en-US" b="0" i="0" u="none" strike="noStrike" cap="none" normalizeH="0" baseline="0" dirty="0" smtClean="0">
                <a:ln>
                  <a:noFill/>
                </a:ln>
                <a:solidFill>
                  <a:srgbClr val="BBBBBB"/>
                </a:solidFill>
                <a:effectLst/>
                <a:latin typeface="+mj-lt"/>
                <a:cs typeface="Arial" panose="020B0604020202020204" pitchFamily="34" charset="0"/>
              </a:rPr>
              <a:t> </a:t>
            </a:r>
            <a:r>
              <a:rPr kumimoji="0" lang="en-US" b="1" i="0" u="none" strike="noStrike" cap="none" normalizeH="0" baseline="0" dirty="0" smtClean="0">
                <a:ln>
                  <a:noFill/>
                </a:ln>
                <a:solidFill>
                  <a:srgbClr val="008000"/>
                </a:solidFill>
                <a:effectLst/>
                <a:latin typeface="+mj-lt"/>
                <a:cs typeface="Arial" panose="020B0604020202020204" pitchFamily="34" charset="0"/>
              </a:rPr>
              <a:t>extends</a:t>
            </a:r>
            <a:r>
              <a:rPr kumimoji="0" lang="en-US" b="0" i="0" u="none" strike="noStrike" cap="none" normalizeH="0" baseline="0" dirty="0" smtClean="0">
                <a:ln>
                  <a:noFill/>
                </a:ln>
                <a:solidFill>
                  <a:srgbClr val="BBBBBB"/>
                </a:solidFill>
                <a:effectLst/>
                <a:latin typeface="+mj-lt"/>
                <a:cs typeface="Arial" panose="020B0604020202020204" pitchFamily="34" charset="0"/>
              </a:rPr>
              <a:t> </a:t>
            </a:r>
            <a:r>
              <a:rPr kumimoji="0" lang="en-US" b="0" i="0" u="none" strike="noStrike" cap="none" normalizeH="0" baseline="0" dirty="0" smtClean="0">
                <a:ln>
                  <a:noFill/>
                </a:ln>
                <a:solidFill>
                  <a:schemeClr val="tx1"/>
                </a:solidFill>
                <a:effectLst/>
                <a:latin typeface="+mj-lt"/>
              </a:rPr>
              <a:t>A</a:t>
            </a:r>
            <a:r>
              <a:rPr kumimoji="0" lang="en-US" b="0" i="0" u="none" strike="noStrike" cap="none" normalizeH="0" baseline="0" dirty="0" smtClean="0">
                <a:ln>
                  <a:noFill/>
                </a:ln>
                <a:solidFill>
                  <a:srgbClr val="BBBBBB"/>
                </a:solidFill>
                <a:effectLst/>
                <a:latin typeface="+mj-lt"/>
                <a:cs typeface="Arial" panose="020B0604020202020204" pitchFamily="34" charset="0"/>
              </a:rPr>
              <a:t> </a:t>
            </a:r>
            <a:r>
              <a:rPr kumimoji="0" lang="en-US" b="0" i="0" u="none" strike="noStrike" cap="none" normalizeH="0" baseline="0" dirty="0" smtClean="0">
                <a:ln>
                  <a:noFill/>
                </a:ln>
                <a:solidFill>
                  <a:schemeClr val="tx1"/>
                </a:solidFill>
                <a:effectLst/>
                <a:latin typeface="+mj-lt"/>
                <a:cs typeface="Arial" panose="020B0604020202020204" pitchFamily="34" charset="0"/>
              </a:rPr>
              <a:t>{</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b="0" i="0" u="none" strike="noStrike" cap="none" normalizeH="0" baseline="0" dirty="0" smtClean="0">
                <a:ln>
                  <a:noFill/>
                </a:ln>
                <a:solidFill>
                  <a:schemeClr val="tx1"/>
                </a:solidFill>
                <a:effectLst/>
                <a:latin typeface="+mj-lt"/>
                <a:cs typeface="Arial" panose="020B0604020202020204" pitchFamily="34" charset="0"/>
              </a:rPr>
              <a:t> </a:t>
            </a:r>
            <a:r>
              <a:rPr kumimoji="0" lang="en-US" b="0" i="0" u="none" strike="noStrike" cap="none" normalizeH="0" baseline="0" dirty="0" smtClean="0">
                <a:ln>
                  <a:noFill/>
                </a:ln>
                <a:solidFill>
                  <a:srgbClr val="B00040"/>
                </a:solidFill>
                <a:effectLst/>
                <a:latin typeface="+mj-lt"/>
                <a:cs typeface="Arial" panose="020B0604020202020204" pitchFamily="34" charset="0"/>
              </a:rPr>
              <a:t>void</a:t>
            </a:r>
            <a:r>
              <a:rPr kumimoji="0" lang="en-US" b="0" i="0" u="none" strike="noStrike" cap="none" normalizeH="0" baseline="0" dirty="0" smtClean="0">
                <a:ln>
                  <a:noFill/>
                </a:ln>
                <a:solidFill>
                  <a:srgbClr val="BBBBBB"/>
                </a:solidFill>
                <a:effectLst/>
                <a:latin typeface="+mj-lt"/>
                <a:cs typeface="Arial" panose="020B0604020202020204" pitchFamily="34" charset="0"/>
              </a:rPr>
              <a:t> </a:t>
            </a:r>
            <a:r>
              <a:rPr kumimoji="0" lang="en-US" b="0" i="0" u="none" strike="noStrike" cap="none" normalizeH="0" baseline="0" dirty="0" smtClean="0">
                <a:ln>
                  <a:noFill/>
                </a:ln>
                <a:solidFill>
                  <a:srgbClr val="0000FF"/>
                </a:solidFill>
                <a:effectLst/>
                <a:latin typeface="+mj-lt"/>
                <a:cs typeface="Arial" panose="020B0604020202020204" pitchFamily="34" charset="0"/>
              </a:rPr>
              <a:t>m1</a:t>
            </a:r>
            <a:r>
              <a:rPr kumimoji="0" lang="en-US" b="0" i="0" u="none" strike="noStrike" cap="none" normalizeH="0" baseline="0" dirty="0" smtClean="0">
                <a:ln>
                  <a:noFill/>
                </a:ln>
                <a:solidFill>
                  <a:schemeClr val="tx1"/>
                </a:solidFill>
                <a:effectLst/>
                <a:latin typeface="+mj-lt"/>
                <a:cs typeface="Arial" panose="020B0604020202020204" pitchFamily="34" charset="0"/>
              </a:rPr>
              <a:t>()</a:t>
            </a:r>
            <a:r>
              <a:rPr kumimoji="0" lang="en-US" b="0" i="0" u="none" strike="noStrike" cap="none" normalizeH="0" baseline="0" dirty="0" smtClean="0">
                <a:ln>
                  <a:noFill/>
                </a:ln>
                <a:solidFill>
                  <a:srgbClr val="BBBBBB"/>
                </a:solidFill>
                <a:effectLst/>
                <a:latin typeface="+mj-lt"/>
                <a:cs typeface="Arial" panose="020B0604020202020204" pitchFamily="34"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b="0" i="0" u="none" strike="noStrike" cap="none" normalizeH="0" baseline="0" dirty="0" smtClean="0">
                <a:ln>
                  <a:noFill/>
                </a:ln>
                <a:solidFill>
                  <a:schemeClr val="tx1"/>
                </a:solidFill>
                <a:effectLst/>
                <a:latin typeface="+mj-lt"/>
                <a:cs typeface="Arial" panose="020B0604020202020204" pitchFamily="34" charset="0"/>
              </a:rPr>
              <a:t>{</a:t>
            </a:r>
            <a:r>
              <a:rPr kumimoji="0" lang="en-US" b="0" i="0" u="none" strike="noStrike" cap="none" normalizeH="0" baseline="0" dirty="0" smtClean="0">
                <a:ln>
                  <a:noFill/>
                </a:ln>
                <a:solidFill>
                  <a:srgbClr val="BBBBBB"/>
                </a:solidFill>
                <a:effectLst/>
                <a:latin typeface="+mj-lt"/>
                <a:cs typeface="Arial" panose="020B0604020202020204" pitchFamily="34"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b="0" i="0" u="none" strike="noStrike" cap="none" normalizeH="0" baseline="0" dirty="0" smtClean="0">
                <a:ln>
                  <a:noFill/>
                </a:ln>
                <a:solidFill>
                  <a:schemeClr val="tx1"/>
                </a:solidFill>
                <a:effectLst/>
                <a:latin typeface="+mj-lt"/>
                <a:cs typeface="Arial" panose="020B0604020202020204" pitchFamily="34" charset="0"/>
              </a:rPr>
              <a:t>}</a:t>
            </a:r>
            <a:r>
              <a:rPr kumimoji="0" lang="en-US" b="0" i="0" u="none" strike="noStrike" cap="none" normalizeH="0" baseline="0" dirty="0" smtClean="0">
                <a:ln>
                  <a:noFill/>
                </a:ln>
                <a:solidFill>
                  <a:srgbClr val="BBBBBB"/>
                </a:solidFill>
                <a:effectLst/>
                <a:latin typeface="+mj-lt"/>
                <a:cs typeface="Arial" panose="020B0604020202020204" pitchFamily="34" charset="0"/>
              </a:rPr>
              <a:t> </a:t>
            </a:r>
            <a:r>
              <a:rPr kumimoji="0" lang="en-US" b="0" i="1" u="none" strike="noStrike" cap="none" normalizeH="0" baseline="0" dirty="0" smtClean="0">
                <a:ln>
                  <a:noFill/>
                </a:ln>
                <a:solidFill>
                  <a:srgbClr val="3D7B7B"/>
                </a:solidFill>
                <a:effectLst/>
                <a:latin typeface="+mj-lt"/>
                <a:cs typeface="Arial" panose="020B0604020202020204" pitchFamily="34" charset="0"/>
              </a:rPr>
              <a:t>// compile-time error</a:t>
            </a:r>
            <a:r>
              <a:rPr kumimoji="0" lang="en-US" b="0" i="0" u="none" strike="noStrike" cap="none" normalizeH="0" baseline="0" dirty="0" smtClean="0">
                <a:ln>
                  <a:noFill/>
                </a:ln>
                <a:solidFill>
                  <a:schemeClr val="tx1"/>
                </a:solidFill>
                <a:effectLst/>
                <a:latin typeface="+mj-lt"/>
                <a:cs typeface="Arial" panose="020B0604020202020204" pitchFamily="34"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b="0" i="0" u="none" strike="noStrike" cap="none" normalizeH="0" baseline="0" dirty="0" smtClean="0">
                <a:ln>
                  <a:noFill/>
                </a:ln>
                <a:solidFill>
                  <a:schemeClr val="tx1"/>
                </a:solidFill>
                <a:effectLst/>
                <a:latin typeface="+mj-lt"/>
                <a:cs typeface="Arial" panose="020B0604020202020204" pitchFamily="34" charset="0"/>
              </a:rPr>
              <a:t>}</a:t>
            </a:r>
            <a:endParaRPr kumimoji="0" lang="en-US" sz="2800" b="0" i="0" u="none" strike="noStrike" cap="none" normalizeH="0" baseline="0" dirty="0" smtClean="0">
              <a:ln>
                <a:noFill/>
              </a:ln>
              <a:solidFill>
                <a:schemeClr val="tx1"/>
              </a:solidFill>
              <a:effectLst/>
              <a:latin typeface="+mj-lt"/>
            </a:endParaRPr>
          </a:p>
        </p:txBody>
      </p:sp>
      <p:pic>
        <p:nvPicPr>
          <p:cNvPr id="6" name="object 7"/>
          <p:cNvPicPr/>
          <p:nvPr/>
        </p:nvPicPr>
        <p:blipFill>
          <a:blip r:embed="rId2" cstate="print"/>
          <a:stretch>
            <a:fillRect/>
          </a:stretch>
        </p:blipFill>
        <p:spPr>
          <a:xfrm>
            <a:off x="9513719" y="-228600"/>
            <a:ext cx="2648711" cy="1182624"/>
          </a:xfrm>
          <a:prstGeom prst="rect">
            <a:avLst/>
          </a:prstGeom>
        </p:spPr>
      </p:pic>
    </p:spTree>
    <p:extLst>
      <p:ext uri="{BB962C8B-B14F-4D97-AF65-F5344CB8AC3E}">
        <p14:creationId xmlns:p14="http://schemas.microsoft.com/office/powerpoint/2010/main" val="283499697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05000"/>
            <a:ext cx="3429000" cy="2215991"/>
          </a:xfrm>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b="0" dirty="0">
                <a:solidFill>
                  <a:schemeClr val="tx1"/>
                </a:solidFill>
                <a:latin typeface="Nunito"/>
              </a:rPr>
              <a:t>A class declared as final cannot be extended.</a:t>
            </a:r>
            <a:endParaRPr lang="en-US" sz="3200" b="0" dirty="0">
              <a:solidFill>
                <a:schemeClr val="tx1"/>
              </a:solidFill>
            </a:endParaRPr>
          </a:p>
        </p:txBody>
      </p:sp>
      <p:sp>
        <p:nvSpPr>
          <p:cNvPr id="5" name="Rectangle 1"/>
          <p:cNvSpPr>
            <a:spLocks noChangeArrowheads="1"/>
          </p:cNvSpPr>
          <p:nvPr/>
        </p:nvSpPr>
        <p:spPr bwMode="auto">
          <a:xfrm>
            <a:off x="4191000" y="228600"/>
            <a:ext cx="6172200" cy="129266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lang="en-US" sz="2400" b="1" dirty="0">
                <a:solidFill>
                  <a:srgbClr val="273239"/>
                </a:solidFill>
                <a:latin typeface="Nunito"/>
              </a:rPr>
              <a:t>3</a:t>
            </a:r>
            <a:r>
              <a:rPr kumimoji="0" lang="en-US" sz="2400" b="1" i="0" u="none" strike="noStrike" cap="none" normalizeH="0" baseline="0" dirty="0" smtClean="0">
                <a:ln>
                  <a:noFill/>
                </a:ln>
                <a:solidFill>
                  <a:srgbClr val="273239"/>
                </a:solidFill>
                <a:effectLst/>
                <a:latin typeface="Nunito"/>
              </a:rPr>
              <a:t>. Final class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2400" b="1" i="0" u="none" strike="noStrike" cap="none" normalizeH="0" baseline="0" dirty="0" smtClean="0">
              <a:ln>
                <a:noFill/>
              </a:ln>
              <a:solidFill>
                <a:srgbClr val="273239"/>
              </a:solidFill>
              <a:effectLst/>
              <a:latin typeface="Nuni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b="0" i="0" u="none" strike="noStrike" cap="none" normalizeH="0" baseline="0" dirty="0" smtClean="0">
                <a:ln>
                  <a:noFill/>
                </a:ln>
                <a:solidFill>
                  <a:srgbClr val="FF0000"/>
                </a:solidFill>
                <a:effectLst/>
                <a:latin typeface="Nunito"/>
              </a:rPr>
              <a:t>A class declared as final cannot be extended.</a:t>
            </a:r>
            <a:endParaRPr kumimoji="0" lang="en-US" sz="1600" b="0" i="0" u="none" strike="noStrike" cap="none" normalizeH="0" baseline="0" dirty="0" smtClean="0">
              <a:ln>
                <a:noFill/>
              </a:ln>
              <a:solidFill>
                <a:srgbClr val="FF0000"/>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
        <p:nvSpPr>
          <p:cNvPr id="6" name="Rectangle 2"/>
          <p:cNvSpPr>
            <a:spLocks noChangeArrowheads="1"/>
          </p:cNvSpPr>
          <p:nvPr/>
        </p:nvSpPr>
        <p:spPr bwMode="auto">
          <a:xfrm>
            <a:off x="3733800" y="1755333"/>
            <a:ext cx="7347363" cy="4256550"/>
          </a:xfrm>
          <a:prstGeom prst="rect">
            <a:avLst/>
          </a:prstGeom>
          <a:solidFill>
            <a:srgbClr val="F8F8F8"/>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algn="l" rtl="0" eaLnBrk="0" fontAlgn="base" hangingPunct="0">
              <a:spcBef>
                <a:spcPct val="0"/>
              </a:spcBef>
              <a:spcAft>
                <a:spcPct val="0"/>
              </a:spcAft>
              <a:defRPr>
                <a:solidFill>
                  <a:schemeClr val="tx1"/>
                </a:solidFill>
                <a:latin typeface="Arial" panose="020B0604020202020204" pitchFamily="34" charset="0"/>
              </a:defRPr>
            </a:lvl1pPr>
            <a:lvl2pPr marL="457200" algn="l" rtl="0" eaLnBrk="0" fontAlgn="base" hangingPunct="0">
              <a:spcBef>
                <a:spcPct val="0"/>
              </a:spcBef>
              <a:spcAft>
                <a:spcPct val="0"/>
              </a:spcAft>
              <a:defRPr>
                <a:solidFill>
                  <a:schemeClr val="tx1"/>
                </a:solidFill>
                <a:latin typeface="Arial" panose="020B0604020202020204" pitchFamily="34" charset="0"/>
              </a:defRPr>
            </a:lvl2pPr>
            <a:lvl3pPr marL="914400" algn="l" rtl="0" eaLnBrk="0" fontAlgn="base" hangingPunct="0">
              <a:spcBef>
                <a:spcPct val="0"/>
              </a:spcBef>
              <a:spcAft>
                <a:spcPct val="0"/>
              </a:spcAft>
              <a:defRPr>
                <a:solidFill>
                  <a:schemeClr val="tx1"/>
                </a:solidFill>
                <a:latin typeface="Arial" panose="020B0604020202020204" pitchFamily="34" charset="0"/>
              </a:defRPr>
            </a:lvl3pPr>
            <a:lvl4pPr marL="1371600" algn="l" rtl="0" eaLnBrk="0" fontAlgn="base" hangingPunct="0">
              <a:spcBef>
                <a:spcPct val="0"/>
              </a:spcBef>
              <a:spcAft>
                <a:spcPct val="0"/>
              </a:spcAft>
              <a:defRPr>
                <a:solidFill>
                  <a:schemeClr val="tx1"/>
                </a:solidFill>
                <a:latin typeface="Arial" panose="020B0604020202020204" pitchFamily="34" charset="0"/>
              </a:defRPr>
            </a:lvl4pPr>
            <a:lvl5pPr marL="1828800" algn="l" rtl="0" eaLnBrk="0" fontAlgn="base" hangingPunct="0">
              <a:spcBef>
                <a:spcPct val="0"/>
              </a:spcBef>
              <a:spcAft>
                <a:spcPct val="0"/>
              </a:spcAft>
              <a:defRPr>
                <a:solidFill>
                  <a:schemeClr val="tx1"/>
                </a:solidFill>
                <a:latin typeface="Arial" panose="020B0604020202020204" pitchFamily="34" charset="0"/>
              </a:defRPr>
            </a:lvl5pPr>
            <a:lvl6pPr marL="2286000" algn="l" rtl="0" eaLnBrk="0" fontAlgn="base" hangingPunct="0">
              <a:spcBef>
                <a:spcPct val="0"/>
              </a:spcBef>
              <a:spcAft>
                <a:spcPct val="0"/>
              </a:spcAft>
              <a:defRPr>
                <a:solidFill>
                  <a:schemeClr val="tx1"/>
                </a:solidFill>
                <a:latin typeface="Arial" panose="020B0604020202020204" pitchFamily="34" charset="0"/>
              </a:defRPr>
            </a:lvl6pPr>
            <a:lvl7pPr marL="2743200" algn="l" rtl="0" eaLnBrk="0" fontAlgn="base" hangingPunct="0">
              <a:spcBef>
                <a:spcPct val="0"/>
              </a:spcBef>
              <a:spcAft>
                <a:spcPct val="0"/>
              </a:spcAft>
              <a:defRPr>
                <a:solidFill>
                  <a:schemeClr val="tx1"/>
                </a:solidFill>
                <a:latin typeface="Arial" panose="020B0604020202020204" pitchFamily="34" charset="0"/>
              </a:defRPr>
            </a:lvl7pPr>
            <a:lvl8pPr marL="3200400" algn="l" rtl="0" eaLnBrk="0" fontAlgn="base" hangingPunct="0">
              <a:spcBef>
                <a:spcPct val="0"/>
              </a:spcBef>
              <a:spcAft>
                <a:spcPct val="0"/>
              </a:spcAft>
              <a:defRPr>
                <a:solidFill>
                  <a:schemeClr val="tx1"/>
                </a:solidFill>
                <a:latin typeface="Arial" panose="020B0604020202020204" pitchFamily="34" charset="0"/>
              </a:defRPr>
            </a:lvl8pPr>
            <a:lvl9pPr marL="3657600" algn="l" rtl="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b="1" i="0" u="none" strike="noStrike" cap="none" normalizeH="0" baseline="0" dirty="0" smtClean="0">
                <a:ln>
                  <a:noFill/>
                </a:ln>
                <a:solidFill>
                  <a:srgbClr val="008000"/>
                </a:solidFill>
                <a:effectLst/>
                <a:latin typeface="Consolas" panose="020B0609020204030204" pitchFamily="49" charset="0"/>
                <a:cs typeface="Arial" panose="020B0604020202020204" pitchFamily="34" charset="0"/>
              </a:rPr>
              <a:t>final</a:t>
            </a:r>
            <a:r>
              <a:rPr kumimoji="0" lang="en-US" b="0" i="0" u="none" strike="noStrike" cap="none" normalizeH="0" baseline="0" dirty="0" smtClean="0">
                <a:ln>
                  <a:noFill/>
                </a:ln>
                <a:solidFill>
                  <a:srgbClr val="BBBBBB"/>
                </a:solidFill>
                <a:effectLst/>
                <a:latin typeface="Consolas" panose="020B0609020204030204" pitchFamily="49" charset="0"/>
                <a:cs typeface="Arial" panose="020B0604020202020204" pitchFamily="34" charset="0"/>
              </a:rPr>
              <a:t> </a:t>
            </a:r>
            <a:r>
              <a:rPr kumimoji="0" lang="en-US" b="1" i="0" u="none" strike="noStrike" cap="none" normalizeH="0" baseline="0" dirty="0" smtClean="0">
                <a:ln>
                  <a:noFill/>
                </a:ln>
                <a:solidFill>
                  <a:srgbClr val="008000"/>
                </a:solidFill>
                <a:effectLst/>
                <a:latin typeface="Consolas" panose="020B0609020204030204" pitchFamily="49" charset="0"/>
                <a:cs typeface="Arial" panose="020B0604020202020204" pitchFamily="34" charset="0"/>
              </a:rPr>
              <a:t>class</a:t>
            </a:r>
            <a:r>
              <a:rPr kumimoji="0" lang="en-US" b="0" i="0" u="none" strike="noStrike" cap="none" normalizeH="0" baseline="0" dirty="0" smtClean="0">
                <a:ln>
                  <a:noFill/>
                </a:ln>
                <a:solidFill>
                  <a:schemeClr val="tx1"/>
                </a:solidFill>
                <a:effectLst/>
                <a:latin typeface="Consolas" panose="020B0609020204030204" pitchFamily="49" charset="0"/>
                <a:cs typeface="Arial" panose="020B0604020202020204" pitchFamily="34" charset="0"/>
              </a:rPr>
              <a:t> </a:t>
            </a:r>
            <a:r>
              <a:rPr kumimoji="0" lang="en-US" b="1" i="0" u="none" strike="noStrike" cap="none" normalizeH="0" baseline="0" dirty="0" smtClean="0">
                <a:ln>
                  <a:noFill/>
                </a:ln>
                <a:solidFill>
                  <a:srgbClr val="0000FF"/>
                </a:solidFill>
                <a:effectLst/>
                <a:latin typeface="Consolas" panose="020B0609020204030204" pitchFamily="49" charset="0"/>
                <a:cs typeface="Arial" panose="020B0604020202020204" pitchFamily="34" charset="0"/>
              </a:rPr>
              <a:t>A</a:t>
            </a:r>
            <a:r>
              <a:rPr kumimoji="0" lang="en-US" b="0" i="0" u="none" strike="noStrike" cap="none" normalizeH="0" baseline="0" dirty="0" smtClean="0">
                <a:ln>
                  <a:noFill/>
                </a:ln>
                <a:solidFill>
                  <a:srgbClr val="BBBBBB"/>
                </a:solidFill>
                <a:effectLst/>
                <a:latin typeface="Consolas" panose="020B0609020204030204" pitchFamily="49" charset="0"/>
                <a:cs typeface="Arial" panose="020B0604020202020204" pitchFamily="34" charset="0"/>
              </a:rPr>
              <a:t> </a:t>
            </a:r>
            <a:r>
              <a:rPr kumimoji="0" lang="en-US" b="0" i="0" u="none" strike="noStrike" cap="none" normalizeH="0" baseline="0" dirty="0" smtClean="0">
                <a:ln>
                  <a:noFill/>
                </a:ln>
                <a:solidFill>
                  <a:schemeClr val="tx1"/>
                </a:solidFill>
                <a:effectLst/>
                <a:latin typeface="Consolas" panose="020B0609020204030204" pitchFamily="49" charset="0"/>
                <a:cs typeface="Arial" panose="020B0604020202020204" pitchFamily="34" charset="0"/>
              </a:rPr>
              <a:t>{</a:t>
            </a:r>
          </a:p>
          <a:p>
            <a:pPr marL="0" marR="0" lvl="0" indent="0" algn="l" defTabSz="914400" rtl="0" eaLnBrk="0" fontAlgn="base" latinLnBrk="0" hangingPunct="0">
              <a:lnSpc>
                <a:spcPct val="100000"/>
              </a:lnSpc>
              <a:spcBef>
                <a:spcPct val="30000"/>
              </a:spcBef>
              <a:spcAft>
                <a:spcPct val="0"/>
              </a:spcAft>
              <a:buClrTx/>
              <a:buSzTx/>
              <a:buFontTx/>
              <a:buNone/>
              <a:tabLst/>
            </a:pPr>
            <a:endParaRPr kumimoji="0" lang="en-US" b="0" i="0" u="none" strike="noStrike" cap="none" normalizeH="0" baseline="0" dirty="0" smtClean="0">
              <a:ln>
                <a:noFill/>
              </a:ln>
              <a:solidFill>
                <a:schemeClr val="tx1"/>
              </a:solidFill>
              <a:effectLst/>
              <a:latin typeface="Consolas" panose="020B0609020204030204" pitchFamily="49"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b="0" i="0" u="none" strike="noStrike" cap="none" normalizeH="0" baseline="0" dirty="0" smtClean="0">
                <a:ln>
                  <a:noFill/>
                </a:ln>
                <a:solidFill>
                  <a:schemeClr val="tx1"/>
                </a:solidFill>
                <a:effectLst/>
                <a:latin typeface="Consolas" panose="020B0609020204030204" pitchFamily="49" charset="0"/>
                <a:cs typeface="Arial" panose="020B0604020202020204" pitchFamily="34" charset="0"/>
              </a:rPr>
              <a:t> </a:t>
            </a:r>
            <a:r>
              <a:rPr kumimoji="0" lang="en-US" b="0" i="1" u="none" strike="noStrike" cap="none" normalizeH="0" baseline="0" dirty="0" smtClean="0">
                <a:ln>
                  <a:noFill/>
                </a:ln>
                <a:solidFill>
                  <a:srgbClr val="3D7B7B"/>
                </a:solidFill>
                <a:effectLst/>
                <a:latin typeface="Consolas" panose="020B0609020204030204" pitchFamily="49" charset="0"/>
                <a:cs typeface="Arial" panose="020B0604020202020204" pitchFamily="34" charset="0"/>
              </a:rPr>
              <a:t>// fields and methods</a:t>
            </a:r>
          </a:p>
          <a:p>
            <a:pPr marL="0" marR="0" lvl="0" indent="0" algn="l" defTabSz="914400" rtl="0" eaLnBrk="0" fontAlgn="base" latinLnBrk="0" hangingPunct="0">
              <a:lnSpc>
                <a:spcPct val="100000"/>
              </a:lnSpc>
              <a:spcBef>
                <a:spcPct val="30000"/>
              </a:spcBef>
              <a:spcAft>
                <a:spcPct val="0"/>
              </a:spcAft>
              <a:buClrTx/>
              <a:buSzTx/>
              <a:buFontTx/>
              <a:buNone/>
              <a:tabLst/>
            </a:pPr>
            <a:endParaRPr kumimoji="0" lang="en-US" b="0" i="0" u="none" strike="noStrike" cap="none" normalizeH="0" baseline="0" dirty="0" smtClean="0">
              <a:ln>
                <a:noFill/>
              </a:ln>
              <a:solidFill>
                <a:schemeClr val="tx1"/>
              </a:solidFill>
              <a:effectLst/>
              <a:latin typeface="Consolas" panose="020B0609020204030204" pitchFamily="49" charset="0"/>
              <a:cs typeface="Arial" panose="020B0604020202020204" pitchFamily="34" charset="0"/>
            </a:endParaRP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b="0" i="0" u="none" strike="noStrike" cap="none" normalizeH="0" baseline="0" dirty="0" smtClean="0">
                <a:ln>
                  <a:noFill/>
                </a:ln>
                <a:solidFill>
                  <a:schemeClr val="tx1"/>
                </a:solidFill>
                <a:effectLst/>
                <a:latin typeface="Consolas" panose="020B0609020204030204" pitchFamily="49" charset="0"/>
                <a:cs typeface="Arial" panose="020B0604020202020204" pitchFamily="34" charset="0"/>
              </a:rPr>
              <a:t> }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b="0" i="1" u="none" strike="noStrike" cap="none" normalizeH="0" baseline="0" dirty="0" smtClean="0">
                <a:ln>
                  <a:noFill/>
                </a:ln>
                <a:solidFill>
                  <a:srgbClr val="3D7B7B"/>
                </a:solidFill>
                <a:effectLst/>
                <a:latin typeface="Consolas" panose="020B0609020204030204" pitchFamily="49" charset="0"/>
                <a:cs typeface="Arial" panose="020B0604020202020204" pitchFamily="34" charset="0"/>
              </a:rPr>
              <a:t>// Illegal</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b="0" i="0" u="none" strike="noStrike" cap="none" normalizeH="0" baseline="0" dirty="0" smtClean="0">
                <a:ln>
                  <a:noFill/>
                </a:ln>
                <a:solidFill>
                  <a:schemeClr val="tx1"/>
                </a:solidFill>
                <a:effectLst/>
                <a:latin typeface="Consolas" panose="020B0609020204030204" pitchFamily="49" charset="0"/>
                <a:cs typeface="Arial" panose="020B0604020202020204" pitchFamily="34" charset="0"/>
              </a:rPr>
              <a:t> </a:t>
            </a:r>
            <a:r>
              <a:rPr kumimoji="0" lang="en-US" b="1" i="0" u="none" strike="noStrike" cap="none" normalizeH="0" baseline="0" dirty="0" smtClean="0">
                <a:ln>
                  <a:noFill/>
                </a:ln>
                <a:solidFill>
                  <a:srgbClr val="008000"/>
                </a:solidFill>
                <a:effectLst/>
                <a:latin typeface="Consolas" panose="020B0609020204030204" pitchFamily="49" charset="0"/>
                <a:cs typeface="Arial" panose="020B0604020202020204" pitchFamily="34" charset="0"/>
              </a:rPr>
              <a:t>class</a:t>
            </a:r>
            <a:r>
              <a:rPr kumimoji="0" lang="en-US" b="0" i="0" u="none" strike="noStrike" cap="none" normalizeH="0" baseline="0" dirty="0" smtClean="0">
                <a:ln>
                  <a:noFill/>
                </a:ln>
                <a:solidFill>
                  <a:schemeClr val="tx1"/>
                </a:solidFill>
                <a:effectLst/>
                <a:latin typeface="Consolas" panose="020B0609020204030204" pitchFamily="49" charset="0"/>
                <a:cs typeface="Arial" panose="020B0604020202020204" pitchFamily="34" charset="0"/>
              </a:rPr>
              <a:t> </a:t>
            </a:r>
            <a:r>
              <a:rPr kumimoji="0" lang="en-US" b="1" i="0" u="none" strike="noStrike" cap="none" normalizeH="0" baseline="0" dirty="0" smtClean="0">
                <a:ln>
                  <a:noFill/>
                </a:ln>
                <a:solidFill>
                  <a:srgbClr val="0000FF"/>
                </a:solidFill>
                <a:effectLst/>
                <a:latin typeface="Consolas" panose="020B0609020204030204" pitchFamily="49" charset="0"/>
                <a:cs typeface="Arial" panose="020B0604020202020204" pitchFamily="34" charset="0"/>
              </a:rPr>
              <a:t>B</a:t>
            </a:r>
            <a:r>
              <a:rPr kumimoji="0" lang="en-US" b="0" i="0" u="none" strike="noStrike" cap="none" normalizeH="0" baseline="0" dirty="0" smtClean="0">
                <a:ln>
                  <a:noFill/>
                </a:ln>
                <a:solidFill>
                  <a:srgbClr val="BBBBBB"/>
                </a:solidFill>
                <a:effectLst/>
                <a:latin typeface="Consolas" panose="020B0609020204030204" pitchFamily="49" charset="0"/>
                <a:cs typeface="Arial" panose="020B0604020202020204" pitchFamily="34" charset="0"/>
              </a:rPr>
              <a:t> </a:t>
            </a:r>
            <a:r>
              <a:rPr kumimoji="0" lang="en-US" b="1" i="0" u="none" strike="noStrike" cap="none" normalizeH="0" baseline="0" dirty="0" smtClean="0">
                <a:ln>
                  <a:noFill/>
                </a:ln>
                <a:solidFill>
                  <a:srgbClr val="008000"/>
                </a:solidFill>
                <a:effectLst/>
                <a:latin typeface="Consolas" panose="020B0609020204030204" pitchFamily="49" charset="0"/>
                <a:cs typeface="Arial" panose="020B0604020202020204" pitchFamily="34" charset="0"/>
              </a:rPr>
              <a:t>extends</a:t>
            </a:r>
            <a:r>
              <a:rPr kumimoji="0" lang="en-US" b="0" i="0" u="none" strike="noStrike" cap="none" normalizeH="0" baseline="0" dirty="0" smtClean="0">
                <a:ln>
                  <a:noFill/>
                </a:ln>
                <a:solidFill>
                  <a:srgbClr val="BBBBBB"/>
                </a:solidFill>
                <a:effectLst/>
                <a:latin typeface="Consolas" panose="020B0609020204030204" pitchFamily="49" charset="0"/>
                <a:cs typeface="Arial" panose="020B0604020202020204" pitchFamily="34" charset="0"/>
              </a:rPr>
              <a:t> </a:t>
            </a:r>
            <a:r>
              <a:rPr kumimoji="0" lang="en-US" b="0" i="0" u="none" strike="noStrike" cap="none" normalizeH="0" baseline="0" dirty="0" smtClean="0">
                <a:ln>
                  <a:noFill/>
                </a:ln>
                <a:solidFill>
                  <a:schemeClr val="tx1"/>
                </a:solidFill>
                <a:effectLst/>
                <a:latin typeface="Consolas" panose="020B0609020204030204" pitchFamily="49" charset="0"/>
              </a:rPr>
              <a:t>A</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b="0" i="0" u="none" strike="noStrike" cap="none" normalizeH="0" baseline="0" dirty="0" smtClean="0">
                <a:ln>
                  <a:noFill/>
                </a:ln>
                <a:solidFill>
                  <a:srgbClr val="BBBBBB"/>
                </a:solidFill>
                <a:effectLst/>
                <a:latin typeface="Consolas" panose="020B0609020204030204" pitchFamily="49" charset="0"/>
                <a:cs typeface="Arial" panose="020B0604020202020204" pitchFamily="34" charset="0"/>
              </a:rPr>
              <a:t> </a:t>
            </a:r>
            <a:r>
              <a:rPr kumimoji="0" lang="en-US" b="0" i="0" u="none" strike="noStrike" cap="none" normalizeH="0" baseline="0" dirty="0" smtClean="0">
                <a:ln>
                  <a:noFill/>
                </a:ln>
                <a:solidFill>
                  <a:schemeClr val="tx1"/>
                </a:solidFill>
                <a:effectLst/>
                <a:latin typeface="Consolas" panose="020B0609020204030204" pitchFamily="49" charset="0"/>
                <a:cs typeface="Arial" panose="020B0604020202020204" pitchFamily="34" charset="0"/>
              </a:rPr>
              <a:t>{</a:t>
            </a:r>
          </a:p>
          <a:p>
            <a:pPr marL="0" marR="0" lvl="0" indent="0" algn="l" defTabSz="914400" rtl="0" eaLnBrk="0" fontAlgn="base" latinLnBrk="0" hangingPunct="0">
              <a:lnSpc>
                <a:spcPct val="100000"/>
              </a:lnSpc>
              <a:spcBef>
                <a:spcPct val="30000"/>
              </a:spcBef>
              <a:spcAft>
                <a:spcPct val="0"/>
              </a:spcAft>
              <a:buClrTx/>
              <a:buSzTx/>
              <a:buFontTx/>
              <a:buNone/>
              <a:tabLst/>
            </a:pPr>
            <a:endParaRPr lang="en-US" dirty="0">
              <a:latin typeface="Consolas" panose="020B0609020204030204" pitchFamily="49" charset="0"/>
              <a:cs typeface="Arial" panose="020B0604020202020204" pitchFamily="34" charset="0"/>
            </a:endParaRPr>
          </a:p>
          <a:p>
            <a:pPr lvl="0">
              <a:spcBef>
                <a:spcPct val="30000"/>
              </a:spcBef>
            </a:pPr>
            <a:r>
              <a:rPr kumimoji="0" lang="en-US" b="0" i="0" u="none" strike="noStrike" cap="none" normalizeH="0" baseline="0" dirty="0" smtClean="0">
                <a:ln>
                  <a:noFill/>
                </a:ln>
                <a:solidFill>
                  <a:srgbClr val="BBBBBB"/>
                </a:solidFill>
                <a:effectLst/>
                <a:latin typeface="Consolas" panose="020B0609020204030204" pitchFamily="49" charset="0"/>
                <a:cs typeface="Arial" panose="020B0604020202020204" pitchFamily="34" charset="0"/>
              </a:rPr>
              <a:t> </a:t>
            </a:r>
            <a:r>
              <a:rPr kumimoji="0" lang="en-US" b="0" i="0" u="none" strike="noStrike" cap="none" normalizeH="0" baseline="0" dirty="0" smtClean="0">
                <a:ln>
                  <a:noFill/>
                </a:ln>
                <a:solidFill>
                  <a:schemeClr val="tx1"/>
                </a:solidFill>
                <a:effectLst/>
                <a:latin typeface="Consolas" panose="020B0609020204030204" pitchFamily="49" charset="0"/>
                <a:cs typeface="Arial" panose="020B0604020202020204" pitchFamily="34" charset="0"/>
              </a:rPr>
              <a:t>} //</a:t>
            </a:r>
            <a:r>
              <a:rPr kumimoji="0" lang="en-GB" b="0" i="0" u="none" strike="noStrike" cap="none" normalizeH="0" baseline="0" dirty="0" smtClean="0">
                <a:ln>
                  <a:noFill/>
                </a:ln>
                <a:solidFill>
                  <a:schemeClr val="tx1"/>
                </a:solidFill>
                <a:effectLst/>
                <a:latin typeface="Consolas" panose="020B0609020204030204" pitchFamily="49" charset="0"/>
                <a:cs typeface="Arial" panose="020B0604020202020204" pitchFamily="34" charset="0"/>
              </a:rPr>
              <a:t> Error: Cannot inherit from a final class</a:t>
            </a:r>
            <a:endParaRPr kumimoji="0" lang="en-US" sz="16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rgbClr val="273239"/>
              </a:solidFill>
              <a:effectLst/>
              <a:latin typeface="Nunito"/>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600" b="0" i="0" u="none" strike="noStrike" cap="none" normalizeH="0" baseline="0" dirty="0" smtClean="0">
                <a:ln>
                  <a:noFill/>
                </a:ln>
                <a:solidFill>
                  <a:srgbClr val="C00000"/>
                </a:solidFill>
                <a:effectLst/>
                <a:latin typeface="Nunito"/>
              </a:rPr>
              <a:t>Final classes are useful when creating immutable classes such as String or wrapper classes.</a:t>
            </a:r>
            <a:endParaRPr kumimoji="0" lang="en-US" sz="2400" b="0" i="0" u="none" strike="noStrike" cap="none" normalizeH="0" baseline="0" dirty="0" smtClean="0">
              <a:ln>
                <a:noFill/>
              </a:ln>
              <a:solidFill>
                <a:srgbClr val="C00000"/>
              </a:solidFill>
              <a:effectLst/>
            </a:endParaRPr>
          </a:p>
        </p:txBody>
      </p:sp>
      <p:pic>
        <p:nvPicPr>
          <p:cNvPr id="7" name="object 7"/>
          <p:cNvPicPr/>
          <p:nvPr/>
        </p:nvPicPr>
        <p:blipFill>
          <a:blip r:embed="rId2" cstate="print"/>
          <a:stretch>
            <a:fillRect/>
          </a:stretch>
        </p:blipFill>
        <p:spPr>
          <a:xfrm>
            <a:off x="9513719" y="-228600"/>
            <a:ext cx="2648711" cy="1182624"/>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728</TotalTime>
  <Words>2422</Words>
  <Application>Microsoft Office PowerPoint</Application>
  <PresentationFormat>Widescreen</PresentationFormat>
  <Paragraphs>517</Paragraphs>
  <Slides>36</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36</vt:i4>
      </vt:variant>
    </vt:vector>
  </HeadingPairs>
  <TitlesOfParts>
    <vt:vector size="46" baseType="lpstr">
      <vt:lpstr>Arial</vt:lpstr>
      <vt:lpstr>Calibri</vt:lpstr>
      <vt:lpstr>Cambria Math</vt:lpstr>
      <vt:lpstr>Consolas</vt:lpstr>
      <vt:lpstr>Corbel</vt:lpstr>
      <vt:lpstr>Courier</vt:lpstr>
      <vt:lpstr>Courier New</vt:lpstr>
      <vt:lpstr>Nunito</vt:lpstr>
      <vt:lpstr>Times New Roman</vt:lpstr>
      <vt:lpstr>Office Theme</vt:lpstr>
      <vt:lpstr>Unit No 4  Inheritance  and     Interfaces in Java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super keyword</vt:lpstr>
      <vt:lpstr> Using super to Call Parent Method</vt:lpstr>
      <vt:lpstr>Inheriting Data Members</vt:lpstr>
      <vt:lpstr>Continue…</vt:lpstr>
      <vt:lpstr>PowerPoint Presentation</vt:lpstr>
      <vt:lpstr>PowerPoint Presentation</vt:lpstr>
      <vt:lpstr>Inheriting Methods</vt:lpstr>
      <vt:lpstr>Example: Inheriting and Overriding Methods</vt:lpstr>
      <vt:lpstr>Multilevel Inheritance in Java</vt:lpstr>
      <vt:lpstr>3. Example of Multilevel Inheritance</vt:lpstr>
      <vt:lpstr>4. Constructor Execution in Multilevel Inheritance</vt:lpstr>
      <vt:lpstr>Example of Constructor Execution Order</vt:lpstr>
      <vt:lpstr>5. Method Overriding in Multilevel Inheritance</vt:lpstr>
      <vt:lpstr>Stop Inheritance</vt:lpstr>
      <vt:lpstr>final Keyword in Java</vt:lpstr>
      <vt:lpstr>Final Variable</vt:lpstr>
      <vt:lpstr>2. Final Method</vt:lpstr>
      <vt:lpstr>A class declared as final cannot be extended.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 1 Java Overview</dc:title>
  <dc:creator/>
  <cp:lastModifiedBy>tourist</cp:lastModifiedBy>
  <cp:revision>117</cp:revision>
  <dcterms:created xsi:type="dcterms:W3CDTF">2026-01-06T09:09:10Z</dcterms:created>
  <dcterms:modified xsi:type="dcterms:W3CDTF">2026-02-23T12:43:25Z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2023-12-19T05:30:00Z</vt:filetime>
  </property>
  <property fmtid="{D5CDD505-2E9C-101B-9397-08002B2CF9AE}" pid="3" name="Creator">
    <vt:lpwstr>Microsoft® PowerPoint® 2016</vt:lpwstr>
  </property>
  <property fmtid="{D5CDD505-2E9C-101B-9397-08002B2CF9AE}" pid="4" name="LastSaved">
    <vt:filetime>2026-01-06T05:30:00Z</vt:filetime>
  </property>
  <property fmtid="{D5CDD505-2E9C-101B-9397-08002B2CF9AE}" pid="5" name="Producer">
    <vt:lpwstr>www.ilovepdf.com</vt:lpwstr>
  </property>
  <property fmtid="{D5CDD505-2E9C-101B-9397-08002B2CF9AE}" pid="6" name="ICV">
    <vt:lpwstr>4B488C2E14DE48E7A4D05C69C5FEA0B0_43</vt:lpwstr>
  </property>
  <property fmtid="{D5CDD505-2E9C-101B-9397-08002B2CF9AE}" pid="7" name="KSOProductBuildVer">
    <vt:lpwstr>1033-12.1.22533.22533</vt:lpwstr>
  </property>
</Properties>
</file>