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embeddedFontLst>
    <p:embeddedFont>
      <p:font typeface="Corbel"/>
      <p:regular r:id="rId46"/>
      <p:bold r:id="rId47"/>
      <p:italic r:id="rId48"/>
      <p:boldItalic r:id="rId49"/>
    </p:embeddedFont>
    <p:embeddedFont>
      <p:font typeface="Roboto Mono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italic.fntdata"/><Relationship Id="rId47" Type="http://schemas.openxmlformats.org/officeDocument/2006/relationships/font" Target="fonts/Corbel-bold.fntdata"/><Relationship Id="rId49" Type="http://schemas.openxmlformats.org/officeDocument/2006/relationships/font" Target="fonts/Corbel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bold.fntdata"/><Relationship Id="rId50" Type="http://schemas.openxmlformats.org/officeDocument/2006/relationships/font" Target="fonts/RobotoMono-regular.fntdata"/><Relationship Id="rId53" Type="http://schemas.openxmlformats.org/officeDocument/2006/relationships/font" Target="fonts/RobotoMono-boldItalic.fntdata"/><Relationship Id="rId52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00a1ad70_2_36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c200a1ad70_2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00a1ad70_2_4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c200a1ad70_2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200a1ad70_2_52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c200a1ad70_2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200a1ad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200a1ad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200a1ad70_2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200a1ad70_2_59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c200a1ad70_2_59:notes"/>
          <p:cNvSpPr txBox="1"/>
          <p:nvPr>
            <p:ph idx="12" type="sldNum"/>
          </p:nvPr>
        </p:nvSpPr>
        <p:spPr>
          <a:xfrm>
            <a:off x="3884414" y="8684684"/>
            <a:ext cx="2971800" cy="459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200a1ad70_2_67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c200a1ad70_2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200a1ad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200a1ad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200a1ad70_2_73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c200a1ad70_2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200a1ad70_2_79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c200a1ad70_2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00a1ad70_2_86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c200a1ad70_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200a1ad70_2_9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c200a1ad70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00a1ad70_2_102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c200a1ad70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200a1ad70_2_109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c200a1ad70_2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00a1ad70_2_11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c200a1ad70_2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00a1ad70_2_122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c200a1ad70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00a1ad70_2_128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c200a1ad70_2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00a1ad70_2_13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c200a1ad70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200a1ad70_2_14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c200a1ad70_2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200a1ad70_2_147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c200a1ad70_2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200a1ad70_2_153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3c200a1ad70_2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200a1ad70_2_160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c200a1ad70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200a1ad70_2_167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3c200a1ad70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200a1ad70_2_173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c200a1ad70_2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200a1ad70_2_180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c200a1ad70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200a1ad70_2_186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c200a1ad70_2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200a1ad70_2_193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3c200a1ad70_2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200a1ad70_2_199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c200a1ad70_2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200a1ad70_2_206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g3c200a1ad70_2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200a1ad70_2_212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g3c200a1ad70_2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200a1ad70_2_218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g3c200a1ad70_2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200a1ad70_2_22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g3c200a1ad70_2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200a1ad70_2_23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c200a1ad70_2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200a1ad70_2_237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c200a1ad70_2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200a1ad70_2_243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c200a1ad70_2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c200a1ad70_2_249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g3c200a1ad70_2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200a1ad70_2_255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c200a1ad70_2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200a1ad70_2_26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c200a1ad70_2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200a1ad70_2_267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c200a1ad70_2_2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200a1ad70_2_2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c200a1ad70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48564" y="2111178"/>
            <a:ext cx="2058829" cy="80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037713" y="2118770"/>
            <a:ext cx="4503419" cy="181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48564" y="2111178"/>
            <a:ext cx="2058829" cy="80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3029235" y="673951"/>
            <a:ext cx="520874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700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248564" y="2111178"/>
            <a:ext cx="2058829" cy="80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7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569213"/>
            <a:ext cx="2583180" cy="3998119"/>
          </a:xfrm>
          <a:custGeom>
            <a:rect b="b" l="l" r="r" t="t"/>
            <a:pathLst>
              <a:path extrusionOk="0" h="5330825" w="3444240">
                <a:moveTo>
                  <a:pt x="3444240" y="0"/>
                </a:moveTo>
                <a:lnTo>
                  <a:pt x="0" y="0"/>
                </a:lnTo>
                <a:lnTo>
                  <a:pt x="0" y="5330444"/>
                </a:lnTo>
                <a:lnTo>
                  <a:pt x="3444240" y="5330444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8D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8862821" y="569213"/>
            <a:ext cx="280988" cy="3998119"/>
          </a:xfrm>
          <a:custGeom>
            <a:rect b="b" l="l" r="r" t="t"/>
            <a:pathLst>
              <a:path extrusionOk="0" h="5330825" w="374650">
                <a:moveTo>
                  <a:pt x="374523" y="0"/>
                </a:moveTo>
                <a:lnTo>
                  <a:pt x="0" y="0"/>
                </a:lnTo>
                <a:lnTo>
                  <a:pt x="0" y="5330444"/>
                </a:lnTo>
                <a:lnTo>
                  <a:pt x="374523" y="5330444"/>
                </a:lnTo>
                <a:lnTo>
                  <a:pt x="374523" y="0"/>
                </a:lnTo>
                <a:close/>
              </a:path>
            </a:pathLst>
          </a:custGeom>
          <a:solidFill>
            <a:srgbClr val="C6C6C6">
              <a:alpha val="4901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248564" y="2111178"/>
            <a:ext cx="2058829" cy="80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037713" y="2118770"/>
            <a:ext cx="4503419" cy="1812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700" u="none" cap="none" strike="noStrike">
                <a:solidFill>
                  <a:srgbClr val="575757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linkedin.com/in/abhishek-chauhan-10b4991b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8862821" y="569213"/>
            <a:ext cx="280988" cy="3998119"/>
          </a:xfrm>
          <a:custGeom>
            <a:rect b="b" l="l" r="r" t="t"/>
            <a:pathLst>
              <a:path extrusionOk="0" h="5330825" w="374650">
                <a:moveTo>
                  <a:pt x="374523" y="0"/>
                </a:moveTo>
                <a:lnTo>
                  <a:pt x="0" y="0"/>
                </a:lnTo>
                <a:lnTo>
                  <a:pt x="0" y="5330444"/>
                </a:lnTo>
                <a:lnTo>
                  <a:pt x="374523" y="5330444"/>
                </a:lnTo>
                <a:lnTo>
                  <a:pt x="374523" y="0"/>
                </a:lnTo>
                <a:close/>
              </a:path>
            </a:pathLst>
          </a:custGeom>
          <a:solidFill>
            <a:srgbClr val="C6C6C6">
              <a:alpha val="4901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9"/>
          <p:cNvSpPr/>
          <p:nvPr/>
        </p:nvSpPr>
        <p:spPr>
          <a:xfrm>
            <a:off x="0" y="571500"/>
            <a:ext cx="6165056" cy="3698557"/>
          </a:xfrm>
          <a:custGeom>
            <a:rect b="b" l="l" r="r" t="t"/>
            <a:pathLst>
              <a:path extrusionOk="0" h="5334000" w="9140825">
                <a:moveTo>
                  <a:pt x="9140444" y="0"/>
                </a:moveTo>
                <a:lnTo>
                  <a:pt x="0" y="0"/>
                </a:lnTo>
                <a:lnTo>
                  <a:pt x="0" y="5334000"/>
                </a:lnTo>
                <a:lnTo>
                  <a:pt x="9140444" y="5334000"/>
                </a:lnTo>
                <a:lnTo>
                  <a:pt x="9140444" y="0"/>
                </a:lnTo>
                <a:close/>
              </a:path>
            </a:pathLst>
          </a:custGeom>
          <a:solidFill>
            <a:srgbClr val="40B8D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 txBox="1"/>
          <p:nvPr/>
        </p:nvSpPr>
        <p:spPr>
          <a:xfrm rot="6120000">
            <a:off x="7688580" y="1676400"/>
            <a:ext cx="1045369" cy="67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0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1371600" y="1646263"/>
            <a:ext cx="3600450" cy="104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558800" lvl="0" marL="12700" marR="0" rtl="0" algn="l">
              <a:lnSpc>
                <a:spcPct val="12227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         Unit – 3</a:t>
            </a:r>
            <a:br>
              <a:rPr lang="en" sz="3300">
                <a:latin typeface="Cambria"/>
                <a:ea typeface="Cambria"/>
                <a:cs typeface="Cambria"/>
                <a:sym typeface="Cambria"/>
              </a:rPr>
            </a:br>
            <a:r>
              <a:rPr lang="en" sz="2100">
                <a:latin typeface="Cambria"/>
                <a:ea typeface="Cambria"/>
                <a:cs typeface="Cambria"/>
                <a:sym typeface="Cambria"/>
              </a:rPr>
              <a:t>Classes, Objects and Methods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9636" y="1845897"/>
            <a:ext cx="2591464" cy="1149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255422" y="2161470"/>
            <a:ext cx="2204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operator</a:t>
            </a:r>
            <a:endParaRPr b="1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029050" y="535499"/>
            <a:ext cx="4623900" cy="3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-26035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Java, new is a keyword used for class instance creation and dynamic memory allocation, and is often informally called the new operator.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allocates memory dynamically for the object in heap memory at runtime.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automatically invokes the constructor and returns the object reference.</a:t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en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 operator is used to create an object of a class in Java.</a:t>
            </a:r>
            <a:r>
              <a:rPr b="1" i="0" lang="en" sz="15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5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66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266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4">
            <a:alphaModFix/>
          </a:blip>
          <a:srcRect b="0" l="0" r="0" t="-26789"/>
          <a:stretch/>
        </p:blipFill>
        <p:spPr>
          <a:xfrm>
            <a:off x="3768313" y="2916050"/>
            <a:ext cx="4158774" cy="17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274325" y="1937380"/>
            <a:ext cx="21675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no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operator</a:t>
            </a:r>
            <a:endParaRPr b="1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Example</a:t>
            </a:r>
            <a:r>
              <a:rPr b="0" i="0" lang="e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028950" y="1143000"/>
            <a:ext cx="5367900" cy="8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409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1600" marR="0" rtl="0" algn="l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200" y="472475"/>
            <a:ext cx="4439349" cy="411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48564" y="2111178"/>
            <a:ext cx="2058900" cy="6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new operator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Code Example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2735900" y="640675"/>
            <a:ext cx="56310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2"/>
                </a:solidFill>
              </a:rPr>
              <a:t>ID: 101</a:t>
            </a:r>
            <a:endParaRPr sz="1100">
              <a:solidFill>
                <a:schemeClr val="accent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2"/>
                </a:solidFill>
              </a:rPr>
              <a:t>Name: Rahul</a:t>
            </a:r>
            <a:endParaRPr sz="1100">
              <a:solidFill>
                <a:schemeClr val="accent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 this code, new Student(101, "Rahul") creates a Student object, allocates memory, and calls the constructor to initialize id and name.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reference returned by new is stored in s1, which is then used to call the display() method.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228600" y="2000250"/>
            <a:ext cx="21021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keyword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3401375" y="715524"/>
            <a:ext cx="48519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325">
            <a:spAutoFit/>
          </a:bodyPr>
          <a:lstStyle/>
          <a:p>
            <a:pPr indent="-260350" lvl="0" marL="266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this keyword refers to the current calling object of a class.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used to differentiate between instance variables and local variables having the same name.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also be used to call the current class constructor or pass the current object.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0350" lvl="0" marL="266700" marR="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return the current object from a method.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4900" y="3314474"/>
            <a:ext cx="3329295" cy="144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248564" y="2111178"/>
            <a:ext cx="205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this keyword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592875"/>
            <a:ext cx="5232224" cy="401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248564" y="2111178"/>
            <a:ext cx="2058900" cy="6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this keyword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2735900" y="640675"/>
            <a:ext cx="5631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2"/>
                </a:solidFill>
              </a:rPr>
              <a:t>ID: 101</a:t>
            </a:r>
            <a:endParaRPr sz="1100">
              <a:solidFill>
                <a:schemeClr val="accent2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2"/>
                </a:solidFill>
              </a:rPr>
              <a:t>Name: Rahul</a:t>
            </a:r>
            <a:endParaRPr sz="1100">
              <a:solidFill>
                <a:schemeClr val="accent2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this keyword refers to the current object of the class.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It is used to differentiate instance variables from constructor parameters when both have the same name.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114300" y="2111216"/>
            <a:ext cx="23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static Keyword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2686050" y="749152"/>
            <a:ext cx="60156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static keyword in Java is used to declare variables, methods, nested classes, and static blocks.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Static members belong to the class, not to individual objects.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Memory for static members is allocated only once and shared by all objects.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Static members can be accessed using the class name without creating an object.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main() method is static so that it can be executed without object creation.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48600" y="2111224"/>
            <a:ext cx="21222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Arial"/>
                <a:ea typeface="Arial"/>
                <a:cs typeface="Arial"/>
                <a:sym typeface="Arial"/>
              </a:rPr>
              <a:t>Static Keyword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2800350" y="457200"/>
            <a:ext cx="5857399" cy="4203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350" y="457188"/>
            <a:ext cx="5857399" cy="40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173700" y="2288625"/>
            <a:ext cx="17400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Static Variable Example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2857594" y="1423321"/>
            <a:ext cx="5005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5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 txBox="1"/>
          <p:nvPr>
            <p:ph type="title"/>
          </p:nvPr>
        </p:nvSpPr>
        <p:spPr>
          <a:xfrm>
            <a:off x="3242600" y="1876800"/>
            <a:ext cx="36903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no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2857500" y="2457450"/>
            <a:ext cx="4238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5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2325" y="638688"/>
            <a:ext cx="4811574" cy="387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400050" y="2288858"/>
            <a:ext cx="15678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Variable Example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2984450" y="564200"/>
            <a:ext cx="42831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2735900" y="640675"/>
            <a:ext cx="56310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 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101 Marwadi University</a:t>
            </a:r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102 Marwadi University</a:t>
            </a:r>
            <a:endParaRPr b="0" i="0" sz="15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variable college is shared by all objects of the class.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248575" y="1926050"/>
            <a:ext cx="1969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Method Example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2962085" y="1242152"/>
            <a:ext cx="44829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4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7600" y="784075"/>
            <a:ext cx="4714225" cy="34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248564" y="2111178"/>
            <a:ext cx="14169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Method Example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 txBox="1"/>
          <p:nvPr/>
        </p:nvSpPr>
        <p:spPr>
          <a:xfrm>
            <a:off x="2860175" y="573750"/>
            <a:ext cx="5114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Square: 25</a:t>
            </a:r>
            <a:endParaRPr b="0" i="0" sz="1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method square() is called using the class name without creating an object.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248602" y="2111216"/>
            <a:ext cx="2122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Nested Class Example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2800350" y="628650"/>
            <a:ext cx="5857399" cy="4203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193" name="Google Shape;1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350" y="585950"/>
            <a:ext cx="5748275" cy="393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/>
        </p:nvSpPr>
        <p:spPr>
          <a:xfrm>
            <a:off x="248575" y="2288625"/>
            <a:ext cx="19866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Static Nested Class Example</a:t>
            </a:r>
            <a:endParaRPr b="1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3"/>
          <p:cNvSpPr txBox="1"/>
          <p:nvPr>
            <p:ph type="title"/>
          </p:nvPr>
        </p:nvSpPr>
        <p:spPr>
          <a:xfrm>
            <a:off x="2971799" y="722160"/>
            <a:ext cx="4624500" cy="19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Nested Class</a:t>
            </a:r>
            <a:endParaRPr b="0" sz="150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r>
              <a:rPr b="0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static nested class does not require an object of the outer class.</a:t>
            </a:r>
            <a:endParaRPr b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lang="en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248600" y="2288854"/>
            <a:ext cx="15015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Example of Static Block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 txBox="1"/>
          <p:nvPr/>
        </p:nvSpPr>
        <p:spPr>
          <a:xfrm>
            <a:off x="2774125" y="592875"/>
            <a:ext cx="500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0300" y="715525"/>
            <a:ext cx="5296450" cy="35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248575" y="2111176"/>
            <a:ext cx="20589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Example of Static Block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8055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/>
        </p:nvSpPr>
        <p:spPr>
          <a:xfrm>
            <a:off x="2764575" y="564200"/>
            <a:ext cx="45987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Block Executed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Method Executed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static block runs first when the class is loaded, before the main() method is executed.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294284" y="2171662"/>
            <a:ext cx="205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finalize() Method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2743200" y="628650"/>
            <a:ext cx="5797391" cy="3929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finalize() method is called by the Garbage Collector before an object is destroyed.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is used to perform cleanup activities like releasing resources.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is defined in the Object class and available to all Java classes.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Points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is not a reserved keyword in Java.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It is called only once per object by the Garbage Collector.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finalize() method is deprecated since Java 9 and not recommended now.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protected void finalize() throws Throwable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294284" y="2171662"/>
            <a:ext cx="2058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Overriding 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finalize()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Method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4125" y="554625"/>
            <a:ext cx="5210399" cy="417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294284" y="2171662"/>
            <a:ext cx="20589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: Overriding </a:t>
            </a:r>
            <a:r>
              <a:rPr lang="en" sz="1300">
                <a:latin typeface="Roboto Mono"/>
                <a:ea typeface="Roboto Mono"/>
                <a:cs typeface="Roboto Mono"/>
                <a:sym typeface="Roboto Mono"/>
              </a:rPr>
              <a:t>finalize()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Method</a:t>
            </a:r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2686050" y="583300"/>
            <a:ext cx="6015900" cy="3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finalize() method</a:t>
            </a:r>
            <a:endParaRPr sz="150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object becomes unreachable, the Garbage Collector may call finalize().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overridden finalize() method performs cleanup before object destruction.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237" name="Google Shape;2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9750" y="2084300"/>
            <a:ext cx="5468550" cy="22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294284" y="2171662"/>
            <a:ext cx="2058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Import Statement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2723674" y="571500"/>
            <a:ext cx="5978366" cy="398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in Java is used to make classes, interfaces, or packages available so that their fully qualified names are not required.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code verbosity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Comes after package statement (if any)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Types: single-class import, package import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5" name="Google Shape;24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3675" y="2571750"/>
            <a:ext cx="4897600" cy="19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/>
        </p:nvSpPr>
        <p:spPr>
          <a:xfrm>
            <a:off x="299074" y="2288850"/>
            <a:ext cx="19398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 Statement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0"/>
          <p:cNvSpPr txBox="1"/>
          <p:nvPr/>
        </p:nvSpPr>
        <p:spPr>
          <a:xfrm>
            <a:off x="2726325" y="613625"/>
            <a:ext cx="5822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Statement Example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Scanner belongs to java.util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import, we would need java.util.Scanner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248564" y="2111178"/>
            <a:ext cx="2058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Import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1"/>
          <p:cNvSpPr txBox="1"/>
          <p:nvPr/>
        </p:nvSpPr>
        <p:spPr>
          <a:xfrm>
            <a:off x="2735900" y="592875"/>
            <a:ext cx="5267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import allows accessing static members of a class directly without using the class name.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Points: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Introduced in Java 5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constants and static methods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readability when used carefully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7125" y="2678950"/>
            <a:ext cx="4516537" cy="16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248564" y="2111178"/>
            <a:ext cx="2058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Static Import</a:t>
            </a:r>
            <a:endParaRPr/>
          </a:p>
        </p:txBody>
      </p:sp>
      <p:pic>
        <p:nvPicPr>
          <p:cNvPr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 txBox="1"/>
          <p:nvPr/>
        </p:nvSpPr>
        <p:spPr>
          <a:xfrm>
            <a:off x="2726325" y="613625"/>
            <a:ext cx="5822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sqrt() is a static method of Math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import removes the need to write Math.sqrt()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type="title"/>
          </p:nvPr>
        </p:nvSpPr>
        <p:spPr>
          <a:xfrm>
            <a:off x="248564" y="2111178"/>
            <a:ext cx="20589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Access Control</a:t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3"/>
          <p:cNvSpPr txBox="1"/>
          <p:nvPr/>
        </p:nvSpPr>
        <p:spPr>
          <a:xfrm>
            <a:off x="2774125" y="715525"/>
            <a:ext cx="5898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control in Java determines where a class, method, variable, or constructor can be accessed.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Times New Roman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implemented using access specifiers.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Times New Roman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4 types of access specifier/modifiers in Java: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700" y="2020300"/>
            <a:ext cx="4340425" cy="23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248564" y="2111178"/>
            <a:ext cx="2058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 sz="2100">
                <a:latin typeface="Times New Roman"/>
                <a:ea typeface="Times New Roman"/>
                <a:cs typeface="Times New Roman"/>
                <a:sym typeface="Times New Roman"/>
              </a:rPr>
              <a:t>Access Specifiers</a:t>
            </a:r>
            <a:endParaRPr sz="2100"/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 txBox="1"/>
          <p:nvPr/>
        </p:nvSpPr>
        <p:spPr>
          <a:xfrm>
            <a:off x="2802825" y="605625"/>
            <a:ext cx="5659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private:</a:t>
            </a: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private access specifier allows access only within the same class.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</a:t>
            </a: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access specifier)</a:t>
            </a:r>
            <a:r>
              <a:rPr b="1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no access specifier is used, members are accessible only within the same package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protected: </a:t>
            </a: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protected access specifier allows access within the same package and in subclasses of other packages.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1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 </a:t>
            </a: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public access specifier allows access from anywhere in the program.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/>
        </p:nvSpPr>
        <p:spPr>
          <a:xfrm>
            <a:off x="305950" y="2068200"/>
            <a:ext cx="18468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Table of Access Specifiers </a:t>
            </a:r>
            <a:endParaRPr b="1" i="0" sz="1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45"/>
          <p:cNvSpPr txBox="1"/>
          <p:nvPr>
            <p:ph type="title"/>
          </p:nvPr>
        </p:nvSpPr>
        <p:spPr>
          <a:xfrm>
            <a:off x="2800444" y="571462"/>
            <a:ext cx="5214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444" y="571462"/>
            <a:ext cx="5805524" cy="38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248564" y="2111178"/>
            <a:ext cx="20589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100">
                <a:latin typeface="Times New Roman"/>
                <a:ea typeface="Times New Roman"/>
                <a:cs typeface="Times New Roman"/>
                <a:sym typeface="Times New Roman"/>
              </a:rPr>
              <a:t>Access Specifiers Example</a:t>
            </a:r>
            <a:endParaRPr sz="2100"/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1950" y="583300"/>
            <a:ext cx="5497224" cy="397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7"/>
          <p:cNvSpPr txBox="1"/>
          <p:nvPr/>
        </p:nvSpPr>
        <p:spPr>
          <a:xfrm>
            <a:off x="213975" y="1969550"/>
            <a:ext cx="2244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Specifiers Example</a:t>
            </a:r>
            <a:endParaRPr b="1" i="0" sz="21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5" name="Google Shape;305;p47"/>
          <p:cNvSpPr txBox="1"/>
          <p:nvPr/>
        </p:nvSpPr>
        <p:spPr>
          <a:xfrm>
            <a:off x="2726325" y="613625"/>
            <a:ext cx="58224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→ same class only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→ same package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protected → same package + subclass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→ everywhere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/>
        </p:nvSpPr>
        <p:spPr>
          <a:xfrm>
            <a:off x="248602" y="2111216"/>
            <a:ext cx="21237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Class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8"/>
          <p:cNvSpPr txBox="1"/>
          <p:nvPr/>
        </p:nvSpPr>
        <p:spPr>
          <a:xfrm>
            <a:off x="3314700" y="1771517"/>
            <a:ext cx="7482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>
            <p:ph idx="1" type="body"/>
          </p:nvPr>
        </p:nvSpPr>
        <p:spPr>
          <a:xfrm>
            <a:off x="2743200" y="628650"/>
            <a:ext cx="5797500" cy="3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 nested class in Java is a class that is declared inside another class.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When the nested class is declared using the static keyword, it is called a static nested class.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Points</a:t>
            </a: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Declared inside another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Uses the static keyword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Does not require an object of the outer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Can access only static members of the outer class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228562" y="2114512"/>
            <a:ext cx="205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 sz="2200">
                <a:latin typeface="Times New Roman"/>
                <a:ea typeface="Times New Roman"/>
                <a:cs typeface="Times New Roman"/>
                <a:sym typeface="Times New Roman"/>
              </a:rPr>
              <a:t>Static Nested Class Example</a:t>
            </a:r>
            <a:endParaRPr sz="2200"/>
          </a:p>
        </p:txBody>
      </p:sp>
      <p:pic>
        <p:nvPicPr>
          <p:cNvPr id="319" name="Google Shape;31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0175" y="553625"/>
            <a:ext cx="5124050" cy="38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/>
        </p:nvSpPr>
        <p:spPr>
          <a:xfrm>
            <a:off x="248564" y="2288629"/>
            <a:ext cx="180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Nested Class Example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/>
        </p:nvSpPr>
        <p:spPr>
          <a:xfrm>
            <a:off x="2726325" y="613625"/>
            <a:ext cx="58224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is a static nested class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accessed using Outer.Inner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outer class object is required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access only static variable x of Outer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/>
        </p:nvSpPr>
        <p:spPr>
          <a:xfrm>
            <a:off x="248564" y="2111178"/>
            <a:ext cx="1800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</a:t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1"/>
          <p:cNvSpPr txBox="1"/>
          <p:nvPr/>
        </p:nvSpPr>
        <p:spPr>
          <a:xfrm>
            <a:off x="2707225" y="629350"/>
            <a:ext cx="55260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inner class in Java is a non-static class that is declared inside another class.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access all members (data and methods) of the outer class, including private members.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Points</a:t>
            </a:r>
            <a:r>
              <a:rPr b="1" i="0" lang="en" sz="14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i="0" sz="14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Declared inside another class without static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an object of the outer class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access both static and non-static members of the outer class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logically group classes and improve encapsulation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/>
        </p:nvSpPr>
        <p:spPr>
          <a:xfrm>
            <a:off x="248564" y="1926050"/>
            <a:ext cx="1565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 Example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8100" y="562550"/>
            <a:ext cx="5506799" cy="395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/>
        </p:nvSpPr>
        <p:spPr>
          <a:xfrm>
            <a:off x="248602" y="2111216"/>
            <a:ext cx="18183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12700" marR="0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 class Example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3"/>
          <p:cNvSpPr txBox="1"/>
          <p:nvPr/>
        </p:nvSpPr>
        <p:spPr>
          <a:xfrm>
            <a:off x="2726325" y="613625"/>
            <a:ext cx="58224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is a non-static inner class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created using the outer class object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Inner class can directly access x of the outer class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/>
        </p:nvSpPr>
        <p:spPr>
          <a:xfrm>
            <a:off x="267750" y="2000500"/>
            <a:ext cx="14835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Anonymous Inner Class</a:t>
            </a:r>
            <a:endParaRPr b="1" i="0" sz="2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4" name="Google Shape;35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4"/>
          <p:cNvSpPr txBox="1"/>
          <p:nvPr/>
        </p:nvSpPr>
        <p:spPr>
          <a:xfrm>
            <a:off x="2707225" y="629350"/>
            <a:ext cx="55260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anonymous inner class in Java is a class without a name that is created at the time of object creation to provide an immediate implementation of an interface or an abstract class.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Points</a:t>
            </a:r>
            <a:r>
              <a:rPr b="1" i="0" lang="en" sz="14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i="0" sz="14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no class name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one-time use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using new keyword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Commonly used in event handling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Arial"/>
              <a:buChar char="•"/>
            </a:pPr>
            <a:r>
              <a:rPr b="0" i="0" lang="en" sz="1700" u="none" cap="none" strike="noStrike">
                <a:solidFill>
                  <a:srgbClr val="5757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define constructors</a:t>
            </a:r>
            <a:endParaRPr b="0" i="0" sz="1700" u="none" cap="none" strike="noStrike">
              <a:solidFill>
                <a:srgbClr val="57575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/>
        </p:nvSpPr>
        <p:spPr>
          <a:xfrm>
            <a:off x="248564" y="2364829"/>
            <a:ext cx="16884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Anonymous Inner Class Example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1" name="Google Shape;36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95250"/>
            <a:ext cx="1986533" cy="886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9850" y="683563"/>
            <a:ext cx="5411201" cy="37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6"/>
          <p:cNvSpPr txBox="1"/>
          <p:nvPr/>
        </p:nvSpPr>
        <p:spPr>
          <a:xfrm>
            <a:off x="248564" y="2111178"/>
            <a:ext cx="16884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2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Anonymous Inner Class Example</a:t>
            </a:r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8" name="Google Shape;36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5289" y="-171450"/>
            <a:ext cx="1986533" cy="88696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6"/>
          <p:cNvSpPr txBox="1"/>
          <p:nvPr/>
        </p:nvSpPr>
        <p:spPr>
          <a:xfrm>
            <a:off x="2726325" y="613625"/>
            <a:ext cx="58224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Anonymous Inner Class Example</a:t>
            </a:r>
            <a:endParaRPr b="0" i="0" sz="13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separate class is created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 Demo is implemented directly inside main()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anonymous inner class overrides the show() method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a class is required only once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7"/>
          <p:cNvSpPr txBox="1"/>
          <p:nvPr/>
        </p:nvSpPr>
        <p:spPr>
          <a:xfrm>
            <a:off x="2716800" y="1408725"/>
            <a:ext cx="5325300" cy="12926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57"/>
          <p:cNvSpPr txBox="1"/>
          <p:nvPr/>
        </p:nvSpPr>
        <p:spPr>
          <a:xfrm>
            <a:off x="2821925" y="2470538"/>
            <a:ext cx="58224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Prepared by - </a:t>
            </a:r>
            <a:r>
              <a:rPr b="1" i="0" lang="en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Prof. Abhishek Chauhan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