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322" r:id="rId6"/>
    <p:sldId id="323" r:id="rId7"/>
    <p:sldId id="264" r:id="rId8"/>
    <p:sldId id="265" r:id="rId9"/>
    <p:sldId id="267" r:id="rId10"/>
    <p:sldId id="273" r:id="rId11"/>
    <p:sldId id="324" r:id="rId12"/>
    <p:sldId id="325" r:id="rId13"/>
    <p:sldId id="277" r:id="rId14"/>
    <p:sldId id="275" r:id="rId15"/>
    <p:sldId id="276" r:id="rId16"/>
    <p:sldId id="326" r:id="rId17"/>
    <p:sldId id="329" r:id="rId18"/>
    <p:sldId id="330" r:id="rId19"/>
    <p:sldId id="331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6" r:id="rId38"/>
    <p:sldId id="307" r:id="rId39"/>
    <p:sldId id="308" r:id="rId40"/>
    <p:sldId id="309" r:id="rId41"/>
    <p:sldId id="310" r:id="rId42"/>
    <p:sldId id="311" r:id="rId43"/>
    <p:sldId id="315" r:id="rId44"/>
    <p:sldId id="316" r:id="rId45"/>
    <p:sldId id="317" r:id="rId46"/>
    <p:sldId id="318" r:id="rId47"/>
    <p:sldId id="319" r:id="rId4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96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756" y="144"/>
      </p:cViewPr>
      <p:guideLst>
        <p:guide orient="horz" pos="2896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85F6CB-5D68-4B01-A823-61EA4316B785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7AB0E-F1B4-48F3-8850-B14535095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70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C7AB0E-F1B4-48F3-8850-B145350957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89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038980" y="898601"/>
            <a:ext cx="6944995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575757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7B6DA-3EC3-4197-A37C-F09A359EB3BA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575757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E014C-FA46-4D08-AB2A-FA372BF391C2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6763B-C997-400E-846C-B243ACAF01E6}" type="datetime1">
              <a:rPr lang="en-US" smtClean="0"/>
              <a:t>1/7/2026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550CD-00B6-4816-82D6-0E44B8820028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020CF-39B7-49DA-8F92-4B95540293AB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58951"/>
            <a:ext cx="3444240" cy="5330825"/>
          </a:xfrm>
          <a:custGeom>
            <a:avLst/>
            <a:gdLst/>
            <a:ahLst/>
            <a:cxnLst/>
            <a:rect l="l" t="t" r="r" b="b"/>
            <a:pathLst>
              <a:path w="3444240" h="5330825">
                <a:moveTo>
                  <a:pt x="3444240" y="0"/>
                </a:moveTo>
                <a:lnTo>
                  <a:pt x="0" y="0"/>
                </a:lnTo>
                <a:lnTo>
                  <a:pt x="0" y="5330444"/>
                </a:lnTo>
                <a:lnTo>
                  <a:pt x="3444240" y="5330444"/>
                </a:lnTo>
                <a:lnTo>
                  <a:pt x="3444240" y="0"/>
                </a:lnTo>
                <a:close/>
              </a:path>
            </a:pathLst>
          </a:custGeom>
          <a:solidFill>
            <a:srgbClr val="40B8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817095" y="758951"/>
            <a:ext cx="374650" cy="5330825"/>
          </a:xfrm>
          <a:custGeom>
            <a:avLst/>
            <a:gdLst/>
            <a:ahLst/>
            <a:cxnLst/>
            <a:rect l="l" t="t" r="r" b="b"/>
            <a:pathLst>
              <a:path w="374650" h="5330825">
                <a:moveTo>
                  <a:pt x="374523" y="0"/>
                </a:moveTo>
                <a:lnTo>
                  <a:pt x="0" y="0"/>
                </a:lnTo>
                <a:lnTo>
                  <a:pt x="0" y="5330444"/>
                </a:lnTo>
                <a:lnTo>
                  <a:pt x="374523" y="5330444"/>
                </a:lnTo>
                <a:lnTo>
                  <a:pt x="374523" y="0"/>
                </a:lnTo>
                <a:close/>
              </a:path>
            </a:pathLst>
          </a:custGeom>
          <a:solidFill>
            <a:srgbClr val="C6C6C6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1419" y="2814904"/>
            <a:ext cx="2745105" cy="1068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50284" y="2825026"/>
            <a:ext cx="6004559" cy="2416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575757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E8EC1-CF5C-4372-A278-13494E3E3775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17095" y="758951"/>
            <a:ext cx="374650" cy="5330825"/>
          </a:xfrm>
          <a:custGeom>
            <a:avLst/>
            <a:gdLst/>
            <a:ahLst/>
            <a:cxnLst/>
            <a:rect l="l" t="t" r="r" b="b"/>
            <a:pathLst>
              <a:path w="374650" h="5330825">
                <a:moveTo>
                  <a:pt x="374523" y="0"/>
                </a:moveTo>
                <a:lnTo>
                  <a:pt x="0" y="0"/>
                </a:lnTo>
                <a:lnTo>
                  <a:pt x="0" y="5330444"/>
                </a:lnTo>
                <a:lnTo>
                  <a:pt x="374523" y="5330444"/>
                </a:lnTo>
                <a:lnTo>
                  <a:pt x="374523" y="0"/>
                </a:lnTo>
                <a:close/>
              </a:path>
            </a:pathLst>
          </a:custGeom>
          <a:solidFill>
            <a:srgbClr val="C6C6C6">
              <a:alpha val="4980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62000"/>
            <a:ext cx="8220075" cy="4931410"/>
          </a:xfrm>
          <a:custGeom>
            <a:avLst/>
            <a:gdLst/>
            <a:ahLst/>
            <a:cxnLst/>
            <a:rect l="l" t="t" r="r" b="b"/>
            <a:pathLst>
              <a:path w="9140825" h="5334000">
                <a:moveTo>
                  <a:pt x="9140444" y="0"/>
                </a:moveTo>
                <a:lnTo>
                  <a:pt x="0" y="0"/>
                </a:lnTo>
                <a:lnTo>
                  <a:pt x="0" y="5334000"/>
                </a:lnTo>
                <a:lnTo>
                  <a:pt x="9140444" y="5334000"/>
                </a:lnTo>
                <a:lnTo>
                  <a:pt x="9140444" y="0"/>
                </a:lnTo>
                <a:close/>
              </a:path>
            </a:pathLst>
          </a:custGeom>
          <a:solidFill>
            <a:srgbClr val="40B8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 rot="6120000">
            <a:off x="10251440" y="2235200"/>
            <a:ext cx="1393825" cy="9004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2200">
              <a:latin typeface="Times New Roman" panose="02020503050405090304"/>
              <a:cs typeface="Times New Roman" panose="02020503050405090304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2200">
              <a:latin typeface="Times New Roman" panose="02020503050405090304"/>
              <a:cs typeface="Times New Roman" panose="02020503050405090304"/>
            </a:endParaRPr>
          </a:p>
          <a:p>
            <a:pPr marR="141605" algn="ctr">
              <a:lnSpc>
                <a:spcPct val="100000"/>
              </a:lnSpc>
              <a:spcBef>
                <a:spcPts val="5"/>
              </a:spcBef>
            </a:pPr>
            <a:endParaRPr sz="20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07004" y="2195017"/>
            <a:ext cx="3561079" cy="1378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749935">
              <a:lnSpc>
                <a:spcPts val="5380"/>
              </a:lnSpc>
              <a:spcBef>
                <a:spcPts val="90"/>
              </a:spcBef>
            </a:pPr>
            <a:r>
              <a:rPr sz="4400" spc="-10" dirty="0">
                <a:latin typeface="Cambria"/>
                <a:cs typeface="Cambria"/>
              </a:rPr>
              <a:t>Unit</a:t>
            </a:r>
            <a:r>
              <a:rPr sz="4400" spc="-155" dirty="0">
                <a:latin typeface="Cambria"/>
                <a:cs typeface="Cambria"/>
              </a:rPr>
              <a:t> </a:t>
            </a:r>
            <a:r>
              <a:rPr sz="4400" dirty="0">
                <a:latin typeface="Cambria"/>
                <a:cs typeface="Cambria"/>
              </a:rPr>
              <a:t>–</a:t>
            </a:r>
            <a:r>
              <a:rPr sz="4400" spc="-190" dirty="0">
                <a:latin typeface="Cambria"/>
                <a:cs typeface="Cambria"/>
              </a:rPr>
              <a:t> </a:t>
            </a:r>
            <a:r>
              <a:rPr sz="4400" spc="-50" dirty="0">
                <a:latin typeface="Cambria"/>
                <a:cs typeface="Cambria"/>
              </a:rPr>
              <a:t>1 </a:t>
            </a:r>
            <a:r>
              <a:rPr sz="4400" spc="-80" dirty="0">
                <a:latin typeface="Cambria"/>
                <a:cs typeface="Cambria"/>
              </a:rPr>
              <a:t>Java</a:t>
            </a:r>
            <a:r>
              <a:rPr sz="4400" spc="-165" dirty="0">
                <a:latin typeface="Cambria"/>
                <a:cs typeface="Cambria"/>
              </a:rPr>
              <a:t> </a:t>
            </a:r>
            <a:r>
              <a:rPr sz="4400" spc="-80" dirty="0">
                <a:latin typeface="Cambria"/>
                <a:cs typeface="Cambria"/>
              </a:rPr>
              <a:t>Overview</a:t>
            </a:r>
            <a:endParaRPr sz="4400">
              <a:latin typeface="Cambria"/>
              <a:cs typeface="Cambri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9515" y="2461196"/>
            <a:ext cx="3455285" cy="15330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0563" y="2881960"/>
            <a:ext cx="2938780" cy="18732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065" marR="5080" indent="0" algn="ctr">
              <a:lnSpc>
                <a:spcPct val="100000"/>
              </a:lnSpc>
              <a:spcBef>
                <a:spcPts val="110"/>
              </a:spcBef>
              <a:buNone/>
            </a:pPr>
            <a:r>
              <a:rPr sz="4000" b="1" spc="-5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Introduction </a:t>
            </a:r>
            <a:r>
              <a:rPr sz="4000" b="1" spc="-2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endParaRPr sz="4000">
              <a:latin typeface="Times New Roman" panose="02020503050405090304" charset="0"/>
              <a:cs typeface="Times New Roman" panose="02020503050405090304" charset="0"/>
            </a:endParaRPr>
          </a:p>
          <a:p>
            <a:pPr marL="0" indent="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sz="4000" b="1" spc="-2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endParaRPr sz="40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8726" y="1142745"/>
            <a:ext cx="6165215" cy="47179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90"/>
              </a:spcBef>
              <a:buFont typeface="Arial" panose="020B0604020202090204" pitchFamily="34" charset="0"/>
              <a:buChar char="•"/>
            </a:pPr>
            <a:r>
              <a:rPr sz="2000" spc="-20" dirty="0">
                <a:latin typeface="Times New Roman" panose="02020503050405090304" charset="0"/>
                <a:cs typeface="Times New Roman" panose="02020503050405090304" charset="0"/>
              </a:rPr>
              <a:t>B</a:t>
            </a:r>
            <a:r>
              <a:rPr sz="2000" spc="-8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led</a:t>
            </a:r>
            <a:r>
              <a:rPr sz="2000" spc="-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0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35" dirty="0">
                <a:latin typeface="Times New Roman" panose="02020503050405090304" charset="0"/>
                <a:cs typeface="Times New Roman" panose="02020503050405090304" charset="0"/>
              </a:rPr>
              <a:t>C,</a:t>
            </a:r>
            <a:r>
              <a:rPr sz="2000" spc="-9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C</a:t>
            </a:r>
            <a:r>
              <a:rPr sz="2000" spc="-6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80" dirty="0">
                <a:latin typeface="Times New Roman" panose="02020503050405090304" charset="0"/>
                <a:cs typeface="Times New Roman" panose="02020503050405090304" charset="0"/>
              </a:rPr>
              <a:t>evolved</a:t>
            </a:r>
            <a:r>
              <a:rPr sz="2000" spc="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60" dirty="0">
                <a:latin typeface="Times New Roman" panose="02020503050405090304" charset="0"/>
                <a:cs typeface="Times New Roman" panose="02020503050405090304" charset="0"/>
              </a:rPr>
              <a:t>into</a:t>
            </a:r>
            <a:r>
              <a:rPr sz="20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5" dirty="0">
                <a:latin typeface="Times New Roman" panose="02020503050405090304" charset="0"/>
                <a:cs typeface="Times New Roman" panose="02020503050405090304" charset="0"/>
              </a:rPr>
              <a:t>C++,</a:t>
            </a:r>
            <a:r>
              <a:rPr sz="2000"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and</a:t>
            </a:r>
            <a:r>
              <a:rPr sz="2000" spc="-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C++</a:t>
            </a:r>
            <a:r>
              <a:rPr sz="20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set</a:t>
            </a:r>
            <a:r>
              <a:rPr sz="2000" spc="-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000" spc="-8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5" dirty="0">
                <a:latin typeface="Times New Roman" panose="02020503050405090304" charset="0"/>
                <a:cs typeface="Times New Roman" panose="02020503050405090304" charset="0"/>
              </a:rPr>
              <a:t>stage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5" dirty="0"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2000"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000" spc="-10" dirty="0" smtClean="0">
                <a:latin typeface="Times New Roman" panose="02020503050405090304" charset="0"/>
                <a:cs typeface="Times New Roman" panose="02020503050405090304" charset="0"/>
              </a:rPr>
              <a:t>.</a:t>
            </a:r>
            <a:endParaRPr lang="en-US" sz="2000" spc="-10" dirty="0" smtClean="0">
              <a:latin typeface="Times New Roman" panose="02020503050405090304" charset="0"/>
              <a:cs typeface="Times New Roman" panose="02020503050405090304" charset="0"/>
            </a:endParaRPr>
          </a:p>
          <a:p>
            <a:pPr marL="355600" indent="-342900">
              <a:lnSpc>
                <a:spcPct val="150000"/>
              </a:lnSpc>
              <a:spcBef>
                <a:spcPts val="90"/>
              </a:spcBef>
              <a:buFont typeface="Arial" panose="020B0604020202090204" pitchFamily="34" charset="0"/>
              <a:buChar char="•"/>
            </a:pPr>
            <a:r>
              <a:rPr lang="en-US" sz="2000" b="1" spc="-20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James</a:t>
            </a:r>
            <a:r>
              <a:rPr lang="en-US" sz="2000" b="1" spc="-150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b="1" spc="-10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Gosling </a:t>
            </a:r>
            <a:r>
              <a:rPr lang="en-US" sz="2000" b="0" spc="-10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(Father of Java) ,</a:t>
            </a:r>
            <a:r>
              <a:rPr lang="en-US" sz="2000" b="0" spc="-90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b="0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Patrick</a:t>
            </a:r>
            <a:r>
              <a:rPr lang="en-US" sz="2000" b="0" spc="-5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b="0" spc="-10" dirty="0" err="1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Naughton</a:t>
            </a:r>
            <a:r>
              <a:rPr lang="en-US" sz="2000" b="0" spc="-10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,</a:t>
            </a:r>
            <a:r>
              <a:rPr lang="en-US" sz="2000" b="0" spc="-195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b="0" spc="-20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Chris</a:t>
            </a:r>
            <a:r>
              <a:rPr lang="en-US" sz="2000" b="0" spc="-229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b="0" dirty="0" err="1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Warth</a:t>
            </a:r>
            <a:r>
              <a:rPr lang="en-US" sz="2000" b="0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,</a:t>
            </a:r>
            <a:r>
              <a:rPr lang="en-US" sz="2000" b="0" spc="-35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b="0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Ed</a:t>
            </a:r>
            <a:r>
              <a:rPr lang="en-US" sz="2000" b="0" spc="-30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b="0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Frank,</a:t>
            </a:r>
            <a:r>
              <a:rPr lang="en-US" sz="2000" b="0" spc="-35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b="0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and</a:t>
            </a:r>
            <a:r>
              <a:rPr lang="en-US" sz="2000" b="0" spc="-65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b="0" spc="-20" dirty="0" smtClean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Mike </a:t>
            </a:r>
            <a:r>
              <a:rPr lang="en-US" sz="2000" spc="-10" dirty="0" smtClean="0">
                <a:latin typeface="Times New Roman" panose="02020503050405090304" charset="0"/>
                <a:cs typeface="Times New Roman" panose="02020503050405090304" charset="0"/>
              </a:rPr>
              <a:t>Sheridan</a:t>
            </a:r>
            <a:r>
              <a:rPr lang="en-US" sz="2000" spc="-50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spc="-10" dirty="0" smtClean="0">
                <a:latin typeface="Times New Roman" panose="02020503050405090304" charset="0"/>
                <a:cs typeface="Times New Roman" panose="02020503050405090304" charset="0"/>
              </a:rPr>
              <a:t>at</a:t>
            </a:r>
            <a:r>
              <a:rPr lang="en-US" sz="2000" spc="-135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" sz="2000" b="1" spc="-135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Sun </a:t>
            </a:r>
            <a:r>
              <a:rPr lang="en-US" sz="2000" b="1" spc="-10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Microsystems</a:t>
            </a:r>
            <a:r>
              <a:rPr lang="en-US" sz="2000" spc="-10" dirty="0" smtClean="0">
                <a:latin typeface="Times New Roman" panose="02020503050405090304" charset="0"/>
                <a:cs typeface="Times New Roman" panose="02020503050405090304" charset="0"/>
              </a:rPr>
              <a:t>.</a:t>
            </a:r>
          </a:p>
          <a:p>
            <a:pPr marL="355600" indent="-342900">
              <a:lnSpc>
                <a:spcPct val="150000"/>
              </a:lnSpc>
              <a:spcBef>
                <a:spcPts val="90"/>
              </a:spcBef>
              <a:buFont typeface="Arial" panose="020B0604020202090204" pitchFamily="34" charset="0"/>
              <a:buChar char="•"/>
            </a:pPr>
            <a:r>
              <a:rPr lang="en-US" sz="2000" dirty="0" smtClean="0">
                <a:latin typeface="Times New Roman" panose="02020503050405090304" charset="0"/>
                <a:cs typeface="Times New Roman" panose="02020503050405090304" charset="0"/>
              </a:rPr>
              <a:t>It</a:t>
            </a:r>
            <a:r>
              <a:rPr lang="en-US" sz="2000" spc="-55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dirty="0" smtClean="0">
                <a:latin typeface="Times New Roman" panose="02020503050405090304" charset="0"/>
                <a:cs typeface="Times New Roman" panose="02020503050405090304" charset="0"/>
              </a:rPr>
              <a:t>took</a:t>
            </a:r>
            <a:r>
              <a:rPr lang="en-US" sz="2000" spc="-65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dirty="0" smtClean="0">
                <a:latin typeface="Times New Roman" panose="02020503050405090304" charset="0"/>
                <a:cs typeface="Times New Roman" panose="02020503050405090304" charset="0"/>
              </a:rPr>
              <a:t>8</a:t>
            </a:r>
            <a:r>
              <a:rPr lang="en-US" sz="2000" spc="-50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dirty="0" smtClean="0">
                <a:latin typeface="Times New Roman" panose="02020503050405090304" charset="0"/>
                <a:cs typeface="Times New Roman" panose="02020503050405090304" charset="0"/>
              </a:rPr>
              <a:t>months</a:t>
            </a:r>
            <a:r>
              <a:rPr lang="en-US" sz="2000" spc="-65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dirty="0" smtClean="0"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lang="en-US" sz="2000" spc="-60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spc="-10" dirty="0" smtClean="0">
                <a:latin typeface="Times New Roman" panose="02020503050405090304" charset="0"/>
                <a:cs typeface="Times New Roman" panose="02020503050405090304" charset="0"/>
              </a:rPr>
              <a:t>develop</a:t>
            </a:r>
            <a:r>
              <a:rPr lang="en-US" sz="2000" spc="60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dirty="0" smtClean="0"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lang="en-US" sz="2000" spc="-60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dirty="0" smtClean="0">
                <a:latin typeface="Times New Roman" panose="02020503050405090304" charset="0"/>
                <a:cs typeface="Times New Roman" panose="02020503050405090304" charset="0"/>
              </a:rPr>
              <a:t>first</a:t>
            </a:r>
            <a:r>
              <a:rPr lang="en-US" sz="2000" spc="-50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dirty="0" smtClean="0">
                <a:latin typeface="Times New Roman" panose="02020503050405090304" charset="0"/>
                <a:cs typeface="Times New Roman" panose="02020503050405090304" charset="0"/>
              </a:rPr>
              <a:t>working</a:t>
            </a:r>
            <a:r>
              <a:rPr lang="en-US" sz="2000" spc="-55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dirty="0" smtClean="0">
                <a:latin typeface="Times New Roman" panose="02020503050405090304" charset="0"/>
                <a:cs typeface="Times New Roman" panose="02020503050405090304" charset="0"/>
              </a:rPr>
              <a:t>version</a:t>
            </a:r>
            <a:r>
              <a:rPr lang="en-US" sz="2000" spc="-30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dirty="0" smtClean="0">
                <a:latin typeface="Times New Roman" panose="02020503050405090304" charset="0"/>
                <a:cs typeface="Times New Roman" panose="02020503050405090304" charset="0"/>
              </a:rPr>
              <a:t>called</a:t>
            </a:r>
            <a:r>
              <a:rPr lang="en-US" sz="2000" spc="-65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spc="-10" dirty="0" smtClean="0">
                <a:latin typeface="Times New Roman" panose="02020503050405090304" charset="0"/>
                <a:cs typeface="Times New Roman" panose="02020503050405090304" charset="0"/>
              </a:rPr>
              <a:t>“Oak”</a:t>
            </a:r>
            <a:endParaRPr lang="en-US" sz="2000" dirty="0" smtClean="0">
              <a:latin typeface="Times New Roman" panose="02020503050405090304" charset="0"/>
              <a:cs typeface="Times New Roman" panose="02020503050405090304" charset="0"/>
            </a:endParaRPr>
          </a:p>
          <a:p>
            <a:pPr marL="355600" indent="-342900">
              <a:lnSpc>
                <a:spcPct val="150000"/>
              </a:lnSpc>
              <a:spcBef>
                <a:spcPts val="90"/>
              </a:spcBef>
              <a:buFont typeface="Arial" panose="020B0604020202090204" pitchFamily="34" charset="0"/>
              <a:buChar char="•"/>
            </a:pPr>
            <a:r>
              <a:rPr lang="en-US" sz="2000" dirty="0" smtClean="0">
                <a:latin typeface="Times New Roman" panose="02020503050405090304" charset="0"/>
                <a:cs typeface="Times New Roman" panose="02020503050405090304" charset="0"/>
              </a:rPr>
              <a:t>Renamed</a:t>
            </a:r>
            <a:r>
              <a:rPr lang="en-US" sz="2000" spc="-10" dirty="0" smtClean="0">
                <a:latin typeface="Times New Roman" panose="02020503050405090304" charset="0"/>
                <a:cs typeface="Times New Roman" panose="02020503050405090304" charset="0"/>
              </a:rPr>
              <a:t> as </a:t>
            </a:r>
            <a:r>
              <a:rPr lang="en-US" sz="2000" spc="-65" dirty="0" smtClean="0">
                <a:latin typeface="Times New Roman" panose="02020503050405090304" charset="0"/>
                <a:cs typeface="Times New Roman" panose="02020503050405090304" charset="0"/>
              </a:rPr>
              <a:t>"Java"</a:t>
            </a:r>
            <a:r>
              <a:rPr lang="en-US" sz="2000" spc="-45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dirty="0" smtClean="0">
                <a:latin typeface="Times New Roman" panose="02020503050405090304" charset="0"/>
                <a:cs typeface="Times New Roman" panose="02020503050405090304" charset="0"/>
              </a:rPr>
              <a:t>in</a:t>
            </a:r>
            <a:r>
              <a:rPr lang="en-US" sz="2000" spc="-35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000" spc="-10" dirty="0" smtClean="0">
                <a:latin typeface="Times New Roman" panose="02020503050405090304" charset="0"/>
                <a:cs typeface="Times New Roman" panose="02020503050405090304" charset="0"/>
              </a:rPr>
              <a:t>1995.</a:t>
            </a:r>
            <a:endParaRPr lang="en-US" sz="2000" dirty="0" smtClean="0">
              <a:latin typeface="Times New Roman" panose="02020503050405090304" charset="0"/>
              <a:cs typeface="Times New Roman" panose="02020503050405090304" charset="0"/>
            </a:endParaRPr>
          </a:p>
          <a:p>
            <a:pPr marL="355600" indent="-342900">
              <a:spcBef>
                <a:spcPts val="90"/>
              </a:spcBef>
              <a:buFont typeface="Arial" panose="020B0604020202090204" pitchFamily="34" charset="0"/>
              <a:buChar char="•"/>
            </a:pPr>
            <a:endParaRPr lang="en-US" sz="2000" dirty="0" smtClean="0">
              <a:latin typeface="Times New Roman" panose="02020503050405090304" charset="0"/>
              <a:cs typeface="Times New Roman" panose="02020503050405090304" charset="0"/>
            </a:endParaRPr>
          </a:p>
          <a:p>
            <a:pPr marL="355600" indent="-342900">
              <a:lnSpc>
                <a:spcPct val="100000"/>
              </a:lnSpc>
              <a:spcBef>
                <a:spcPts val="90"/>
              </a:spcBef>
              <a:buFont typeface="Arial" panose="020B0604020202090204" pitchFamily="34" charset="0"/>
              <a:buChar char="•"/>
            </a:pPr>
            <a:endParaRPr lang="en-US" sz="2000" spc="-10" dirty="0" smtClean="0">
              <a:latin typeface="Times New Roman" panose="02020503050405090304" charset="0"/>
              <a:cs typeface="Times New Roman" panose="02020503050405090304" charset="0"/>
            </a:endParaRPr>
          </a:p>
          <a:p>
            <a:pPr marL="355600" indent="-342900">
              <a:lnSpc>
                <a:spcPct val="100000"/>
              </a:lnSpc>
              <a:spcBef>
                <a:spcPts val="90"/>
              </a:spcBef>
              <a:buFont typeface="Arial" panose="020B0604020202090204" pitchFamily="34" charset="0"/>
              <a:buChar char="•"/>
            </a:pPr>
            <a:endParaRPr sz="20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0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760" y="2583180"/>
            <a:ext cx="2889885" cy="2092960"/>
          </a:xfrm>
          <a:prstGeom prst="rect">
            <a:avLst/>
          </a:prstGeom>
        </p:spPr>
        <p:txBody>
          <a:bodyPr vert="horz" wrap="square" lIns="0" tIns="66040" rIns="0" bIns="0" rtlCol="0">
            <a:noAutofit/>
          </a:bodyPr>
          <a:lstStyle/>
          <a:p>
            <a:pPr marL="12065" marR="5080" indent="5080" algn="ctr">
              <a:lnSpc>
                <a:spcPct val="90000"/>
              </a:lnSpc>
              <a:spcBef>
                <a:spcPts val="520"/>
              </a:spcBef>
            </a:pPr>
            <a:r>
              <a:rPr sz="3600" b="1" spc="-2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Java </a:t>
            </a:r>
            <a:r>
              <a:rPr sz="3600" b="1" spc="-1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language </a:t>
            </a:r>
            <a:r>
              <a:rPr sz="3600" b="1" spc="-5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Specification</a:t>
            </a:r>
            <a:r>
              <a:rPr lang="en-US" altLang="" sz="3600" b="1" spc="-5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,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  <a:p>
            <a:pPr marL="6350" algn="ctr">
              <a:lnSpc>
                <a:spcPts val="3915"/>
              </a:lnSpc>
              <a:tabLst>
                <a:tab pos="296545" algn="l"/>
              </a:tabLst>
            </a:pPr>
            <a:r>
              <a:rPr sz="3600" b="1" spc="-2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API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32250" y="1126490"/>
            <a:ext cx="6484620" cy="352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200" spc="-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Language</a:t>
            </a:r>
            <a:r>
              <a:rPr sz="2200" spc="-1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Specification: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038600" y="1524000"/>
            <a:ext cx="7157085" cy="39709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105"/>
              </a:spcBef>
              <a:tabLst>
                <a:tab pos="6829425" algn="l"/>
              </a:tabLst>
            </a:pP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spc="28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200" spc="27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language</a:t>
            </a:r>
            <a:r>
              <a:rPr sz="2200" spc="29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specification</a:t>
            </a:r>
            <a:r>
              <a:rPr sz="2200" spc="29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spc="27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z="2200" spc="28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technical</a:t>
            </a:r>
            <a:r>
              <a:rPr sz="2200" spc="26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definition</a:t>
            </a:r>
            <a:r>
              <a:rPr lang="en-US" altLang="" sz="22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of </a:t>
            </a: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the</a:t>
            </a:r>
            <a:r>
              <a:rPr sz="220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Java</a:t>
            </a:r>
            <a:r>
              <a:rPr sz="2200" spc="-4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programming</a:t>
            </a:r>
            <a:r>
              <a:rPr sz="2200" spc="-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language’s</a:t>
            </a:r>
            <a:r>
              <a:rPr sz="2200" spc="-4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syntax</a:t>
            </a:r>
            <a:r>
              <a:rPr sz="2200" spc="-8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2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and</a:t>
            </a:r>
            <a:r>
              <a:rPr sz="2200" spc="4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200" spc="-10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semantics.</a:t>
            </a:r>
            <a:endParaRPr lang="en-US" sz="220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12700">
              <a:lnSpc>
                <a:spcPts val="2510"/>
              </a:lnSpc>
              <a:spcBef>
                <a:spcPts val="105"/>
              </a:spcBef>
              <a:tabLst>
                <a:tab pos="6829425" algn="l"/>
              </a:tabLst>
            </a:pPr>
            <a:endParaRPr lang="en-US" altLang="zh-CN" sz="2200" b="1" spc="-10" dirty="0" smtClean="0">
              <a:solidFill>
                <a:schemeClr val="tx1"/>
              </a:solidFill>
              <a:latin typeface="Times New Roman" panose="02020503050405090304" charset="0"/>
              <a:ea typeface="等线"/>
              <a:cs typeface="Times New Roman" panose="02020503050405090304" charset="0"/>
              <a:sym typeface="+mn-ea"/>
            </a:endParaRPr>
          </a:p>
          <a:p>
            <a:pPr marL="12700">
              <a:lnSpc>
                <a:spcPts val="2510"/>
              </a:lnSpc>
              <a:spcBef>
                <a:spcPts val="105"/>
              </a:spcBef>
              <a:tabLst>
                <a:tab pos="6829425" algn="l"/>
              </a:tabLst>
            </a:pPr>
            <a:r>
              <a:rPr lang="en-US" altLang="zh-CN" sz="2200" b="1" dirty="0" smtClean="0">
                <a:latin typeface="Times New Roman" panose="02020503050405090304" charset="0"/>
                <a:ea typeface="等线"/>
                <a:cs typeface="Times New Roman" panose="02020503050405090304" charset="0"/>
              </a:rPr>
              <a:t>API: </a:t>
            </a:r>
            <a:r>
              <a:rPr lang="en-US" altLang="zh-CN" sz="2200" b="0" dirty="0" smtClean="0">
                <a:latin typeface="Times New Roman" panose="02020503050405090304" charset="0"/>
                <a:ea typeface="等线"/>
                <a:cs typeface="Times New Roman" panose="02020503050405090304" charset="0"/>
              </a:rPr>
              <a:t>The  application program interface (API)  also  known  as library,  contains  predefined  classes  and  interfaces  for developing Java programs.</a:t>
            </a: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  <a:buNone/>
            </a:pPr>
            <a:endParaRPr lang="en-US" altLang="zh-CN" sz="2200" b="0" dirty="0" smtClean="0">
              <a:latin typeface="Times New Roman" panose="02020503050405090304" charset="0"/>
              <a:ea typeface="等线"/>
              <a:cs typeface="Times New Roman" panose="02020503050405090304" charset="0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200" b="0" dirty="0" smtClean="0">
                <a:latin typeface="Times New Roman" panose="02020503050405090304" charset="0"/>
                <a:ea typeface="等线"/>
                <a:cs typeface="Times New Roman" panose="02020503050405090304" charset="0"/>
              </a:rPr>
              <a:t>Java SE (Standard Edition) : for Client side programming. </a:t>
            </a: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2200" b="0" dirty="0" smtClean="0">
                <a:latin typeface="Times New Roman" panose="02020503050405090304" charset="0"/>
                <a:ea typeface="等线"/>
                <a:cs typeface="Times New Roman" panose="02020503050405090304" charset="0"/>
              </a:rPr>
              <a:t>Java EE (Enterprise Edition) : for Server side programming.</a:t>
            </a: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buNone/>
            </a:pPr>
            <a:r>
              <a:rPr lang="en-US" altLang="zh-CN" sz="2200" b="0" dirty="0" smtClean="0">
                <a:latin typeface="Times New Roman" panose="02020503050405090304" charset="0"/>
                <a:ea typeface="等线"/>
                <a:cs typeface="Times New Roman" panose="02020503050405090304" charset="0"/>
              </a:rPr>
              <a:t>Java ME (Micro Edition) : for Mobile devices.</a:t>
            </a:r>
            <a:endParaRPr sz="22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ts val="2510"/>
              </a:lnSpc>
              <a:spcBef>
                <a:spcPts val="105"/>
              </a:spcBef>
              <a:tabLst>
                <a:tab pos="6829425" algn="l"/>
              </a:tabLst>
            </a:pP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	</a:t>
            </a:r>
            <a:endParaRPr sz="22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134620">
              <a:lnSpc>
                <a:spcPts val="2510"/>
              </a:lnSpc>
            </a:pPr>
            <a:endParaRPr sz="22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8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2667000"/>
            <a:ext cx="2802890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6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JDK,</a:t>
            </a:r>
            <a:r>
              <a:rPr sz="3600" b="1" spc="-10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3600" b="1" spc="-5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IDE</a:t>
            </a:r>
            <a:r>
              <a:rPr lang="en-US" altLang="" sz="3600" b="1" spc="-5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, JVM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32250" y="1402080"/>
            <a:ext cx="867410" cy="351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JDK: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535169" y="1981485"/>
            <a:ext cx="6469380" cy="98167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55"/>
              </a:spcBef>
            </a:pPr>
            <a:r>
              <a:rPr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000" b="1" spc="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1" spc="-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Development</a:t>
            </a:r>
            <a:r>
              <a:rPr sz="2000" b="1" spc="-8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1" spc="-10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Toolkit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: </a:t>
            </a:r>
            <a:r>
              <a:rPr sz="2000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000" spc="40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JDK</a:t>
            </a:r>
            <a:r>
              <a:rPr sz="2000" spc="4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consists</a:t>
            </a:r>
            <a:r>
              <a:rPr sz="2000" spc="4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sz="2000" spc="1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z="2000" spc="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set</a:t>
            </a:r>
            <a:r>
              <a:rPr sz="2000" spc="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sz="2000" spc="-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separate</a:t>
            </a:r>
            <a:r>
              <a:rPr sz="2000" spc="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programs,</a:t>
            </a:r>
            <a:r>
              <a:rPr sz="2000" spc="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each</a:t>
            </a:r>
            <a:r>
              <a:rPr sz="2000" spc="4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invoked</a:t>
            </a:r>
            <a:r>
              <a:rPr lang="en-US" sz="2000" spc="-10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from</a:t>
            </a:r>
            <a:r>
              <a:rPr sz="2000" spc="160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z="2000" spc="1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command</a:t>
            </a:r>
            <a:r>
              <a:rPr sz="2000" spc="1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line,</a:t>
            </a:r>
            <a:r>
              <a:rPr sz="2000" spc="16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2000" spc="1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developing</a:t>
            </a:r>
            <a:r>
              <a:rPr sz="2000" spc="1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and</a:t>
            </a:r>
            <a:r>
              <a:rPr sz="2000" spc="16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testing</a:t>
            </a:r>
            <a:r>
              <a:rPr sz="2000" spc="16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Java </a:t>
            </a:r>
            <a:r>
              <a:rPr sz="2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programs.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32250" y="3463925"/>
            <a:ext cx="669290" cy="351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1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IDE: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35169" y="3959225"/>
            <a:ext cx="6537325" cy="1638935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15"/>
              </a:spcBef>
            </a:pPr>
            <a:r>
              <a:rPr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Integrated</a:t>
            </a:r>
            <a:r>
              <a:rPr sz="2000" b="1" spc="-8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Development</a:t>
            </a:r>
            <a:r>
              <a:rPr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1" spc="-10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Environment</a:t>
            </a:r>
            <a:r>
              <a:rPr lang="en-US" sz="2000" b="1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: </a:t>
            </a:r>
            <a:r>
              <a:rPr sz="2000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It</a:t>
            </a:r>
            <a:r>
              <a:rPr sz="2000" spc="40" dirty="0" smtClean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000" spc="6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used</a:t>
            </a:r>
            <a:r>
              <a:rPr sz="2000" spc="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2000" spc="4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developing</a:t>
            </a:r>
            <a:r>
              <a:rPr sz="2000" spc="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000" spc="6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programs</a:t>
            </a:r>
            <a:r>
              <a:rPr sz="2000" spc="4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quickly</a:t>
            </a:r>
            <a:r>
              <a:rPr sz="2000" spc="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where</a:t>
            </a:r>
            <a:r>
              <a:rPr sz="2000" spc="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Editing,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compiling,</a:t>
            </a:r>
            <a:r>
              <a:rPr sz="2000" spc="47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building,</a:t>
            </a:r>
            <a:r>
              <a:rPr sz="2000" spc="48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debugging,</a:t>
            </a:r>
            <a:r>
              <a:rPr sz="2000" spc="48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and</a:t>
            </a:r>
            <a:r>
              <a:rPr sz="2000" spc="47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online</a:t>
            </a:r>
            <a:r>
              <a:rPr sz="2000" spc="47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help</a:t>
            </a:r>
            <a:r>
              <a:rPr sz="2000" spc="47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 </a:t>
            </a:r>
            <a:r>
              <a:rPr sz="2000" spc="-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are </a:t>
            </a:r>
            <a:r>
              <a:rPr sz="2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integrated</a:t>
            </a:r>
            <a:r>
              <a:rPr sz="2000" spc="-4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</a:t>
            </a:r>
            <a:r>
              <a:rPr sz="2000" spc="-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one</a:t>
            </a:r>
            <a:r>
              <a:rPr sz="2000" spc="-6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graphical</a:t>
            </a:r>
            <a:r>
              <a:rPr sz="2000" spc="-6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user</a:t>
            </a:r>
            <a:r>
              <a:rPr sz="2000" spc="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interface.</a:t>
            </a:r>
            <a:endParaRPr sz="20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 algn="just">
              <a:lnSpc>
                <a:spcPct val="100000"/>
              </a:lnSpc>
              <a:spcBef>
                <a:spcPts val="315"/>
              </a:spcBef>
            </a:pPr>
            <a:r>
              <a:rPr sz="2000" b="1" i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Ex.</a:t>
            </a:r>
            <a:r>
              <a:rPr sz="2000" b="1" i="1" spc="-1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1" i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NetBeans,</a:t>
            </a:r>
            <a:r>
              <a:rPr sz="2000" b="1" i="1" spc="-7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1" i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Eclipse</a:t>
            </a:r>
            <a:r>
              <a:rPr sz="2000" b="1" i="1" spc="-4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1" i="1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etc.</a:t>
            </a:r>
          </a:p>
        </p:txBody>
      </p:sp>
      <p:pic>
        <p:nvPicPr>
          <p:cNvPr id="8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419" y="2814904"/>
            <a:ext cx="2745105" cy="1107440"/>
          </a:xfrm>
        </p:spPr>
        <p:txBody>
          <a:bodyPr/>
          <a:lstStyle/>
          <a:p>
            <a:r>
              <a:rPr spc="-6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JDK,</a:t>
            </a:r>
            <a:r>
              <a:rPr spc="-10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pc="-5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IDE</a:t>
            </a:r>
            <a:r>
              <a:rPr lang="en-US" altLang="en-US" spc="-5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, JVM</a:t>
            </a:r>
            <a:endParaRPr lang="en-US" b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0" y="914400"/>
            <a:ext cx="7428230" cy="5020945"/>
          </a:xfrm>
        </p:spPr>
        <p:txBody>
          <a:bodyPr>
            <a:noAutofit/>
          </a:bodyPr>
          <a:lstStyle/>
          <a:p>
            <a:r>
              <a:rPr lang="en-US" b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JVM:</a:t>
            </a:r>
          </a:p>
          <a:p>
            <a:r>
              <a:rPr lang="en-US" altLang="en-US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JVM (Java Virtual Machine) is a software “engine” that runs Java programs (and other JVM languages like Kotlin/Scala).</a:t>
            </a:r>
          </a:p>
          <a:p>
            <a:endParaRPr lang="en-US" altLang="en-US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Java code is first compiled into bytecode (.class files), not directly into machine code.</a:t>
            </a:r>
          </a:p>
          <a:p>
            <a:endParaRPr lang="en-US" altLang="en-US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 same bytecode runs on any OS (Windows/Linux/macOS) as long as a JVM exists → “Write Once, Run Anywhere.”</a:t>
            </a:r>
          </a:p>
          <a:p>
            <a:endParaRPr lang="en-US" altLang="en-US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JVM’s main job: load classes, verify bytecode, execute instructions, and manage memory.</a:t>
            </a:r>
          </a:p>
        </p:txBody>
      </p:sp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814955"/>
            <a:ext cx="3071495" cy="1107440"/>
          </a:xfrm>
        </p:spPr>
        <p:txBody>
          <a:bodyPr wrap="square"/>
          <a:lstStyle/>
          <a:p>
            <a:r>
              <a:rPr lang="en-US">
                <a:latin typeface="Times New Roman" panose="02020503050405090304" charset="0"/>
                <a:cs typeface="Times New Roman" panose="02020503050405090304" charset="0"/>
              </a:rPr>
              <a:t>Platform Independence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3581400" y="998855"/>
            <a:ext cx="8046085" cy="4062730"/>
          </a:xfrm>
        </p:spPr>
        <p:txBody>
          <a:bodyPr wrap="square"/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" panose="02020503050405090304" charset="0"/>
                <a:cs typeface="Times New Roman" panose="02020503050405090304" charset="0"/>
              </a:rPr>
              <a:t>Java is platform independent because it doesn’t compile directly to OS-specific machine code.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" panose="02020503050405090304" charset="0"/>
                <a:cs typeface="Times New Roman" panose="02020503050405090304" charset="0"/>
              </a:rPr>
              <a:t>Java source code (.java) is compiled by javac into bytecode (.class).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" panose="02020503050405090304" charset="0"/>
                <a:cs typeface="Times New Roman" panose="02020503050405090304" charset="0"/>
              </a:rPr>
              <a:t>Bytecode is the same for all platforms (Windows/Linux/macOS).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" panose="02020503050405090304" charset="0"/>
                <a:cs typeface="Times New Roman" panose="02020503050405090304" charset="0"/>
              </a:rPr>
              <a:t>Each platform has its own JVM, and the JVM converts bytecode into native machine code for that OS/CPU.</a:t>
            </a: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en-US">
              <a:latin typeface="Times New Roman" panose="02020503050405090304" charset="0"/>
              <a:cs typeface="Times New Roman" panose="0202050305040509030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en-US" altLang="en-US">
                <a:latin typeface="Times New Roman" panose="02020503050405090304" charset="0"/>
                <a:cs typeface="Times New Roman" panose="02020503050405090304" charset="0"/>
              </a:rPr>
              <a:t>So the same program can run anywhere with a JVM installed → “Write Once, Run Anywhere (WORA)”.</a:t>
            </a:r>
          </a:p>
        </p:txBody>
      </p:sp>
      <p:pic>
        <p:nvPicPr>
          <p:cNvPr id="6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149" y="3051505"/>
            <a:ext cx="183007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3600" b="0" spc="-65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Bytecode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10126" y="1897761"/>
            <a:ext cx="6673850" cy="318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000" b="0" spc="-9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bytecode</a:t>
            </a:r>
            <a:r>
              <a:rPr sz="2000" b="0" spc="1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000" b="0" spc="-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000" b="0" spc="-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instruction</a:t>
            </a:r>
            <a:r>
              <a:rPr sz="2000" b="0" spc="-7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set</a:t>
            </a:r>
            <a:r>
              <a:rPr sz="2000" b="0" spc="-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2000" b="0" spc="-1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000" b="0" spc="-9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000" b="0" spc="-1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Virtual</a:t>
            </a:r>
            <a:r>
              <a:rPr sz="2000" b="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Machine.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10000" y="2540635"/>
            <a:ext cx="7152005" cy="674370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As</a:t>
            </a:r>
            <a:r>
              <a:rPr sz="2000" b="0" spc="1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soon</a:t>
            </a:r>
            <a:r>
              <a:rPr sz="2000" b="0" spc="-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as</a:t>
            </a:r>
            <a:r>
              <a:rPr sz="2000" b="0" spc="-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z="2000" b="0" spc="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000" b="0" spc="-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program</a:t>
            </a:r>
            <a:r>
              <a:rPr sz="2000" b="0" spc="1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000" b="0" spc="-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compiled,</a:t>
            </a:r>
            <a:r>
              <a:rPr sz="2000" b="0" spc="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000" b="0" spc="1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bytecode</a:t>
            </a:r>
            <a:r>
              <a:rPr sz="2000" b="0" spc="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000" b="0" spc="1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generated</a:t>
            </a:r>
            <a:r>
              <a:rPr lang="en-US" sz="20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</a:t>
            </a:r>
            <a:r>
              <a:rPr sz="2000" b="0" spc="-4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the</a:t>
            </a:r>
            <a:r>
              <a:rPr sz="2000" b="0" spc="-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form</a:t>
            </a:r>
            <a:r>
              <a:rPr sz="2000" b="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of</a:t>
            </a:r>
            <a:r>
              <a:rPr sz="2000" b="0" spc="-1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</a:t>
            </a:r>
            <a:r>
              <a:rPr sz="2000" b="0" spc="-6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.class</a:t>
            </a:r>
            <a:r>
              <a:rPr sz="2000" b="0" spc="-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000" b="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file</a:t>
            </a:r>
            <a:endParaRPr lang="en-US" sz="2000" b="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0000" y="3276600"/>
            <a:ext cx="7564755" cy="976630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465"/>
              </a:spcBef>
            </a:pP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Highly</a:t>
            </a:r>
            <a:r>
              <a:rPr sz="2000" b="0" spc="204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optimized</a:t>
            </a:r>
            <a:r>
              <a:rPr sz="2000" b="0" spc="229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set</a:t>
            </a:r>
            <a:r>
              <a:rPr sz="2000" b="0" spc="2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sz="2000" b="0" spc="21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instructions</a:t>
            </a:r>
            <a:r>
              <a:rPr sz="2000" b="0" spc="2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designed</a:t>
            </a:r>
            <a:r>
              <a:rPr sz="2000" b="0" spc="2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000" b="0" spc="21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2000" b="0" spc="2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executed</a:t>
            </a:r>
            <a:r>
              <a:rPr sz="2000" b="0" spc="27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by</a:t>
            </a:r>
            <a:endParaRPr sz="2000" b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42545" algn="just">
              <a:lnSpc>
                <a:spcPct val="100000"/>
              </a:lnSpc>
              <a:spcBef>
                <a:spcPts val="1365"/>
              </a:spcBef>
            </a:pP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000" b="0" spc="-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000" b="0" spc="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run-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time</a:t>
            </a:r>
            <a:r>
              <a:rPr sz="2000" b="0" spc="-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system,</a:t>
            </a:r>
            <a:r>
              <a:rPr sz="2000" b="0" spc="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which</a:t>
            </a:r>
            <a:r>
              <a:rPr sz="2000" b="0" spc="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000" b="0" spc="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called the</a:t>
            </a:r>
            <a:r>
              <a:rPr sz="2000" b="0" spc="-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000" b="0" spc="-1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Virtual</a:t>
            </a:r>
            <a:r>
              <a:rPr sz="2000" b="0" spc="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Machine</a:t>
            </a:r>
            <a:r>
              <a:rPr sz="20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(JVM)</a:t>
            </a:r>
            <a:endParaRPr sz="2000" b="0" spc="-1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8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2510" y="1502410"/>
            <a:ext cx="8248015" cy="397573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00" y="3051810"/>
            <a:ext cx="209042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65" dirty="0">
                <a:latin typeface="Times New Roman" panose="02020503050405090304" charset="0"/>
                <a:cs typeface="Times New Roman" panose="02020503050405090304" charset="0"/>
              </a:rPr>
              <a:t>Bytecode</a:t>
            </a:r>
          </a:p>
        </p:txBody>
      </p:sp>
      <p:pic>
        <p:nvPicPr>
          <p:cNvPr id="5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419" y="2568066"/>
            <a:ext cx="2625725" cy="205867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20"/>
              </a:spcBef>
            </a:pPr>
            <a:r>
              <a:rPr dirty="0"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pc="-11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pc="-85" dirty="0">
                <a:latin typeface="Times New Roman" panose="02020503050405090304" charset="0"/>
                <a:cs typeface="Times New Roman" panose="02020503050405090304" charset="0"/>
              </a:rPr>
              <a:t>First</a:t>
            </a:r>
            <a:r>
              <a:rPr spc="-21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pc="-65" dirty="0">
                <a:latin typeface="Times New Roman" panose="02020503050405090304" charset="0"/>
                <a:cs typeface="Times New Roman" panose="02020503050405090304" charset="0"/>
              </a:rPr>
              <a:t>Simple </a:t>
            </a:r>
            <a:r>
              <a:rPr spc="-10" dirty="0">
                <a:latin typeface="Times New Roman" panose="02020503050405090304" charset="0"/>
                <a:cs typeface="Times New Roman" panose="02020503050405090304" charset="0"/>
              </a:rPr>
              <a:t>Program </a:t>
            </a:r>
            <a:r>
              <a:rPr spc="-75" dirty="0">
                <a:latin typeface="Times New Roman" panose="02020503050405090304" charset="0"/>
                <a:cs typeface="Times New Roman" panose="02020503050405090304" charset="0"/>
              </a:rPr>
              <a:t>Example</a:t>
            </a:r>
            <a:r>
              <a:rPr spc="-1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pc="-20" dirty="0">
                <a:latin typeface="Times New Roman" panose="02020503050405090304" charset="0"/>
                <a:cs typeface="Times New Roman" panose="02020503050405090304" charset="0"/>
              </a:rPr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9446" y="1656202"/>
            <a:ext cx="5977255" cy="349631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lang="en-US" altLang=""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import java.util.*;</a:t>
            </a: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class</a:t>
            </a:r>
            <a:r>
              <a:rPr sz="2000" spc="-1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Example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0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95580">
              <a:lnSpc>
                <a:spcPct val="100000"/>
              </a:lnSpc>
              <a:spcBef>
                <a:spcPts val="990"/>
              </a:spcBef>
            </a:pP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public</a:t>
            </a:r>
            <a:r>
              <a:rPr sz="2000" spc="-114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static</a:t>
            </a:r>
            <a:r>
              <a:rPr sz="2000" spc="-1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void</a:t>
            </a:r>
            <a:r>
              <a:rPr sz="2000" spc="-1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main(String</a:t>
            </a:r>
            <a:r>
              <a:rPr sz="2000" spc="-10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args[])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95580">
              <a:lnSpc>
                <a:spcPct val="100000"/>
              </a:lnSpc>
              <a:spcBef>
                <a:spcPts val="1010"/>
              </a:spcBef>
            </a:pPr>
            <a:r>
              <a:rPr sz="20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{</a:t>
            </a:r>
          </a:p>
          <a:p>
            <a:pPr marL="195580">
              <a:lnSpc>
                <a:spcPct val="100000"/>
              </a:lnSpc>
              <a:spcBef>
                <a:spcPts val="1010"/>
              </a:spcBef>
            </a:pP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System.out.println(“First</a:t>
            </a:r>
            <a:r>
              <a:rPr sz="2000" spc="-1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lang="en-US" altLang="" sz="200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program");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95580">
              <a:lnSpc>
                <a:spcPct val="100000"/>
              </a:lnSpc>
              <a:spcBef>
                <a:spcPts val="985"/>
              </a:spcBef>
            </a:pPr>
            <a:r>
              <a:rPr sz="20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0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419" y="2814904"/>
            <a:ext cx="1889125" cy="10687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pc="-60" dirty="0"/>
              <a:t>Java</a:t>
            </a:r>
            <a:r>
              <a:rPr spc="-110" dirty="0"/>
              <a:t> </a:t>
            </a:r>
            <a:r>
              <a:rPr spc="-60" dirty="0"/>
              <a:t>Data </a:t>
            </a:r>
            <a:r>
              <a:rPr spc="-10" dirty="0"/>
              <a:t>Types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400"/>
            <a:ext cx="12192000" cy="6458712"/>
          </a:xfrm>
          <a:prstGeom prst="rect">
            <a:avLst/>
          </a:prstGeom>
        </p:spPr>
      </p:pic>
      <p:pic>
        <p:nvPicPr>
          <p:cNvPr id="5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470" y="2814955"/>
            <a:ext cx="2829560" cy="676910"/>
          </a:xfrm>
        </p:spPr>
        <p:txBody>
          <a:bodyPr wrap="square"/>
          <a:lstStyle/>
          <a:p>
            <a:r>
              <a:rPr lang="en-US" sz="4400" b="0">
                <a:latin typeface="Times New Roman" panose="02020503050405090304" charset="0"/>
                <a:cs typeface="Times New Roman" panose="02020503050405090304" charset="0"/>
              </a:rPr>
              <a:t>Datatypes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33800" y="609600"/>
            <a:ext cx="7809865" cy="5604510"/>
          </a:xfrm>
        </p:spPr>
        <p:txBody>
          <a:bodyPr>
            <a:noAutofit/>
          </a:bodyPr>
          <a:lstStyle/>
          <a:p>
            <a:r>
              <a:rPr lang="en-US" altLang="en-US" sz="24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1) Primitive Data Types :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These store actual values directly and have fixed sizes.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byte: 1 byte, range -128 to 127 (useful for saving memory)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short: 2 bytes, range -32,768 to 32,767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: 4 bytes, range -2,147,483,648 to 2,147,483,647 (most common for integers)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long: 8 bytes, for very large integers (use L at end like 10000000000L)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float: 4 bytes, decimal values (use f like 3.14f)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double: 8 bytes, more precision than float (default for decimals)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char: 2 bytes, stores a single character (Unicode) like 'A', '₹'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: stores true/false (size depends on JVM implementation)</a:t>
            </a:r>
          </a:p>
        </p:txBody>
      </p:sp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470" y="2814955"/>
            <a:ext cx="2829560" cy="676910"/>
          </a:xfrm>
        </p:spPr>
        <p:txBody>
          <a:bodyPr wrap="square"/>
          <a:lstStyle/>
          <a:p>
            <a:r>
              <a:rPr lang="en-US" sz="4400" b="0">
                <a:latin typeface="Times New Roman" panose="02020503050405090304" charset="0"/>
                <a:cs typeface="Times New Roman" panose="02020503050405090304" charset="0"/>
              </a:rPr>
              <a:t>Datatypes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33800" y="838200"/>
            <a:ext cx="7809865" cy="5604510"/>
          </a:xfrm>
        </p:spPr>
        <p:txBody>
          <a:bodyPr>
            <a:noAutofit/>
          </a:bodyPr>
          <a:lstStyle/>
          <a:p>
            <a:r>
              <a:rPr lang="en-US" altLang="en-US" sz="24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2) Non-Primitive (Reference) Data Types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These store the address/reference of objects in memory.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String: e.g., "Hello"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Arrays: e.g.,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[] a = {1,2,3};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Classes / Objects: e.g., Student s = new Student();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Interfaces: e.g., Runnable r;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Quick difference: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Primitive → direct value, fixed size, faster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Reference → points to an object, can have methods, generally more flexible</a:t>
            </a:r>
          </a:p>
        </p:txBody>
      </p:sp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19" y="3051505"/>
            <a:ext cx="143319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6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Literals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62399" y="962880"/>
            <a:ext cx="6165850" cy="30610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4615">
              <a:spcBef>
                <a:spcPts val="110"/>
              </a:spcBef>
            </a:pP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Literals</a:t>
            </a:r>
            <a:r>
              <a:rPr sz="2200" b="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are</a:t>
            </a:r>
            <a:r>
              <a:rPr sz="2200" b="0" spc="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syntactic</a:t>
            </a:r>
            <a:r>
              <a:rPr sz="2200" b="0" spc="-1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representations</a:t>
            </a:r>
            <a:r>
              <a:rPr sz="2200" b="0" spc="-1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sz="2200" b="0" spc="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 err="1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boolean</a:t>
            </a:r>
            <a:r>
              <a:rPr sz="2200" b="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,</a:t>
            </a:r>
            <a:r>
              <a:rPr lang="en-US" sz="2200" b="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character,</a:t>
            </a:r>
            <a:r>
              <a:rPr lang="en-US" sz="2200" b="0" spc="-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numeric,</a:t>
            </a:r>
            <a:r>
              <a:rPr lang="en-US" sz="2200" b="0" spc="-7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or</a:t>
            </a:r>
            <a:r>
              <a:rPr lang="en-US" sz="2200" b="0" spc="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string</a:t>
            </a:r>
            <a:r>
              <a:rPr lang="en-US" sz="2200" b="0" spc="-9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data.</a:t>
            </a:r>
            <a:r>
              <a:rPr lang="en-US" sz="2200" b="0" dirty="0">
                <a:latin typeface="Times New Roman" panose="02020503050405090304" charset="0"/>
                <a:cs typeface="Times New Roman" panose="02020503050405090304" charset="0"/>
              </a:rPr>
              <a:t/>
            </a:r>
            <a:br>
              <a:rPr lang="en-US" sz="2200" b="0" dirty="0">
                <a:latin typeface="Times New Roman" panose="02020503050405090304" charset="0"/>
                <a:cs typeface="Times New Roman" panose="02020503050405090304" charset="0"/>
              </a:rPr>
            </a:br>
            <a:r>
              <a:rPr lang="en-US" sz="2200" b="0" dirty="0">
                <a:latin typeface="Times New Roman" panose="02020503050405090304" charset="0"/>
                <a:cs typeface="Times New Roman" panose="02020503050405090304" charset="0"/>
              </a:rPr>
              <a:t/>
            </a:r>
            <a:br>
              <a:rPr lang="en-US" sz="2200" b="0" dirty="0">
                <a:latin typeface="Times New Roman" panose="02020503050405090304" charset="0"/>
                <a:cs typeface="Times New Roman" panose="02020503050405090304" charset="0"/>
              </a:rPr>
            </a:br>
            <a:r>
              <a:rPr lang="en-US"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Literals</a:t>
            </a:r>
            <a:r>
              <a:rPr lang="en-US" sz="2200" b="0" spc="-8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provide</a:t>
            </a:r>
            <a:r>
              <a:rPr lang="en-US" sz="2200" b="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lang="en-US" sz="2200" b="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means</a:t>
            </a:r>
            <a:r>
              <a:rPr lang="en-US" sz="22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lang="en-US"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expressing</a:t>
            </a:r>
            <a:r>
              <a:rPr lang="en-US" sz="2200" b="0" spc="-9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specific</a:t>
            </a:r>
            <a:r>
              <a:rPr lang="en-US"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values</a:t>
            </a:r>
            <a:r>
              <a:rPr lang="en-US" sz="2200" b="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in </a:t>
            </a:r>
            <a:r>
              <a:rPr lang="en-US" sz="2200" b="0" spc="-2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your </a:t>
            </a:r>
            <a:r>
              <a:rPr lang="en-US"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program</a:t>
            </a:r>
            <a:r>
              <a:rPr lang="en-US" sz="2200" b="0" spc="-2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.</a:t>
            </a:r>
            <a:br>
              <a:rPr lang="en-US" sz="2200" b="0" spc="-2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</a:br>
            <a:r>
              <a:rPr lang="en-US"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/>
            </a:r>
            <a:br>
              <a:rPr lang="en-US"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</a:br>
            <a:r>
              <a:rPr lang="en-US" sz="2200" b="0" spc="-2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Types</a:t>
            </a:r>
            <a:r>
              <a:rPr lang="en-US" sz="2200" b="0" spc="-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lang="en-US"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literals</a:t>
            </a:r>
            <a:r>
              <a:rPr lang="en-US"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are:</a:t>
            </a:r>
            <a:r>
              <a:rPr lang="en-US" sz="2200" b="0" dirty="0">
                <a:latin typeface="Times New Roman" panose="02020503050405090304" charset="0"/>
                <a:cs typeface="Times New Roman" panose="02020503050405090304" charset="0"/>
              </a:rPr>
              <a:t/>
            </a:r>
            <a:br>
              <a:rPr lang="en-US" sz="2200" b="0" dirty="0">
                <a:latin typeface="Times New Roman" panose="02020503050405090304" charset="0"/>
                <a:cs typeface="Times New Roman" panose="02020503050405090304" charset="0"/>
              </a:rPr>
            </a:br>
            <a:r>
              <a:rPr lang="en-US" sz="2200" b="0" dirty="0">
                <a:latin typeface="Times New Roman" panose="02020503050405090304" charset="0"/>
                <a:cs typeface="Times New Roman" panose="02020503050405090304" charset="0"/>
              </a:rPr>
              <a:t/>
            </a:r>
            <a:br>
              <a:rPr lang="en-US" sz="2200" b="0" dirty="0">
                <a:latin typeface="Times New Roman" panose="02020503050405090304" charset="0"/>
                <a:cs typeface="Times New Roman" panose="02020503050405090304" charset="0"/>
              </a:rPr>
            </a:br>
            <a:endParaRPr sz="22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62400" y="1435735"/>
            <a:ext cx="6839585" cy="1077595"/>
          </a:xfrm>
          <a:prstGeom prst="rect">
            <a:avLst/>
          </a:prstGeom>
        </p:spPr>
        <p:txBody>
          <a:bodyPr vert="horz" wrap="square" lIns="0" tIns="13970" rIns="0" bIns="0" rtlCol="0">
            <a:noAutofit/>
          </a:bodyPr>
          <a:lstStyle/>
          <a:p>
            <a:pPr marL="94615">
              <a:lnSpc>
                <a:spcPct val="100000"/>
              </a:lnSpc>
              <a:spcBef>
                <a:spcPts val="110"/>
              </a:spcBef>
            </a:pPr>
            <a:endParaRPr sz="2200" b="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03670" y="3334715"/>
            <a:ext cx="3783330" cy="17575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Font typeface="+mj-lt"/>
              <a:buAutoNum type="arabicPeriod"/>
            </a:pP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Integer</a:t>
            </a:r>
            <a:r>
              <a:rPr sz="2200" b="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Literals</a:t>
            </a:r>
            <a:endParaRPr lang="en-US" sz="2200" spc="-10" dirty="0">
              <a:solidFill>
                <a:srgbClr val="575757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469900" indent="-457200">
              <a:lnSpc>
                <a:spcPct val="100000"/>
              </a:lnSpc>
              <a:spcBef>
                <a:spcPts val="105"/>
              </a:spcBef>
              <a:buFont typeface="+mj-lt"/>
              <a:buAutoNum type="arabicPeriod"/>
            </a:pPr>
            <a:r>
              <a:rPr lang="en-US" sz="2200" b="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Floating-</a:t>
            </a:r>
            <a:r>
              <a:rPr lang="en-US" sz="2200" b="0" spc="-5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Point</a:t>
            </a:r>
            <a:r>
              <a:rPr lang="en-US" sz="2200" b="0" spc="-4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Literals</a:t>
            </a:r>
            <a:endParaRPr lang="en-US" sz="22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469900" indent="-457200">
              <a:lnSpc>
                <a:spcPct val="100000"/>
              </a:lnSpc>
              <a:spcBef>
                <a:spcPts val="105"/>
              </a:spcBef>
              <a:buFont typeface="+mj-lt"/>
              <a:buAutoNum type="arabicPeriod"/>
            </a:pPr>
            <a:r>
              <a:rPr lang="en-US" sz="2200" b="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Boolean</a:t>
            </a:r>
            <a:r>
              <a:rPr lang="en-US" sz="2200" b="0" spc="-6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Literals</a:t>
            </a:r>
          </a:p>
          <a:p>
            <a:pPr marL="469900" indent="-457200">
              <a:lnSpc>
                <a:spcPct val="100000"/>
              </a:lnSpc>
              <a:spcBef>
                <a:spcPts val="105"/>
              </a:spcBef>
              <a:buFont typeface="+mj-lt"/>
              <a:buAutoNum type="arabicPeriod"/>
            </a:pPr>
            <a:r>
              <a:rPr lang="en-US" sz="2200" b="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Character</a:t>
            </a:r>
            <a:r>
              <a:rPr lang="en-US" sz="2200" b="0" spc="-4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Literals</a:t>
            </a:r>
            <a:endParaRPr lang="en-US" sz="2200" b="0" dirty="0" smtClean="0"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2200" b="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10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470" y="3051810"/>
            <a:ext cx="200215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spc="-75" dirty="0">
                <a:latin typeface="Times New Roman" panose="02020503050405090304" charset="0"/>
                <a:cs typeface="Times New Roman" panose="02020503050405090304" charset="0"/>
              </a:rPr>
              <a:t>Integers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58678" y="1546288"/>
          <a:ext cx="6802755" cy="36868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010"/>
                <a:gridCol w="1379855"/>
                <a:gridCol w="4199890"/>
              </a:tblGrid>
              <a:tr h="519430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Datatype</a:t>
                      </a:r>
                    </a:p>
                  </a:txBody>
                  <a:tcPr marL="0" marR="0" marT="29209" marB="0"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Size</a:t>
                      </a:r>
                    </a:p>
                  </a:txBody>
                  <a:tcPr marL="0" marR="0" marT="29209" marB="0"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Description</a:t>
                      </a:r>
                    </a:p>
                  </a:txBody>
                  <a:tcPr marL="0" marR="0" marT="29209" marB="0">
                    <a:solidFill>
                      <a:srgbClr val="40B8D2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byte</a:t>
                      </a:r>
                    </a:p>
                  </a:txBody>
                  <a:tcPr marL="0" marR="0" marT="20955" marB="0">
                    <a:lnL w="9525">
                      <a:solidFill>
                        <a:srgbClr val="40B8D2"/>
                      </a:solidFill>
                      <a:prstDash val="solid"/>
                    </a:lnL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byte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0955" marB="0"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Stores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whole</a:t>
                      </a:r>
                      <a:r>
                        <a:rPr sz="1800" b="0" spc="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numbers</a:t>
                      </a:r>
                      <a:r>
                        <a:rPr sz="1800" b="0" spc="-7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from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128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to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  <a:p>
                      <a:pPr marL="511175">
                        <a:lnSpc>
                          <a:spcPct val="100000"/>
                        </a:lnSpc>
                      </a:pP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127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0955" marB="0">
                    <a:lnR w="9525">
                      <a:solidFill>
                        <a:srgbClr val="40B8D2"/>
                      </a:solidFill>
                      <a:prstDash val="solid"/>
                    </a:lnR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short</a:t>
                      </a:r>
                    </a:p>
                  </a:txBody>
                  <a:tcPr marL="0" marR="0" marT="26034" marB="0">
                    <a:lnL w="9525">
                      <a:solidFill>
                        <a:srgbClr val="40B8D2"/>
                      </a:solidFill>
                      <a:prstDash val="solid"/>
                    </a:lnL>
                    <a:lnT w="9525">
                      <a:solidFill>
                        <a:srgbClr val="40B8D2"/>
                      </a:solidFill>
                      <a:prstDash val="solid"/>
                    </a:lnT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2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bytes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T w="9525">
                      <a:solidFill>
                        <a:srgbClr val="40B8D2"/>
                      </a:solidFill>
                      <a:prstDash val="solid"/>
                    </a:lnT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Stores</a:t>
                      </a:r>
                      <a:r>
                        <a:rPr sz="18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whole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numbers</a:t>
                      </a:r>
                      <a:r>
                        <a:rPr sz="1800" b="0" spc="-7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from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32,768</a:t>
                      </a:r>
                      <a:r>
                        <a:rPr sz="1800" b="0" spc="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to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  <a:p>
                      <a:pPr marL="51117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32,767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R w="9525">
                      <a:solidFill>
                        <a:srgbClr val="40B8D2"/>
                      </a:solidFill>
                      <a:prstDash val="solid"/>
                    </a:lnR>
                    <a:lnT w="9525">
                      <a:solidFill>
                        <a:srgbClr val="40B8D2"/>
                      </a:solidFill>
                      <a:prstDash val="solid"/>
                    </a:lnT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</a:tr>
              <a:tr h="717550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int</a:t>
                      </a:r>
                    </a:p>
                  </a:txBody>
                  <a:tcPr marL="0" marR="0" marT="26670" marB="0">
                    <a:lnL w="9525">
                      <a:solidFill>
                        <a:srgbClr val="40B8D2"/>
                      </a:solidFill>
                      <a:prstDash val="solid"/>
                    </a:lnL>
                    <a:lnT w="9525">
                      <a:solidFill>
                        <a:srgbClr val="40B8D2"/>
                      </a:solidFill>
                      <a:prstDash val="solid"/>
                    </a:lnT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4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bytes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670" marB="0">
                    <a:lnT w="9525">
                      <a:solidFill>
                        <a:srgbClr val="40B8D2"/>
                      </a:solidFill>
                      <a:prstDash val="solid"/>
                    </a:lnT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1175" marR="79565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Stores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whole</a:t>
                      </a:r>
                      <a:r>
                        <a:rPr sz="1800" b="0" spc="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numbers</a:t>
                      </a:r>
                      <a:r>
                        <a:rPr sz="1800" b="0" spc="-7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from</a:t>
                      </a:r>
                      <a:r>
                        <a:rPr sz="18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2,147,483,648</a:t>
                      </a:r>
                      <a:r>
                        <a:rPr sz="1800" b="0" spc="-8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to</a:t>
                      </a:r>
                      <a:r>
                        <a:rPr sz="1800" b="0" spc="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2,147,483,647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670" marB="0">
                    <a:lnR w="9525">
                      <a:solidFill>
                        <a:srgbClr val="40B8D2"/>
                      </a:solidFill>
                      <a:prstDash val="solid"/>
                    </a:lnR>
                    <a:lnT w="9525">
                      <a:solidFill>
                        <a:srgbClr val="40B8D2"/>
                      </a:solidFill>
                      <a:prstDash val="solid"/>
                    </a:lnT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</a:tr>
              <a:tr h="1019810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long</a:t>
                      </a:r>
                    </a:p>
                  </a:txBody>
                  <a:tcPr marL="0" marR="0" marT="27305" marB="0">
                    <a:lnL w="9525">
                      <a:solidFill>
                        <a:srgbClr val="40B8D2"/>
                      </a:solidFill>
                      <a:prstDash val="solid"/>
                    </a:lnL>
                    <a:lnT w="9525">
                      <a:solidFill>
                        <a:srgbClr val="40B8D2"/>
                      </a:solidFill>
                      <a:prstDash val="solid"/>
                    </a:lnT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8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bytes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7305" marB="0">
                    <a:lnT w="9525">
                      <a:solidFill>
                        <a:srgbClr val="40B8D2"/>
                      </a:solidFill>
                      <a:prstDash val="solid"/>
                    </a:lnT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111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Stores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whole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numbers</a:t>
                      </a:r>
                      <a:r>
                        <a:rPr sz="1800" b="0" spc="-7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from</a:t>
                      </a:r>
                      <a:r>
                        <a:rPr sz="18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  <a:p>
                      <a:pPr marL="511175">
                        <a:lnSpc>
                          <a:spcPct val="100000"/>
                        </a:lnSpc>
                      </a:pP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9,223,372,036,854,775,808</a:t>
                      </a:r>
                      <a:r>
                        <a:rPr sz="1800" b="0" spc="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to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  <a:p>
                      <a:pPr marL="51117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9,223,372,036,854,775,807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7305" marB="0">
                    <a:lnR w="9525">
                      <a:solidFill>
                        <a:srgbClr val="40B8D2"/>
                      </a:solidFill>
                      <a:prstDash val="solid"/>
                    </a:lnR>
                    <a:lnT w="9525">
                      <a:solidFill>
                        <a:srgbClr val="40B8D2"/>
                      </a:solidFill>
                      <a:prstDash val="solid"/>
                    </a:lnT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419" y="2814904"/>
            <a:ext cx="2745105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b="0" spc="-90" dirty="0">
                <a:latin typeface="Times New Roman" panose="02020503050405090304" charset="0"/>
                <a:cs typeface="Times New Roman" panose="02020503050405090304" charset="0"/>
              </a:rPr>
              <a:t>Floating-</a:t>
            </a:r>
            <a:r>
              <a:rPr b="0" spc="-70" dirty="0">
                <a:latin typeface="Times New Roman" panose="02020503050405090304" charset="0"/>
                <a:cs typeface="Times New Roman" panose="02020503050405090304" charset="0"/>
              </a:rPr>
              <a:t>Point </a:t>
            </a:r>
            <a:r>
              <a:rPr b="0" spc="-10" dirty="0">
                <a:latin typeface="Times New Roman" panose="02020503050405090304" charset="0"/>
                <a:cs typeface="Times New Roman" panose="02020503050405090304" charset="0"/>
              </a:rPr>
              <a:t>Types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057459" y="1546288"/>
          <a:ext cx="6878319" cy="3688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7514"/>
                <a:gridCol w="1930400"/>
                <a:gridCol w="3240405"/>
              </a:tblGrid>
              <a:tr h="746125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Data</a:t>
                      </a:r>
                      <a:r>
                        <a:rPr sz="1800" b="0" spc="-9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type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9209" marB="0"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6375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Size</a:t>
                      </a:r>
                    </a:p>
                  </a:txBody>
                  <a:tcPr marL="0" marR="0" marT="26670" marB="0"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Description</a:t>
                      </a:r>
                    </a:p>
                  </a:txBody>
                  <a:tcPr marL="0" marR="0" marT="26670" marB="0">
                    <a:solidFill>
                      <a:srgbClr val="40B8D2"/>
                    </a:solidFill>
                  </a:tcPr>
                </a:tc>
              </a:tr>
              <a:tr h="1468755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float</a:t>
                      </a:r>
                    </a:p>
                  </a:txBody>
                  <a:tcPr marL="0" marR="0" marT="20955" marB="0">
                    <a:lnL w="9525">
                      <a:solidFill>
                        <a:srgbClr val="40B8D2"/>
                      </a:solidFill>
                      <a:prstDash val="solid"/>
                    </a:lnL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754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4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bytes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0955" marB="0"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0" marR="109220" algn="just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Stores fractional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numbers.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Sufficient</a:t>
                      </a:r>
                      <a:r>
                        <a:rPr sz="1800" b="0" spc="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for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storing</a:t>
                      </a:r>
                      <a:r>
                        <a:rPr sz="18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6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to</a:t>
                      </a:r>
                      <a:r>
                        <a:rPr sz="1800" b="0" spc="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7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decimal</a:t>
                      </a:r>
                      <a:r>
                        <a:rPr sz="18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digits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0955" marB="0">
                    <a:lnR w="9525">
                      <a:solidFill>
                        <a:srgbClr val="40B8D2"/>
                      </a:solidFill>
                      <a:prstDash val="solid"/>
                    </a:lnR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</a:tr>
              <a:tr h="1473835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double</a:t>
                      </a:r>
                    </a:p>
                  </a:txBody>
                  <a:tcPr marL="0" marR="0" marT="26669" marB="0">
                    <a:lnL w="9525">
                      <a:solidFill>
                        <a:srgbClr val="40B8D2"/>
                      </a:solidFill>
                      <a:prstDash val="solid"/>
                    </a:lnL>
                    <a:lnT w="9525">
                      <a:solidFill>
                        <a:srgbClr val="40B8D2"/>
                      </a:solidFill>
                      <a:prstDash val="solid"/>
                    </a:lnT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75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8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bytes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669" marB="0">
                    <a:lnT w="9525">
                      <a:solidFill>
                        <a:srgbClr val="40B8D2"/>
                      </a:solidFill>
                      <a:prstDash val="solid"/>
                    </a:lnT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0" marR="1358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Stores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fractional</a:t>
                      </a:r>
                      <a:r>
                        <a:rPr sz="18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numbers.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Sufficient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for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storing</a:t>
                      </a:r>
                      <a:r>
                        <a:rPr sz="1800" b="0" spc="-8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15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decimal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digits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669" marB="0">
                    <a:lnR w="9525">
                      <a:solidFill>
                        <a:srgbClr val="40B8D2"/>
                      </a:solidFill>
                      <a:prstDash val="solid"/>
                    </a:lnR>
                    <a:lnT w="9525">
                      <a:solidFill>
                        <a:srgbClr val="40B8D2"/>
                      </a:solidFill>
                      <a:prstDash val="solid"/>
                    </a:lnT>
                    <a:lnB w="9525">
                      <a:solidFill>
                        <a:srgbClr val="40B8D2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79" y="2895549"/>
            <a:ext cx="2745105" cy="553720"/>
          </a:xfrm>
        </p:spPr>
        <p:txBody>
          <a:bodyPr/>
          <a:lstStyle/>
          <a:p>
            <a:r>
              <a:rPr lang="en-US" b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0" y="838200"/>
            <a:ext cx="7729855" cy="5239385"/>
          </a:xfrm>
        </p:spPr>
        <p:txBody>
          <a:bodyPr>
            <a:noAutofit/>
          </a:bodyPr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1) Arithmetic Operators: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Used for mathematical calculations.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+ (add), - (subtract), * (multiply), / (divide), % (modulus/remainder)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Example: c = a + b;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2) Unary Operators: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Work on a single operand.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+ (unary plus), - (unary minus)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++ (increment), -- (decrement)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! (logical NOT)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Example: a++; // increases a by 1</a:t>
            </a:r>
          </a:p>
        </p:txBody>
      </p:sp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79" y="2895549"/>
            <a:ext cx="2745105" cy="553720"/>
          </a:xfrm>
        </p:spPr>
        <p:txBody>
          <a:bodyPr/>
          <a:lstStyle/>
          <a:p>
            <a:r>
              <a:rPr lang="en-US" b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0" y="838200"/>
            <a:ext cx="7729855" cy="5239385"/>
          </a:xfrm>
        </p:spPr>
        <p:txBody>
          <a:bodyPr>
            <a:noAutofit/>
          </a:bodyPr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3) Relational (Comparison) Operators: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Used to compare two values, result is true/false.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==, !=, &gt;, &lt;, &gt;=, &lt;=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Example: a &gt; b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4) Logical Operators: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Used with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boolean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conditions.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&amp;&amp; (AND), || (OR), ! (NOT)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Example: (a &gt; 5 &amp;&amp; b &lt; 10)</a:t>
            </a:r>
          </a:p>
        </p:txBody>
      </p:sp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79" y="2895549"/>
            <a:ext cx="2745105" cy="553720"/>
          </a:xfrm>
        </p:spPr>
        <p:txBody>
          <a:bodyPr/>
          <a:lstStyle/>
          <a:p>
            <a:r>
              <a:rPr lang="en-US" b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1400" y="381000"/>
            <a:ext cx="8021320" cy="5396230"/>
          </a:xfrm>
        </p:spPr>
        <p:txBody>
          <a:bodyPr>
            <a:noAutofit/>
          </a:bodyPr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5) Assignment Operators: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Used to assign/update values.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= , +=, -=, *=, /=, %=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Example: a += 5; // a = a + 5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6) Bitwise Operators: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Operate on bits (binary form).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&amp;, |, ^ (XOR), ~ (NOT)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Example: a &amp; b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7) Shift Operators: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Shift bits left/right.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&lt;&lt; (left shift), &gt;&gt; (right shift), &gt;&gt;&gt; (unsigned right shift)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Example: a &lt;&lt; 2</a:t>
            </a:r>
          </a:p>
        </p:txBody>
      </p:sp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79" y="2895549"/>
            <a:ext cx="2745105" cy="553720"/>
          </a:xfrm>
        </p:spPr>
        <p:txBody>
          <a:bodyPr/>
          <a:lstStyle/>
          <a:p>
            <a:r>
              <a:rPr lang="en-US" b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1565" y="762000"/>
            <a:ext cx="7971155" cy="5311140"/>
          </a:xfrm>
        </p:spPr>
        <p:txBody>
          <a:bodyPr>
            <a:noAutofit/>
          </a:bodyPr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8) Ternary Operator: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Short form of if-else.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condition ? value1 : value2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Example: max = (a &gt; b) ? a : b;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9) </a:t>
            </a:r>
            <a:r>
              <a:rPr lang="en-US" altLang="en-US" sz="2000" b="1" dirty="0" err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instanceof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Operator: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Checks object type.</a:t>
            </a: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 err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obj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instanceof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ClassName</a:t>
            </a:r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endParaRPr lang="en-US" altLang="en-US" sz="1800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Example: s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instanceof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String</a:t>
            </a:r>
          </a:p>
        </p:txBody>
      </p:sp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3051810"/>
            <a:ext cx="228155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7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09746" y="1127125"/>
            <a:ext cx="6712584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Operators</a:t>
            </a:r>
            <a:r>
              <a:rPr sz="2200" spc="-1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are</a:t>
            </a:r>
            <a:r>
              <a:rPr sz="220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used</a:t>
            </a:r>
            <a:r>
              <a:rPr sz="22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20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perform</a:t>
            </a:r>
            <a:r>
              <a:rPr sz="2200" spc="-5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operations</a:t>
            </a:r>
            <a:r>
              <a:rPr sz="2200" spc="-9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on</a:t>
            </a:r>
            <a:r>
              <a:rPr sz="2200" spc="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variables</a:t>
            </a:r>
            <a:r>
              <a:rPr sz="220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and</a:t>
            </a:r>
            <a:r>
              <a:rPr lang="en-US" altLang="" sz="22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values.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xfrm>
            <a:off x="3886200" y="2133600"/>
            <a:ext cx="6848475" cy="2429896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dirty="0">
                <a:latin typeface="Times New Roman" panose="02020503050405090304" charset="0"/>
                <a:cs typeface="Times New Roman" panose="02020503050405090304" charset="0"/>
              </a:rPr>
              <a:t>divides</a:t>
            </a:r>
            <a:r>
              <a:rPr spc="-6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dirty="0"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pc="-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dirty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  <a:r>
              <a:rPr spc="-1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dirty="0">
                <a:latin typeface="Times New Roman" panose="02020503050405090304" charset="0"/>
                <a:cs typeface="Times New Roman" panose="02020503050405090304" charset="0"/>
              </a:rPr>
              <a:t>into</a:t>
            </a:r>
            <a:r>
              <a:rPr spc="-1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dirty="0"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pc="-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pc="-10" dirty="0">
                <a:latin typeface="Times New Roman" panose="02020503050405090304" charset="0"/>
                <a:cs typeface="Times New Roman" panose="02020503050405090304" charset="0"/>
              </a:rPr>
              <a:t>following</a:t>
            </a:r>
            <a:r>
              <a:rPr spc="-1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pc="-10" dirty="0">
                <a:latin typeface="Times New Roman" panose="02020503050405090304" charset="0"/>
                <a:cs typeface="Times New Roman" panose="02020503050405090304" charset="0"/>
              </a:rPr>
              <a:t>groups:</a:t>
            </a:r>
          </a:p>
          <a:p>
            <a:pPr marL="840105" indent="-342900">
              <a:lnSpc>
                <a:spcPct val="100000"/>
              </a:lnSpc>
              <a:spcBef>
                <a:spcPts val="290"/>
              </a:spcBef>
              <a:buFont typeface="Arial" panose="020B0604020202020204" pitchFamily="34" charset="0"/>
              <a:buChar char="•"/>
            </a:pPr>
            <a:r>
              <a:rPr dirty="0">
                <a:latin typeface="Times New Roman" panose="02020503050405090304" charset="0"/>
                <a:cs typeface="Times New Roman" panose="02020503050405090304" charset="0"/>
              </a:rPr>
              <a:t>Arithmetic</a:t>
            </a:r>
            <a:r>
              <a:rPr spc="-9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pc="-10" dirty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  <a:p>
            <a:pPr marL="840105" marR="2828290" indent="-342900">
              <a:lnSpc>
                <a:spcPct val="1230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 panose="02020503050405090304" charset="0"/>
                <a:cs typeface="Times New Roman" panose="02020503050405090304" charset="0"/>
              </a:rPr>
              <a:t>Assignment</a:t>
            </a:r>
            <a:r>
              <a:rPr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pc="-10" dirty="0" smtClean="0">
                <a:latin typeface="Times New Roman" panose="02020503050405090304" charset="0"/>
                <a:cs typeface="Times New Roman" panose="02020503050405090304" charset="0"/>
              </a:rPr>
              <a:t>operator</a:t>
            </a:r>
            <a:r>
              <a:rPr lang="en-US" spc="-10" dirty="0" smtClean="0">
                <a:latin typeface="Times New Roman" panose="02020503050405090304" charset="0"/>
                <a:cs typeface="Times New Roman" panose="02020503050405090304" charset="0"/>
              </a:rPr>
              <a:t>s</a:t>
            </a:r>
          </a:p>
          <a:p>
            <a:pPr marL="840105" marR="2828290" indent="-342900">
              <a:lnSpc>
                <a:spcPct val="123000"/>
              </a:lnSpc>
              <a:buFont typeface="Arial" panose="020B0604020202020204" pitchFamily="34" charset="0"/>
              <a:buChar char="•"/>
            </a:pPr>
            <a:r>
              <a:rPr dirty="0" smtClean="0">
                <a:latin typeface="Times New Roman" panose="02020503050405090304" charset="0"/>
                <a:cs typeface="Times New Roman" panose="02020503050405090304" charset="0"/>
              </a:rPr>
              <a:t>Comparison</a:t>
            </a:r>
            <a:r>
              <a:rPr lang="en-US" dirty="0" smtClean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pc="-10" dirty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  <a:p>
            <a:pPr marL="840105" marR="2828290" indent="-342900">
              <a:lnSpc>
                <a:spcPct val="1230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 panose="02020503050405090304" charset="0"/>
                <a:cs typeface="Times New Roman" panose="02020503050405090304" charset="0"/>
              </a:rPr>
              <a:t>Logical</a:t>
            </a:r>
            <a:r>
              <a:rPr spc="-10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pc="-10" dirty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  <a:p>
            <a:pPr marL="840105" marR="2828290" indent="-342900">
              <a:lnSpc>
                <a:spcPct val="123000"/>
              </a:lnSpc>
              <a:buFont typeface="Arial" panose="020B0604020202020204" pitchFamily="34" charset="0"/>
              <a:buChar char="•"/>
            </a:pPr>
            <a:r>
              <a:rPr dirty="0">
                <a:latin typeface="Times New Roman" panose="02020503050405090304" charset="0"/>
                <a:cs typeface="Times New Roman" panose="02020503050405090304" charset="0"/>
              </a:rPr>
              <a:t>Bitwise</a:t>
            </a:r>
            <a:r>
              <a:rPr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pc="-10" dirty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</p:txBody>
      </p:sp>
      <p:pic>
        <p:nvPicPr>
          <p:cNvPr id="6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419" y="2814904"/>
            <a:ext cx="2745105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b="0" spc="-80" dirty="0">
                <a:latin typeface="Times New Roman" panose="02020503050405090304" charset="0"/>
                <a:cs typeface="Times New Roman" panose="02020503050405090304" charset="0"/>
              </a:rPr>
              <a:t>Arithmetic </a:t>
            </a:r>
            <a:r>
              <a:rPr b="0" spc="-10" dirty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525823"/>
              </p:ext>
            </p:extLst>
          </p:nvPr>
        </p:nvGraphicFramePr>
        <p:xfrm>
          <a:off x="3882515" y="1088180"/>
          <a:ext cx="7757796" cy="55984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2885"/>
                <a:gridCol w="1524000"/>
                <a:gridCol w="3071462"/>
                <a:gridCol w="1939449"/>
              </a:tblGrid>
              <a:tr h="313661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Operator</a:t>
                      </a: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Name</a:t>
                      </a: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Description</a:t>
                      </a: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Example</a:t>
                      </a: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</a:tr>
              <a:tr h="547399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+</a:t>
                      </a: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Addition</a:t>
                      </a: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Adds</a:t>
                      </a:r>
                      <a:r>
                        <a:rPr sz="18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together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two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values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+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y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765510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Subtraction</a:t>
                      </a: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33655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Subtracts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one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value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from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another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8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y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548005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*</a:t>
                      </a: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Multiplication</a:t>
                      </a: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Multiplies</a:t>
                      </a:r>
                      <a:r>
                        <a:rPr sz="1800" b="0" spc="-6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two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values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18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*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y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616356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/</a:t>
                      </a: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Division</a:t>
                      </a: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6604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Divides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one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value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by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another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/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y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917954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%</a:t>
                      </a: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Modulus</a:t>
                      </a: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5562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Returns</a:t>
                      </a:r>
                      <a:r>
                        <a:rPr sz="18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division remainder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%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y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919050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++</a:t>
                      </a: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Increment</a:t>
                      </a: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4095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Increases</a:t>
                      </a:r>
                      <a:r>
                        <a:rPr sz="18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value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of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a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variable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by</a:t>
                      </a:r>
                      <a:r>
                        <a:rPr sz="1800" b="0" spc="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++x</a:t>
                      </a: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918502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Decrement</a:t>
                      </a: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31813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Decreases</a:t>
                      </a:r>
                      <a:r>
                        <a:rPr sz="18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value</a:t>
                      </a:r>
                      <a:r>
                        <a:rPr sz="18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of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a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variable</a:t>
                      </a:r>
                      <a:r>
                        <a:rPr sz="18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by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1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--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endParaRPr sz="1800" b="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</a:tbl>
          </a:graphicData>
        </a:graphic>
      </p:graphicFrame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419" y="2814904"/>
            <a:ext cx="2745105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b="0" spc="-75" dirty="0">
                <a:latin typeface="Times New Roman" panose="02020503050405090304" charset="0"/>
                <a:cs typeface="Times New Roman" panose="02020503050405090304" charset="0"/>
              </a:rPr>
              <a:t>Assignment </a:t>
            </a:r>
            <a:r>
              <a:rPr b="0" spc="-10" dirty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129433"/>
              </p:ext>
            </p:extLst>
          </p:nvPr>
        </p:nvGraphicFramePr>
        <p:xfrm>
          <a:off x="3962400" y="1113739"/>
          <a:ext cx="6261735" cy="554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7245"/>
                <a:gridCol w="2087245"/>
                <a:gridCol w="2087245"/>
              </a:tblGrid>
              <a:tr h="4622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Operator</a:t>
                      </a: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Example</a:t>
                      </a: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0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Same</a:t>
                      </a:r>
                      <a:r>
                        <a:rPr sz="2000" b="0" spc="-105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25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As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5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5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+=</a:t>
                      </a: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+=</a:t>
                      </a:r>
                      <a:r>
                        <a:rPr sz="20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+</a:t>
                      </a:r>
                      <a:r>
                        <a:rPr sz="20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20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*=</a:t>
                      </a: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*=</a:t>
                      </a:r>
                      <a:r>
                        <a:rPr sz="2000" b="0" spc="-7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*</a:t>
                      </a:r>
                      <a:r>
                        <a:rPr sz="20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/=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/=</a:t>
                      </a:r>
                      <a:r>
                        <a:rPr sz="2000" b="0" spc="-6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/</a:t>
                      </a:r>
                      <a:r>
                        <a:rPr sz="20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%=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%=</a:t>
                      </a:r>
                      <a:r>
                        <a:rPr sz="2000" b="0" spc="-7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%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&amp;=</a:t>
                      </a: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&amp;=</a:t>
                      </a:r>
                      <a:r>
                        <a:rPr sz="2000" b="0" spc="-7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&amp;</a:t>
                      </a:r>
                      <a:r>
                        <a:rPr sz="20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|=</a:t>
                      </a: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|=</a:t>
                      </a:r>
                      <a:r>
                        <a:rPr sz="2000" b="0" spc="-6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|</a:t>
                      </a:r>
                      <a:r>
                        <a:rPr sz="20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^=</a:t>
                      </a: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^=</a:t>
                      </a:r>
                      <a:r>
                        <a:rPr sz="2000" b="0" spc="-6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^</a:t>
                      </a:r>
                      <a:r>
                        <a:rPr sz="20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&gt;&gt;=</a:t>
                      </a: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&gt;&gt;=</a:t>
                      </a:r>
                      <a:r>
                        <a:rPr sz="2000" b="0" spc="-8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&gt;&gt;</a:t>
                      </a:r>
                      <a:r>
                        <a:rPr sz="20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&lt;&lt;=</a:t>
                      </a: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&lt;&lt;=</a:t>
                      </a:r>
                      <a:r>
                        <a:rPr sz="2000" b="0" spc="-8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20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&lt;&lt;</a:t>
                      </a:r>
                      <a:r>
                        <a:rPr sz="20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3</a:t>
                      </a:r>
                      <a:endParaRPr sz="2000" b="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</a:tbl>
          </a:graphicData>
        </a:graphic>
      </p:graphicFrame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419" y="2814904"/>
            <a:ext cx="2745105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b="0" spc="-80" dirty="0">
                <a:latin typeface="Times New Roman" panose="02020503050405090304" charset="0"/>
                <a:cs typeface="Times New Roman" panose="02020503050405090304" charset="0"/>
              </a:rPr>
              <a:t>Comparison </a:t>
            </a:r>
            <a:r>
              <a:rPr b="0" spc="-10" dirty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366209"/>
              </p:ext>
            </p:extLst>
          </p:nvPr>
        </p:nvGraphicFramePr>
        <p:xfrm>
          <a:off x="4038600" y="1143000"/>
          <a:ext cx="6002655" cy="4914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0885"/>
                <a:gridCol w="2000885"/>
                <a:gridCol w="2000885"/>
              </a:tblGrid>
              <a:tr h="60261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0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Operator</a:t>
                      </a: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000" b="0" spc="-2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Name</a:t>
                      </a: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0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Example</a:t>
                      </a: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==</a:t>
                      </a: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0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Equal</a:t>
                      </a:r>
                      <a:r>
                        <a:rPr sz="2000" b="0" spc="-8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to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==</a:t>
                      </a:r>
                      <a:r>
                        <a:rPr sz="2000" b="0" spc="-6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y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!=</a:t>
                      </a: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Not</a:t>
                      </a:r>
                      <a:r>
                        <a:rPr sz="2000" b="0" spc="-8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equal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!=</a:t>
                      </a:r>
                      <a:r>
                        <a:rPr sz="2000" b="0" spc="-6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y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</a:t>
                      </a: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Greater</a:t>
                      </a:r>
                      <a:r>
                        <a:rPr sz="2000" b="0" spc="-7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than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</a:t>
                      </a:r>
                      <a:r>
                        <a:rPr sz="20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y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Less</a:t>
                      </a:r>
                      <a:r>
                        <a:rPr sz="2000" b="0" spc="-8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than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</a:t>
                      </a:r>
                      <a:r>
                        <a:rPr sz="20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y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&gt;=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Greater</a:t>
                      </a:r>
                      <a:r>
                        <a:rPr sz="20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than</a:t>
                      </a:r>
                      <a:r>
                        <a:rPr sz="2000" b="0" spc="-10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or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equal</a:t>
                      </a:r>
                      <a:r>
                        <a:rPr sz="2000" b="0" spc="-9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to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&gt;=</a:t>
                      </a:r>
                      <a:r>
                        <a:rPr sz="20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y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&lt;=</a:t>
                      </a: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Less</a:t>
                      </a:r>
                      <a:r>
                        <a:rPr sz="2000" b="0" spc="-6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than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or</a:t>
                      </a:r>
                      <a:r>
                        <a:rPr sz="2000" b="0" spc="-7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equal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20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to</a:t>
                      </a:r>
                      <a:endParaRPr sz="20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20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&lt;=</a:t>
                      </a:r>
                      <a:r>
                        <a:rPr sz="20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20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y</a:t>
                      </a:r>
                      <a:endParaRPr sz="2000" b="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</a:tbl>
          </a:graphicData>
        </a:graphic>
      </p:graphicFrame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419" y="2814904"/>
            <a:ext cx="2745105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b="0" spc="-10" dirty="0">
                <a:latin typeface="Times New Roman" panose="02020503050405090304" charset="0"/>
                <a:cs typeface="Times New Roman" panose="02020503050405090304" charset="0"/>
              </a:rPr>
              <a:t>Logical </a:t>
            </a:r>
            <a:r>
              <a:rPr b="0" spc="-85" dirty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354000"/>
              </p:ext>
            </p:extLst>
          </p:nvPr>
        </p:nvGraphicFramePr>
        <p:xfrm>
          <a:off x="4191000" y="1219200"/>
          <a:ext cx="6748779" cy="4709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7195"/>
                <a:gridCol w="1687195"/>
                <a:gridCol w="1687194"/>
                <a:gridCol w="1687195"/>
              </a:tblGrid>
              <a:tr h="720725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Operator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0" spc="-2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Name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Description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Example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</a:tr>
              <a:tr h="1329690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&amp;&amp;</a:t>
                      </a: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Logical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and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762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Returns</a:t>
                      </a:r>
                      <a:r>
                        <a:rPr sz="1800" b="0" spc="-8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true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if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both</a:t>
                      </a:r>
                      <a:r>
                        <a:rPr sz="1800" b="0" spc="-7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statements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are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true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5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&amp;&amp;</a:t>
                      </a:r>
                      <a:r>
                        <a:rPr sz="1800" b="0" spc="29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1800" b="0" spc="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10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1329690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||</a:t>
                      </a: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Logical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or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30289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Returns</a:t>
                      </a:r>
                      <a:r>
                        <a:rPr sz="1800" b="0" spc="-8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true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if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one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of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the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statements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is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true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5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||</a:t>
                      </a:r>
                      <a:r>
                        <a:rPr sz="1800" b="0" spc="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18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4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1329690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!</a:t>
                      </a: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Logical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not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850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Reverse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result,</a:t>
                      </a:r>
                      <a:r>
                        <a:rPr sz="1800" b="0" spc="-7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returns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false</a:t>
                      </a:r>
                      <a:r>
                        <a:rPr sz="18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if</a:t>
                      </a:r>
                      <a:r>
                        <a:rPr sz="18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</a:t>
                      </a:r>
                      <a:r>
                        <a:rPr sz="18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result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is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true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!(x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5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&amp;&amp;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10)</a:t>
                      </a:r>
                      <a:endParaRPr sz="1800" b="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</a:tbl>
          </a:graphicData>
        </a:graphic>
      </p:graphicFrame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419" y="2814904"/>
            <a:ext cx="2745105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b="0" spc="-10" dirty="0">
                <a:latin typeface="Times New Roman" panose="02020503050405090304" charset="0"/>
                <a:cs typeface="Times New Roman" panose="02020503050405090304" charset="0"/>
              </a:rPr>
              <a:t>Bitwise </a:t>
            </a:r>
            <a:r>
              <a:rPr b="0" spc="-85" dirty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897091"/>
              </p:ext>
            </p:extLst>
          </p:nvPr>
        </p:nvGraphicFramePr>
        <p:xfrm>
          <a:off x="4114800" y="1143000"/>
          <a:ext cx="7111998" cy="5055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5545"/>
                <a:gridCol w="1576070"/>
                <a:gridCol w="1087755"/>
                <a:gridCol w="1338579"/>
                <a:gridCol w="920114"/>
                <a:gridCol w="1003935"/>
              </a:tblGrid>
              <a:tr h="493395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Operator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Description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Example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Same</a:t>
                      </a:r>
                      <a:r>
                        <a:rPr sz="1800" b="0" spc="-7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as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Result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Decimal</a:t>
                      </a:r>
                    </a:p>
                  </a:txBody>
                  <a:tcPr marL="0" marR="0" marT="241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</a:tr>
              <a:tr h="99314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&amp;</a:t>
                      </a: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2705" marR="18986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AND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Sets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each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to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if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both</a:t>
                      </a:r>
                      <a:r>
                        <a:rPr sz="18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bits</a:t>
                      </a:r>
                      <a:r>
                        <a:rPr sz="1800" b="0" spc="-6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are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5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&amp;</a:t>
                      </a:r>
                      <a:r>
                        <a:rPr sz="18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0101</a:t>
                      </a:r>
                      <a:r>
                        <a:rPr sz="1800" b="0" spc="-7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&amp;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0001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0001</a:t>
                      </a: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128778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|</a:t>
                      </a: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2705" marR="673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OR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Sets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each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to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if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any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of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two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bits</a:t>
                      </a:r>
                      <a:r>
                        <a:rPr sz="1800" b="0" spc="-8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is</a:t>
                      </a:r>
                      <a:r>
                        <a:rPr sz="18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5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|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0101</a:t>
                      </a:r>
                      <a:r>
                        <a:rPr sz="1800" b="0" spc="-6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|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0001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0101</a:t>
                      </a: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5</a:t>
                      </a: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~</a:t>
                      </a: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NOT</a:t>
                      </a:r>
                      <a:r>
                        <a:rPr sz="18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800" b="0" spc="-7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Inverts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  <a:p>
                      <a:pPr marL="527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all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bits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~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5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~0101</a:t>
                      </a: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1010</a:t>
                      </a: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10</a:t>
                      </a: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1582420"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^</a:t>
                      </a: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2705" marR="1174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XOR</a:t>
                      </a:r>
                      <a:r>
                        <a:rPr sz="18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8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Sets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each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to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if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only</a:t>
                      </a:r>
                      <a:r>
                        <a:rPr sz="1800" b="0" spc="-6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one</a:t>
                      </a:r>
                      <a:r>
                        <a:rPr sz="18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of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two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bits</a:t>
                      </a:r>
                      <a:r>
                        <a:rPr sz="18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is</a:t>
                      </a:r>
                      <a:r>
                        <a:rPr sz="18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5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^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0101</a:t>
                      </a:r>
                      <a:r>
                        <a:rPr sz="1800" b="0" spc="-7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^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0001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0100</a:t>
                      </a: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4</a:t>
                      </a: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</a:tbl>
          </a:graphicData>
        </a:graphic>
      </p:graphicFrame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419" y="2814904"/>
            <a:ext cx="2745105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b="0" spc="-10" dirty="0">
                <a:latin typeface="Times New Roman" panose="02020503050405090304" charset="0"/>
                <a:cs typeface="Times New Roman" panose="02020503050405090304" charset="0"/>
              </a:rPr>
              <a:t>Bitwise </a:t>
            </a:r>
            <a:r>
              <a:rPr b="0" spc="-85" dirty="0">
                <a:latin typeface="Times New Roman" panose="02020503050405090304" charset="0"/>
                <a:cs typeface="Times New Roman" panose="02020503050405090304" charset="0"/>
              </a:rPr>
              <a:t>Operators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940459"/>
              </p:ext>
            </p:extLst>
          </p:nvPr>
        </p:nvGraphicFramePr>
        <p:xfrm>
          <a:off x="3962400" y="1143000"/>
          <a:ext cx="7385681" cy="5130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0630"/>
                <a:gridCol w="2289810"/>
                <a:gridCol w="1116329"/>
                <a:gridCol w="944879"/>
                <a:gridCol w="859154"/>
                <a:gridCol w="944879"/>
              </a:tblGrid>
              <a:tr h="504825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Operator</a:t>
                      </a: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Description</a:t>
                      </a: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Example</a:t>
                      </a: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R="103505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b="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Same</a:t>
                      </a:r>
                      <a:r>
                        <a:rPr sz="1600" b="0" spc="-6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5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as</a:t>
                      </a:r>
                      <a:endParaRPr sz="16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Result</a:t>
                      </a: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Decimal</a:t>
                      </a: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</a:tr>
              <a:tr h="1452245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&lt;&lt;</a:t>
                      </a: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2705" marR="114935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Zero-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fill</a:t>
                      </a:r>
                      <a:r>
                        <a:rPr sz="16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left</a:t>
                      </a:r>
                      <a:r>
                        <a:rPr sz="16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shift</a:t>
                      </a:r>
                      <a:r>
                        <a:rPr sz="16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6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Shift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left</a:t>
                      </a:r>
                      <a:r>
                        <a:rPr sz="16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by</a:t>
                      </a:r>
                      <a:r>
                        <a:rPr sz="16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pushing</a:t>
                      </a:r>
                      <a:r>
                        <a:rPr sz="16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zeroes</a:t>
                      </a:r>
                      <a:r>
                        <a:rPr sz="16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in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from</a:t>
                      </a:r>
                      <a:r>
                        <a:rPr sz="16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</a:t>
                      </a:r>
                      <a:r>
                        <a:rPr sz="16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right</a:t>
                      </a:r>
                      <a:r>
                        <a:rPr sz="1600" b="0" spc="-8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and</a:t>
                      </a:r>
                      <a:r>
                        <a:rPr sz="16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letting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</a:t>
                      </a:r>
                      <a:r>
                        <a:rPr sz="16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leftmost</a:t>
                      </a:r>
                      <a:r>
                        <a:rPr sz="16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bits fall</a:t>
                      </a:r>
                      <a:r>
                        <a:rPr sz="16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off</a:t>
                      </a:r>
                      <a:endParaRPr sz="1600" b="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9</a:t>
                      </a:r>
                      <a:r>
                        <a:rPr sz="16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&lt;&lt; </a:t>
                      </a:r>
                      <a:r>
                        <a:rPr sz="16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6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ctr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1001</a:t>
                      </a:r>
                      <a:r>
                        <a:rPr sz="16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&lt;&lt;</a:t>
                      </a: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6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0010</a:t>
                      </a: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6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2</a:t>
                      </a: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1720850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&gt;&gt;</a:t>
                      </a: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2705" marR="971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Signed</a:t>
                      </a:r>
                      <a:r>
                        <a:rPr sz="16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right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shift</a:t>
                      </a:r>
                      <a:r>
                        <a:rPr sz="16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Shift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right</a:t>
                      </a:r>
                      <a:r>
                        <a:rPr sz="1600" b="0" spc="-7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by </a:t>
                      </a: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pushing</a:t>
                      </a:r>
                      <a:r>
                        <a:rPr sz="1600" b="0" spc="-7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copies</a:t>
                      </a:r>
                      <a:r>
                        <a:rPr sz="16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of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</a:t>
                      </a:r>
                      <a:r>
                        <a:rPr sz="16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leftmost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in</a:t>
                      </a:r>
                      <a:r>
                        <a:rPr sz="1600" b="0" spc="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from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</a:t>
                      </a:r>
                      <a:r>
                        <a:rPr sz="16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left</a:t>
                      </a:r>
                      <a:r>
                        <a:rPr sz="16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and</a:t>
                      </a: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letting</a:t>
                      </a:r>
                      <a:r>
                        <a:rPr sz="16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 </a:t>
                      </a: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rightmost</a:t>
                      </a:r>
                      <a:r>
                        <a:rPr sz="1600" b="0" spc="-1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bits</a:t>
                      </a:r>
                      <a:r>
                        <a:rPr sz="16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fall</a:t>
                      </a:r>
                      <a:r>
                        <a:rPr sz="1600" b="0" spc="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off</a:t>
                      </a:r>
                      <a:endParaRPr sz="16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9</a:t>
                      </a:r>
                      <a:r>
                        <a:rPr sz="16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&gt;&gt; </a:t>
                      </a:r>
                      <a:r>
                        <a:rPr sz="16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6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R="6032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1001</a:t>
                      </a:r>
                      <a:r>
                        <a:rPr sz="1600" b="0" spc="-5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&gt;&gt;</a:t>
                      </a: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6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1100</a:t>
                      </a: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12</a:t>
                      </a: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1452245">
                <a:tc>
                  <a:txBody>
                    <a:bodyPr/>
                    <a:lstStyle/>
                    <a:p>
                      <a:pPr marL="10414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&gt;&gt;&gt;</a:t>
                      </a: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2705" marR="9398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Zero-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fill</a:t>
                      </a:r>
                      <a:r>
                        <a:rPr sz="16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right</a:t>
                      </a:r>
                      <a:r>
                        <a:rPr sz="16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shift</a:t>
                      </a: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Shift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right</a:t>
                      </a:r>
                      <a:r>
                        <a:rPr sz="1600" b="0" spc="-8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by</a:t>
                      </a:r>
                      <a:r>
                        <a:rPr sz="1600" b="0" spc="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pushing</a:t>
                      </a:r>
                      <a:r>
                        <a:rPr sz="1600" b="0" spc="-8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zeroes</a:t>
                      </a:r>
                      <a:r>
                        <a:rPr sz="16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in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from</a:t>
                      </a:r>
                      <a:r>
                        <a:rPr sz="16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</a:t>
                      </a:r>
                      <a:r>
                        <a:rPr sz="16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left</a:t>
                      </a:r>
                      <a:r>
                        <a:rPr sz="16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and</a:t>
                      </a:r>
                      <a:r>
                        <a:rPr sz="16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letting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the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rightmost</a:t>
                      </a:r>
                      <a:r>
                        <a:rPr sz="1600" b="0" spc="-114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bits</a:t>
                      </a:r>
                      <a:r>
                        <a:rPr sz="16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fall</a:t>
                      </a:r>
                      <a:r>
                        <a:rPr sz="1600" b="0" spc="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off</a:t>
                      </a:r>
                      <a:endParaRPr sz="16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9</a:t>
                      </a:r>
                      <a:r>
                        <a:rPr sz="16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&gt;&gt;&gt;</a:t>
                      </a:r>
                      <a:r>
                        <a:rPr sz="16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6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6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1001</a:t>
                      </a:r>
                      <a:r>
                        <a:rPr sz="16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6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&gt;&gt;&gt;</a:t>
                      </a:r>
                      <a:endParaRPr sz="16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</a:pPr>
                      <a:r>
                        <a:rPr sz="16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1</a:t>
                      </a:r>
                      <a:endParaRPr sz="16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6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0100</a:t>
                      </a: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6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4</a:t>
                      </a: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</a:tbl>
          </a:graphicData>
        </a:graphic>
      </p:graphicFrame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70" y="2814955"/>
            <a:ext cx="2831465" cy="5734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b="0" i="0" spc="-30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3600" b="0" i="0" spc="-140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3600" b="0" i="0" spc="-50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? </a:t>
            </a:r>
            <a:r>
              <a:rPr sz="3600" b="0" i="0" spc="-80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Operator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45686" y="1295527"/>
            <a:ext cx="3202940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0" i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ternary</a:t>
            </a:r>
            <a:r>
              <a:rPr sz="2200" b="0" i="0" spc="-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i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(three-way)</a:t>
            </a:r>
            <a:r>
              <a:rPr sz="2200" b="0" i="0" spc="-8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i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operator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46194" y="1812493"/>
            <a:ext cx="4603750" cy="352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expression1</a:t>
            </a:r>
            <a:r>
              <a:rPr sz="2200" b="0" spc="-1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?</a:t>
            </a:r>
            <a:r>
              <a:rPr sz="2200" b="0" spc="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expression2</a:t>
            </a:r>
            <a:r>
              <a:rPr sz="2200" b="0" spc="-9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:</a:t>
            </a:r>
            <a:r>
              <a:rPr sz="2200" b="0" spc="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expression3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19600" y="2362022"/>
            <a:ext cx="997585" cy="31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0" i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Example: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343400" y="2814701"/>
            <a:ext cx="4853305" cy="690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b="0" i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String</a:t>
            </a:r>
            <a:r>
              <a:rPr sz="2200" b="0" i="0" spc="-8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i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result</a:t>
            </a:r>
            <a:r>
              <a:rPr sz="2200" b="0" i="0" spc="-7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i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2200" b="0" i="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i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(marks</a:t>
            </a:r>
            <a:r>
              <a:rPr sz="2200" b="0" i="0" spc="-9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i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&gt;</a:t>
            </a:r>
            <a:r>
              <a:rPr sz="2200" b="0" i="0" spc="-4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i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40)</a:t>
            </a:r>
            <a:r>
              <a:rPr sz="2200" b="0" i="0" spc="-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i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?</a:t>
            </a:r>
            <a:r>
              <a:rPr sz="2200" b="0" i="0" spc="-4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i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"pass"</a:t>
            </a:r>
            <a:r>
              <a:rPr sz="2200" b="0" i="0" spc="-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i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:</a:t>
            </a:r>
            <a:r>
              <a:rPr sz="2200" b="0" i="0" spc="-8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i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"fail";</a:t>
            </a:r>
          </a:p>
        </p:txBody>
      </p:sp>
      <p:pic>
        <p:nvPicPr>
          <p:cNvPr id="9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749" y="2819349"/>
            <a:ext cx="2745105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b="0" spc="-10" dirty="0">
                <a:latin typeface="Times New Roman" panose="02020503050405090304" charset="0"/>
                <a:cs typeface="Times New Roman" panose="02020503050405090304" charset="0"/>
              </a:rPr>
              <a:t>Operator </a:t>
            </a:r>
            <a:r>
              <a:rPr b="0" spc="-75" dirty="0">
                <a:latin typeface="Times New Roman" panose="02020503050405090304" charset="0"/>
                <a:cs typeface="Times New Roman" panose="02020503050405090304" charset="0"/>
              </a:rPr>
              <a:t>Precedence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552669"/>
              </p:ext>
            </p:extLst>
          </p:nvPr>
        </p:nvGraphicFramePr>
        <p:xfrm>
          <a:off x="4374514" y="1213482"/>
          <a:ext cx="6805295" cy="5480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66975"/>
                <a:gridCol w="4338320"/>
              </a:tblGrid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Operators</a:t>
                      </a: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spc="-10" dirty="0">
                          <a:solidFill>
                            <a:srgbClr val="FFFFFF"/>
                          </a:solidFill>
                          <a:latin typeface="Times New Roman" panose="02020503050405090304" charset="0"/>
                          <a:cs typeface="Times New Roman" panose="02020503050405090304" charset="0"/>
                        </a:rPr>
                        <a:t>Precedence</a:t>
                      </a: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0B8D2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postfix</a:t>
                      </a: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expr++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expr-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unary</a:t>
                      </a: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++expr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--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expr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+expr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expr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~</a:t>
                      </a:r>
                      <a:r>
                        <a:rPr sz="1800" b="0" spc="-6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!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multiplicative</a:t>
                      </a: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*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/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%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additive</a:t>
                      </a: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+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-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shift</a:t>
                      </a: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30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&lt;&lt;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&gt;&gt;</a:t>
                      </a:r>
                      <a:r>
                        <a:rPr sz="1800" b="0" spc="-7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&gt;&gt;&gt;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relational</a:t>
                      </a: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</a:t>
                      </a:r>
                      <a:r>
                        <a:rPr sz="1800" b="0" spc="-4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</a:t>
                      </a:r>
                      <a:r>
                        <a:rPr sz="18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&lt;=</a:t>
                      </a:r>
                      <a:r>
                        <a:rPr sz="18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&gt;=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instanceof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equality</a:t>
                      </a: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==</a:t>
                      </a:r>
                      <a:r>
                        <a:rPr sz="1800" b="0" spc="-7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!=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bitwise</a:t>
                      </a:r>
                      <a:r>
                        <a:rPr sz="1800" b="0" spc="-4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AND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&amp;</a:t>
                      </a: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bitwise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exclusive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OR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^</a:t>
                      </a: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bitwise inclusive</a:t>
                      </a:r>
                      <a:r>
                        <a:rPr sz="1800" b="0" spc="-9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OR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|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logical</a:t>
                      </a:r>
                      <a:r>
                        <a:rPr sz="1800" b="0" spc="-8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AND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&amp;&amp;</a:t>
                      </a: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logical</a:t>
                      </a:r>
                      <a:r>
                        <a:rPr sz="1800" b="0" spc="-8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OR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||</a:t>
                      </a: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  <a:tr h="33220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ternary</a:t>
                      </a: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?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:</a:t>
                      </a:r>
                      <a:endParaRPr sz="1800" b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E7EC"/>
                    </a:solidFill>
                  </a:tcPr>
                </a:tc>
              </a:tr>
              <a:tr h="707765"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assignment</a:t>
                      </a:r>
                    </a:p>
                  </a:txBody>
                  <a:tcPr marL="0" marR="0" marT="143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18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+,</a:t>
                      </a:r>
                      <a:r>
                        <a:rPr sz="18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 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-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,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*,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/,</a:t>
                      </a:r>
                      <a:r>
                        <a:rPr sz="1800" b="0" spc="-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1800" b="0" spc="-2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%,</a:t>
                      </a:r>
                      <a:r>
                        <a:rPr sz="1800" b="0" spc="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&amp;,</a:t>
                      </a:r>
                      <a:r>
                        <a:rPr sz="1800" b="0" spc="-3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18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^,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1800" b="0" spc="-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|,</a:t>
                      </a:r>
                      <a:r>
                        <a:rPr sz="1800" b="0" spc="-1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1800" b="0" spc="-3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&lt;&lt;,</a:t>
                      </a:r>
                      <a:r>
                        <a:rPr sz="1800" b="0" spc="1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&gt;&gt;,</a:t>
                      </a:r>
                      <a:endParaRPr sz="1800" b="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1800" b="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=</a:t>
                      </a:r>
                      <a:r>
                        <a:rPr sz="1800" b="0" spc="-50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 </a:t>
                      </a:r>
                      <a:r>
                        <a:rPr sz="1800" b="0" spc="-25" dirty="0">
                          <a:latin typeface="Times New Roman" panose="02020503050405090304" charset="0"/>
                          <a:cs typeface="Times New Roman" panose="02020503050405090304" charset="0"/>
                        </a:rPr>
                        <a:t>&gt;&gt;&gt;</a:t>
                      </a:r>
                      <a:endParaRPr sz="1800" b="0" dirty="0">
                        <a:latin typeface="Times New Roman" panose="02020503050405090304" charset="0"/>
                        <a:cs typeface="Times New Roman" panose="02020503050405090304" charset="0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F3F7"/>
                    </a:solidFill>
                  </a:tcPr>
                </a:tc>
              </a:tr>
            </a:tbl>
          </a:graphicData>
        </a:graphic>
      </p:graphicFrame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19" y="3051505"/>
            <a:ext cx="240030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6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3600" b="1" spc="-254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3600" b="1" spc="-6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36211" y="1090939"/>
            <a:ext cx="6682105" cy="1032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1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200" b="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200" b="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tests</a:t>
            </a:r>
            <a:r>
              <a:rPr sz="2200" b="0" spc="-6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condition.</a:t>
            </a:r>
            <a:r>
              <a:rPr sz="2200" b="0" spc="-8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It</a:t>
            </a:r>
            <a:r>
              <a:rPr sz="2200" b="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executes</a:t>
            </a:r>
            <a:r>
              <a:rPr sz="2200" b="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if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block</a:t>
            </a:r>
            <a:r>
              <a:rPr sz="2200" b="0" spc="-6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2200" b="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condition</a:t>
            </a:r>
            <a:r>
              <a:rPr sz="2200" b="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b="0" spc="-6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true.</a:t>
            </a:r>
            <a:endParaRPr sz="22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36085" y="2392045"/>
            <a:ext cx="1046480" cy="352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Syntax: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787900" y="2954223"/>
            <a:ext cx="4540885" cy="21018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10"/>
              </a:spcBef>
            </a:pPr>
            <a:r>
              <a:rPr sz="22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if(condition)</a:t>
            </a:r>
            <a:endParaRPr sz="2200"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sz="22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200">
              <a:latin typeface="Times New Roman" panose="02020503050405090304" charset="0"/>
              <a:cs typeface="Times New Roman" panose="02020503050405090304" charset="0"/>
            </a:endParaRPr>
          </a:p>
          <a:p>
            <a:pPr marL="1003300">
              <a:lnSpc>
                <a:spcPct val="100000"/>
              </a:lnSpc>
              <a:spcBef>
                <a:spcPts val="1900"/>
              </a:spcBef>
            </a:pP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//code</a:t>
            </a:r>
            <a:r>
              <a:rPr sz="220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20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220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executed</a:t>
            </a:r>
            <a:endParaRPr sz="2200">
              <a:latin typeface="Times New Roman" panose="02020503050405090304" charset="0"/>
              <a:cs typeface="Times New Roman" panose="02020503050405090304" charset="0"/>
            </a:endParaRPr>
          </a:p>
          <a:p>
            <a:pPr marL="179705">
              <a:lnSpc>
                <a:spcPct val="100000"/>
              </a:lnSpc>
              <a:spcBef>
                <a:spcPts val="1980"/>
              </a:spcBef>
            </a:pPr>
            <a:r>
              <a:rPr sz="22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20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9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19" y="2814904"/>
            <a:ext cx="2400300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b="1" spc="-6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3600" b="1" spc="-254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3600" b="1" spc="-7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Statement </a:t>
            </a:r>
            <a:r>
              <a:rPr sz="3600" b="1" spc="-1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Example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4384" y="749808"/>
            <a:ext cx="7358380" cy="5303520"/>
          </a:xfrm>
          <a:prstGeom prst="rect">
            <a:avLst/>
          </a:prstGeom>
          <a:solidFill>
            <a:srgbClr val="CEE7EC"/>
          </a:solidFill>
        </p:spPr>
        <p:txBody>
          <a:bodyPr vert="horz" wrap="square" lIns="0" tIns="9525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750"/>
              </a:spcBef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class</a:t>
            </a:r>
            <a:r>
              <a:rPr sz="1800" spc="-9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IfStatement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92710">
              <a:lnSpc>
                <a:spcPct val="100000"/>
              </a:lnSpc>
              <a:spcBef>
                <a:spcPts val="1110"/>
              </a:spcBef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67030">
              <a:lnSpc>
                <a:spcPct val="100000"/>
              </a:lnSpc>
              <a:spcBef>
                <a:spcPts val="1105"/>
              </a:spcBef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public</a:t>
            </a:r>
            <a:r>
              <a:rPr sz="1800" spc="-1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static</a:t>
            </a:r>
            <a:r>
              <a:rPr sz="1800" spc="-1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void</a:t>
            </a:r>
            <a:r>
              <a:rPr sz="1800" spc="-1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main(String[]</a:t>
            </a:r>
            <a:r>
              <a:rPr sz="1800" spc="-1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args)</a:t>
            </a:r>
            <a:r>
              <a:rPr sz="1800" spc="-114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641350">
              <a:lnSpc>
                <a:spcPct val="100000"/>
              </a:lnSpc>
              <a:spcBef>
                <a:spcPts val="1105"/>
              </a:spcBef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int</a:t>
            </a:r>
            <a:r>
              <a:rPr sz="1800" spc="-11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1800" spc="-8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1800" spc="-8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5" dirty="0">
                <a:latin typeface="Times New Roman" panose="02020503050405090304" charset="0"/>
                <a:cs typeface="Times New Roman" panose="02020503050405090304" charset="0"/>
              </a:rPr>
              <a:t>10;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64135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1800" spc="-114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checks</a:t>
            </a:r>
            <a:r>
              <a:rPr sz="1800" spc="-8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1800" spc="-1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1800" spc="-8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1800" spc="-1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greater</a:t>
            </a:r>
            <a:r>
              <a:rPr sz="1800" spc="-10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than</a:t>
            </a:r>
            <a:r>
              <a:rPr sz="1800" spc="-7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0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641350">
              <a:lnSpc>
                <a:spcPct val="100000"/>
              </a:lnSpc>
              <a:spcBef>
                <a:spcPts val="1105"/>
              </a:spcBef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1800" spc="-114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(number</a:t>
            </a:r>
            <a:r>
              <a:rPr sz="1800" spc="-5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&gt;</a:t>
            </a:r>
            <a:r>
              <a:rPr sz="1800" spc="-10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0)</a:t>
            </a:r>
            <a:r>
              <a:rPr sz="1800" spc="-5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915670">
              <a:lnSpc>
                <a:spcPct val="100000"/>
              </a:lnSpc>
              <a:spcBef>
                <a:spcPts val="1105"/>
              </a:spcBef>
            </a:pP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System.out.println("The</a:t>
            </a:r>
            <a:r>
              <a:rPr sz="1800" spc="-1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1800" spc="-114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1800" spc="-1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positive.");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641350">
              <a:lnSpc>
                <a:spcPct val="100000"/>
              </a:lnSpc>
              <a:spcBef>
                <a:spcPts val="1110"/>
              </a:spcBef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641350">
              <a:lnSpc>
                <a:spcPct val="100000"/>
              </a:lnSpc>
              <a:spcBef>
                <a:spcPts val="1105"/>
              </a:spcBef>
            </a:pPr>
            <a:r>
              <a:rPr sz="1800" spc="-20" dirty="0">
                <a:latin typeface="Times New Roman" panose="02020503050405090304" charset="0"/>
                <a:cs typeface="Times New Roman" panose="02020503050405090304" charset="0"/>
              </a:rPr>
              <a:t>System.out.println("Statement</a:t>
            </a:r>
            <a:r>
              <a:rPr sz="1800" spc="-1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outside</a:t>
            </a:r>
            <a:r>
              <a:rPr sz="1800" spc="-8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5" dirty="0">
                <a:latin typeface="Times New Roman" panose="02020503050405090304" charset="0"/>
                <a:cs typeface="Times New Roman" panose="02020503050405090304" charset="0"/>
              </a:rPr>
              <a:t>if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92710">
              <a:lnSpc>
                <a:spcPct val="100000"/>
              </a:lnSpc>
              <a:spcBef>
                <a:spcPts val="1105"/>
              </a:spcBef>
            </a:pP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block");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67030">
              <a:lnSpc>
                <a:spcPct val="100000"/>
              </a:lnSpc>
              <a:spcBef>
                <a:spcPts val="1080"/>
              </a:spcBef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92710">
              <a:lnSpc>
                <a:spcPct val="100000"/>
              </a:lnSpc>
              <a:spcBef>
                <a:spcPts val="1105"/>
              </a:spcBef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19" y="2814904"/>
            <a:ext cx="2086610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b="1" spc="-9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If-</a:t>
            </a:r>
            <a:r>
              <a:rPr sz="3600" b="1" spc="-2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else </a:t>
            </a:r>
            <a:r>
              <a:rPr sz="3600" b="1" spc="-6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33926" y="761949"/>
            <a:ext cx="69526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000" b="0" spc="-6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000" b="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if-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else</a:t>
            </a:r>
            <a:r>
              <a:rPr sz="20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0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also</a:t>
            </a:r>
            <a:r>
              <a:rPr sz="2000" b="0" spc="-8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test</a:t>
            </a:r>
            <a:r>
              <a:rPr sz="2000" b="0" spc="-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000" b="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condition.</a:t>
            </a:r>
            <a:r>
              <a:rPr sz="2000" b="0" spc="8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It</a:t>
            </a:r>
            <a:r>
              <a:rPr sz="2000" b="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executes</a:t>
            </a:r>
            <a:r>
              <a:rPr sz="2000" b="0" spc="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000" b="0" spc="-7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126" y="1600326"/>
            <a:ext cx="59518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block</a:t>
            </a:r>
            <a:r>
              <a:rPr sz="2000" spc="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2000" spc="-7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condition</a:t>
            </a:r>
            <a:r>
              <a:rPr sz="2000" spc="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0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true</a:t>
            </a:r>
            <a:r>
              <a:rPr sz="2000" spc="-6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otherwise</a:t>
            </a:r>
            <a:r>
              <a:rPr sz="200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else</a:t>
            </a:r>
            <a:r>
              <a:rPr sz="200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block</a:t>
            </a:r>
            <a:r>
              <a:rPr sz="2000" spc="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0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executed.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3926" y="2286172"/>
            <a:ext cx="7051675" cy="377190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Syntax: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095"/>
              </a:spcBef>
            </a:pPr>
            <a:r>
              <a:rPr sz="17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if(condition)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205"/>
              </a:spcBef>
            </a:pPr>
            <a:r>
              <a:rPr sz="17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1555115">
              <a:lnSpc>
                <a:spcPct val="100000"/>
              </a:lnSpc>
              <a:spcBef>
                <a:spcPts val="1200"/>
              </a:spcBef>
            </a:pP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//code</a:t>
            </a:r>
            <a:r>
              <a:rPr sz="170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17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170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executed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200"/>
              </a:spcBef>
            </a:pPr>
            <a:r>
              <a:rPr sz="17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205"/>
              </a:spcBef>
            </a:pPr>
            <a:r>
              <a:rPr sz="170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else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200"/>
              </a:spcBef>
            </a:pPr>
            <a:r>
              <a:rPr sz="17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1555115">
              <a:lnSpc>
                <a:spcPct val="100000"/>
              </a:lnSpc>
              <a:spcBef>
                <a:spcPts val="1200"/>
              </a:spcBef>
            </a:pP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//code</a:t>
            </a:r>
            <a:r>
              <a:rPr sz="170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170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170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executed</a:t>
            </a:r>
            <a:r>
              <a:rPr sz="1700" spc="-5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when</a:t>
            </a:r>
            <a:r>
              <a:rPr sz="170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condition</a:t>
            </a:r>
            <a:r>
              <a:rPr sz="17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fails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200"/>
              </a:spcBef>
            </a:pPr>
            <a:r>
              <a:rPr sz="17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6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19" y="2568066"/>
            <a:ext cx="2086610" cy="156019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20"/>
              </a:spcBef>
            </a:pPr>
            <a:r>
              <a:rPr sz="3600" b="1" spc="-9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If-</a:t>
            </a:r>
            <a:r>
              <a:rPr sz="3600" b="1" spc="-2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else </a:t>
            </a:r>
            <a:r>
              <a:rPr sz="3600" b="1" spc="-6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Statement </a:t>
            </a:r>
            <a:r>
              <a:rPr sz="3600" b="1" spc="-1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Example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30167" y="627887"/>
            <a:ext cx="8013700" cy="5532120"/>
          </a:xfrm>
          <a:prstGeom prst="rect">
            <a:avLst/>
          </a:prstGeom>
          <a:solidFill>
            <a:srgbClr val="CEE7EC"/>
          </a:solidFill>
        </p:spPr>
        <p:txBody>
          <a:bodyPr vert="horz" wrap="square" lIns="0" tIns="882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695"/>
              </a:spcBef>
            </a:pP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class</a:t>
            </a:r>
            <a:r>
              <a:rPr sz="17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Main</a:t>
            </a:r>
            <a:r>
              <a:rPr sz="1700" spc="-5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615315" marR="2446020" indent="-262255">
              <a:lnSpc>
                <a:spcPts val="3050"/>
              </a:lnSpc>
              <a:spcBef>
                <a:spcPts val="270"/>
              </a:spcBef>
            </a:pP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public</a:t>
            </a:r>
            <a:r>
              <a:rPr sz="1700" spc="-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static</a:t>
            </a:r>
            <a:r>
              <a:rPr sz="1700" spc="-8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void</a:t>
            </a:r>
            <a:r>
              <a:rPr sz="17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main(String[]</a:t>
            </a:r>
            <a:r>
              <a:rPr sz="1700" spc="-6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args)</a:t>
            </a:r>
            <a:r>
              <a:rPr sz="1700" spc="-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50" dirty="0">
                <a:latin typeface="Times New Roman" panose="02020503050405090304" charset="0"/>
                <a:cs typeface="Times New Roman" panose="02020503050405090304" charset="0"/>
              </a:rPr>
              <a:t>{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int</a:t>
            </a:r>
            <a:r>
              <a:rPr sz="1700" spc="-6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1700" spc="-5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1700" spc="-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25" dirty="0">
                <a:latin typeface="Times New Roman" panose="02020503050405090304" charset="0"/>
                <a:cs typeface="Times New Roman" panose="02020503050405090304" charset="0"/>
              </a:rPr>
              <a:t>10;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615315">
              <a:lnSpc>
                <a:spcPct val="100000"/>
              </a:lnSpc>
              <a:spcBef>
                <a:spcPts val="500"/>
              </a:spcBef>
            </a:pP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1700" spc="-6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checks</a:t>
            </a:r>
            <a:r>
              <a:rPr sz="17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17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1700" spc="-6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17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greater</a:t>
            </a:r>
            <a:r>
              <a:rPr sz="1700" spc="-5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than</a:t>
            </a:r>
            <a:r>
              <a:rPr sz="1700" spc="-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50" dirty="0">
                <a:latin typeface="Times New Roman" panose="02020503050405090304" charset="0"/>
                <a:cs typeface="Times New Roman" panose="02020503050405090304" charset="0"/>
              </a:rPr>
              <a:t>0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615315">
              <a:lnSpc>
                <a:spcPct val="100000"/>
              </a:lnSpc>
              <a:spcBef>
                <a:spcPts val="1010"/>
              </a:spcBef>
            </a:pP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1700" spc="-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(number</a:t>
            </a:r>
            <a:r>
              <a:rPr sz="1700" spc="-2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&gt;</a:t>
            </a:r>
            <a:r>
              <a:rPr sz="17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0)</a:t>
            </a:r>
            <a:r>
              <a:rPr sz="17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874395">
              <a:lnSpc>
                <a:spcPct val="100000"/>
              </a:lnSpc>
              <a:spcBef>
                <a:spcPts val="1245"/>
              </a:spcBef>
            </a:pP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System.out.println("The</a:t>
            </a:r>
            <a:r>
              <a:rPr sz="1700" spc="-12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1700" spc="-1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1700" spc="-114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10" dirty="0">
                <a:latin typeface="Times New Roman" panose="02020503050405090304" charset="0"/>
                <a:cs typeface="Times New Roman" panose="02020503050405090304" charset="0"/>
              </a:rPr>
              <a:t>positive.");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615315">
              <a:lnSpc>
                <a:spcPct val="100000"/>
              </a:lnSpc>
              <a:spcBef>
                <a:spcPts val="1010"/>
              </a:spcBef>
            </a:pPr>
            <a:r>
              <a:rPr sz="17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90805" marR="751205" indent="524510">
              <a:lnSpc>
                <a:spcPct val="148000"/>
              </a:lnSpc>
              <a:spcBef>
                <a:spcPts val="30"/>
              </a:spcBef>
            </a:pP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1700" spc="-5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execute</a:t>
            </a:r>
            <a:r>
              <a:rPr sz="17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this</a:t>
            </a:r>
            <a:r>
              <a:rPr sz="17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block</a:t>
            </a:r>
            <a:r>
              <a:rPr sz="1700" spc="-2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17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17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17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not</a:t>
            </a:r>
            <a:r>
              <a:rPr sz="17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greater</a:t>
            </a:r>
            <a:r>
              <a:rPr sz="17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20" dirty="0">
                <a:latin typeface="Times New Roman" panose="02020503050405090304" charset="0"/>
                <a:cs typeface="Times New Roman" panose="02020503050405090304" charset="0"/>
              </a:rPr>
              <a:t>than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else</a:t>
            </a:r>
            <a:r>
              <a:rPr sz="1700" spc="-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874395">
              <a:lnSpc>
                <a:spcPct val="100000"/>
              </a:lnSpc>
              <a:spcBef>
                <a:spcPts val="1010"/>
              </a:spcBef>
            </a:pP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System.out.println("The</a:t>
            </a:r>
            <a:r>
              <a:rPr sz="1700" spc="-8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1700" spc="-8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1700" spc="-1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not</a:t>
            </a:r>
            <a:r>
              <a:rPr sz="1700" spc="-8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10" dirty="0">
                <a:latin typeface="Times New Roman" panose="02020503050405090304" charset="0"/>
                <a:cs typeface="Times New Roman" panose="02020503050405090304" charset="0"/>
              </a:rPr>
              <a:t>positive.");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615315">
              <a:lnSpc>
                <a:spcPct val="100000"/>
              </a:lnSpc>
              <a:spcBef>
                <a:spcPts val="1005"/>
              </a:spcBef>
            </a:pPr>
            <a:r>
              <a:rPr sz="17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615315">
              <a:lnSpc>
                <a:spcPct val="100000"/>
              </a:lnSpc>
              <a:spcBef>
                <a:spcPts val="990"/>
              </a:spcBef>
            </a:pPr>
            <a:r>
              <a:rPr sz="1700" spc="-10" dirty="0">
                <a:latin typeface="Times New Roman" panose="02020503050405090304" charset="0"/>
                <a:cs typeface="Times New Roman" panose="02020503050405090304" charset="0"/>
              </a:rPr>
              <a:t>System.out.println("Statement</a:t>
            </a:r>
            <a:r>
              <a:rPr sz="1700" spc="-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outside</a:t>
            </a:r>
            <a:r>
              <a:rPr sz="1700" spc="-7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latin typeface="Times New Roman" panose="02020503050405090304" charset="0"/>
                <a:cs typeface="Times New Roman" panose="02020503050405090304" charset="0"/>
              </a:rPr>
              <a:t>if...else</a:t>
            </a:r>
            <a:r>
              <a:rPr sz="17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10" dirty="0">
                <a:latin typeface="Times New Roman" panose="02020503050405090304" charset="0"/>
                <a:cs typeface="Times New Roman" panose="02020503050405090304" charset="0"/>
              </a:rPr>
              <a:t>block");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353060">
              <a:lnSpc>
                <a:spcPct val="100000"/>
              </a:lnSpc>
              <a:spcBef>
                <a:spcPts val="1010"/>
              </a:spcBef>
            </a:pPr>
            <a:r>
              <a:rPr sz="17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90805">
              <a:lnSpc>
                <a:spcPct val="100000"/>
              </a:lnSpc>
              <a:spcBef>
                <a:spcPts val="1005"/>
              </a:spcBef>
            </a:pPr>
            <a:r>
              <a:rPr sz="17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70" y="2814955"/>
            <a:ext cx="2424430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b="1" spc="-60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3600" b="1" spc="-75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3600" b="1" spc="-95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if-</a:t>
            </a:r>
            <a:r>
              <a:rPr sz="3600" b="1" spc="-85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else-</a:t>
            </a:r>
            <a:r>
              <a:rPr sz="3600" b="1" spc="-25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if </a:t>
            </a:r>
            <a:r>
              <a:rPr sz="3600" b="1" spc="-10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Ladder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34854" y="530595"/>
            <a:ext cx="7002780" cy="690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if-else-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2200" b="0" spc="-1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ladder</a:t>
            </a:r>
            <a:r>
              <a:rPr sz="2200" b="0" spc="-6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200" b="0" spc="-9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executes</a:t>
            </a:r>
            <a:r>
              <a:rPr sz="2200" b="0" spc="-9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one</a:t>
            </a:r>
            <a:r>
              <a:rPr sz="2200" b="0" spc="-7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condition</a:t>
            </a:r>
            <a:r>
              <a:rPr sz="2200" b="0" spc="-6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from</a:t>
            </a:r>
            <a:r>
              <a:rPr lang="en-US" sz="2200" b="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multiple statements.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657600" y="1143000"/>
            <a:ext cx="7861935" cy="538543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94615" marR="4339590" indent="100330">
              <a:lnSpc>
                <a:spcPct val="137000"/>
              </a:lnSpc>
              <a:spcBef>
                <a:spcPts val="95"/>
              </a:spcBef>
            </a:pPr>
            <a:r>
              <a:rPr sz="22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Syntax:</a:t>
            </a:r>
            <a:endParaRPr sz="22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7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if(condition1){</a:t>
            </a:r>
            <a:endParaRPr sz="17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795655">
              <a:lnSpc>
                <a:spcPct val="100000"/>
              </a:lnSpc>
              <a:spcBef>
                <a:spcPts val="1010"/>
              </a:spcBef>
            </a:pP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//code</a:t>
            </a:r>
            <a:r>
              <a:rPr sz="1700" spc="-4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1700" spc="-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1700" spc="-6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executed</a:t>
            </a:r>
            <a:r>
              <a:rPr sz="1700" spc="-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1700" spc="-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condition1</a:t>
            </a:r>
            <a:r>
              <a:rPr sz="1700" spc="-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1700" spc="-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true</a:t>
            </a:r>
            <a:endParaRPr sz="17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}else</a:t>
            </a:r>
            <a:r>
              <a:rPr sz="1700" spc="-6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if(condition2){</a:t>
            </a:r>
            <a:endParaRPr sz="17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537210">
              <a:lnSpc>
                <a:spcPct val="100000"/>
              </a:lnSpc>
              <a:spcBef>
                <a:spcPts val="1010"/>
              </a:spcBef>
            </a:pP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//code</a:t>
            </a:r>
            <a:r>
              <a:rPr sz="1700" spc="-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1700" spc="-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1700" spc="-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executed</a:t>
            </a:r>
            <a:r>
              <a:rPr sz="1700" spc="-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1700" spc="-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condition2</a:t>
            </a:r>
            <a:r>
              <a:rPr sz="1700" spc="-4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1700" spc="-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true</a:t>
            </a:r>
            <a:endParaRPr sz="17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700" spc="-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7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else</a:t>
            </a:r>
            <a:r>
              <a:rPr sz="1700" spc="-6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if(condition3){</a:t>
            </a:r>
            <a:endParaRPr sz="17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537210">
              <a:lnSpc>
                <a:spcPct val="100000"/>
              </a:lnSpc>
              <a:spcBef>
                <a:spcPts val="1010"/>
              </a:spcBef>
            </a:pP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//code</a:t>
            </a:r>
            <a:r>
              <a:rPr sz="1700" spc="-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1700" spc="-4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1700" spc="-1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executed</a:t>
            </a:r>
            <a:r>
              <a:rPr sz="17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1700" spc="-4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condition3</a:t>
            </a:r>
            <a:r>
              <a:rPr sz="1700" spc="-4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1700" spc="-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true</a:t>
            </a:r>
            <a:endParaRPr sz="17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700" spc="-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7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700" spc="-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...</a:t>
            </a:r>
            <a:endParaRPr sz="17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7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else{</a:t>
            </a:r>
            <a:endParaRPr sz="17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//code</a:t>
            </a:r>
            <a:r>
              <a:rPr sz="1700" spc="-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1700" spc="-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1700" spc="-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executed</a:t>
            </a:r>
            <a:r>
              <a:rPr sz="1700" spc="-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1700" spc="-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all</a:t>
            </a:r>
            <a:r>
              <a:rPr sz="1700" spc="-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1700" spc="-1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conditions</a:t>
            </a:r>
            <a:r>
              <a:rPr sz="1700" spc="-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are</a:t>
            </a:r>
            <a:r>
              <a:rPr sz="1700" spc="-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false</a:t>
            </a:r>
            <a:endParaRPr sz="17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700" spc="-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}</a:t>
            </a:r>
          </a:p>
        </p:txBody>
      </p:sp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70" y="2567940"/>
            <a:ext cx="1731010" cy="1548765"/>
          </a:xfrm>
          <a:prstGeom prst="rect">
            <a:avLst/>
          </a:prstGeom>
        </p:spPr>
        <p:txBody>
          <a:bodyPr vert="horz" wrap="square" lIns="0" tIns="66040" rIns="0" bIns="0" rtlCol="0">
            <a:noAutofit/>
          </a:bodyPr>
          <a:lstStyle/>
          <a:p>
            <a:pPr marL="12700" marR="5080">
              <a:lnSpc>
                <a:spcPct val="90000"/>
              </a:lnSpc>
              <a:spcBef>
                <a:spcPts val="520"/>
              </a:spcBef>
            </a:pPr>
            <a:r>
              <a:rPr sz="3600" b="1" spc="-9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if-</a:t>
            </a:r>
            <a:r>
              <a:rPr sz="3600" b="1" spc="-9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else-</a:t>
            </a:r>
            <a:r>
              <a:rPr sz="3600" b="1" spc="-2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if </a:t>
            </a:r>
            <a:r>
              <a:rPr sz="3600" b="1" spc="-1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Ladder </a:t>
            </a:r>
            <a:r>
              <a:rPr sz="3600" b="1" spc="-8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Example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9520" y="762000"/>
            <a:ext cx="7650480" cy="5563870"/>
          </a:xfrm>
          <a:prstGeom prst="rect">
            <a:avLst/>
          </a:prstGeom>
          <a:solidFill>
            <a:srgbClr val="CEE7EC"/>
          </a:solidFill>
        </p:spPr>
        <p:txBody>
          <a:bodyPr vert="horz" wrap="square" lIns="0" tIns="93345" rIns="0" bIns="0" rtlCol="0">
            <a:noAutofit/>
          </a:bodyPr>
          <a:lstStyle/>
          <a:p>
            <a:pPr marL="91440">
              <a:lnSpc>
                <a:spcPct val="100000"/>
              </a:lnSpc>
              <a:spcBef>
                <a:spcPts val="735"/>
              </a:spcBef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class</a:t>
            </a:r>
            <a:r>
              <a:rPr sz="1800" spc="-12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Main</a:t>
            </a:r>
            <a:r>
              <a:rPr sz="1800" spc="-10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65760">
              <a:lnSpc>
                <a:spcPct val="100000"/>
              </a:lnSpc>
              <a:spcBef>
                <a:spcPts val="1105"/>
              </a:spcBef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public</a:t>
            </a:r>
            <a:r>
              <a:rPr sz="1800" spc="-1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static</a:t>
            </a:r>
            <a:r>
              <a:rPr sz="1800" spc="-11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void</a:t>
            </a:r>
            <a:r>
              <a:rPr sz="1800" spc="-1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main(String[]</a:t>
            </a:r>
            <a:r>
              <a:rPr sz="1800" spc="-1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args)</a:t>
            </a:r>
            <a:r>
              <a:rPr sz="1800" spc="-9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105"/>
              </a:spcBef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int</a:t>
            </a:r>
            <a:r>
              <a:rPr sz="1800" spc="-114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1800" spc="-8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1800" spc="-8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5" dirty="0">
                <a:latin typeface="Times New Roman" panose="02020503050405090304" charset="0"/>
                <a:cs typeface="Times New Roman" panose="02020503050405090304" charset="0"/>
              </a:rPr>
              <a:t>0;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105"/>
              </a:spcBef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1800" spc="-1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(number</a:t>
            </a:r>
            <a:r>
              <a:rPr sz="1800" spc="-7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&gt;</a:t>
            </a:r>
            <a:r>
              <a:rPr sz="1800" spc="-7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0)</a:t>
            </a: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 {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914400">
              <a:lnSpc>
                <a:spcPct val="100000"/>
              </a:lnSpc>
              <a:spcBef>
                <a:spcPts val="1085"/>
              </a:spcBef>
            </a:pP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System.out.println("The</a:t>
            </a:r>
            <a:r>
              <a:rPr sz="1800" spc="-17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1800" spc="-11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1800" spc="-1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positive.");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105"/>
              </a:spcBef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105"/>
              </a:spcBef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else</a:t>
            </a:r>
            <a:r>
              <a:rPr sz="1800" spc="-8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1800" spc="-1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(number</a:t>
            </a:r>
            <a:r>
              <a:rPr sz="1800" spc="-8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&lt;</a:t>
            </a:r>
            <a:r>
              <a:rPr sz="1800" spc="-1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0)</a:t>
            </a:r>
            <a:r>
              <a:rPr sz="18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914400">
              <a:lnSpc>
                <a:spcPct val="100000"/>
              </a:lnSpc>
              <a:spcBef>
                <a:spcPts val="1105"/>
              </a:spcBef>
            </a:pP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System.out.println("The</a:t>
            </a:r>
            <a:r>
              <a:rPr sz="1800" spc="-17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1800" spc="-11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1800" spc="-1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negative.");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105"/>
              </a:spcBef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105"/>
              </a:spcBef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else</a:t>
            </a:r>
            <a:r>
              <a:rPr sz="1800" spc="-1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914400">
              <a:lnSpc>
                <a:spcPct val="100000"/>
              </a:lnSpc>
              <a:spcBef>
                <a:spcPts val="1080"/>
              </a:spcBef>
            </a:pPr>
            <a:r>
              <a:rPr sz="1800" spc="-20" dirty="0">
                <a:latin typeface="Times New Roman" panose="02020503050405090304" charset="0"/>
                <a:cs typeface="Times New Roman" panose="02020503050405090304" charset="0"/>
              </a:rPr>
              <a:t>System.out.println("The</a:t>
            </a:r>
            <a:r>
              <a:rPr sz="1800" spc="-114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1800"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1800" spc="-8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0.");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640080">
              <a:lnSpc>
                <a:spcPct val="100000"/>
              </a:lnSpc>
              <a:spcBef>
                <a:spcPts val="1110"/>
              </a:spcBef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365760">
              <a:lnSpc>
                <a:spcPct val="100000"/>
              </a:lnSpc>
              <a:spcBef>
                <a:spcPts val="1105"/>
              </a:spcBef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  <a:p>
            <a:pPr marL="91440">
              <a:lnSpc>
                <a:spcPct val="100000"/>
              </a:lnSpc>
              <a:spcBef>
                <a:spcPts val="1105"/>
              </a:spcBef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8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19" y="3051505"/>
            <a:ext cx="225107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7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Switch</a:t>
            </a:r>
            <a:r>
              <a:rPr sz="3600" b="1" spc="-7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3600" b="1" spc="-3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case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62654" y="762076"/>
            <a:ext cx="6835140" cy="935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000" b="0" spc="-9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000" b="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switch</a:t>
            </a:r>
            <a:r>
              <a:rPr sz="20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0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executes</a:t>
            </a:r>
            <a:r>
              <a:rPr sz="2000" b="0" spc="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one</a:t>
            </a:r>
            <a:r>
              <a:rPr sz="2000" b="0" spc="-6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0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from</a:t>
            </a:r>
            <a:r>
              <a:rPr sz="20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multiple</a:t>
            </a:r>
            <a:r>
              <a:rPr lang="en-US" sz="20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conditions,</a:t>
            </a:r>
            <a:r>
              <a:rPr sz="2000" spc="-8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and</a:t>
            </a:r>
            <a:r>
              <a:rPr sz="200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its</a:t>
            </a:r>
            <a:r>
              <a:rPr sz="200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like</a:t>
            </a:r>
            <a:r>
              <a:rPr sz="2000" spc="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00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if-else-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if</a:t>
            </a:r>
            <a:r>
              <a:rPr sz="200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ladder</a:t>
            </a:r>
            <a:r>
              <a:rPr sz="2000" spc="8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statement.</a:t>
            </a:r>
            <a:endParaRPr lang="en-US" sz="2000" b="0" spc="-10" dirty="0">
              <a:solidFill>
                <a:srgbClr val="575757"/>
              </a:solidFill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6454" y="1789683"/>
            <a:ext cx="7045959" cy="626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000" spc="-6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switch</a:t>
            </a:r>
            <a:r>
              <a:rPr sz="2000" spc="-5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000" spc="-6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works</a:t>
            </a:r>
            <a:r>
              <a:rPr sz="20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with</a:t>
            </a:r>
            <a:r>
              <a:rPr sz="20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byte,</a:t>
            </a:r>
            <a:r>
              <a:rPr sz="200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short,</a:t>
            </a:r>
            <a:r>
              <a:rPr sz="2000" spc="-6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int,</a:t>
            </a:r>
            <a:r>
              <a:rPr sz="200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long,</a:t>
            </a:r>
            <a:r>
              <a:rPr sz="2000" spc="-9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enum</a:t>
            </a:r>
            <a:r>
              <a:rPr sz="200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types,</a:t>
            </a:r>
            <a:r>
              <a:rPr lang="en-US" altLang=""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string.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89070" y="2438400"/>
            <a:ext cx="5839460" cy="1528445"/>
          </a:xfrm>
          <a:prstGeom prst="rect">
            <a:avLst/>
          </a:prstGeom>
        </p:spPr>
        <p:txBody>
          <a:bodyPr vert="horz" wrap="square" lIns="0" tIns="131445" rIns="0" bIns="0" rtlCol="0">
            <a:noAutofit/>
          </a:bodyPr>
          <a:lstStyle/>
          <a:p>
            <a:pPr marL="94615">
              <a:lnSpc>
                <a:spcPct val="100000"/>
              </a:lnSpc>
              <a:spcBef>
                <a:spcPts val="1035"/>
              </a:spcBef>
            </a:pP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Syntax: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R="2344420" algn="r">
              <a:lnSpc>
                <a:spcPct val="100000"/>
              </a:lnSpc>
              <a:spcBef>
                <a:spcPts val="805"/>
              </a:spcBef>
            </a:pPr>
            <a:r>
              <a:rPr sz="17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switch(expression){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R="2336800" algn="r">
              <a:lnSpc>
                <a:spcPct val="100000"/>
              </a:lnSpc>
              <a:spcBef>
                <a:spcPts val="600"/>
              </a:spcBef>
            </a:pP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case</a:t>
            </a:r>
            <a:r>
              <a:rPr sz="1700" spc="-8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value1: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1963420" marR="5080">
              <a:lnSpc>
                <a:spcPts val="2640"/>
              </a:lnSpc>
              <a:spcBef>
                <a:spcPts val="190"/>
              </a:spcBef>
              <a:tabLst>
                <a:tab pos="3006090" algn="l"/>
              </a:tabLst>
            </a:pP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//code</a:t>
            </a:r>
            <a:r>
              <a:rPr sz="170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170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170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executed; break;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	</a:t>
            </a:r>
            <a:r>
              <a:rPr sz="17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//optional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917575">
              <a:lnSpc>
                <a:spcPct val="100000"/>
              </a:lnSpc>
              <a:spcBef>
                <a:spcPts val="415"/>
              </a:spcBef>
            </a:pP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case</a:t>
            </a:r>
            <a:r>
              <a:rPr sz="1700" spc="-5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value2: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4526" y="4572101"/>
            <a:ext cx="3932554" cy="1032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57910" marR="5080">
              <a:lnSpc>
                <a:spcPct val="130000"/>
              </a:lnSpc>
              <a:spcBef>
                <a:spcPts val="95"/>
              </a:spcBef>
              <a:tabLst>
                <a:tab pos="2100580" algn="l"/>
              </a:tabLst>
            </a:pP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//code</a:t>
            </a:r>
            <a:r>
              <a:rPr sz="170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170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170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executed; break;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	</a:t>
            </a:r>
            <a:r>
              <a:rPr sz="17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//optional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7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default:</a:t>
            </a:r>
            <a:endParaRPr sz="17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0600" y="5609590"/>
            <a:ext cx="5474970" cy="28384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code</a:t>
            </a:r>
            <a:r>
              <a:rPr sz="17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170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17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executed</a:t>
            </a:r>
            <a:r>
              <a:rPr sz="1700" spc="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1700" spc="-7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all</a:t>
            </a:r>
            <a:r>
              <a:rPr sz="170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cases</a:t>
            </a:r>
            <a:r>
              <a:rPr sz="170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are</a:t>
            </a:r>
            <a:r>
              <a:rPr sz="170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7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not</a:t>
            </a:r>
            <a:r>
              <a:rPr lang="en-US" altLang="" sz="17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mtched.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3621" y="5892800"/>
            <a:ext cx="15557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}</a:t>
            </a:r>
          </a:p>
        </p:txBody>
      </p:sp>
      <p:pic>
        <p:nvPicPr>
          <p:cNvPr id="11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19" y="2814904"/>
            <a:ext cx="2251075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b="1" spc="-7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Switch</a:t>
            </a:r>
            <a:r>
              <a:rPr sz="3600" b="1" spc="-7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3600" b="1" spc="-5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case </a:t>
            </a:r>
            <a:r>
              <a:rPr sz="3600" b="1" spc="-1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Example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38600" y="832103"/>
            <a:ext cx="6812280" cy="5303520"/>
          </a:xfrm>
          <a:prstGeom prst="rect">
            <a:avLst/>
          </a:prstGeom>
          <a:solidFill>
            <a:srgbClr val="CEE7EC"/>
          </a:solidFill>
        </p:spPr>
        <p:txBody>
          <a:bodyPr vert="horz" wrap="square" lIns="0" tIns="0" rIns="0" bIns="0" rtlCol="0">
            <a:spAutoFit/>
          </a:bodyPr>
          <a:lstStyle/>
          <a:p>
            <a:pPr marL="93345">
              <a:lnSpc>
                <a:spcPts val="2095"/>
              </a:lnSpc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class</a:t>
            </a:r>
            <a:r>
              <a:rPr sz="1800" spc="-1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0" dirty="0">
                <a:latin typeface="Times New Roman" panose="02020503050405090304" charset="0"/>
                <a:cs typeface="Times New Roman" panose="02020503050405090304" charset="0"/>
              </a:rPr>
              <a:t>Main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93345">
              <a:lnSpc>
                <a:spcPct val="100000"/>
              </a:lnSpc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367665">
              <a:lnSpc>
                <a:spcPct val="100000"/>
              </a:lnSpc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public</a:t>
            </a:r>
            <a:r>
              <a:rPr sz="1800" spc="-1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static</a:t>
            </a:r>
            <a:r>
              <a:rPr sz="1800" spc="-1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void</a:t>
            </a:r>
            <a:r>
              <a:rPr sz="1800" spc="-1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main(String[]</a:t>
            </a:r>
            <a:r>
              <a:rPr sz="1800" spc="-1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args)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50482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641985">
              <a:lnSpc>
                <a:spcPct val="100000"/>
              </a:lnSpc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int</a:t>
            </a:r>
            <a:r>
              <a:rPr sz="1800" spc="-1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expression</a:t>
            </a:r>
            <a:r>
              <a:rPr sz="1800" spc="-8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1800" spc="-10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5" dirty="0">
                <a:latin typeface="Times New Roman" panose="02020503050405090304" charset="0"/>
                <a:cs typeface="Times New Roman" panose="02020503050405090304" charset="0"/>
              </a:rPr>
              <a:t>2;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641985">
              <a:lnSpc>
                <a:spcPct val="100000"/>
              </a:lnSpc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1800" spc="-1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switch</a:t>
            </a:r>
            <a:r>
              <a:rPr sz="1800" spc="-11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1800" spc="-11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1800" spc="-114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check</a:t>
            </a:r>
            <a:r>
              <a:rPr sz="1800" spc="-10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0" dirty="0">
                <a:latin typeface="Times New Roman" panose="02020503050405090304" charset="0"/>
                <a:cs typeface="Times New Roman" panose="02020503050405090304" charset="0"/>
              </a:rPr>
              <a:t>size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641985">
              <a:lnSpc>
                <a:spcPct val="100000"/>
              </a:lnSpc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switch</a:t>
            </a:r>
            <a:r>
              <a:rPr sz="1800" spc="-1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(expression)</a:t>
            </a:r>
            <a:r>
              <a:rPr sz="1800" spc="-16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916305">
              <a:lnSpc>
                <a:spcPct val="100000"/>
              </a:lnSpc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case</a:t>
            </a:r>
            <a:r>
              <a:rPr sz="1800" spc="-12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5" dirty="0">
                <a:latin typeface="Times New Roman" panose="02020503050405090304" charset="0"/>
                <a:cs typeface="Times New Roman" panose="02020503050405090304" charset="0"/>
              </a:rPr>
              <a:t>1: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118808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System.out.println("Case</a:t>
            </a:r>
            <a:r>
              <a:rPr sz="1800" spc="-2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0" dirty="0">
                <a:latin typeface="Times New Roman" panose="02020503050405090304" charset="0"/>
                <a:cs typeface="Times New Roman" panose="02020503050405090304" charset="0"/>
              </a:rPr>
              <a:t>1");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1188085">
              <a:lnSpc>
                <a:spcPct val="100000"/>
              </a:lnSpc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1800" spc="-1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matching</a:t>
            </a:r>
            <a:r>
              <a:rPr sz="1800" spc="-11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0" dirty="0">
                <a:latin typeface="Times New Roman" panose="02020503050405090304" charset="0"/>
                <a:cs typeface="Times New Roman" panose="02020503050405090304" charset="0"/>
              </a:rPr>
              <a:t>case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916305">
              <a:lnSpc>
                <a:spcPct val="100000"/>
              </a:lnSpc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case</a:t>
            </a:r>
            <a:r>
              <a:rPr sz="1800" spc="-12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5" dirty="0">
                <a:latin typeface="Times New Roman" panose="02020503050405090304" charset="0"/>
                <a:cs typeface="Times New Roman" panose="02020503050405090304" charset="0"/>
              </a:rPr>
              <a:t>2: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1188085">
              <a:lnSpc>
                <a:spcPct val="100000"/>
              </a:lnSpc>
            </a:pP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System.out.println("Case</a:t>
            </a:r>
            <a:r>
              <a:rPr sz="1800" spc="-2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0" dirty="0">
                <a:latin typeface="Times New Roman" panose="02020503050405090304" charset="0"/>
                <a:cs typeface="Times New Roman" panose="02020503050405090304" charset="0"/>
              </a:rPr>
              <a:t>2");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916305">
              <a:lnSpc>
                <a:spcPct val="100000"/>
              </a:lnSpc>
            </a:pPr>
            <a:r>
              <a:rPr sz="1800" dirty="0">
                <a:latin typeface="Times New Roman" panose="02020503050405090304" charset="0"/>
                <a:cs typeface="Times New Roman" panose="02020503050405090304" charset="0"/>
              </a:rPr>
              <a:t>case</a:t>
            </a:r>
            <a:r>
              <a:rPr sz="1800" spc="-12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5" dirty="0">
                <a:latin typeface="Times New Roman" panose="02020503050405090304" charset="0"/>
                <a:cs typeface="Times New Roman" panose="02020503050405090304" charset="0"/>
              </a:rPr>
              <a:t>3: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916305" marR="1695450" indent="27114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System.out.println("Case</a:t>
            </a:r>
            <a:r>
              <a:rPr sz="1800" spc="-2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20" dirty="0">
                <a:latin typeface="Times New Roman" panose="02020503050405090304" charset="0"/>
                <a:cs typeface="Times New Roman" panose="02020503050405090304" charset="0"/>
              </a:rPr>
              <a:t>3"); </a:t>
            </a: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default: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1188085">
              <a:lnSpc>
                <a:spcPct val="100000"/>
              </a:lnSpc>
            </a:pPr>
            <a:r>
              <a:rPr sz="1800" spc="-20" dirty="0">
                <a:latin typeface="Times New Roman" panose="02020503050405090304" charset="0"/>
                <a:cs typeface="Times New Roman" panose="02020503050405090304" charset="0"/>
              </a:rPr>
              <a:t>System.out.println("Default</a:t>
            </a:r>
            <a:r>
              <a:rPr sz="1800" spc="-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1800" spc="-10" dirty="0">
                <a:latin typeface="Times New Roman" panose="02020503050405090304" charset="0"/>
                <a:cs typeface="Times New Roman" panose="02020503050405090304" charset="0"/>
              </a:rPr>
              <a:t>case");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641985">
              <a:lnSpc>
                <a:spcPct val="100000"/>
              </a:lnSpc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367665">
              <a:lnSpc>
                <a:spcPct val="100000"/>
              </a:lnSpc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  <a:p>
            <a:pPr marL="9334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180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70" y="3051810"/>
            <a:ext cx="134048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6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while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14546" y="972896"/>
            <a:ext cx="6764020" cy="1535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 marR="5080" indent="-100965">
              <a:lnSpc>
                <a:spcPct val="150000"/>
              </a:lnSpc>
              <a:spcBef>
                <a:spcPts val="95"/>
              </a:spcBef>
            </a:pP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2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while</a:t>
            </a:r>
            <a:r>
              <a:rPr sz="2200" b="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loop</a:t>
            </a:r>
            <a:r>
              <a:rPr sz="22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b="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z="2200" b="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control</a:t>
            </a:r>
            <a:r>
              <a:rPr sz="2200" b="0" spc="-8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flow</a:t>
            </a:r>
            <a:r>
              <a:rPr sz="2200" b="0" spc="-6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200" b="0" spc="-9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that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executes</a:t>
            </a:r>
            <a:r>
              <a:rPr sz="2200" b="0" spc="-7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part</a:t>
            </a:r>
            <a:r>
              <a:rPr sz="22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sz="2200" b="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programs</a:t>
            </a:r>
            <a:r>
              <a:rPr sz="2200" b="0" spc="-1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repeatedly</a:t>
            </a:r>
            <a:r>
              <a:rPr sz="2200" b="0" spc="-8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on</a:t>
            </a:r>
            <a:r>
              <a:rPr sz="2200" b="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basis</a:t>
            </a:r>
            <a:r>
              <a:rPr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of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given</a:t>
            </a:r>
            <a:r>
              <a:rPr sz="2200" b="0" spc="-8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boolean</a:t>
            </a:r>
            <a:r>
              <a:rPr sz="2200" b="0" spc="-6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condition.</a:t>
            </a:r>
            <a:endParaRPr sz="22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1000" y="2857500"/>
            <a:ext cx="1295400" cy="351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Syntax: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64100" y="3486734"/>
            <a:ext cx="24638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while(condition)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64100" y="4097527"/>
            <a:ext cx="4129404" cy="1579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00000"/>
              </a:lnSpc>
              <a:spcBef>
                <a:spcPts val="255"/>
              </a:spcBef>
            </a:pP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//code</a:t>
            </a:r>
            <a:r>
              <a:rPr sz="2000" spc="-6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000" spc="-8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2000" spc="-6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executed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00000"/>
              </a:lnSpc>
              <a:spcBef>
                <a:spcPts val="255"/>
              </a:spcBef>
            </a:pP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9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70" y="2814955"/>
            <a:ext cx="2009775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b="1" spc="-1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while </a:t>
            </a:r>
            <a:r>
              <a:rPr sz="3600" b="1" spc="-8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Example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66032" y="1124711"/>
            <a:ext cx="6934200" cy="4425950"/>
          </a:xfrm>
          <a:prstGeom prst="rect">
            <a:avLst/>
          </a:prstGeom>
          <a:solidFill>
            <a:srgbClr val="CEE7EC"/>
          </a:solidFill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class</a:t>
            </a:r>
            <a:r>
              <a:rPr sz="2000" spc="-9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Main</a:t>
            </a:r>
            <a:r>
              <a:rPr sz="2000" spc="-9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39687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public</a:t>
            </a:r>
            <a:r>
              <a:rPr sz="2000" spc="-1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static</a:t>
            </a:r>
            <a:r>
              <a:rPr sz="2000" spc="-12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void</a:t>
            </a:r>
            <a:r>
              <a:rPr sz="2000" spc="-1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main(String[]</a:t>
            </a:r>
            <a:r>
              <a:rPr sz="2000" spc="-114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args)</a:t>
            </a:r>
            <a:r>
              <a:rPr sz="2000" spc="-12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167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2000" spc="-8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declare</a:t>
            </a:r>
            <a:r>
              <a:rPr sz="2000" spc="-10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variables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167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int</a:t>
            </a:r>
            <a:r>
              <a:rPr sz="2000" spc="-1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20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1,</a:t>
            </a:r>
            <a:r>
              <a:rPr sz="20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n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20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5" dirty="0">
                <a:latin typeface="Times New Roman" panose="02020503050405090304" charset="0"/>
                <a:cs typeface="Times New Roman" panose="02020503050405090304" charset="0"/>
              </a:rPr>
              <a:t>5;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1675">
              <a:lnSpc>
                <a:spcPct val="100000"/>
              </a:lnSpc>
              <a:spcBef>
                <a:spcPts val="360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while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loop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from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1</a:t>
            </a:r>
            <a:r>
              <a:rPr sz="2000"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 5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167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while(i</a:t>
            </a:r>
            <a:r>
              <a:rPr sz="2000" spc="-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&lt;=</a:t>
            </a:r>
            <a:r>
              <a:rPr sz="2000"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n)</a:t>
            </a:r>
            <a:r>
              <a:rPr sz="2000"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006475">
              <a:lnSpc>
                <a:spcPct val="100000"/>
              </a:lnSpc>
              <a:spcBef>
                <a:spcPts val="625"/>
              </a:spcBef>
            </a:pP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System.out.println(i);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006475">
              <a:lnSpc>
                <a:spcPct val="100000"/>
              </a:lnSpc>
              <a:spcBef>
                <a:spcPts val="505"/>
              </a:spcBef>
            </a:pPr>
            <a:r>
              <a:rPr sz="2000" spc="-20" dirty="0">
                <a:latin typeface="Times New Roman" panose="02020503050405090304" charset="0"/>
                <a:cs typeface="Times New Roman" panose="02020503050405090304" charset="0"/>
              </a:rPr>
              <a:t>i++;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1675">
              <a:lnSpc>
                <a:spcPct val="100000"/>
              </a:lnSpc>
              <a:spcBef>
                <a:spcPts val="510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396875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92075">
              <a:lnSpc>
                <a:spcPct val="100000"/>
              </a:lnSpc>
              <a:spcBef>
                <a:spcPts val="50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19" y="3051505"/>
            <a:ext cx="168084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90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do-</a:t>
            </a:r>
            <a:r>
              <a:rPr sz="3600" b="1" spc="-55" dirty="0">
                <a:solidFill>
                  <a:schemeClr val="bg1"/>
                </a:solidFill>
                <a:latin typeface="Times New Roman" panose="02020503050405090304" charset="0"/>
                <a:cs typeface="Times New Roman" panose="02020503050405090304" charset="0"/>
              </a:rPr>
              <a:t>while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62526" y="795813"/>
            <a:ext cx="7000240" cy="153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 marR="5080" indent="-100965">
              <a:lnSpc>
                <a:spcPct val="150000"/>
              </a:lnSpc>
              <a:spcBef>
                <a:spcPts val="100"/>
              </a:spcBef>
            </a:pP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2200" b="0" spc="-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2200" b="0" spc="-6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of iteration</a:t>
            </a:r>
            <a:r>
              <a:rPr sz="2200" b="0" spc="-8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b="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not</a:t>
            </a:r>
            <a:r>
              <a:rPr sz="22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fixed</a:t>
            </a:r>
            <a:r>
              <a:rPr sz="2200" b="0" spc="-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and</a:t>
            </a:r>
            <a:r>
              <a:rPr sz="2200" b="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you</a:t>
            </a:r>
            <a:r>
              <a:rPr sz="2200" b="0" spc="-4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must</a:t>
            </a:r>
            <a:r>
              <a:rPr sz="2200" b="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have</a:t>
            </a:r>
            <a:r>
              <a:rPr sz="2200" b="0" spc="-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to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execute</a:t>
            </a:r>
            <a:r>
              <a:rPr sz="2200" b="0" spc="-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loop</a:t>
            </a:r>
            <a:r>
              <a:rPr sz="2200" b="0" spc="-3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at</a:t>
            </a:r>
            <a:r>
              <a:rPr sz="2200" b="0" spc="-4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least</a:t>
            </a:r>
            <a:r>
              <a:rPr sz="22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once,</a:t>
            </a:r>
            <a:r>
              <a:rPr sz="2200" b="0" spc="-3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it</a:t>
            </a:r>
            <a:r>
              <a:rPr sz="2200" b="0" spc="-4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b="0" spc="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recommended</a:t>
            </a:r>
            <a:r>
              <a:rPr sz="2200" b="0" spc="-8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2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use</a:t>
            </a:r>
            <a:r>
              <a:rPr sz="2200" b="0" spc="-6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 </a:t>
            </a:r>
            <a:r>
              <a:rPr sz="22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do-</a:t>
            </a:r>
            <a:r>
              <a:rPr sz="2200" b="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while</a:t>
            </a:r>
            <a:r>
              <a:rPr sz="2200" b="0" spc="-9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loop.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127500" y="2644140"/>
            <a:ext cx="1066800" cy="351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Syntax: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64100" y="3273374"/>
            <a:ext cx="3302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2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do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864100" y="3883914"/>
            <a:ext cx="3210560" cy="15792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00000"/>
              </a:lnSpc>
              <a:spcBef>
                <a:spcPts val="255"/>
              </a:spcBef>
            </a:pPr>
            <a:endParaRPr sz="2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927100">
              <a:lnSpc>
                <a:spcPct val="100000"/>
              </a:lnSpc>
            </a:pP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2000" spc="-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body</a:t>
            </a:r>
            <a:r>
              <a:rPr sz="2000" spc="-7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sz="2000" spc="-55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loop</a:t>
            </a:r>
            <a:endParaRPr sz="2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00000"/>
              </a:lnSpc>
              <a:spcBef>
                <a:spcPts val="255"/>
              </a:spcBef>
            </a:pPr>
            <a:endParaRPr sz="200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}</a:t>
            </a:r>
            <a:r>
              <a:rPr sz="2000" spc="-5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while</a:t>
            </a:r>
            <a:r>
              <a:rPr sz="2000" spc="-8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(condition</a:t>
            </a:r>
            <a:r>
              <a:rPr sz="2000" i="1" spc="-10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);</a:t>
            </a:r>
          </a:p>
        </p:txBody>
      </p:sp>
      <p:pic>
        <p:nvPicPr>
          <p:cNvPr id="9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70" y="2814955"/>
            <a:ext cx="2427605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b="1" spc="-8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d</a:t>
            </a:r>
            <a:r>
              <a:rPr lang="en-US" altLang="" sz="3600" b="1" spc="-8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o</a:t>
            </a:r>
            <a:r>
              <a:rPr sz="3600" b="1" spc="-8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-</a:t>
            </a:r>
            <a:r>
              <a:rPr sz="3600" b="1" spc="-3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while </a:t>
            </a:r>
            <a:r>
              <a:rPr sz="3600" b="1" spc="-8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Example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44111" y="1377696"/>
            <a:ext cx="7016750" cy="4072890"/>
          </a:xfrm>
          <a:prstGeom prst="rect">
            <a:avLst/>
          </a:prstGeom>
          <a:solidFill>
            <a:srgbClr val="CEE7EC"/>
          </a:solidFill>
        </p:spPr>
        <p:txBody>
          <a:bodyPr vert="horz" wrap="square" lIns="0" tIns="3619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class</a:t>
            </a:r>
            <a:r>
              <a:rPr sz="2000" spc="-1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0" dirty="0">
                <a:latin typeface="Times New Roman" panose="02020503050405090304" charset="0"/>
                <a:cs typeface="Times New Roman" panose="02020503050405090304" charset="0"/>
              </a:rPr>
              <a:t>Main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243205">
              <a:lnSpc>
                <a:spcPct val="100000"/>
              </a:lnSpc>
              <a:spcBef>
                <a:spcPts val="48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39560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public</a:t>
            </a:r>
            <a:r>
              <a:rPr sz="2000" spc="-1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static</a:t>
            </a:r>
            <a:r>
              <a:rPr sz="2000" spc="-1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void</a:t>
            </a:r>
            <a:r>
              <a:rPr sz="2000" spc="-1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main(String[]</a:t>
            </a:r>
            <a:r>
              <a:rPr sz="2000" spc="-1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args)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395605">
              <a:lnSpc>
                <a:spcPct val="100000"/>
              </a:lnSpc>
              <a:spcBef>
                <a:spcPts val="50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0405" marR="3728720">
              <a:lnSpc>
                <a:spcPct val="115000"/>
              </a:lnSpc>
              <a:spcBef>
                <a:spcPts val="14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int</a:t>
            </a:r>
            <a:r>
              <a:rPr sz="2000" spc="-1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</a:t>
            </a:r>
            <a:r>
              <a:rPr sz="20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2000" spc="-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1,</a:t>
            </a:r>
            <a:r>
              <a:rPr sz="20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n</a:t>
            </a:r>
            <a:r>
              <a:rPr sz="2000" spc="-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2000" spc="-2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5" dirty="0">
                <a:latin typeface="Times New Roman" panose="02020503050405090304" charset="0"/>
                <a:cs typeface="Times New Roman" panose="02020503050405090304" charset="0"/>
              </a:rPr>
              <a:t>5; </a:t>
            </a:r>
          </a:p>
          <a:p>
            <a:pPr marL="700405" marR="3728720">
              <a:lnSpc>
                <a:spcPct val="115000"/>
              </a:lnSpc>
              <a:spcBef>
                <a:spcPts val="14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do</a:t>
            </a:r>
            <a:r>
              <a:rPr sz="2000" spc="-2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00520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System.out.println(i);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005205">
              <a:lnSpc>
                <a:spcPct val="100000"/>
              </a:lnSpc>
              <a:spcBef>
                <a:spcPts val="485"/>
              </a:spcBef>
            </a:pPr>
            <a:r>
              <a:rPr sz="2000" spc="-20" dirty="0">
                <a:latin typeface="Times New Roman" panose="02020503050405090304" charset="0"/>
                <a:cs typeface="Times New Roman" panose="02020503050405090304" charset="0"/>
              </a:rPr>
              <a:t>i++;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0405">
              <a:lnSpc>
                <a:spcPct val="100000"/>
              </a:lnSpc>
              <a:spcBef>
                <a:spcPts val="62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r>
              <a:rPr sz="2000" spc="-6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while(i</a:t>
            </a:r>
            <a:r>
              <a:rPr sz="2000"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&lt;=</a:t>
            </a:r>
            <a:r>
              <a:rPr sz="2000" spc="-5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5" dirty="0">
                <a:latin typeface="Times New Roman" panose="02020503050405090304" charset="0"/>
                <a:cs typeface="Times New Roman" panose="02020503050405090304" charset="0"/>
              </a:rPr>
              <a:t>n);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395605">
              <a:lnSpc>
                <a:spcPct val="100000"/>
              </a:lnSpc>
              <a:spcBef>
                <a:spcPts val="500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90805">
              <a:lnSpc>
                <a:spcPct val="100000"/>
              </a:lnSpc>
              <a:spcBef>
                <a:spcPts val="48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1035" y="3124200"/>
            <a:ext cx="1772285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lang="en-US" altLang="" sz="3600" b="1" spc="-4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 loop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31996" y="808177"/>
            <a:ext cx="6802755" cy="2099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 marR="63500" indent="-100965">
              <a:lnSpc>
                <a:spcPct val="140000"/>
              </a:lnSpc>
              <a:spcBef>
                <a:spcPts val="95"/>
              </a:spcBef>
            </a:pP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spc="-7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20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22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loop</a:t>
            </a:r>
            <a:r>
              <a:rPr sz="220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z="22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control</a:t>
            </a:r>
            <a:r>
              <a:rPr sz="220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flow</a:t>
            </a:r>
            <a:r>
              <a:rPr sz="2200" spc="-5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20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that</a:t>
            </a:r>
            <a:r>
              <a:rPr sz="2200" spc="-6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iterates</a:t>
            </a:r>
            <a:r>
              <a:rPr sz="220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part</a:t>
            </a:r>
            <a:r>
              <a:rPr sz="2200" spc="-5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sz="220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 </a:t>
            </a:r>
            <a:r>
              <a:rPr sz="22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programs</a:t>
            </a:r>
            <a:r>
              <a:rPr sz="2200" spc="-9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multiple</a:t>
            </a:r>
            <a:r>
              <a:rPr sz="22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times.</a:t>
            </a:r>
            <a:endParaRPr sz="2200">
              <a:latin typeface="Times New Roman" panose="02020503050405090304" charset="0"/>
              <a:cs typeface="Times New Roman" panose="02020503050405090304" charset="0"/>
            </a:endParaRPr>
          </a:p>
          <a:p>
            <a:pPr marL="30480">
              <a:lnSpc>
                <a:spcPct val="100000"/>
              </a:lnSpc>
              <a:spcBef>
                <a:spcPts val="2570"/>
              </a:spcBef>
            </a:pP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22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number</a:t>
            </a:r>
            <a:r>
              <a:rPr sz="2200" spc="-8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sz="22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iteration</a:t>
            </a:r>
            <a:r>
              <a:rPr sz="220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fixed,</a:t>
            </a:r>
            <a:r>
              <a:rPr sz="22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it</a:t>
            </a:r>
            <a:r>
              <a:rPr sz="220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recommended</a:t>
            </a:r>
            <a:r>
              <a:rPr sz="2200" spc="-6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20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use</a:t>
            </a:r>
            <a:endParaRPr sz="2200">
              <a:latin typeface="Times New Roman" panose="02020503050405090304" charset="0"/>
              <a:cs typeface="Times New Roman" panose="02020503050405090304" charset="0"/>
            </a:endParaRPr>
          </a:p>
          <a:p>
            <a:pPr marL="113030">
              <a:lnSpc>
                <a:spcPct val="100000"/>
              </a:lnSpc>
              <a:spcBef>
                <a:spcPts val="1080"/>
              </a:spcBef>
            </a:pP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2200" spc="-7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loop.</a:t>
            </a:r>
            <a:endParaRPr sz="22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1996" y="3171519"/>
            <a:ext cx="90106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Syntax: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32579" y="3771138"/>
            <a:ext cx="6245860" cy="21132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for(</a:t>
            </a:r>
            <a:r>
              <a:rPr sz="2000" i="1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initialization;</a:t>
            </a:r>
            <a:r>
              <a:rPr sz="2000" i="1" spc="-16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i="1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condition;</a:t>
            </a:r>
            <a:r>
              <a:rPr sz="2000" i="1" spc="-1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i="1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iteration)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</a:pPr>
            <a:r>
              <a:rPr sz="2000" i="1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2000" spc="-7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body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</a:pPr>
            <a:r>
              <a:rPr sz="200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6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70" y="2814955"/>
            <a:ext cx="2263140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b="1" spc="-4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3600" b="1" spc="-12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3600" b="1" spc="-2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loop </a:t>
            </a:r>
            <a:r>
              <a:rPr sz="3600" b="1" spc="-8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Example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3359" y="1124711"/>
            <a:ext cx="7223759" cy="4389120"/>
          </a:xfrm>
          <a:prstGeom prst="rect">
            <a:avLst/>
          </a:prstGeom>
          <a:solidFill>
            <a:srgbClr val="CEE7EC"/>
          </a:solidFill>
        </p:spPr>
        <p:txBody>
          <a:bodyPr vert="horz" wrap="square" lIns="0" tIns="3492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27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class</a:t>
            </a:r>
            <a:r>
              <a:rPr sz="2000" spc="-1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0" dirty="0">
                <a:latin typeface="Times New Roman" panose="02020503050405090304" charset="0"/>
                <a:cs typeface="Times New Roman" panose="02020503050405090304" charset="0"/>
              </a:rPr>
              <a:t>Main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93345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39814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public</a:t>
            </a:r>
            <a:r>
              <a:rPr sz="2000" spc="-12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static</a:t>
            </a:r>
            <a:r>
              <a:rPr sz="2000" spc="-114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void</a:t>
            </a:r>
            <a:r>
              <a:rPr sz="2000" spc="-12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main(String[]</a:t>
            </a:r>
            <a:r>
              <a:rPr sz="2000" spc="-11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args)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398145">
              <a:lnSpc>
                <a:spcPct val="100000"/>
              </a:lnSpc>
              <a:spcBef>
                <a:spcPts val="50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294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int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n</a:t>
            </a:r>
            <a:r>
              <a:rPr sz="2000" spc="-6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20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5" dirty="0">
                <a:latin typeface="Times New Roman" panose="02020503050405090304" charset="0"/>
                <a:cs typeface="Times New Roman" panose="02020503050405090304" charset="0"/>
              </a:rPr>
              <a:t>5;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294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2000" spc="-7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2000" spc="-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0" dirty="0">
                <a:latin typeface="Times New Roman" panose="02020503050405090304" charset="0"/>
                <a:cs typeface="Times New Roman" panose="02020503050405090304" charset="0"/>
              </a:rPr>
              <a:t>loop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294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20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(int</a:t>
            </a:r>
            <a:r>
              <a:rPr sz="2000" spc="-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1;</a:t>
            </a:r>
            <a:r>
              <a:rPr sz="2000" spc="-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&lt;=</a:t>
            </a:r>
            <a:r>
              <a:rPr sz="2000" spc="-5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n;</a:t>
            </a:r>
            <a:r>
              <a:rPr sz="20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++i)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007745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System.out.println("Java</a:t>
            </a:r>
            <a:r>
              <a:rPr sz="2000" spc="-10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000" spc="-1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fun");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2945">
              <a:lnSpc>
                <a:spcPct val="100000"/>
              </a:lnSpc>
              <a:spcBef>
                <a:spcPts val="50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398145">
              <a:lnSpc>
                <a:spcPct val="100000"/>
              </a:lnSpc>
              <a:spcBef>
                <a:spcPts val="510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93345">
              <a:lnSpc>
                <a:spcPct val="100000"/>
              </a:lnSpc>
              <a:spcBef>
                <a:spcPts val="50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400" y="3051810"/>
            <a:ext cx="147828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6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break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886454" y="990416"/>
            <a:ext cx="6607175" cy="1228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0"/>
              </a:spcBef>
            </a:pP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When</a:t>
            </a:r>
            <a:r>
              <a:rPr sz="2200" b="0" spc="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 break</a:t>
            </a:r>
            <a:r>
              <a:rPr sz="2200" b="0" spc="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200" b="0" spc="-6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b="0" spc="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encounteredinside</a:t>
            </a:r>
            <a:r>
              <a:rPr sz="2200" b="0" spc="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z="2200" b="0" spc="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loop,</a:t>
            </a:r>
            <a:r>
              <a:rPr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loop</a:t>
            </a:r>
            <a:r>
              <a:rPr sz="2200" b="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immediately</a:t>
            </a:r>
            <a:r>
              <a:rPr sz="2200" b="0" spc="-5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terminated</a:t>
            </a:r>
            <a:r>
              <a:rPr sz="2200" b="0" spc="-6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and</a:t>
            </a:r>
            <a:r>
              <a:rPr sz="2200" b="0" spc="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program</a:t>
            </a:r>
            <a:r>
              <a:rPr sz="2200" b="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control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resumes</a:t>
            </a:r>
            <a:r>
              <a:rPr sz="2200" b="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at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next</a:t>
            </a:r>
            <a:r>
              <a:rPr sz="2200" b="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200" b="0" spc="-9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following</a:t>
            </a:r>
            <a:r>
              <a:rPr sz="2200" b="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loop.</a:t>
            </a:r>
            <a:endParaRPr sz="22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62654" y="2799354"/>
            <a:ext cx="6477635" cy="8128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1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200" b="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break</a:t>
            </a:r>
            <a:r>
              <a:rPr sz="22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200" b="0" spc="-1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used</a:t>
            </a:r>
            <a:r>
              <a:rPr sz="2200" b="0" spc="-7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break</a:t>
            </a:r>
            <a:r>
              <a:rPr sz="2200" b="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loop</a:t>
            </a:r>
            <a:r>
              <a:rPr sz="2200" b="0" spc="-5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or</a:t>
            </a:r>
            <a:r>
              <a:rPr sz="2200" b="0" spc="-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switch</a:t>
            </a:r>
            <a:endParaRPr sz="2200" b="0"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485"/>
              </a:spcBef>
            </a:pP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statement.</a:t>
            </a:r>
            <a:endParaRPr sz="2200" b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2654" y="4115003"/>
            <a:ext cx="4864735" cy="352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It</a:t>
            </a:r>
            <a:r>
              <a:rPr sz="2200" b="0" spc="-7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can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be</a:t>
            </a:r>
            <a:r>
              <a:rPr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used</a:t>
            </a:r>
            <a:r>
              <a:rPr sz="2200" b="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as</a:t>
            </a:r>
            <a:r>
              <a:rPr sz="22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z="2200" b="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“civilized”</a:t>
            </a:r>
            <a:r>
              <a:rPr sz="2200" b="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form</a:t>
            </a:r>
            <a:r>
              <a:rPr sz="2200" b="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sz="2200" b="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goto.</a:t>
            </a:r>
            <a:endParaRPr sz="2200" b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70" y="2814955"/>
            <a:ext cx="2033905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b="1" spc="-1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break </a:t>
            </a:r>
            <a:r>
              <a:rPr sz="3600" b="1" spc="-8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Example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93464" y="893063"/>
            <a:ext cx="6867525" cy="4846320"/>
          </a:xfrm>
          <a:prstGeom prst="rect">
            <a:avLst/>
          </a:prstGeom>
          <a:solidFill>
            <a:srgbClr val="CEE7EC"/>
          </a:solidFill>
        </p:spPr>
        <p:txBody>
          <a:bodyPr vert="horz" wrap="square" lIns="0" tIns="36195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28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class</a:t>
            </a:r>
            <a:r>
              <a:rPr sz="2000" spc="-9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0" dirty="0">
                <a:latin typeface="Times New Roman" panose="02020503050405090304" charset="0"/>
                <a:cs typeface="Times New Roman" panose="02020503050405090304" charset="0"/>
              </a:rPr>
              <a:t>Test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228600">
              <a:lnSpc>
                <a:spcPct val="100000"/>
              </a:lnSpc>
              <a:spcBef>
                <a:spcPts val="48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838835">
              <a:lnSpc>
                <a:spcPct val="100000"/>
              </a:lnSpc>
              <a:spcBef>
                <a:spcPts val="500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public</a:t>
            </a:r>
            <a:r>
              <a:rPr sz="2000" spc="-1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static</a:t>
            </a:r>
            <a:r>
              <a:rPr sz="2000" spc="-1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void</a:t>
            </a:r>
            <a:r>
              <a:rPr sz="2000" spc="-1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main(String[]</a:t>
            </a:r>
            <a:r>
              <a:rPr sz="2000" spc="-1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args)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838835">
              <a:lnSpc>
                <a:spcPct val="100000"/>
              </a:lnSpc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006475">
              <a:lnSpc>
                <a:spcPct val="100000"/>
              </a:lnSpc>
              <a:spcBef>
                <a:spcPts val="50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20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(int</a:t>
            </a:r>
            <a:r>
              <a:rPr sz="20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</a:t>
            </a:r>
            <a:r>
              <a:rPr sz="2000" spc="-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2000" spc="-6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1;</a:t>
            </a:r>
            <a:r>
              <a:rPr sz="2000" spc="-5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</a:t>
            </a:r>
            <a:r>
              <a:rPr sz="2000" spc="-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&lt;=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10;</a:t>
            </a:r>
            <a:r>
              <a:rPr sz="2000" spc="-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++i)</a:t>
            </a:r>
            <a:r>
              <a:rPr sz="2000" spc="-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00647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(i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==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5)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2667635">
              <a:lnSpc>
                <a:spcPct val="100000"/>
              </a:lnSpc>
              <a:spcBef>
                <a:spcPts val="510"/>
              </a:spcBef>
            </a:pP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break;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2058035">
              <a:lnSpc>
                <a:spcPct val="100000"/>
              </a:lnSpc>
              <a:spcBef>
                <a:spcPts val="50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2058035">
              <a:lnSpc>
                <a:spcPct val="100000"/>
              </a:lnSpc>
              <a:spcBef>
                <a:spcPts val="505"/>
              </a:spcBef>
            </a:pP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System.out.println(i);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448435">
              <a:lnSpc>
                <a:spcPct val="100000"/>
              </a:lnSpc>
              <a:spcBef>
                <a:spcPts val="50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838835">
              <a:lnSpc>
                <a:spcPct val="100000"/>
              </a:lnSpc>
              <a:spcBef>
                <a:spcPts val="50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228600">
              <a:lnSpc>
                <a:spcPct val="100000"/>
              </a:lnSpc>
              <a:spcBef>
                <a:spcPts val="480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349" y="2943555"/>
            <a:ext cx="1692910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spc="-6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continue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27754" y="1143000"/>
            <a:ext cx="6606540" cy="4345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22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spc="-8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20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continue</a:t>
            </a:r>
            <a:r>
              <a:rPr sz="2200" spc="-105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200" spc="-6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used</a:t>
            </a:r>
            <a:r>
              <a:rPr sz="220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20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continue</a:t>
            </a:r>
            <a:r>
              <a:rPr sz="2200" spc="-7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loop</a:t>
            </a:r>
            <a:r>
              <a:rPr sz="220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.</a:t>
            </a:r>
            <a:r>
              <a:rPr lang="en-US" sz="220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It</a:t>
            </a:r>
            <a:r>
              <a:rPr lang="en-US" sz="2200" b="0" spc="-4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continues</a:t>
            </a:r>
            <a:r>
              <a:rPr lang="en-US" sz="2200" b="0" spc="-4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 current flow</a:t>
            </a:r>
            <a:r>
              <a:rPr lang="en-US" sz="2200" b="0" spc="-5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lang="en-US" sz="2200" b="0" spc="-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lang="en-US" sz="2200" b="0" spc="-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program</a:t>
            </a:r>
            <a:r>
              <a:rPr lang="en-US" sz="2200" b="0" spc="-7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and</a:t>
            </a:r>
            <a:r>
              <a:rPr lang="en-US" sz="2200" b="0" spc="-2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skips</a:t>
            </a:r>
            <a:r>
              <a:rPr lang="en-US" sz="2200" b="0" spc="-4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0" spc="-2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 </a:t>
            </a: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remaining</a:t>
            </a:r>
            <a:r>
              <a:rPr lang="en-US" sz="2200" b="0" spc="-9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code</a:t>
            </a:r>
            <a:r>
              <a:rPr lang="en-US" sz="2200" b="0" spc="-2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at</a:t>
            </a:r>
            <a:r>
              <a:rPr lang="en-US" sz="2200" b="0" spc="-5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the</a:t>
            </a:r>
            <a:r>
              <a:rPr lang="en-US" sz="2200" b="0" spc="-7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lang="en-US" sz="2200" b="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specified</a:t>
            </a:r>
            <a:r>
              <a:rPr lang="en-US" sz="2200" b="0" spc="-5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lang="en-US" sz="2200" b="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condition.</a:t>
            </a:r>
            <a:br>
              <a:rPr lang="en-US" sz="2200" b="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</a:b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In</a:t>
            </a:r>
            <a:r>
              <a:rPr lang="en-US" sz="2200" spc="-5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case</a:t>
            </a:r>
            <a:r>
              <a:rPr lang="en-US" sz="2200" spc="-2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lang="en-US" sz="2200" spc="-2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an</a:t>
            </a:r>
            <a:r>
              <a:rPr lang="en-US" sz="2200" spc="-2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inner</a:t>
            </a:r>
            <a:r>
              <a:rPr lang="en-US" sz="2200" spc="-5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loop,</a:t>
            </a:r>
            <a:r>
              <a:rPr lang="en-US" sz="2200" spc="-7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it</a:t>
            </a:r>
            <a:r>
              <a:rPr lang="en-US" sz="220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continues</a:t>
            </a:r>
            <a:r>
              <a:rPr lang="en-US" sz="2200" spc="-8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lang="en-US" sz="2200" spc="-1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inner</a:t>
            </a:r>
            <a:r>
              <a:rPr lang="en-US" sz="2200" spc="-6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loop</a:t>
            </a:r>
            <a:r>
              <a:rPr lang="en-US" sz="2200" spc="-6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only.</a:t>
            </a:r>
            <a:r>
              <a:rPr lang="en-US" sz="2200" dirty="0" smtClean="0">
                <a:latin typeface="Times New Roman" panose="02020503050405090304" charset="0"/>
                <a:cs typeface="Times New Roman" panose="02020503050405090304" charset="0"/>
              </a:rPr>
              <a:t/>
            </a:r>
            <a:br>
              <a:rPr lang="en-US" sz="2200" dirty="0" smtClean="0">
                <a:latin typeface="Times New Roman" panose="02020503050405090304" charset="0"/>
                <a:cs typeface="Times New Roman" panose="02020503050405090304" charset="0"/>
              </a:rPr>
            </a:br>
            <a:endParaRPr lang="en-US" sz="2200" dirty="0" smtClean="0"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lang="en-US" sz="2200" b="1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while</a:t>
            </a:r>
            <a:r>
              <a:rPr lang="en-US" sz="2200" b="1" spc="-35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1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and</a:t>
            </a:r>
            <a:r>
              <a:rPr lang="en-US" sz="2200" b="1" spc="-70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1" spc="-10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do-while</a:t>
            </a:r>
            <a:r>
              <a:rPr lang="en-US" altLang="" sz="2200" b="1" spc="-10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:</a:t>
            </a:r>
            <a:r>
              <a:rPr lang="en-US" altLang="" sz="220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/>
            </a:r>
            <a:br>
              <a:rPr lang="en-US" altLang="" sz="220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</a:b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Control</a:t>
            </a:r>
            <a:r>
              <a:rPr lang="en-US" sz="2200" spc="-3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transferred</a:t>
            </a:r>
            <a:r>
              <a:rPr lang="en-US" sz="2200" spc="-6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directly</a:t>
            </a:r>
            <a:r>
              <a:rPr lang="en-US" sz="2200" spc="-8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lang="en-US" sz="2200" spc="-2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lang="en-US" sz="2200" spc="-2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conditional</a:t>
            </a:r>
            <a:r>
              <a:rPr lang="en-US" altLang="" sz="220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expression  </a:t>
            </a:r>
            <a:endParaRPr lang="en-US" sz="2200" spc="-10" dirty="0" smtClean="0">
              <a:solidFill>
                <a:srgbClr val="575757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endParaRPr lang="en-US" sz="2200" spc="-10" dirty="0">
              <a:solidFill>
                <a:srgbClr val="575757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In</a:t>
            </a:r>
            <a:r>
              <a:rPr lang="en-US" sz="2200" spc="-5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lang="en-US" sz="2200" spc="-3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b="1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lang="en-US" sz="2200" spc="-60" dirty="0" smtClean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spc="-2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loop</a:t>
            </a:r>
            <a:r>
              <a:rPr lang="en-US" altLang="" sz="2200" spc="-2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Control</a:t>
            </a:r>
            <a:r>
              <a:rPr lang="en-US" sz="2200" spc="-3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goes</a:t>
            </a:r>
            <a:r>
              <a:rPr lang="en-US" sz="2200" spc="-3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first</a:t>
            </a:r>
            <a:r>
              <a:rPr lang="en-US" sz="2200" spc="-55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sz="220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 the </a:t>
            </a:r>
            <a:r>
              <a:rPr lang="en-US" sz="220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iteration</a:t>
            </a:r>
            <a:r>
              <a:rPr lang="en-US" sz="2200" spc="-9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lang="en-US" sz="2200" spc="-10" dirty="0" smtClean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portion</a:t>
            </a:r>
            <a:endParaRPr lang="en-US" sz="2200" dirty="0" smtClean="0"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endParaRPr lang="en-US" sz="2200" dirty="0" smtClean="0">
              <a:latin typeface="Times New Roman" panose="02020503050405090304" charset="0"/>
              <a:cs typeface="Times New Roman" panose="02020503050405090304" charset="0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200" dirty="0" smtClean="0">
                <a:latin typeface="Times New Roman" panose="02020503050405090304" charset="0"/>
                <a:cs typeface="Times New Roman" panose="02020503050405090304" charset="0"/>
              </a:rPr>
              <a:t/>
            </a:r>
            <a:br>
              <a:rPr lang="en-US" sz="2200" dirty="0" smtClean="0">
                <a:latin typeface="Times New Roman" panose="02020503050405090304" charset="0"/>
                <a:cs typeface="Times New Roman" panose="02020503050405090304" charset="0"/>
              </a:rPr>
            </a:br>
            <a:endParaRPr sz="22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14800" y="2444115"/>
            <a:ext cx="6731635" cy="1969770"/>
          </a:xfrm>
          <a:prstGeom prst="rect">
            <a:avLst/>
          </a:prstGeom>
        </p:spPr>
        <p:txBody>
          <a:bodyPr vert="horz" wrap="square" lIns="0" tIns="168275" rIns="0" bIns="0" rtlCol="0">
            <a:noAutofit/>
          </a:bodyPr>
          <a:lstStyle/>
          <a:p>
            <a:pPr marL="167640">
              <a:lnSpc>
                <a:spcPct val="100000"/>
              </a:lnSpc>
              <a:spcBef>
                <a:spcPts val="1225"/>
              </a:spcBef>
            </a:pPr>
            <a:endParaRPr sz="22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4800" y="4352925"/>
            <a:ext cx="6994525" cy="492125"/>
          </a:xfrm>
          <a:prstGeom prst="rect">
            <a:avLst/>
          </a:prstGeom>
        </p:spPr>
        <p:txBody>
          <a:bodyPr vert="horz" wrap="square" lIns="0" tIns="4953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endParaRPr sz="2200" dirty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1470" y="2814955"/>
            <a:ext cx="2444750" cy="107251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90"/>
              </a:spcBef>
            </a:pPr>
            <a:r>
              <a:rPr sz="3600" b="1" spc="-7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continue </a:t>
            </a:r>
            <a:r>
              <a:rPr sz="3600" b="1" spc="-75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Example</a:t>
            </a:r>
            <a:endParaRPr sz="36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05655" y="886967"/>
            <a:ext cx="6800215" cy="5090160"/>
          </a:xfrm>
          <a:prstGeom prst="rect">
            <a:avLst/>
          </a:prstGeom>
          <a:solidFill>
            <a:srgbClr val="CEE7EC"/>
          </a:solidFill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2320"/>
              </a:lnSpc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class</a:t>
            </a:r>
            <a:r>
              <a:rPr sz="2000" spc="-1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0" dirty="0">
                <a:latin typeface="Times New Roman" panose="02020503050405090304" charset="0"/>
                <a:cs typeface="Times New Roman" panose="02020503050405090304" charset="0"/>
              </a:rPr>
              <a:t>Main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92710">
              <a:lnSpc>
                <a:spcPct val="100000"/>
              </a:lnSpc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397510">
              <a:lnSpc>
                <a:spcPct val="100000"/>
              </a:lnSpc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public</a:t>
            </a:r>
            <a:r>
              <a:rPr sz="2000" spc="-1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static</a:t>
            </a:r>
            <a:r>
              <a:rPr sz="2000" spc="-1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void</a:t>
            </a:r>
            <a:r>
              <a:rPr sz="2000" spc="-13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main(String[]</a:t>
            </a:r>
            <a:r>
              <a:rPr sz="2000" spc="-12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args)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397510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2310">
              <a:lnSpc>
                <a:spcPct val="100000"/>
              </a:lnSpc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2000" spc="-7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2000" spc="-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20" dirty="0">
                <a:latin typeface="Times New Roman" panose="02020503050405090304" charset="0"/>
                <a:cs typeface="Times New Roman" panose="02020503050405090304" charset="0"/>
              </a:rPr>
              <a:t>loop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2310">
              <a:lnSpc>
                <a:spcPct val="100000"/>
              </a:lnSpc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20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(int</a:t>
            </a:r>
            <a:r>
              <a:rPr sz="20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</a:t>
            </a:r>
            <a:r>
              <a:rPr sz="20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=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1;</a:t>
            </a:r>
            <a:r>
              <a:rPr sz="20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&lt;=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10;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++i)</a:t>
            </a:r>
            <a:r>
              <a:rPr sz="2000" spc="-5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160145">
              <a:lnSpc>
                <a:spcPct val="100000"/>
              </a:lnSpc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2000"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2000" spc="-5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value</a:t>
            </a:r>
            <a:r>
              <a:rPr sz="2000" spc="-6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sz="2000" spc="-3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</a:t>
            </a:r>
            <a:r>
              <a:rPr sz="2000"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000" spc="-8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between</a:t>
            </a:r>
            <a:r>
              <a:rPr sz="2000" spc="-5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4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16014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//</a:t>
            </a:r>
            <a:r>
              <a:rPr sz="2000" spc="-7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and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9</a:t>
            </a:r>
            <a:r>
              <a:rPr sz="2000" spc="-6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continue</a:t>
            </a:r>
            <a:r>
              <a:rPr sz="20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000" spc="-9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executed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007745">
              <a:lnSpc>
                <a:spcPct val="100000"/>
              </a:lnSpc>
            </a:pP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if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(i</a:t>
            </a:r>
            <a:r>
              <a:rPr sz="2000" spc="-2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==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4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||</a:t>
            </a:r>
            <a:r>
              <a:rPr sz="2000" spc="-2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i</a:t>
            </a:r>
            <a:r>
              <a:rPr sz="2000" spc="-40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dirty="0">
                <a:latin typeface="Times New Roman" panose="02020503050405090304" charset="0"/>
                <a:cs typeface="Times New Roman" panose="02020503050405090304" charset="0"/>
              </a:rPr>
              <a:t>==</a:t>
            </a:r>
            <a:r>
              <a:rPr sz="2000" spc="-45" dirty="0"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000" spc="-35" dirty="0">
                <a:latin typeface="Times New Roman" panose="02020503050405090304" charset="0"/>
                <a:cs typeface="Times New Roman" panose="02020503050405090304" charset="0"/>
              </a:rPr>
              <a:t>9)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007745">
              <a:lnSpc>
                <a:spcPct val="100000"/>
              </a:lnSpc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{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312545">
              <a:lnSpc>
                <a:spcPct val="100000"/>
              </a:lnSpc>
            </a:pP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continue;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007745">
              <a:lnSpc>
                <a:spcPct val="100000"/>
              </a:lnSpc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1007745">
              <a:lnSpc>
                <a:spcPct val="100000"/>
              </a:lnSpc>
            </a:pPr>
            <a:r>
              <a:rPr sz="2000" spc="-10" dirty="0">
                <a:latin typeface="Times New Roman" panose="02020503050405090304" charset="0"/>
                <a:cs typeface="Times New Roman" panose="02020503050405090304" charset="0"/>
              </a:rPr>
              <a:t>System.out.println(i);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702310">
              <a:lnSpc>
                <a:spcPct val="100000"/>
              </a:lnSpc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397510">
              <a:lnSpc>
                <a:spcPct val="100000"/>
              </a:lnSpc>
              <a:spcBef>
                <a:spcPts val="5"/>
              </a:spcBef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  <a:p>
            <a:pPr marL="92710">
              <a:lnSpc>
                <a:spcPct val="100000"/>
              </a:lnSpc>
            </a:pPr>
            <a:r>
              <a:rPr sz="2000" spc="-50" dirty="0">
                <a:latin typeface="Times New Roman" panose="02020503050405090304" charset="0"/>
                <a:cs typeface="Times New Roman" panose="02020503050405090304" charset="0"/>
              </a:rPr>
              <a:t>}</a:t>
            </a:r>
            <a:endParaRPr sz="200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4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3124200"/>
            <a:ext cx="1883410" cy="56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70" dirty="0">
                <a:solidFill>
                  <a:srgbClr val="FFFFFF"/>
                </a:solidFill>
                <a:latin typeface="Times New Roman" panose="02020503050405090304" charset="0"/>
                <a:cs typeface="Times New Roman" panose="02020503050405090304" charset="0"/>
              </a:rPr>
              <a:t>return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31996" y="1672092"/>
            <a:ext cx="6674484" cy="1019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49000"/>
              </a:lnSpc>
              <a:spcBef>
                <a:spcPts val="95"/>
              </a:spcBef>
              <a:buFont typeface="Arial" panose="020B0604020202090204" pitchFamily="34" charset="0"/>
              <a:buChar char="•"/>
            </a:pP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z="2200" b="0" spc="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return</a:t>
            </a:r>
            <a:r>
              <a:rPr sz="2200" b="0" spc="-9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statement</a:t>
            </a:r>
            <a:r>
              <a:rPr sz="2200" b="0" spc="-10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causes</a:t>
            </a:r>
            <a:r>
              <a:rPr sz="2200" b="0" spc="-8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 program</a:t>
            </a:r>
            <a:r>
              <a:rPr sz="2200" b="0" spc="-6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control</a:t>
            </a:r>
            <a:r>
              <a:rPr sz="2200" b="0" spc="-8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transfer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back</a:t>
            </a:r>
            <a:r>
              <a:rPr sz="2200" b="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200" b="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caller</a:t>
            </a:r>
            <a:r>
              <a:rPr sz="2200" b="0" spc="-3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sz="22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z="2200" b="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method.</a:t>
            </a:r>
            <a:endParaRPr sz="220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1996" y="2772740"/>
            <a:ext cx="6800215" cy="1027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50000"/>
              </a:lnSpc>
              <a:spcBef>
                <a:spcPts val="95"/>
              </a:spcBef>
              <a:buFont typeface="Arial" panose="020B0604020202090204" pitchFamily="34" charset="0"/>
              <a:buChar char="•"/>
            </a:pP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Every</a:t>
            </a:r>
            <a:r>
              <a:rPr sz="2200" b="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method</a:t>
            </a:r>
            <a:r>
              <a:rPr sz="22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in</a:t>
            </a:r>
            <a:r>
              <a:rPr sz="2200" b="0" spc="-5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</a:t>
            </a:r>
            <a:r>
              <a:rPr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declared</a:t>
            </a:r>
            <a:r>
              <a:rPr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with</a:t>
            </a:r>
            <a:r>
              <a:rPr sz="2200" b="0" spc="-4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</a:t>
            </a:r>
            <a:r>
              <a:rPr sz="2200" b="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return</a:t>
            </a:r>
            <a:r>
              <a:rPr sz="2200" b="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type</a:t>
            </a:r>
            <a:r>
              <a:rPr sz="2200" b="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and</a:t>
            </a:r>
            <a:r>
              <a:rPr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it</a:t>
            </a:r>
            <a:r>
              <a:rPr sz="2200" b="0" spc="-2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is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mandatory</a:t>
            </a:r>
            <a:r>
              <a:rPr sz="2200" b="0" spc="-10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for</a:t>
            </a:r>
            <a:r>
              <a:rPr sz="2200" b="0" spc="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all</a:t>
            </a:r>
            <a:r>
              <a:rPr sz="2200" b="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java</a:t>
            </a:r>
            <a:r>
              <a:rPr sz="2200" b="0" spc="-6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methods.</a:t>
            </a:r>
            <a:endParaRPr sz="2200" b="0">
              <a:latin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1996" y="3932377"/>
            <a:ext cx="6445250" cy="1027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5080" indent="-342900">
              <a:lnSpc>
                <a:spcPct val="150000"/>
              </a:lnSpc>
              <a:spcBef>
                <a:spcPts val="95"/>
              </a:spcBef>
              <a:buFont typeface="Arial" panose="020B0604020202090204" pitchFamily="34" charset="0"/>
              <a:buChar char="•"/>
            </a:pP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When</a:t>
            </a:r>
            <a:r>
              <a:rPr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used,</a:t>
            </a:r>
            <a:r>
              <a:rPr sz="2200" b="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program</a:t>
            </a:r>
            <a:r>
              <a:rPr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control</a:t>
            </a:r>
            <a:r>
              <a:rPr sz="2200" b="0" spc="-6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transferred</a:t>
            </a:r>
            <a:r>
              <a:rPr sz="2200" b="0" spc="-6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back</a:t>
            </a:r>
            <a:r>
              <a:rPr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to</a:t>
            </a:r>
            <a:r>
              <a:rPr sz="2200" b="0" spc="-1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caller</a:t>
            </a:r>
            <a:r>
              <a:rPr sz="2200" b="0" spc="-4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of</a:t>
            </a:r>
            <a:r>
              <a:rPr sz="2200" b="0" spc="-3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the</a:t>
            </a:r>
            <a:r>
              <a:rPr sz="2200" b="0" spc="-25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sz="2200" b="0" spc="-10" dirty="0">
                <a:solidFill>
                  <a:srgbClr val="575757"/>
                </a:solidFill>
                <a:latin typeface="Times New Roman" panose="02020503050405090304" charset="0"/>
                <a:cs typeface="Times New Roman" panose="02020503050405090304" charset="0"/>
              </a:rPr>
              <a:t>method.</a:t>
            </a:r>
            <a:endParaRPr sz="2200" b="0">
              <a:latin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13719" y="-228600"/>
            <a:ext cx="2648711" cy="1182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2640</Words>
  <Application>Microsoft Office PowerPoint</Application>
  <PresentationFormat>Widescreen</PresentationFormat>
  <Paragraphs>648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Cambria</vt:lpstr>
      <vt:lpstr>Corbel</vt:lpstr>
      <vt:lpstr>Times New Roman</vt:lpstr>
      <vt:lpstr>等线</vt:lpstr>
      <vt:lpstr>Office Theme</vt:lpstr>
      <vt:lpstr>Unit – 1 Java Overview</vt:lpstr>
      <vt:lpstr>PowerPoint Presentation</vt:lpstr>
      <vt:lpstr>Java Language Specification:</vt:lpstr>
      <vt:lpstr>JDK:</vt:lpstr>
      <vt:lpstr>JDK, IDE, JVM</vt:lpstr>
      <vt:lpstr>Platform Independence</vt:lpstr>
      <vt:lpstr>As soon as a java program is compiled, java bytecode is generated in the form of a .class file</vt:lpstr>
      <vt:lpstr>Bytecode</vt:lpstr>
      <vt:lpstr>A First Simple Program Example java</vt:lpstr>
      <vt:lpstr>Java Data Types</vt:lpstr>
      <vt:lpstr>Datatypes</vt:lpstr>
      <vt:lpstr>Datatypes</vt:lpstr>
      <vt:lpstr>Java Literals are syntactic representations of boolean, character, numeric, or string data.  Literals provide a means of expressing specific values in your program.  Types of literals are:  </vt:lpstr>
      <vt:lpstr>Integers</vt:lpstr>
      <vt:lpstr>Floating-Point Types</vt:lpstr>
      <vt:lpstr>Operators</vt:lpstr>
      <vt:lpstr>Operators</vt:lpstr>
      <vt:lpstr>Operators</vt:lpstr>
      <vt:lpstr>Operators</vt:lpstr>
      <vt:lpstr>PowerPoint Presentation</vt:lpstr>
      <vt:lpstr>Arithmetic Operators</vt:lpstr>
      <vt:lpstr>Assignment Operators</vt:lpstr>
      <vt:lpstr>Comparison Operators</vt:lpstr>
      <vt:lpstr>Logical Operators</vt:lpstr>
      <vt:lpstr>Bitwise Operators</vt:lpstr>
      <vt:lpstr>Bitwise Operators</vt:lpstr>
      <vt:lpstr>expression1 ? expression2 : expression3</vt:lpstr>
      <vt:lpstr>Operator Precedence</vt:lpstr>
      <vt:lpstr>The Java if statement tests the condition. It executes the if block if condition is true.</vt:lpstr>
      <vt:lpstr>PowerPoint Presentation</vt:lpstr>
      <vt:lpstr>The Java if-else statement also test the condition. It executes the if</vt:lpstr>
      <vt:lpstr>PowerPoint Presentation</vt:lpstr>
      <vt:lpstr>The if-else-if ladder statement executes one condition from multiple statements.</vt:lpstr>
      <vt:lpstr>PowerPoint Presentation</vt:lpstr>
      <vt:lpstr>The Java switch statement executes one statement from multiple conditions, and its like if-else-if ladder statement.</vt:lpstr>
      <vt:lpstr>PowerPoint Presentation</vt:lpstr>
      <vt:lpstr>The Java while loop is a control flow statement that executes a part of the programs repeatedly on the basis of given boolean condition.</vt:lpstr>
      <vt:lpstr>PowerPoint Presentation</vt:lpstr>
      <vt:lpstr>If the number of iteration is not fixed and you must have to execute the loop at least once, it is recommended to use the do-while loop.</vt:lpstr>
      <vt:lpstr>PowerPoint Presentation</vt:lpstr>
      <vt:lpstr>PowerPoint Presentation</vt:lpstr>
      <vt:lpstr>PowerPoint Presentation</vt:lpstr>
      <vt:lpstr>When a break statement is encounteredinside a loop, the loop is immediately terminated and the program control resumes at the next statement following the loop.</vt:lpstr>
      <vt:lpstr>PowerPoint Presentation</vt:lpstr>
      <vt:lpstr>PowerPoint Presentation</vt:lpstr>
      <vt:lpstr>PowerPoint Presentation</vt:lpstr>
      <vt:lpstr>A return statement causes the program control to transfer back to the caller of a method.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– 1 Java Overview</dc:title>
  <dc:creator/>
  <cp:lastModifiedBy>Rajasree E</cp:lastModifiedBy>
  <cp:revision>10</cp:revision>
  <dcterms:created xsi:type="dcterms:W3CDTF">2026-01-06T09:09:10Z</dcterms:created>
  <dcterms:modified xsi:type="dcterms:W3CDTF">2026-01-07T18:47:17Z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2023-12-19T05:30:00Z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2026-01-06T05:30:00Z</vt:filetime>
  </property>
  <property fmtid="{D5CDD505-2E9C-101B-9397-08002B2CF9AE}" pid="5" name="Producer">
    <vt:lpwstr>www.ilovepdf.com</vt:lpwstr>
  </property>
  <property fmtid="{D5CDD505-2E9C-101B-9397-08002B2CF9AE}" pid="6" name="ICV">
    <vt:lpwstr>4B488C2E14DE48E7A4D05C69C5FEA0B0_43</vt:lpwstr>
  </property>
  <property fmtid="{D5CDD505-2E9C-101B-9397-08002B2CF9AE}" pid="7" name="KSOProductBuildVer">
    <vt:lpwstr>1033-12.1.22533.22533</vt:lpwstr>
  </property>
</Properties>
</file>