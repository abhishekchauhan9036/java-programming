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9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Lst>
  <p:sldSz cx="12192000" cy="6858000"/>
  <p:notesSz cx="12192000" cy="6858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98" roundtripDataSignature="AMtx7mjJgdvJnkbcNT1sfX5DplZ9pcAjK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17975B-57E6-407A-B2BE-4A32A2008E57}">
  <a:tblStyle styleId="{9017975B-57E6-407A-B2BE-4A32A2008E57}"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6"/>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9" Type="http://schemas.openxmlformats.org/officeDocument/2006/relationships/presProps" Target="presProps.xml"/><Relationship Id="rId10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notesMaster" Target="notesMasters/notesMaster1.xml"/><Relationship Id="rId98"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5283200" cy="344488"/>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1200"/>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 name="Google Shape;4;n"/>
          <p:cNvSpPr txBox="1">
            <a:spLocks noGrp="1"/>
          </p:cNvSpPr>
          <p:nvPr>
            <p:ph type="dt" idx="10"/>
          </p:nvPr>
        </p:nvSpPr>
        <p:spPr>
          <a:xfrm>
            <a:off x="6905625" y="0"/>
            <a:ext cx="5283200" cy="344488"/>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sz="1200"/>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 name="Google Shape;5;n"/>
          <p:cNvSpPr>
            <a:spLocks noGrp="1" noRot="1" noChangeAspect="1"/>
          </p:cNvSpPr>
          <p:nvPr>
            <p:ph type="sldImg" idx="3"/>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6513513"/>
            <a:ext cx="5283200" cy="344487"/>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1200"/>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 name="Google Shape;8;n"/>
          <p:cNvSpPr txBox="1">
            <a:spLocks noGrp="1"/>
          </p:cNvSpPr>
          <p:nvPr>
            <p:ph type="sldNum" idx="12"/>
          </p:nvPr>
        </p:nvSpPr>
        <p:spPr>
          <a:xfrm>
            <a:off x="6905625" y="6513513"/>
            <a:ext cx="5283200" cy="3444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a:t>‹#›</a:t>
            </a:fld>
            <a:endParaRPr sz="1200"/>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 name="Google Shape;52;p1: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2: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 name="Google Shape;62;p2: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p3: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1" name="Google Shape;71;p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p4: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8" name="Google Shape;78;p4: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5: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 name="Google Shape;91;p5: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6: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6: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7: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 name="Google Shape;105;p7: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8: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3" name="Google Shape;113;p8: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9: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7" name="Google Shape;127;p9: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10: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6" name="Google Shape;136;p10: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11: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 name="Google Shape;146;p11: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12: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1" name="Google Shape;151;p12: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3: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1" name="Google Shape;161;p1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14: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0" name="Google Shape;170;p14: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5: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 name="Google Shape;180;p15: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6: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7" name="Google Shape;187;p16: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7: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17: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18: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4" name="Google Shape;204;p18: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19: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3" name="Google Shape;213;p19: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20: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2" name="Google Shape;222;p20: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21: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1" name="Google Shape;231;p21: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22: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0" name="Google Shape;240;p22: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23: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8" name="Google Shape;248;p2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24: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7" name="Google Shape;257;p24: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25: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5" name="Google Shape;265;p25: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26: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5" name="Google Shape;275;p26: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27: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81" name="Google Shape;281;p27: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28: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91" name="Google Shape;291;p28: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29: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99" name="Google Shape;299;p29: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30: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8" name="Google Shape;308;p30: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p31: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7" name="Google Shape;317;p31: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32: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27" name="Google Shape;327;p32: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p33: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7" name="Google Shape;337;p3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34: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6" name="Google Shape;346;p34: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p35: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56" name="Google Shape;356;p35: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p36: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65" name="Google Shape;365;p36: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p37: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4" name="Google Shape;374;p37: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p38: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1" name="Google Shape;381;p38: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p39: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7" name="Google Shape;387;p39: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p40: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5" name="Google Shape;395;p40: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p41: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4" name="Google Shape;404;p41: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5" name="Google Shape;405;p41:notes"/>
          <p:cNvSpPr txBox="1">
            <a:spLocks noGrp="1"/>
          </p:cNvSpPr>
          <p:nvPr>
            <p:ph type="sldNum" idx="12"/>
          </p:nvPr>
        </p:nvSpPr>
        <p:spPr>
          <a:xfrm>
            <a:off x="6905625" y="6513513"/>
            <a:ext cx="5283200" cy="3444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41</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p42: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3" name="Google Shape;413;p42: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p43: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9" name="Google Shape;419;p4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
        <p:cNvGrpSpPr/>
        <p:nvPr/>
      </p:nvGrpSpPr>
      <p:grpSpPr>
        <a:xfrm>
          <a:off x="0" y="0"/>
          <a:ext cx="0" cy="0"/>
          <a:chOff x="0" y="0"/>
          <a:chExt cx="0" cy="0"/>
        </a:xfrm>
      </p:grpSpPr>
      <p:sp>
        <p:nvSpPr>
          <p:cNvPr id="425" name="Google Shape;425;p44: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6" name="Google Shape;426;p44: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p45: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5" name="Google Shape;435;p45: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p46: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
        <p:cNvGrpSpPr/>
        <p:nvPr/>
      </p:nvGrpSpPr>
      <p:grpSpPr>
        <a:xfrm>
          <a:off x="0" y="0"/>
          <a:ext cx="0" cy="0"/>
          <a:chOff x="0" y="0"/>
          <a:chExt cx="0" cy="0"/>
        </a:xfrm>
      </p:grpSpPr>
      <p:sp>
        <p:nvSpPr>
          <p:cNvPr id="449" name="Google Shape;449;p47: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0" name="Google Shape;450;p47: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p48: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5" name="Google Shape;455;p48: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p49: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0" name="Google Shape;460;p49: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p50: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6" name="Google Shape;466;p50: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0"/>
        <p:cNvGrpSpPr/>
        <p:nvPr/>
      </p:nvGrpSpPr>
      <p:grpSpPr>
        <a:xfrm>
          <a:off x="0" y="0"/>
          <a:ext cx="0" cy="0"/>
          <a:chOff x="0" y="0"/>
          <a:chExt cx="0" cy="0"/>
        </a:xfrm>
      </p:grpSpPr>
      <p:sp>
        <p:nvSpPr>
          <p:cNvPr id="471" name="Google Shape;471;p51: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2" name="Google Shape;472;p51: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p52: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0" name="Google Shape;480;p52: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p53: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8" name="Google Shape;488;p5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4"/>
        <p:cNvGrpSpPr/>
        <p:nvPr/>
      </p:nvGrpSpPr>
      <p:grpSpPr>
        <a:xfrm>
          <a:off x="0" y="0"/>
          <a:ext cx="0" cy="0"/>
          <a:chOff x="0" y="0"/>
          <a:chExt cx="0" cy="0"/>
        </a:xfrm>
      </p:grpSpPr>
      <p:sp>
        <p:nvSpPr>
          <p:cNvPr id="495" name="Google Shape;495;p54: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6" name="Google Shape;496;p54: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5"/>
        <p:cNvGrpSpPr/>
        <p:nvPr/>
      </p:nvGrpSpPr>
      <p:grpSpPr>
        <a:xfrm>
          <a:off x="0" y="0"/>
          <a:ext cx="0" cy="0"/>
          <a:chOff x="0" y="0"/>
          <a:chExt cx="0" cy="0"/>
        </a:xfrm>
      </p:grpSpPr>
      <p:sp>
        <p:nvSpPr>
          <p:cNvPr id="506" name="Google Shape;506;p55: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7" name="Google Shape;507;p55: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p56: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4" name="Google Shape;514;p56: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p57: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2" name="Google Shape;522;p57: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9"/>
        <p:cNvGrpSpPr/>
        <p:nvPr/>
      </p:nvGrpSpPr>
      <p:grpSpPr>
        <a:xfrm>
          <a:off x="0" y="0"/>
          <a:ext cx="0" cy="0"/>
          <a:chOff x="0" y="0"/>
          <a:chExt cx="0" cy="0"/>
        </a:xfrm>
      </p:grpSpPr>
      <p:sp>
        <p:nvSpPr>
          <p:cNvPr id="530" name="Google Shape;530;p58: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1" name="Google Shape;531;p58: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59: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8" name="Google Shape;548;p59: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p60: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6" name="Google Shape;566;p60: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1"/>
        <p:cNvGrpSpPr/>
        <p:nvPr/>
      </p:nvGrpSpPr>
      <p:grpSpPr>
        <a:xfrm>
          <a:off x="0" y="0"/>
          <a:ext cx="0" cy="0"/>
          <a:chOff x="0" y="0"/>
          <a:chExt cx="0" cy="0"/>
        </a:xfrm>
      </p:grpSpPr>
      <p:sp>
        <p:nvSpPr>
          <p:cNvPr id="582" name="Google Shape;582;p61: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3" name="Google Shape;583;p61: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8"/>
        <p:cNvGrpSpPr/>
        <p:nvPr/>
      </p:nvGrpSpPr>
      <p:grpSpPr>
        <a:xfrm>
          <a:off x="0" y="0"/>
          <a:ext cx="0" cy="0"/>
          <a:chOff x="0" y="0"/>
          <a:chExt cx="0" cy="0"/>
        </a:xfrm>
      </p:grpSpPr>
      <p:sp>
        <p:nvSpPr>
          <p:cNvPr id="599" name="Google Shape;599;p62: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0" name="Google Shape;600;p62: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9"/>
        <p:cNvGrpSpPr/>
        <p:nvPr/>
      </p:nvGrpSpPr>
      <p:grpSpPr>
        <a:xfrm>
          <a:off x="0" y="0"/>
          <a:ext cx="0" cy="0"/>
          <a:chOff x="0" y="0"/>
          <a:chExt cx="0" cy="0"/>
        </a:xfrm>
      </p:grpSpPr>
      <p:sp>
        <p:nvSpPr>
          <p:cNvPr id="610" name="Google Shape;610;p63: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1" name="Google Shape;611;p6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8"/>
        <p:cNvGrpSpPr/>
        <p:nvPr/>
      </p:nvGrpSpPr>
      <p:grpSpPr>
        <a:xfrm>
          <a:off x="0" y="0"/>
          <a:ext cx="0" cy="0"/>
          <a:chOff x="0" y="0"/>
          <a:chExt cx="0" cy="0"/>
        </a:xfrm>
      </p:grpSpPr>
      <p:sp>
        <p:nvSpPr>
          <p:cNvPr id="619" name="Google Shape;619;p64: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0" name="Google Shape;620;p64: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1"/>
        <p:cNvGrpSpPr/>
        <p:nvPr/>
      </p:nvGrpSpPr>
      <p:grpSpPr>
        <a:xfrm>
          <a:off x="0" y="0"/>
          <a:ext cx="0" cy="0"/>
          <a:chOff x="0" y="0"/>
          <a:chExt cx="0" cy="0"/>
        </a:xfrm>
      </p:grpSpPr>
      <p:sp>
        <p:nvSpPr>
          <p:cNvPr id="632" name="Google Shape;632;p65: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33" name="Google Shape;633;p65: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6"/>
        <p:cNvGrpSpPr/>
        <p:nvPr/>
      </p:nvGrpSpPr>
      <p:grpSpPr>
        <a:xfrm>
          <a:off x="0" y="0"/>
          <a:ext cx="0" cy="0"/>
          <a:chOff x="0" y="0"/>
          <a:chExt cx="0" cy="0"/>
        </a:xfrm>
      </p:grpSpPr>
      <p:sp>
        <p:nvSpPr>
          <p:cNvPr id="647" name="Google Shape;647;p66: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8" name="Google Shape;648;p66: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p67: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58" name="Google Shape;658;p67: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p68: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65" name="Google Shape;665;p68: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2"/>
        <p:cNvGrpSpPr/>
        <p:nvPr/>
      </p:nvGrpSpPr>
      <p:grpSpPr>
        <a:xfrm>
          <a:off x="0" y="0"/>
          <a:ext cx="0" cy="0"/>
          <a:chOff x="0" y="0"/>
          <a:chExt cx="0" cy="0"/>
        </a:xfrm>
      </p:grpSpPr>
      <p:sp>
        <p:nvSpPr>
          <p:cNvPr id="673" name="Google Shape;673;p69: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4" name="Google Shape;674;p69: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1"/>
        <p:cNvGrpSpPr/>
        <p:nvPr/>
      </p:nvGrpSpPr>
      <p:grpSpPr>
        <a:xfrm>
          <a:off x="0" y="0"/>
          <a:ext cx="0" cy="0"/>
          <a:chOff x="0" y="0"/>
          <a:chExt cx="0" cy="0"/>
        </a:xfrm>
      </p:grpSpPr>
      <p:sp>
        <p:nvSpPr>
          <p:cNvPr id="682" name="Google Shape;682;p70: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3" name="Google Shape;683;p70: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p71: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7" name="Google Shape;697;p71: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p72: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8" name="Google Shape;708;p72: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4"/>
        <p:cNvGrpSpPr/>
        <p:nvPr/>
      </p:nvGrpSpPr>
      <p:grpSpPr>
        <a:xfrm>
          <a:off x="0" y="0"/>
          <a:ext cx="0" cy="0"/>
          <a:chOff x="0" y="0"/>
          <a:chExt cx="0" cy="0"/>
        </a:xfrm>
      </p:grpSpPr>
      <p:sp>
        <p:nvSpPr>
          <p:cNvPr id="715" name="Google Shape;715;p73: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16" name="Google Shape;716;p7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3"/>
        <p:cNvGrpSpPr/>
        <p:nvPr/>
      </p:nvGrpSpPr>
      <p:grpSpPr>
        <a:xfrm>
          <a:off x="0" y="0"/>
          <a:ext cx="0" cy="0"/>
          <a:chOff x="0" y="0"/>
          <a:chExt cx="0" cy="0"/>
        </a:xfrm>
      </p:grpSpPr>
      <p:sp>
        <p:nvSpPr>
          <p:cNvPr id="724" name="Google Shape;724;p74: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25" name="Google Shape;725;p74: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2"/>
        <p:cNvGrpSpPr/>
        <p:nvPr/>
      </p:nvGrpSpPr>
      <p:grpSpPr>
        <a:xfrm>
          <a:off x="0" y="0"/>
          <a:ext cx="0" cy="0"/>
          <a:chOff x="0" y="0"/>
          <a:chExt cx="0" cy="0"/>
        </a:xfrm>
      </p:grpSpPr>
      <p:sp>
        <p:nvSpPr>
          <p:cNvPr id="733" name="Google Shape;733;p75: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34" name="Google Shape;734;p75: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1"/>
        <p:cNvGrpSpPr/>
        <p:nvPr/>
      </p:nvGrpSpPr>
      <p:grpSpPr>
        <a:xfrm>
          <a:off x="0" y="0"/>
          <a:ext cx="0" cy="0"/>
          <a:chOff x="0" y="0"/>
          <a:chExt cx="0" cy="0"/>
        </a:xfrm>
      </p:grpSpPr>
      <p:sp>
        <p:nvSpPr>
          <p:cNvPr id="742" name="Google Shape;742;p76: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43" name="Google Shape;743;p76: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2"/>
        <p:cNvGrpSpPr/>
        <p:nvPr/>
      </p:nvGrpSpPr>
      <p:grpSpPr>
        <a:xfrm>
          <a:off x="0" y="0"/>
          <a:ext cx="0" cy="0"/>
          <a:chOff x="0" y="0"/>
          <a:chExt cx="0" cy="0"/>
        </a:xfrm>
      </p:grpSpPr>
      <p:sp>
        <p:nvSpPr>
          <p:cNvPr id="753" name="Google Shape;753;p77: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4" name="Google Shape;754;p77: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3"/>
        <p:cNvGrpSpPr/>
        <p:nvPr/>
      </p:nvGrpSpPr>
      <p:grpSpPr>
        <a:xfrm>
          <a:off x="0" y="0"/>
          <a:ext cx="0" cy="0"/>
          <a:chOff x="0" y="0"/>
          <a:chExt cx="0" cy="0"/>
        </a:xfrm>
      </p:grpSpPr>
      <p:sp>
        <p:nvSpPr>
          <p:cNvPr id="764" name="Google Shape;764;p78: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5" name="Google Shape;765;p78: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1"/>
        <p:cNvGrpSpPr/>
        <p:nvPr/>
      </p:nvGrpSpPr>
      <p:grpSpPr>
        <a:xfrm>
          <a:off x="0" y="0"/>
          <a:ext cx="0" cy="0"/>
          <a:chOff x="0" y="0"/>
          <a:chExt cx="0" cy="0"/>
        </a:xfrm>
      </p:grpSpPr>
      <p:sp>
        <p:nvSpPr>
          <p:cNvPr id="772" name="Google Shape;772;p79: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73" name="Google Shape;773;p79: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0"/>
        <p:cNvGrpSpPr/>
        <p:nvPr/>
      </p:nvGrpSpPr>
      <p:grpSpPr>
        <a:xfrm>
          <a:off x="0" y="0"/>
          <a:ext cx="0" cy="0"/>
          <a:chOff x="0" y="0"/>
          <a:chExt cx="0" cy="0"/>
        </a:xfrm>
      </p:grpSpPr>
      <p:sp>
        <p:nvSpPr>
          <p:cNvPr id="781" name="Google Shape;781;p80: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82" name="Google Shape;782;p80: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9"/>
        <p:cNvGrpSpPr/>
        <p:nvPr/>
      </p:nvGrpSpPr>
      <p:grpSpPr>
        <a:xfrm>
          <a:off x="0" y="0"/>
          <a:ext cx="0" cy="0"/>
          <a:chOff x="0" y="0"/>
          <a:chExt cx="0" cy="0"/>
        </a:xfrm>
      </p:grpSpPr>
      <p:sp>
        <p:nvSpPr>
          <p:cNvPr id="790" name="Google Shape;790;p81: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91" name="Google Shape;791;p81: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9"/>
        <p:cNvGrpSpPr/>
        <p:nvPr/>
      </p:nvGrpSpPr>
      <p:grpSpPr>
        <a:xfrm>
          <a:off x="0" y="0"/>
          <a:ext cx="0" cy="0"/>
          <a:chOff x="0" y="0"/>
          <a:chExt cx="0" cy="0"/>
        </a:xfrm>
      </p:grpSpPr>
      <p:sp>
        <p:nvSpPr>
          <p:cNvPr id="800" name="Google Shape;800;p82: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01" name="Google Shape;801;p82: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0"/>
        <p:cNvGrpSpPr/>
        <p:nvPr/>
      </p:nvGrpSpPr>
      <p:grpSpPr>
        <a:xfrm>
          <a:off x="0" y="0"/>
          <a:ext cx="0" cy="0"/>
          <a:chOff x="0" y="0"/>
          <a:chExt cx="0" cy="0"/>
        </a:xfrm>
      </p:grpSpPr>
      <p:sp>
        <p:nvSpPr>
          <p:cNvPr id="811" name="Google Shape;811;p83: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12" name="Google Shape;812;p8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9"/>
        <p:cNvGrpSpPr/>
        <p:nvPr/>
      </p:nvGrpSpPr>
      <p:grpSpPr>
        <a:xfrm>
          <a:off x="0" y="0"/>
          <a:ext cx="0" cy="0"/>
          <a:chOff x="0" y="0"/>
          <a:chExt cx="0" cy="0"/>
        </a:xfrm>
      </p:grpSpPr>
      <p:sp>
        <p:nvSpPr>
          <p:cNvPr id="820" name="Google Shape;820;p84: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1" name="Google Shape;821;p84: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p:cNvGrpSpPr/>
        <p:nvPr/>
      </p:nvGrpSpPr>
      <p:grpSpPr>
        <a:xfrm>
          <a:off x="0" y="0"/>
          <a:ext cx="0" cy="0"/>
          <a:chOff x="0" y="0"/>
          <a:chExt cx="0" cy="0"/>
        </a:xfrm>
      </p:grpSpPr>
      <p:sp>
        <p:nvSpPr>
          <p:cNvPr id="828" name="Google Shape;828;p85: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9" name="Google Shape;829;p85: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7"/>
        <p:cNvGrpSpPr/>
        <p:nvPr/>
      </p:nvGrpSpPr>
      <p:grpSpPr>
        <a:xfrm>
          <a:off x="0" y="0"/>
          <a:ext cx="0" cy="0"/>
          <a:chOff x="0" y="0"/>
          <a:chExt cx="0" cy="0"/>
        </a:xfrm>
      </p:grpSpPr>
      <p:sp>
        <p:nvSpPr>
          <p:cNvPr id="838" name="Google Shape;838;p86: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39" name="Google Shape;839;p86: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5"/>
        <p:cNvGrpSpPr/>
        <p:nvPr/>
      </p:nvGrpSpPr>
      <p:grpSpPr>
        <a:xfrm>
          <a:off x="0" y="0"/>
          <a:ext cx="0" cy="0"/>
          <a:chOff x="0" y="0"/>
          <a:chExt cx="0" cy="0"/>
        </a:xfrm>
      </p:grpSpPr>
      <p:sp>
        <p:nvSpPr>
          <p:cNvPr id="846" name="Google Shape;846;p87: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47" name="Google Shape;847;p87: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4"/>
        <p:cNvGrpSpPr/>
        <p:nvPr/>
      </p:nvGrpSpPr>
      <p:grpSpPr>
        <a:xfrm>
          <a:off x="0" y="0"/>
          <a:ext cx="0" cy="0"/>
          <a:chOff x="0" y="0"/>
          <a:chExt cx="0" cy="0"/>
        </a:xfrm>
      </p:grpSpPr>
      <p:sp>
        <p:nvSpPr>
          <p:cNvPr id="855" name="Google Shape;855;p88: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56" name="Google Shape;856;p88: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3"/>
        <p:cNvGrpSpPr/>
        <p:nvPr/>
      </p:nvGrpSpPr>
      <p:grpSpPr>
        <a:xfrm>
          <a:off x="0" y="0"/>
          <a:ext cx="0" cy="0"/>
          <a:chOff x="0" y="0"/>
          <a:chExt cx="0" cy="0"/>
        </a:xfrm>
      </p:grpSpPr>
      <p:sp>
        <p:nvSpPr>
          <p:cNvPr id="864" name="Google Shape;864;p89: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5" name="Google Shape;865;p89: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2"/>
        <p:cNvGrpSpPr/>
        <p:nvPr/>
      </p:nvGrpSpPr>
      <p:grpSpPr>
        <a:xfrm>
          <a:off x="0" y="0"/>
          <a:ext cx="0" cy="0"/>
          <a:chOff x="0" y="0"/>
          <a:chExt cx="0" cy="0"/>
        </a:xfrm>
      </p:grpSpPr>
      <p:sp>
        <p:nvSpPr>
          <p:cNvPr id="873" name="Google Shape;873;p90: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4" name="Google Shape;874;p90: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p91: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83" name="Google Shape;883;p91: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6"/>
        <p:cNvGrpSpPr/>
        <p:nvPr/>
      </p:nvGrpSpPr>
      <p:grpSpPr>
        <a:xfrm>
          <a:off x="0" y="0"/>
          <a:ext cx="0" cy="0"/>
          <a:chOff x="0" y="0"/>
          <a:chExt cx="0" cy="0"/>
        </a:xfrm>
      </p:grpSpPr>
      <p:sp>
        <p:nvSpPr>
          <p:cNvPr id="17" name="Google Shape;17;p93"/>
          <p:cNvSpPr txBox="1">
            <a:spLocks noGrp="1"/>
          </p:cNvSpPr>
          <p:nvPr>
            <p:ph type="title"/>
          </p:nvPr>
        </p:nvSpPr>
        <p:spPr>
          <a:xfrm>
            <a:off x="331419" y="2829255"/>
            <a:ext cx="2556510" cy="106997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3600" b="1" i="0">
                <a:solidFill>
                  <a:schemeClr val="lt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93"/>
          <p:cNvSpPr txBox="1">
            <a:spLocks noGrp="1"/>
          </p:cNvSpPr>
          <p:nvPr>
            <p:ph type="body" idx="1"/>
          </p:nvPr>
        </p:nvSpPr>
        <p:spPr>
          <a:xfrm>
            <a:off x="3949065" y="3186811"/>
            <a:ext cx="6913880" cy="1743075"/>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sz="2200" b="0" i="0">
                <a:solidFill>
                  <a:srgbClr val="575757"/>
                </a:solidFill>
                <a:latin typeface="Cambria"/>
                <a:ea typeface="Cambria"/>
                <a:cs typeface="Cambria"/>
                <a:sym typeface="Cambria"/>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9" name="Google Shape;19;p93"/>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93"/>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93"/>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Blank">
  <p:cSld name="Blank">
    <p:bg>
      <p:bgPr>
        <a:solidFill>
          <a:schemeClr val="lt1"/>
        </a:solidFill>
        <a:effectLst/>
      </p:bgPr>
    </p:bg>
    <p:spTree>
      <p:nvGrpSpPr>
        <p:cNvPr id="1" name="Shape 22"/>
        <p:cNvGrpSpPr/>
        <p:nvPr/>
      </p:nvGrpSpPr>
      <p:grpSpPr>
        <a:xfrm>
          <a:off x="0" y="0"/>
          <a:ext cx="0" cy="0"/>
          <a:chOff x="0" y="0"/>
          <a:chExt cx="0" cy="0"/>
        </a:xfrm>
      </p:grpSpPr>
      <p:sp>
        <p:nvSpPr>
          <p:cNvPr id="23" name="Google Shape;23;p94"/>
          <p:cNvSpPr/>
          <p:nvPr/>
        </p:nvSpPr>
        <p:spPr>
          <a:xfrm>
            <a:off x="0" y="758951"/>
            <a:ext cx="3444240" cy="5330825"/>
          </a:xfrm>
          <a:custGeom>
            <a:avLst/>
            <a:gdLst/>
            <a:ahLst/>
            <a:cxnLst/>
            <a:rect l="l" t="t" r="r" b="b"/>
            <a:pathLst>
              <a:path w="3444240" h="5330825" extrusionOk="0">
                <a:moveTo>
                  <a:pt x="3444240" y="0"/>
                </a:moveTo>
                <a:lnTo>
                  <a:pt x="0" y="0"/>
                </a:lnTo>
                <a:lnTo>
                  <a:pt x="0" y="5330444"/>
                </a:lnTo>
                <a:lnTo>
                  <a:pt x="3444240" y="5330444"/>
                </a:lnTo>
                <a:lnTo>
                  <a:pt x="3444240" y="0"/>
                </a:lnTo>
                <a:close/>
              </a:path>
            </a:pathLst>
          </a:custGeom>
          <a:solidFill>
            <a:srgbClr val="40B8D2"/>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4" name="Google Shape;24;p94"/>
          <p:cNvSpPr/>
          <p:nvPr/>
        </p:nvSpPr>
        <p:spPr>
          <a:xfrm>
            <a:off x="11817095" y="758951"/>
            <a:ext cx="374650" cy="5330825"/>
          </a:xfrm>
          <a:custGeom>
            <a:avLst/>
            <a:gdLst/>
            <a:ahLst/>
            <a:cxnLst/>
            <a:rect l="l" t="t" r="r" b="b"/>
            <a:pathLst>
              <a:path w="374650" h="5330825" extrusionOk="0">
                <a:moveTo>
                  <a:pt x="374523" y="0"/>
                </a:moveTo>
                <a:lnTo>
                  <a:pt x="0" y="0"/>
                </a:lnTo>
                <a:lnTo>
                  <a:pt x="0" y="5330444"/>
                </a:lnTo>
                <a:lnTo>
                  <a:pt x="374523" y="5330444"/>
                </a:lnTo>
                <a:lnTo>
                  <a:pt x="374523" y="0"/>
                </a:lnTo>
                <a:close/>
              </a:path>
            </a:pathLst>
          </a:custGeom>
          <a:solidFill>
            <a:srgbClr val="C6C6C6">
              <a:alpha val="49411"/>
            </a:srgbClr>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5" name="Google Shape;25;p94"/>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 name="Google Shape;26;p94"/>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94"/>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Title Slide">
  <p:cSld name="Title Slide">
    <p:bg>
      <p:bgPr>
        <a:solidFill>
          <a:schemeClr val="lt1"/>
        </a:solidFill>
        <a:effectLst/>
      </p:bgPr>
    </p:bg>
    <p:spTree>
      <p:nvGrpSpPr>
        <p:cNvPr id="1" name="Shape 28"/>
        <p:cNvGrpSpPr/>
        <p:nvPr/>
      </p:nvGrpSpPr>
      <p:grpSpPr>
        <a:xfrm>
          <a:off x="0" y="0"/>
          <a:ext cx="0" cy="0"/>
          <a:chOff x="0" y="0"/>
          <a:chExt cx="0" cy="0"/>
        </a:xfrm>
      </p:grpSpPr>
      <p:sp>
        <p:nvSpPr>
          <p:cNvPr id="29" name="Google Shape;29;p95"/>
          <p:cNvSpPr/>
          <p:nvPr/>
        </p:nvSpPr>
        <p:spPr>
          <a:xfrm>
            <a:off x="0" y="758951"/>
            <a:ext cx="3444240" cy="5330825"/>
          </a:xfrm>
          <a:custGeom>
            <a:avLst/>
            <a:gdLst/>
            <a:ahLst/>
            <a:cxnLst/>
            <a:rect l="l" t="t" r="r" b="b"/>
            <a:pathLst>
              <a:path w="3444240" h="5330825" extrusionOk="0">
                <a:moveTo>
                  <a:pt x="3444240" y="0"/>
                </a:moveTo>
                <a:lnTo>
                  <a:pt x="0" y="0"/>
                </a:lnTo>
                <a:lnTo>
                  <a:pt x="0" y="5330444"/>
                </a:lnTo>
                <a:lnTo>
                  <a:pt x="3444240" y="5330444"/>
                </a:lnTo>
                <a:lnTo>
                  <a:pt x="3444240" y="0"/>
                </a:lnTo>
                <a:close/>
              </a:path>
            </a:pathLst>
          </a:custGeom>
          <a:solidFill>
            <a:srgbClr val="40B8D2"/>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0" name="Google Shape;30;p95"/>
          <p:cNvSpPr/>
          <p:nvPr/>
        </p:nvSpPr>
        <p:spPr>
          <a:xfrm>
            <a:off x="11817095" y="758951"/>
            <a:ext cx="374650" cy="5330825"/>
          </a:xfrm>
          <a:custGeom>
            <a:avLst/>
            <a:gdLst/>
            <a:ahLst/>
            <a:cxnLst/>
            <a:rect l="l" t="t" r="r" b="b"/>
            <a:pathLst>
              <a:path w="374650" h="5330825" extrusionOk="0">
                <a:moveTo>
                  <a:pt x="374523" y="0"/>
                </a:moveTo>
                <a:lnTo>
                  <a:pt x="0" y="0"/>
                </a:lnTo>
                <a:lnTo>
                  <a:pt x="0" y="5330444"/>
                </a:lnTo>
                <a:lnTo>
                  <a:pt x="374523" y="5330444"/>
                </a:lnTo>
                <a:lnTo>
                  <a:pt x="374523" y="0"/>
                </a:lnTo>
                <a:close/>
              </a:path>
            </a:pathLst>
          </a:custGeom>
          <a:solidFill>
            <a:srgbClr val="C6C6C6">
              <a:alpha val="49411"/>
            </a:srgbClr>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1" name="Google Shape;31;p95"/>
          <p:cNvSpPr txBox="1">
            <a:spLocks noGrp="1"/>
          </p:cNvSpPr>
          <p:nvPr>
            <p:ph type="ctrTitle"/>
          </p:nvPr>
        </p:nvSpPr>
        <p:spPr>
          <a:xfrm>
            <a:off x="4096892" y="1452448"/>
            <a:ext cx="6573520" cy="96456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3600" b="1" i="0">
                <a:solidFill>
                  <a:schemeClr val="lt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95"/>
          <p:cNvSpPr txBox="1">
            <a:spLocks noGrp="1"/>
          </p:cNvSpPr>
          <p:nvPr>
            <p:ph type="subTitle" idx="1"/>
          </p:nvPr>
        </p:nvSpPr>
        <p:spPr>
          <a:xfrm>
            <a:off x="1828800" y="3840480"/>
            <a:ext cx="8534400" cy="17145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2200" b="0" i="0">
                <a:solidFill>
                  <a:srgbClr val="575757"/>
                </a:solidFill>
                <a:latin typeface="Cambria"/>
                <a:ea typeface="Cambria"/>
                <a:cs typeface="Cambria"/>
                <a:sym typeface="Cambria"/>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95"/>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95"/>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95"/>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6"/>
        <p:cNvGrpSpPr/>
        <p:nvPr/>
      </p:nvGrpSpPr>
      <p:grpSpPr>
        <a:xfrm>
          <a:off x="0" y="0"/>
          <a:ext cx="0" cy="0"/>
          <a:chOff x="0" y="0"/>
          <a:chExt cx="0" cy="0"/>
        </a:xfrm>
      </p:grpSpPr>
      <p:sp>
        <p:nvSpPr>
          <p:cNvPr id="37" name="Google Shape;37;p96"/>
          <p:cNvSpPr txBox="1">
            <a:spLocks noGrp="1"/>
          </p:cNvSpPr>
          <p:nvPr>
            <p:ph type="title"/>
          </p:nvPr>
        </p:nvSpPr>
        <p:spPr>
          <a:xfrm>
            <a:off x="331419" y="2829255"/>
            <a:ext cx="2556510" cy="106997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3600" b="1" i="0">
                <a:solidFill>
                  <a:schemeClr val="lt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96"/>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96"/>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96"/>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Two Content">
  <p:cSld name="Two Content">
    <p:bg>
      <p:bgPr>
        <a:solidFill>
          <a:schemeClr val="lt1"/>
        </a:solidFill>
        <a:effectLst/>
      </p:bgPr>
    </p:bg>
    <p:spTree>
      <p:nvGrpSpPr>
        <p:cNvPr id="1" name="Shape 41"/>
        <p:cNvGrpSpPr/>
        <p:nvPr/>
      </p:nvGrpSpPr>
      <p:grpSpPr>
        <a:xfrm>
          <a:off x="0" y="0"/>
          <a:ext cx="0" cy="0"/>
          <a:chOff x="0" y="0"/>
          <a:chExt cx="0" cy="0"/>
        </a:xfrm>
      </p:grpSpPr>
      <p:sp>
        <p:nvSpPr>
          <p:cNvPr id="42" name="Google Shape;42;p97"/>
          <p:cNvSpPr/>
          <p:nvPr/>
        </p:nvSpPr>
        <p:spPr>
          <a:xfrm>
            <a:off x="0" y="758951"/>
            <a:ext cx="3444240" cy="5330825"/>
          </a:xfrm>
          <a:custGeom>
            <a:avLst/>
            <a:gdLst/>
            <a:ahLst/>
            <a:cxnLst/>
            <a:rect l="l" t="t" r="r" b="b"/>
            <a:pathLst>
              <a:path w="3444240" h="5330825" extrusionOk="0">
                <a:moveTo>
                  <a:pt x="3444240" y="0"/>
                </a:moveTo>
                <a:lnTo>
                  <a:pt x="0" y="0"/>
                </a:lnTo>
                <a:lnTo>
                  <a:pt x="0" y="5330444"/>
                </a:lnTo>
                <a:lnTo>
                  <a:pt x="3444240" y="5330444"/>
                </a:lnTo>
                <a:lnTo>
                  <a:pt x="3444240" y="0"/>
                </a:lnTo>
                <a:close/>
              </a:path>
            </a:pathLst>
          </a:custGeom>
          <a:solidFill>
            <a:srgbClr val="40B8D2"/>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43" name="Google Shape;43;p97"/>
          <p:cNvSpPr/>
          <p:nvPr/>
        </p:nvSpPr>
        <p:spPr>
          <a:xfrm>
            <a:off x="11817095" y="758951"/>
            <a:ext cx="374650" cy="5330825"/>
          </a:xfrm>
          <a:custGeom>
            <a:avLst/>
            <a:gdLst/>
            <a:ahLst/>
            <a:cxnLst/>
            <a:rect l="l" t="t" r="r" b="b"/>
            <a:pathLst>
              <a:path w="374650" h="5330825" extrusionOk="0">
                <a:moveTo>
                  <a:pt x="374523" y="0"/>
                </a:moveTo>
                <a:lnTo>
                  <a:pt x="0" y="0"/>
                </a:lnTo>
                <a:lnTo>
                  <a:pt x="0" y="5330444"/>
                </a:lnTo>
                <a:lnTo>
                  <a:pt x="374523" y="5330444"/>
                </a:lnTo>
                <a:lnTo>
                  <a:pt x="374523" y="0"/>
                </a:lnTo>
                <a:close/>
              </a:path>
            </a:pathLst>
          </a:custGeom>
          <a:solidFill>
            <a:srgbClr val="C6C6C6">
              <a:alpha val="49411"/>
            </a:srgbClr>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44" name="Google Shape;44;p97"/>
          <p:cNvSpPr txBox="1">
            <a:spLocks noGrp="1"/>
          </p:cNvSpPr>
          <p:nvPr>
            <p:ph type="title"/>
          </p:nvPr>
        </p:nvSpPr>
        <p:spPr>
          <a:xfrm>
            <a:off x="331419" y="2829255"/>
            <a:ext cx="2556510" cy="106997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3600" b="1" i="0">
                <a:solidFill>
                  <a:schemeClr val="lt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97"/>
          <p:cNvSpPr txBox="1">
            <a:spLocks noGrp="1"/>
          </p:cNvSpPr>
          <p:nvPr>
            <p:ph type="body" idx="1"/>
          </p:nvPr>
        </p:nvSpPr>
        <p:spPr>
          <a:xfrm>
            <a:off x="609600" y="1577340"/>
            <a:ext cx="5303520" cy="452628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46" name="Google Shape;46;p97"/>
          <p:cNvSpPr txBox="1">
            <a:spLocks noGrp="1"/>
          </p:cNvSpPr>
          <p:nvPr>
            <p:ph type="body" idx="2"/>
          </p:nvPr>
        </p:nvSpPr>
        <p:spPr>
          <a:xfrm>
            <a:off x="6278880" y="1577340"/>
            <a:ext cx="5303520" cy="452628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47" name="Google Shape;47;p97"/>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8" name="Google Shape;48;p97"/>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97"/>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92"/>
          <p:cNvSpPr/>
          <p:nvPr/>
        </p:nvSpPr>
        <p:spPr>
          <a:xfrm>
            <a:off x="0" y="758951"/>
            <a:ext cx="3444240" cy="5330825"/>
          </a:xfrm>
          <a:custGeom>
            <a:avLst/>
            <a:gdLst/>
            <a:ahLst/>
            <a:cxnLst/>
            <a:rect l="l" t="t" r="r" b="b"/>
            <a:pathLst>
              <a:path w="3444240" h="5330825" extrusionOk="0">
                <a:moveTo>
                  <a:pt x="3444240" y="0"/>
                </a:moveTo>
                <a:lnTo>
                  <a:pt x="0" y="0"/>
                </a:lnTo>
                <a:lnTo>
                  <a:pt x="0" y="5330444"/>
                </a:lnTo>
                <a:lnTo>
                  <a:pt x="3444240" y="5330444"/>
                </a:lnTo>
                <a:lnTo>
                  <a:pt x="3444240" y="0"/>
                </a:lnTo>
                <a:close/>
              </a:path>
            </a:pathLst>
          </a:custGeom>
          <a:solidFill>
            <a:srgbClr val="40B8D2"/>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11" name="Google Shape;11;p92"/>
          <p:cNvSpPr txBox="1">
            <a:spLocks noGrp="1"/>
          </p:cNvSpPr>
          <p:nvPr>
            <p:ph type="title"/>
          </p:nvPr>
        </p:nvSpPr>
        <p:spPr>
          <a:xfrm>
            <a:off x="331419" y="2829255"/>
            <a:ext cx="2556510" cy="1069975"/>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3600" b="1" i="0" u="none" strike="noStrike" cap="none">
                <a:solidFill>
                  <a:schemeClr val="lt1"/>
                </a:solidFill>
                <a:latin typeface="Trebuchet MS"/>
                <a:ea typeface="Trebuchet MS"/>
                <a:cs typeface="Trebuchet MS"/>
                <a:sym typeface="Trebuchet M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 name="Google Shape;12;p92"/>
          <p:cNvSpPr txBox="1">
            <a:spLocks noGrp="1"/>
          </p:cNvSpPr>
          <p:nvPr>
            <p:ph type="body" idx="1"/>
          </p:nvPr>
        </p:nvSpPr>
        <p:spPr>
          <a:xfrm>
            <a:off x="3949065" y="3186811"/>
            <a:ext cx="6913880" cy="1743075"/>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2200" b="0" i="0" u="none" strike="noStrike" cap="none">
                <a:solidFill>
                  <a:srgbClr val="575757"/>
                </a:solidFill>
                <a:latin typeface="Cambria"/>
                <a:ea typeface="Cambria"/>
                <a:cs typeface="Cambria"/>
                <a:sym typeface="Cambria"/>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13" name="Google Shape;13;p92"/>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4" name="Google Shape;14;p92"/>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5" name="Google Shape;15;p92"/>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lvl="0" indent="0" algn="r">
              <a:spcBef>
                <a:spcPts val="0"/>
              </a:spcBef>
              <a:buNone/>
              <a:defRPr sz="1800">
                <a:solidFill>
                  <a:srgbClr val="888888"/>
                </a:solidFill>
              </a:defRPr>
            </a:lvl1pPr>
            <a:lvl2pPr lvl="1" indent="0" algn="r">
              <a:spcBef>
                <a:spcPts val="0"/>
              </a:spcBef>
              <a:buNone/>
              <a:defRPr sz="1800">
                <a:solidFill>
                  <a:srgbClr val="888888"/>
                </a:solidFill>
              </a:defRPr>
            </a:lvl2pPr>
            <a:lvl3pPr lvl="2" indent="0" algn="r">
              <a:spcBef>
                <a:spcPts val="0"/>
              </a:spcBef>
              <a:buNone/>
              <a:defRPr sz="1800">
                <a:solidFill>
                  <a:srgbClr val="888888"/>
                </a:solidFill>
              </a:defRPr>
            </a:lvl3pPr>
            <a:lvl4pPr lvl="3" indent="0" algn="r">
              <a:spcBef>
                <a:spcPts val="0"/>
              </a:spcBef>
              <a:buNone/>
              <a:defRPr sz="1800">
                <a:solidFill>
                  <a:srgbClr val="888888"/>
                </a:solidFill>
              </a:defRPr>
            </a:lvl4pPr>
            <a:lvl5pPr lvl="4" indent="0" algn="r">
              <a:spcBef>
                <a:spcPts val="0"/>
              </a:spcBef>
              <a:buNone/>
              <a:defRPr sz="1800">
                <a:solidFill>
                  <a:srgbClr val="888888"/>
                </a:solidFill>
              </a:defRPr>
            </a:lvl5pPr>
            <a:lvl6pPr lvl="5" indent="0" algn="r">
              <a:spcBef>
                <a:spcPts val="0"/>
              </a:spcBef>
              <a:buNone/>
              <a:defRPr sz="1800">
                <a:solidFill>
                  <a:srgbClr val="888888"/>
                </a:solidFill>
              </a:defRPr>
            </a:lvl6pPr>
            <a:lvl7pPr lvl="6" indent="0" algn="r">
              <a:spcBef>
                <a:spcPts val="0"/>
              </a:spcBef>
              <a:buNone/>
              <a:defRPr sz="1800">
                <a:solidFill>
                  <a:srgbClr val="888888"/>
                </a:solidFill>
              </a:defRPr>
            </a:lvl7pPr>
            <a:lvl8pPr lvl="7" indent="0" algn="r">
              <a:spcBef>
                <a:spcPts val="0"/>
              </a:spcBef>
              <a:buNone/>
              <a:defRPr sz="1800">
                <a:solidFill>
                  <a:srgbClr val="888888"/>
                </a:solidFill>
              </a:defRPr>
            </a:lvl8pPr>
            <a:lvl9pPr lvl="8" indent="0" algn="r">
              <a:spcBef>
                <a:spcPts val="0"/>
              </a:spcBef>
              <a:buNone/>
              <a:defRPr sz="1800">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8.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5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9.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6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7.xml"/><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72.xml"/><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3.xml"/><Relationship Id="rId1" Type="http://schemas.openxmlformats.org/officeDocument/2006/relationships/slideLayout" Target="../slideLayouts/slideLayout4.xml"/><Relationship Id="rId4" Type="http://schemas.openxmlformats.org/officeDocument/2006/relationships/image" Target="../media/image23.png"/></Relationships>
</file>

<file path=ppt/slides/_rels/slide7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4.xml"/><Relationship Id="rId1" Type="http://schemas.openxmlformats.org/officeDocument/2006/relationships/slideLayout" Target="../slideLayouts/slideLayout4.xml"/><Relationship Id="rId4" Type="http://schemas.openxmlformats.org/officeDocument/2006/relationships/image" Target="../media/image25.png"/></Relationships>
</file>

<file path=ppt/slides/_rels/slide7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5.xml"/><Relationship Id="rId1" Type="http://schemas.openxmlformats.org/officeDocument/2006/relationships/slideLayout" Target="../slideLayouts/slideLayout4.xml"/><Relationship Id="rId4" Type="http://schemas.openxmlformats.org/officeDocument/2006/relationships/image" Target="../media/image27.png"/></Relationships>
</file>

<file path=ppt/slides/_rels/slide7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8.xml"/><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79.xml"/><Relationship Id="rId1" Type="http://schemas.openxmlformats.org/officeDocument/2006/relationships/slideLayout" Target="../slideLayouts/slideLayout4.xml"/><Relationship Id="rId4" Type="http://schemas.openxmlformats.org/officeDocument/2006/relationships/image" Target="../media/image32.png"/></Relationships>
</file>

<file path=ppt/slides/_rels/slide8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80.xml"/><Relationship Id="rId1" Type="http://schemas.openxmlformats.org/officeDocument/2006/relationships/slideLayout" Target="../slideLayouts/slideLayout4.xml"/><Relationship Id="rId4" Type="http://schemas.openxmlformats.org/officeDocument/2006/relationships/image" Target="../media/image34.png"/></Relationships>
</file>

<file path=ppt/slides/_rels/slide8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81.xml"/><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86.xml"/><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87.xml"/><Relationship Id="rId1" Type="http://schemas.openxmlformats.org/officeDocument/2006/relationships/slideLayout" Target="../slideLayouts/slideLayout4.xml"/><Relationship Id="rId4" Type="http://schemas.openxmlformats.org/officeDocument/2006/relationships/image" Target="../media/image38.jpg"/></Relationships>
</file>

<file path=ppt/slides/_rels/slide8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88.xml"/><Relationship Id="rId1" Type="http://schemas.openxmlformats.org/officeDocument/2006/relationships/slideLayout" Target="../slideLayouts/slideLayout4.xml"/><Relationship Id="rId4" Type="http://schemas.openxmlformats.org/officeDocument/2006/relationships/image" Target="../media/image40.png"/></Relationships>
</file>

<file path=ppt/slides/_rels/slide8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89.xml"/><Relationship Id="rId1" Type="http://schemas.openxmlformats.org/officeDocument/2006/relationships/slideLayout" Target="../slideLayouts/slideLayout4.xml"/><Relationship Id="rId4" Type="http://schemas.openxmlformats.org/officeDocument/2006/relationships/image" Target="../media/image41.png"/></Relationships>
</file>

<file path=ppt/slides/_rels/slide9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90.xml"/><Relationship Id="rId1" Type="http://schemas.openxmlformats.org/officeDocument/2006/relationships/slideLayout" Target="../slideLayouts/slideLayout4.xml"/><Relationship Id="rId4" Type="http://schemas.openxmlformats.org/officeDocument/2006/relationships/image" Target="../media/image42.png"/></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53"/>
        <p:cNvGrpSpPr/>
        <p:nvPr/>
      </p:nvGrpSpPr>
      <p:grpSpPr>
        <a:xfrm>
          <a:off x="0" y="0"/>
          <a:ext cx="0" cy="0"/>
          <a:chOff x="0" y="0"/>
          <a:chExt cx="0" cy="0"/>
        </a:xfrm>
      </p:grpSpPr>
      <p:sp>
        <p:nvSpPr>
          <p:cNvPr id="54" name="Google Shape;54;p1"/>
          <p:cNvSpPr/>
          <p:nvPr/>
        </p:nvSpPr>
        <p:spPr>
          <a:xfrm>
            <a:off x="11817095" y="758951"/>
            <a:ext cx="374650" cy="5330825"/>
          </a:xfrm>
          <a:custGeom>
            <a:avLst/>
            <a:gdLst/>
            <a:ahLst/>
            <a:cxnLst/>
            <a:rect l="l" t="t" r="r" b="b"/>
            <a:pathLst>
              <a:path w="374650" h="5330825" extrusionOk="0">
                <a:moveTo>
                  <a:pt x="374523" y="0"/>
                </a:moveTo>
                <a:lnTo>
                  <a:pt x="0" y="0"/>
                </a:lnTo>
                <a:lnTo>
                  <a:pt x="0" y="5330444"/>
                </a:lnTo>
                <a:lnTo>
                  <a:pt x="374523" y="5330444"/>
                </a:lnTo>
                <a:lnTo>
                  <a:pt x="374523" y="0"/>
                </a:lnTo>
                <a:close/>
              </a:path>
            </a:pathLst>
          </a:custGeom>
          <a:solidFill>
            <a:srgbClr val="C6C6C6">
              <a:alpha val="49411"/>
            </a:srgbClr>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55" name="Google Shape;55;p1"/>
          <p:cNvSpPr/>
          <p:nvPr/>
        </p:nvSpPr>
        <p:spPr>
          <a:xfrm>
            <a:off x="0" y="762000"/>
            <a:ext cx="9140825" cy="5334000"/>
          </a:xfrm>
          <a:custGeom>
            <a:avLst/>
            <a:gdLst/>
            <a:ahLst/>
            <a:cxnLst/>
            <a:rect l="l" t="t" r="r" b="b"/>
            <a:pathLst>
              <a:path w="9140825" h="5334000" extrusionOk="0">
                <a:moveTo>
                  <a:pt x="9140444" y="0"/>
                </a:moveTo>
                <a:lnTo>
                  <a:pt x="0" y="0"/>
                </a:lnTo>
                <a:lnTo>
                  <a:pt x="0" y="5334000"/>
                </a:lnTo>
                <a:lnTo>
                  <a:pt x="9140444" y="5334000"/>
                </a:lnTo>
                <a:lnTo>
                  <a:pt x="9140444" y="0"/>
                </a:lnTo>
                <a:close/>
              </a:path>
            </a:pathLst>
          </a:custGeom>
          <a:solidFill>
            <a:srgbClr val="40B8D2"/>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56" name="Google Shape;56;p1"/>
          <p:cNvSpPr/>
          <p:nvPr/>
        </p:nvSpPr>
        <p:spPr>
          <a:xfrm>
            <a:off x="9268968" y="762000"/>
            <a:ext cx="2922905" cy="5334000"/>
          </a:xfrm>
          <a:custGeom>
            <a:avLst/>
            <a:gdLst/>
            <a:ahLst/>
            <a:cxnLst/>
            <a:rect l="l" t="t" r="r" b="b"/>
            <a:pathLst>
              <a:path w="2922904" h="5334000" extrusionOk="0">
                <a:moveTo>
                  <a:pt x="2922524" y="0"/>
                </a:moveTo>
                <a:lnTo>
                  <a:pt x="0" y="0"/>
                </a:lnTo>
                <a:lnTo>
                  <a:pt x="0" y="5334000"/>
                </a:lnTo>
                <a:lnTo>
                  <a:pt x="2922524" y="5334000"/>
                </a:lnTo>
                <a:lnTo>
                  <a:pt x="2922524" y="0"/>
                </a:lnTo>
                <a:close/>
              </a:path>
            </a:pathLst>
          </a:custGeom>
          <a:solidFill>
            <a:srgbClr val="C6C6C6">
              <a:alpha val="49411"/>
            </a:srgbClr>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57" name="Google Shape;57;p1"/>
          <p:cNvSpPr txBox="1"/>
          <p:nvPr/>
        </p:nvSpPr>
        <p:spPr>
          <a:xfrm>
            <a:off x="9268968" y="762000"/>
            <a:ext cx="2922900" cy="40734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None/>
            </a:pPr>
            <a:endParaRPr sz="2200">
              <a:latin typeface="Times New Roman"/>
              <a:ea typeface="Times New Roman"/>
              <a:cs typeface="Times New Roman"/>
              <a:sym typeface="Times New Roman"/>
            </a:endParaRPr>
          </a:p>
          <a:p>
            <a:pPr marL="0" lvl="0" indent="0" algn="l" rtl="0">
              <a:lnSpc>
                <a:spcPct val="100000"/>
              </a:lnSpc>
              <a:spcBef>
                <a:spcPts val="0"/>
              </a:spcBef>
              <a:spcAft>
                <a:spcPts val="0"/>
              </a:spcAft>
              <a:buNone/>
            </a:pPr>
            <a:endParaRPr sz="2200">
              <a:latin typeface="Times New Roman"/>
              <a:ea typeface="Times New Roman"/>
              <a:cs typeface="Times New Roman"/>
              <a:sym typeface="Times New Roman"/>
            </a:endParaRPr>
          </a:p>
          <a:p>
            <a:pPr marL="0" lvl="0" indent="0" algn="l" rtl="0">
              <a:lnSpc>
                <a:spcPct val="100000"/>
              </a:lnSpc>
              <a:spcBef>
                <a:spcPts val="2055"/>
              </a:spcBef>
              <a:spcAft>
                <a:spcPts val="0"/>
              </a:spcAft>
              <a:buNone/>
            </a:pPr>
            <a:endParaRPr sz="2200">
              <a:latin typeface="Times New Roman"/>
              <a:ea typeface="Times New Roman"/>
              <a:cs typeface="Times New Roman"/>
              <a:sym typeface="Times New Roman"/>
            </a:endParaRPr>
          </a:p>
          <a:p>
            <a:pPr marL="0" marR="140970" lvl="0" indent="0" algn="ctr" rtl="0">
              <a:lnSpc>
                <a:spcPct val="100000"/>
              </a:lnSpc>
              <a:spcBef>
                <a:spcPts val="5"/>
              </a:spcBef>
              <a:spcAft>
                <a:spcPts val="0"/>
              </a:spcAft>
              <a:buNone/>
            </a:pPr>
            <a:r>
              <a:rPr lang="en-US" sz="2200" b="1">
                <a:solidFill>
                  <a:srgbClr val="4AACC5"/>
                </a:solidFill>
                <a:latin typeface="Cambria"/>
                <a:ea typeface="Cambria"/>
                <a:cs typeface="Cambria"/>
                <a:sym typeface="Cambria"/>
              </a:rPr>
              <a:t>FOET</a:t>
            </a:r>
            <a:endParaRPr sz="2200">
              <a:latin typeface="Cambria"/>
              <a:ea typeface="Cambria"/>
              <a:cs typeface="Cambria"/>
              <a:sym typeface="Cambria"/>
            </a:endParaRPr>
          </a:p>
          <a:p>
            <a:pPr marL="0" marR="154940" lvl="0" indent="0" algn="ctr" rtl="0">
              <a:lnSpc>
                <a:spcPct val="100000"/>
              </a:lnSpc>
              <a:spcBef>
                <a:spcPts val="0"/>
              </a:spcBef>
              <a:spcAft>
                <a:spcPts val="0"/>
              </a:spcAft>
              <a:buNone/>
            </a:pPr>
            <a:r>
              <a:rPr lang="en-US" sz="2200" b="1">
                <a:solidFill>
                  <a:srgbClr val="4AACC5"/>
                </a:solidFill>
                <a:latin typeface="Cambria"/>
                <a:ea typeface="Cambria"/>
                <a:cs typeface="Cambria"/>
                <a:sym typeface="Cambria"/>
              </a:rPr>
              <a:t>Department of AI</a:t>
            </a:r>
            <a:endParaRPr sz="2200">
              <a:latin typeface="Cambria"/>
              <a:ea typeface="Cambria"/>
              <a:cs typeface="Cambria"/>
              <a:sym typeface="Cambria"/>
            </a:endParaRPr>
          </a:p>
          <a:p>
            <a:pPr marL="0" lvl="0" indent="0" algn="l" rtl="0">
              <a:lnSpc>
                <a:spcPct val="100000"/>
              </a:lnSpc>
              <a:spcBef>
                <a:spcPts val="2225"/>
              </a:spcBef>
              <a:spcAft>
                <a:spcPts val="0"/>
              </a:spcAft>
              <a:buNone/>
            </a:pPr>
            <a:endParaRPr sz="2200">
              <a:latin typeface="Cambria"/>
              <a:ea typeface="Cambria"/>
              <a:cs typeface="Cambria"/>
              <a:sym typeface="Cambria"/>
            </a:endParaRPr>
          </a:p>
          <a:p>
            <a:pPr marL="299720" marR="465455" lvl="0" indent="0" algn="ctr" rtl="0">
              <a:lnSpc>
                <a:spcPct val="104099"/>
              </a:lnSpc>
              <a:spcBef>
                <a:spcPts val="5"/>
              </a:spcBef>
              <a:spcAft>
                <a:spcPts val="0"/>
              </a:spcAft>
              <a:buNone/>
            </a:pPr>
            <a:r>
              <a:rPr lang="en-US" sz="2200" b="1">
                <a:solidFill>
                  <a:srgbClr val="4AACC5"/>
                </a:solidFill>
                <a:latin typeface="Cambria"/>
                <a:ea typeface="Cambria"/>
                <a:cs typeface="Cambria"/>
                <a:sym typeface="Cambria"/>
              </a:rPr>
              <a:t>Java Programming </a:t>
            </a:r>
            <a:endParaRPr sz="2200">
              <a:latin typeface="Cambria"/>
              <a:ea typeface="Cambria"/>
              <a:cs typeface="Cambria"/>
              <a:sym typeface="Cambria"/>
            </a:endParaRPr>
          </a:p>
          <a:p>
            <a:pPr marL="0" lvl="0" indent="0" algn="l" rtl="0">
              <a:lnSpc>
                <a:spcPct val="100000"/>
              </a:lnSpc>
              <a:spcBef>
                <a:spcPts val="0"/>
              </a:spcBef>
              <a:spcAft>
                <a:spcPts val="0"/>
              </a:spcAft>
              <a:buNone/>
            </a:pPr>
            <a:endParaRPr sz="2200">
              <a:latin typeface="Cambria"/>
              <a:ea typeface="Cambria"/>
              <a:cs typeface="Cambria"/>
              <a:sym typeface="Cambria"/>
            </a:endParaRPr>
          </a:p>
          <a:p>
            <a:pPr marL="0" lvl="0" indent="0" algn="l" rtl="0">
              <a:lnSpc>
                <a:spcPct val="100000"/>
              </a:lnSpc>
              <a:spcBef>
                <a:spcPts val="850"/>
              </a:spcBef>
              <a:spcAft>
                <a:spcPts val="0"/>
              </a:spcAft>
              <a:buNone/>
            </a:pPr>
            <a:endParaRPr sz="2200">
              <a:latin typeface="Cambria"/>
              <a:ea typeface="Cambria"/>
              <a:cs typeface="Cambria"/>
              <a:sym typeface="Cambria"/>
            </a:endParaRPr>
          </a:p>
        </p:txBody>
      </p:sp>
      <p:sp>
        <p:nvSpPr>
          <p:cNvPr id="58" name="Google Shape;58;p1"/>
          <p:cNvSpPr txBox="1">
            <a:spLocks noGrp="1"/>
          </p:cNvSpPr>
          <p:nvPr>
            <p:ph type="title"/>
          </p:nvPr>
        </p:nvSpPr>
        <p:spPr>
          <a:xfrm>
            <a:off x="163825" y="2154475"/>
            <a:ext cx="8636700" cy="2058300"/>
          </a:xfrm>
          <a:prstGeom prst="rect">
            <a:avLst/>
          </a:prstGeom>
          <a:noFill/>
          <a:ln>
            <a:noFill/>
          </a:ln>
        </p:spPr>
        <p:txBody>
          <a:bodyPr spcFirstLastPara="1" wrap="square" lIns="0" tIns="625" rIns="0" bIns="0" anchor="t" anchorCtr="0">
            <a:spAutoFit/>
          </a:bodyPr>
          <a:lstStyle/>
          <a:p>
            <a:pPr marL="0" marR="344170" lvl="0" indent="0" algn="ctr" rtl="0">
              <a:lnSpc>
                <a:spcPct val="101899"/>
              </a:lnSpc>
              <a:spcBef>
                <a:spcPts val="0"/>
              </a:spcBef>
              <a:spcAft>
                <a:spcPts val="0"/>
              </a:spcAft>
              <a:buNone/>
            </a:pPr>
            <a:r>
              <a:rPr lang="en-US" sz="4400">
                <a:latin typeface="Cambria"/>
                <a:ea typeface="Cambria"/>
                <a:cs typeface="Cambria"/>
                <a:sym typeface="Cambria"/>
              </a:rPr>
              <a:t>Unit – 2 </a:t>
            </a:r>
            <a:endParaRPr sz="4400">
              <a:latin typeface="Cambria"/>
              <a:ea typeface="Cambria"/>
              <a:cs typeface="Cambria"/>
              <a:sym typeface="Cambria"/>
            </a:endParaRPr>
          </a:p>
          <a:p>
            <a:pPr marL="0" marR="344170" lvl="0" indent="0" algn="ctr" rtl="0">
              <a:lnSpc>
                <a:spcPct val="101899"/>
              </a:lnSpc>
              <a:spcBef>
                <a:spcPts val="0"/>
              </a:spcBef>
              <a:spcAft>
                <a:spcPts val="0"/>
              </a:spcAft>
              <a:buNone/>
            </a:pPr>
            <a:r>
              <a:rPr lang="en-US" sz="4400">
                <a:latin typeface="Cambria"/>
                <a:ea typeface="Cambria"/>
                <a:cs typeface="Cambria"/>
                <a:sym typeface="Cambria"/>
              </a:rPr>
              <a:t>Array, String &amp; Collection Classes</a:t>
            </a:r>
            <a:endParaRPr sz="4400">
              <a:latin typeface="Cambria"/>
              <a:ea typeface="Cambria"/>
              <a:cs typeface="Cambria"/>
              <a:sym typeface="Cambria"/>
            </a:endParaRPr>
          </a:p>
        </p:txBody>
      </p:sp>
      <p:pic>
        <p:nvPicPr>
          <p:cNvPr id="59" name="Google Shape;59;p1"/>
          <p:cNvPicPr preferRelativeResize="0"/>
          <p:nvPr/>
        </p:nvPicPr>
        <p:blipFill rotWithShape="1">
          <a:blip r:embed="rId3">
            <a:alphaModFix/>
          </a:blip>
          <a:srcRect/>
          <a:stretch/>
        </p:blipFill>
        <p:spPr>
          <a:xfrm>
            <a:off x="9296400" y="685800"/>
            <a:ext cx="2648711" cy="11811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2"/>
          <p:cNvSpPr/>
          <p:nvPr/>
        </p:nvSpPr>
        <p:spPr>
          <a:xfrm>
            <a:off x="11817095" y="758951"/>
            <a:ext cx="374650" cy="5330825"/>
          </a:xfrm>
          <a:custGeom>
            <a:avLst/>
            <a:gdLst/>
            <a:ahLst/>
            <a:cxnLst/>
            <a:rect l="l" t="t" r="r" b="b"/>
            <a:pathLst>
              <a:path w="374650" h="5330825" extrusionOk="0">
                <a:moveTo>
                  <a:pt x="374523" y="0"/>
                </a:moveTo>
                <a:lnTo>
                  <a:pt x="0" y="0"/>
                </a:lnTo>
                <a:lnTo>
                  <a:pt x="0" y="5330444"/>
                </a:lnTo>
                <a:lnTo>
                  <a:pt x="374523" y="5330444"/>
                </a:lnTo>
                <a:lnTo>
                  <a:pt x="374523" y="0"/>
                </a:lnTo>
                <a:close/>
              </a:path>
            </a:pathLst>
          </a:custGeom>
          <a:solidFill>
            <a:srgbClr val="C6C6C6">
              <a:alpha val="49411"/>
            </a:srgbClr>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65" name="Google Shape;65;p2"/>
          <p:cNvSpPr txBox="1"/>
          <p:nvPr/>
        </p:nvSpPr>
        <p:spPr>
          <a:xfrm>
            <a:off x="829766" y="3068777"/>
            <a:ext cx="1849425" cy="5888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3600" b="1" dirty="0">
                <a:solidFill>
                  <a:srgbClr val="FFFFFF"/>
                </a:solidFill>
                <a:latin typeface="Cambria"/>
                <a:ea typeface="Cambria"/>
                <a:cs typeface="Cambria"/>
                <a:sym typeface="Cambria"/>
              </a:rPr>
              <a:t>Arrays</a:t>
            </a:r>
            <a:endParaRPr sz="3600" dirty="0">
              <a:latin typeface="Cambria"/>
              <a:ea typeface="Cambria"/>
              <a:cs typeface="Cambria"/>
              <a:sym typeface="Cambria"/>
            </a:endParaRPr>
          </a:p>
        </p:txBody>
      </p:sp>
      <p:sp>
        <p:nvSpPr>
          <p:cNvPr id="66" name="Google Shape;66;p2"/>
          <p:cNvSpPr txBox="1">
            <a:spLocks noGrp="1"/>
          </p:cNvSpPr>
          <p:nvPr>
            <p:ph type="title"/>
          </p:nvPr>
        </p:nvSpPr>
        <p:spPr>
          <a:xfrm>
            <a:off x="3949065" y="1641093"/>
            <a:ext cx="3230880" cy="36068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2200" b="0">
                <a:solidFill>
                  <a:srgbClr val="575757"/>
                </a:solidFill>
                <a:latin typeface="Cambria"/>
                <a:ea typeface="Cambria"/>
                <a:cs typeface="Cambria"/>
                <a:sym typeface="Cambria"/>
              </a:rPr>
              <a:t>Group oflike-typed variables</a:t>
            </a:r>
            <a:endParaRPr sz="2200">
              <a:latin typeface="Cambria"/>
              <a:ea typeface="Cambria"/>
              <a:cs typeface="Cambria"/>
              <a:sym typeface="Cambria"/>
            </a:endParaRPr>
          </a:p>
        </p:txBody>
      </p:sp>
      <p:sp>
        <p:nvSpPr>
          <p:cNvPr id="67" name="Google Shape;67;p2"/>
          <p:cNvSpPr txBox="1"/>
          <p:nvPr/>
        </p:nvSpPr>
        <p:spPr>
          <a:xfrm>
            <a:off x="3949065" y="2312035"/>
            <a:ext cx="3152775" cy="36068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2200">
                <a:solidFill>
                  <a:srgbClr val="575757"/>
                </a:solidFill>
                <a:latin typeface="Cambria"/>
                <a:ea typeface="Cambria"/>
                <a:cs typeface="Cambria"/>
                <a:sym typeface="Cambria"/>
              </a:rPr>
              <a:t>Referred by a common name</a:t>
            </a:r>
            <a:endParaRPr sz="2200">
              <a:latin typeface="Cambria"/>
              <a:ea typeface="Cambria"/>
              <a:cs typeface="Cambria"/>
              <a:sym typeface="Cambria"/>
            </a:endParaRPr>
          </a:p>
        </p:txBody>
      </p:sp>
      <p:pic>
        <p:nvPicPr>
          <p:cNvPr id="68" name="Google Shape;68;p2"/>
          <p:cNvPicPr preferRelativeResize="0"/>
          <p:nvPr/>
        </p:nvPicPr>
        <p:blipFill rotWithShape="1">
          <a:blip r:embed="rId3">
            <a:alphaModFix/>
          </a:blip>
          <a:srcRect/>
          <a:stretch/>
        </p:blipFill>
        <p:spPr>
          <a:xfrm>
            <a:off x="4998720" y="3355847"/>
            <a:ext cx="5870448" cy="202082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3"/>
          <p:cNvSpPr txBox="1"/>
          <p:nvPr/>
        </p:nvSpPr>
        <p:spPr>
          <a:xfrm>
            <a:off x="1075131" y="3068777"/>
            <a:ext cx="1265733" cy="566822"/>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3600" b="1" dirty="0" smtClean="0">
                <a:solidFill>
                  <a:srgbClr val="FFFFFF"/>
                </a:solidFill>
                <a:latin typeface="Cambria"/>
                <a:ea typeface="Cambria"/>
                <a:cs typeface="Cambria"/>
                <a:sym typeface="Cambria"/>
              </a:rPr>
              <a:t>Array</a:t>
            </a:r>
            <a:endParaRPr sz="3600" dirty="0">
              <a:latin typeface="Cambria"/>
              <a:ea typeface="Cambria"/>
              <a:cs typeface="Cambria"/>
              <a:sym typeface="Cambria"/>
            </a:endParaRPr>
          </a:p>
        </p:txBody>
      </p:sp>
      <p:sp>
        <p:nvSpPr>
          <p:cNvPr id="74" name="Google Shape;74;p3"/>
          <p:cNvSpPr txBox="1"/>
          <p:nvPr/>
        </p:nvSpPr>
        <p:spPr>
          <a:xfrm>
            <a:off x="3949065" y="926471"/>
            <a:ext cx="7861935" cy="1828065"/>
          </a:xfrm>
          <a:prstGeom prst="rect">
            <a:avLst/>
          </a:prstGeom>
          <a:noFill/>
          <a:ln>
            <a:noFill/>
          </a:ln>
        </p:spPr>
        <p:txBody>
          <a:bodyPr spcFirstLastPara="1" wrap="square" lIns="0" tIns="103500" rIns="0" bIns="0" anchor="t" anchorCtr="0">
            <a:spAutoFit/>
          </a:bodyPr>
          <a:lstStyle/>
          <a:p>
            <a:pPr marL="12700" lvl="0" indent="0" algn="l" rtl="0">
              <a:lnSpc>
                <a:spcPct val="100000"/>
              </a:lnSpc>
              <a:spcBef>
                <a:spcPts val="0"/>
              </a:spcBef>
              <a:spcAft>
                <a:spcPts val="0"/>
              </a:spcAft>
              <a:buNone/>
            </a:pPr>
            <a:r>
              <a:rPr lang="en-US" sz="2000" b="1">
                <a:solidFill>
                  <a:srgbClr val="575757"/>
                </a:solidFill>
                <a:latin typeface="Cambria"/>
                <a:ea typeface="Cambria"/>
                <a:cs typeface="Cambria"/>
                <a:sym typeface="Cambria"/>
              </a:rPr>
              <a:t>Advantages ofArray</a:t>
            </a:r>
            <a:endParaRPr sz="2000">
              <a:latin typeface="Cambria"/>
              <a:ea typeface="Cambria"/>
              <a:cs typeface="Cambria"/>
              <a:sym typeface="Cambria"/>
            </a:endParaRPr>
          </a:p>
          <a:p>
            <a:pPr marL="194310" lvl="0" indent="-181610" algn="just" rtl="0">
              <a:lnSpc>
                <a:spcPct val="108000"/>
              </a:lnSpc>
              <a:spcBef>
                <a:spcPts val="720"/>
              </a:spcBef>
              <a:spcAft>
                <a:spcPts val="0"/>
              </a:spcAft>
              <a:buClr>
                <a:srgbClr val="40B8D2"/>
              </a:buClr>
              <a:buSzPts val="2000"/>
              <a:buFont typeface="Arial"/>
              <a:buChar char="•"/>
            </a:pPr>
            <a:r>
              <a:rPr lang="en-US" sz="2000">
                <a:solidFill>
                  <a:srgbClr val="575757"/>
                </a:solidFill>
                <a:latin typeface="Cambria"/>
                <a:ea typeface="Cambria"/>
                <a:cs typeface="Cambria"/>
                <a:sym typeface="Cambria"/>
              </a:rPr>
              <a:t>We can store multiple elements of the same type under a single variable.</a:t>
            </a:r>
            <a:endParaRPr sz="2000">
              <a:latin typeface="Cambria"/>
              <a:ea typeface="Cambria"/>
              <a:cs typeface="Cambria"/>
              <a:sym typeface="Cambria"/>
            </a:endParaRPr>
          </a:p>
          <a:p>
            <a:pPr marL="194310" marR="171450" lvl="0" indent="-181610" algn="just" rtl="0">
              <a:lnSpc>
                <a:spcPct val="79500"/>
              </a:lnSpc>
              <a:spcBef>
                <a:spcPts val="1185"/>
              </a:spcBef>
              <a:spcAft>
                <a:spcPts val="0"/>
              </a:spcAft>
              <a:buClr>
                <a:srgbClr val="40B8D2"/>
              </a:buClr>
              <a:buSzPts val="2000"/>
              <a:buFont typeface="Arial"/>
              <a:buChar char="•"/>
            </a:pPr>
            <a:r>
              <a:rPr lang="en-US" sz="2000">
                <a:solidFill>
                  <a:srgbClr val="575757"/>
                </a:solidFill>
                <a:latin typeface="Cambria"/>
                <a:ea typeface="Cambria"/>
                <a:cs typeface="Cambria"/>
                <a:sym typeface="Cambria"/>
              </a:rPr>
              <a:t>We can implement other datastructures such as  Stack, Queue,	Tree, etc. with the help of an array.</a:t>
            </a:r>
            <a:endParaRPr sz="2000">
              <a:latin typeface="Cambria"/>
              <a:ea typeface="Cambria"/>
              <a:cs typeface="Cambria"/>
              <a:sym typeface="Cambria"/>
            </a:endParaRPr>
          </a:p>
          <a:p>
            <a:pPr marL="194310" lvl="0" indent="-181610" algn="just" rtl="0">
              <a:lnSpc>
                <a:spcPct val="100000"/>
              </a:lnSpc>
              <a:spcBef>
                <a:spcPts val="700"/>
              </a:spcBef>
              <a:spcAft>
                <a:spcPts val="0"/>
              </a:spcAft>
              <a:buClr>
                <a:srgbClr val="40B8D2"/>
              </a:buClr>
              <a:buSzPts val="2000"/>
              <a:buFont typeface="Arial"/>
              <a:buChar char="•"/>
            </a:pPr>
            <a:r>
              <a:rPr lang="en-US" sz="2000">
                <a:solidFill>
                  <a:srgbClr val="575757"/>
                </a:solidFill>
                <a:latin typeface="Cambria"/>
                <a:ea typeface="Cambria"/>
                <a:cs typeface="Cambria"/>
                <a:sym typeface="Cambria"/>
              </a:rPr>
              <a:t>We can fetch data elements using the index at run time.</a:t>
            </a:r>
            <a:endParaRPr sz="2000">
              <a:latin typeface="Cambria"/>
              <a:ea typeface="Cambria"/>
              <a:cs typeface="Cambria"/>
              <a:sym typeface="Cambria"/>
            </a:endParaRPr>
          </a:p>
        </p:txBody>
      </p:sp>
      <p:sp>
        <p:nvSpPr>
          <p:cNvPr id="75" name="Google Shape;75;p3"/>
          <p:cNvSpPr txBox="1"/>
          <p:nvPr/>
        </p:nvSpPr>
        <p:spPr>
          <a:xfrm>
            <a:off x="3949064" y="3386429"/>
            <a:ext cx="7633335" cy="2742161"/>
          </a:xfrm>
          <a:prstGeom prst="rect">
            <a:avLst/>
          </a:prstGeom>
          <a:noFill/>
          <a:ln>
            <a:noFill/>
          </a:ln>
        </p:spPr>
        <p:txBody>
          <a:bodyPr spcFirstLastPara="1" wrap="square" lIns="0" tIns="100950" rIns="0" bIns="0" anchor="t" anchorCtr="0">
            <a:spAutoFit/>
          </a:bodyPr>
          <a:lstStyle/>
          <a:p>
            <a:pPr marL="12700" lvl="0" indent="0" algn="just" rtl="0">
              <a:lnSpc>
                <a:spcPct val="100000"/>
              </a:lnSpc>
              <a:spcBef>
                <a:spcPts val="0"/>
              </a:spcBef>
              <a:spcAft>
                <a:spcPts val="0"/>
              </a:spcAft>
              <a:buNone/>
            </a:pPr>
            <a:r>
              <a:rPr lang="en-US" sz="2000" b="1">
                <a:solidFill>
                  <a:srgbClr val="575757"/>
                </a:solidFill>
                <a:latin typeface="Cambria"/>
                <a:ea typeface="Cambria"/>
                <a:cs typeface="Cambria"/>
                <a:sym typeface="Cambria"/>
              </a:rPr>
              <a:t>Disadvantages ofArray</a:t>
            </a:r>
            <a:endParaRPr sz="2000">
              <a:latin typeface="Cambria"/>
              <a:ea typeface="Cambria"/>
              <a:cs typeface="Cambria"/>
              <a:sym typeface="Cambria"/>
            </a:endParaRPr>
          </a:p>
          <a:p>
            <a:pPr marL="194310" lvl="0" indent="-181610" algn="just" rtl="0">
              <a:lnSpc>
                <a:spcPct val="100000"/>
              </a:lnSpc>
              <a:spcBef>
                <a:spcPts val="695"/>
              </a:spcBef>
              <a:spcAft>
                <a:spcPts val="0"/>
              </a:spcAft>
              <a:buClr>
                <a:srgbClr val="40B8D2"/>
              </a:buClr>
              <a:buSzPts val="2000"/>
              <a:buFont typeface="Arial"/>
              <a:buChar char="•"/>
            </a:pPr>
            <a:r>
              <a:rPr lang="en-US" sz="2000">
                <a:solidFill>
                  <a:srgbClr val="575757"/>
                </a:solidFill>
                <a:latin typeface="Cambria"/>
                <a:ea typeface="Cambria"/>
                <a:cs typeface="Cambria"/>
                <a:sym typeface="Cambria"/>
              </a:rPr>
              <a:t>Before using an array, it is mandatory to declare its size.</a:t>
            </a:r>
            <a:endParaRPr sz="2000">
              <a:latin typeface="Cambria"/>
              <a:ea typeface="Cambria"/>
              <a:cs typeface="Cambria"/>
              <a:sym typeface="Cambria"/>
            </a:endParaRPr>
          </a:p>
          <a:p>
            <a:pPr marL="194310" lvl="0" indent="-181610" algn="just" rtl="0">
              <a:lnSpc>
                <a:spcPct val="115000"/>
              </a:lnSpc>
              <a:spcBef>
                <a:spcPts val="505"/>
              </a:spcBef>
              <a:spcAft>
                <a:spcPts val="0"/>
              </a:spcAft>
              <a:buClr>
                <a:srgbClr val="40B8D2"/>
              </a:buClr>
              <a:buSzPts val="2000"/>
              <a:buFont typeface="Arial"/>
              <a:buChar char="•"/>
            </a:pPr>
            <a:r>
              <a:rPr lang="en-US" sz="2000">
                <a:solidFill>
                  <a:srgbClr val="575757"/>
                </a:solidFill>
                <a:latin typeface="Cambria"/>
                <a:ea typeface="Cambria"/>
                <a:cs typeface="Cambria"/>
                <a:sym typeface="Cambria"/>
              </a:rPr>
              <a:t>It is a static structure, so we can not increase or decreases memory allocation.</a:t>
            </a:r>
            <a:endParaRPr sz="2000">
              <a:latin typeface="Cambria"/>
              <a:ea typeface="Cambria"/>
              <a:cs typeface="Cambria"/>
              <a:sym typeface="Cambria"/>
            </a:endParaRPr>
          </a:p>
          <a:p>
            <a:pPr marL="194310" marR="117475" lvl="0" indent="-181610" algn="just" rtl="0">
              <a:lnSpc>
                <a:spcPct val="79300"/>
              </a:lnSpc>
              <a:spcBef>
                <a:spcPts val="1195"/>
              </a:spcBef>
              <a:spcAft>
                <a:spcPts val="0"/>
              </a:spcAft>
              <a:buClr>
                <a:srgbClr val="40B8D2"/>
              </a:buClr>
              <a:buSzPts val="2000"/>
              <a:buFont typeface="Arial"/>
              <a:buChar char="•"/>
            </a:pPr>
            <a:r>
              <a:rPr lang="en-US" sz="2000">
                <a:solidFill>
                  <a:srgbClr val="575757"/>
                </a:solidFill>
                <a:latin typeface="Cambria"/>
                <a:ea typeface="Cambria"/>
                <a:cs typeface="Cambria"/>
                <a:sym typeface="Cambria"/>
              </a:rPr>
              <a:t>Insertion and deletion operations are difficult because elements 	stored at the contiguous memory location. It also increases the 	cost.</a:t>
            </a:r>
            <a:endParaRPr sz="2000">
              <a:latin typeface="Cambria"/>
              <a:ea typeface="Cambria"/>
              <a:cs typeface="Cambria"/>
              <a:sym typeface="Cambria"/>
            </a:endParaRPr>
          </a:p>
          <a:p>
            <a:pPr marL="194310" lvl="0" indent="-181610" algn="just" rtl="0">
              <a:lnSpc>
                <a:spcPct val="100000"/>
              </a:lnSpc>
              <a:spcBef>
                <a:spcPts val="695"/>
              </a:spcBef>
              <a:spcAft>
                <a:spcPts val="0"/>
              </a:spcAft>
              <a:buClr>
                <a:srgbClr val="40B8D2"/>
              </a:buClr>
              <a:buSzPts val="2000"/>
              <a:buFont typeface="Arial"/>
              <a:buChar char="•"/>
            </a:pPr>
            <a:r>
              <a:rPr lang="en-US" sz="2000">
                <a:solidFill>
                  <a:srgbClr val="575757"/>
                </a:solidFill>
                <a:latin typeface="Cambria"/>
                <a:ea typeface="Cambria"/>
                <a:cs typeface="Cambria"/>
                <a:sym typeface="Cambria"/>
              </a:rPr>
              <a:t>Allocate more memory than required is the wastage of memory.</a:t>
            </a:r>
            <a:endParaRPr sz="2000">
              <a:latin typeface="Cambria"/>
              <a:ea typeface="Cambria"/>
              <a:cs typeface="Cambria"/>
              <a:sym typeface="Cambri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4"/>
          <p:cNvSpPr/>
          <p:nvPr/>
        </p:nvSpPr>
        <p:spPr>
          <a:xfrm>
            <a:off x="11817095" y="758951"/>
            <a:ext cx="374650" cy="5330825"/>
          </a:xfrm>
          <a:custGeom>
            <a:avLst/>
            <a:gdLst/>
            <a:ahLst/>
            <a:cxnLst/>
            <a:rect l="l" t="t" r="r" b="b"/>
            <a:pathLst>
              <a:path w="374650" h="5330825" extrusionOk="0">
                <a:moveTo>
                  <a:pt x="374523" y="0"/>
                </a:moveTo>
                <a:lnTo>
                  <a:pt x="0" y="0"/>
                </a:lnTo>
                <a:lnTo>
                  <a:pt x="0" y="5330444"/>
                </a:lnTo>
                <a:lnTo>
                  <a:pt x="374523" y="5330444"/>
                </a:lnTo>
                <a:lnTo>
                  <a:pt x="374523" y="0"/>
                </a:lnTo>
                <a:close/>
              </a:path>
            </a:pathLst>
          </a:custGeom>
          <a:solidFill>
            <a:srgbClr val="C6C6C6">
              <a:alpha val="49411"/>
            </a:srgbClr>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81" name="Google Shape;81;p4"/>
          <p:cNvSpPr txBox="1"/>
          <p:nvPr/>
        </p:nvSpPr>
        <p:spPr>
          <a:xfrm>
            <a:off x="421335" y="2583941"/>
            <a:ext cx="2489835" cy="1565275"/>
          </a:xfrm>
          <a:prstGeom prst="rect">
            <a:avLst/>
          </a:prstGeom>
          <a:noFill/>
          <a:ln>
            <a:noFill/>
          </a:ln>
        </p:spPr>
        <p:txBody>
          <a:bodyPr spcFirstLastPara="1" wrap="square" lIns="0" tIns="66025" rIns="0" bIns="0" anchor="t" anchorCtr="0">
            <a:spAutoFit/>
          </a:bodyPr>
          <a:lstStyle/>
          <a:p>
            <a:pPr marL="12700" marR="5080" lvl="0" indent="-2539" algn="ctr" rtl="0">
              <a:lnSpc>
                <a:spcPct val="90300"/>
              </a:lnSpc>
              <a:spcBef>
                <a:spcPts val="0"/>
              </a:spcBef>
              <a:spcAft>
                <a:spcPts val="0"/>
              </a:spcAft>
              <a:buNone/>
            </a:pPr>
            <a:r>
              <a:rPr lang="en-US" sz="3600" b="1">
                <a:solidFill>
                  <a:srgbClr val="FFFFFF"/>
                </a:solidFill>
                <a:latin typeface="Cambria"/>
                <a:ea typeface="Cambria"/>
                <a:cs typeface="Cambria"/>
                <a:sym typeface="Cambria"/>
              </a:rPr>
              <a:t>One- Dimensional Arrays</a:t>
            </a:r>
            <a:endParaRPr sz="3600">
              <a:latin typeface="Cambria"/>
              <a:ea typeface="Cambria"/>
              <a:cs typeface="Cambria"/>
              <a:sym typeface="Cambria"/>
            </a:endParaRPr>
          </a:p>
        </p:txBody>
      </p:sp>
      <p:sp>
        <p:nvSpPr>
          <p:cNvPr id="82" name="Google Shape;82;p4"/>
          <p:cNvSpPr txBox="1"/>
          <p:nvPr/>
        </p:nvSpPr>
        <p:spPr>
          <a:xfrm>
            <a:off x="3733927" y="595375"/>
            <a:ext cx="1972310" cy="36068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2200">
                <a:latin typeface="Cambria"/>
                <a:ea typeface="Cambria"/>
                <a:cs typeface="Cambria"/>
                <a:sym typeface="Cambria"/>
              </a:rPr>
              <a:t>type var-name[];</a:t>
            </a:r>
            <a:endParaRPr sz="2200">
              <a:latin typeface="Cambria"/>
              <a:ea typeface="Cambria"/>
              <a:cs typeface="Cambria"/>
              <a:sym typeface="Cambria"/>
            </a:endParaRPr>
          </a:p>
        </p:txBody>
      </p:sp>
      <p:sp>
        <p:nvSpPr>
          <p:cNvPr id="83" name="Google Shape;83;p4"/>
          <p:cNvSpPr txBox="1">
            <a:spLocks noGrp="1"/>
          </p:cNvSpPr>
          <p:nvPr>
            <p:ph type="title"/>
          </p:nvPr>
        </p:nvSpPr>
        <p:spPr>
          <a:xfrm>
            <a:off x="3733927" y="1064463"/>
            <a:ext cx="2158365" cy="36068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2200" b="0">
                <a:solidFill>
                  <a:srgbClr val="FF0000"/>
                </a:solidFill>
                <a:latin typeface="Cambria"/>
                <a:ea typeface="Cambria"/>
                <a:cs typeface="Cambria"/>
                <a:sym typeface="Cambria"/>
              </a:rPr>
              <a:t>int month_days[ ];</a:t>
            </a:r>
            <a:endParaRPr sz="2200">
              <a:latin typeface="Cambria"/>
              <a:ea typeface="Cambria"/>
              <a:cs typeface="Cambria"/>
              <a:sym typeface="Cambria"/>
            </a:endParaRPr>
          </a:p>
        </p:txBody>
      </p:sp>
      <p:pic>
        <p:nvPicPr>
          <p:cNvPr id="84" name="Google Shape;84;p4"/>
          <p:cNvPicPr preferRelativeResize="0"/>
          <p:nvPr/>
        </p:nvPicPr>
        <p:blipFill rotWithShape="1">
          <a:blip r:embed="rId3">
            <a:alphaModFix/>
          </a:blip>
          <a:srcRect/>
          <a:stretch/>
        </p:blipFill>
        <p:spPr>
          <a:xfrm>
            <a:off x="3899027" y="3083941"/>
            <a:ext cx="128015" cy="310896"/>
          </a:xfrm>
          <a:prstGeom prst="rect">
            <a:avLst/>
          </a:prstGeom>
          <a:noFill/>
          <a:ln>
            <a:noFill/>
          </a:ln>
        </p:spPr>
      </p:pic>
      <p:sp>
        <p:nvSpPr>
          <p:cNvPr id="85" name="Google Shape;85;p4"/>
          <p:cNvSpPr txBox="1"/>
          <p:nvPr/>
        </p:nvSpPr>
        <p:spPr>
          <a:xfrm>
            <a:off x="3733927" y="1401216"/>
            <a:ext cx="3568700" cy="2001520"/>
          </a:xfrm>
          <a:prstGeom prst="rect">
            <a:avLst/>
          </a:prstGeom>
          <a:noFill/>
          <a:ln>
            <a:noFill/>
          </a:ln>
        </p:spPr>
        <p:txBody>
          <a:bodyPr spcFirstLastPara="1" wrap="square" lIns="0" tIns="145400" rIns="0" bIns="0" anchor="t" anchorCtr="0">
            <a:spAutoFit/>
          </a:bodyPr>
          <a:lstStyle/>
          <a:p>
            <a:pPr marL="12700" lvl="0" indent="0" algn="l" rtl="0">
              <a:lnSpc>
                <a:spcPct val="100000"/>
              </a:lnSpc>
              <a:spcBef>
                <a:spcPts val="0"/>
              </a:spcBef>
              <a:spcAft>
                <a:spcPts val="0"/>
              </a:spcAft>
              <a:buNone/>
            </a:pPr>
            <a:r>
              <a:rPr lang="en-US" sz="2200">
                <a:latin typeface="Cambria"/>
                <a:ea typeface="Cambria"/>
                <a:cs typeface="Cambria"/>
                <a:sym typeface="Cambria"/>
              </a:rPr>
              <a:t>// OR</a:t>
            </a:r>
            <a:endParaRPr sz="2200">
              <a:latin typeface="Cambria"/>
              <a:ea typeface="Cambria"/>
              <a:cs typeface="Cambria"/>
              <a:sym typeface="Cambria"/>
            </a:endParaRPr>
          </a:p>
          <a:p>
            <a:pPr marL="12700" lvl="0" indent="0" algn="l" rtl="0">
              <a:lnSpc>
                <a:spcPct val="100000"/>
              </a:lnSpc>
              <a:spcBef>
                <a:spcPts val="1040"/>
              </a:spcBef>
              <a:spcAft>
                <a:spcPts val="0"/>
              </a:spcAft>
              <a:buNone/>
            </a:pPr>
            <a:r>
              <a:rPr lang="en-US" sz="2200">
                <a:latin typeface="Cambria"/>
                <a:ea typeface="Cambria"/>
                <a:cs typeface="Cambria"/>
                <a:sym typeface="Cambria"/>
              </a:rPr>
              <a:t>type[ ] var name;</a:t>
            </a:r>
            <a:endParaRPr sz="2200">
              <a:latin typeface="Cambria"/>
              <a:ea typeface="Cambria"/>
              <a:cs typeface="Cambria"/>
              <a:sym typeface="Cambria"/>
            </a:endParaRPr>
          </a:p>
          <a:p>
            <a:pPr marL="59689" lvl="0" indent="0" algn="l" rtl="0">
              <a:lnSpc>
                <a:spcPct val="100000"/>
              </a:lnSpc>
              <a:spcBef>
                <a:spcPts val="1060"/>
              </a:spcBef>
              <a:spcAft>
                <a:spcPts val="0"/>
              </a:spcAft>
              <a:buNone/>
            </a:pPr>
            <a:r>
              <a:rPr lang="en-US" sz="2200">
                <a:solidFill>
                  <a:srgbClr val="FF0000"/>
                </a:solidFill>
                <a:latin typeface="Cambria"/>
                <a:ea typeface="Cambria"/>
                <a:cs typeface="Cambria"/>
                <a:sym typeface="Cambria"/>
              </a:rPr>
              <a:t>int[ ] month_days;</a:t>
            </a:r>
            <a:endParaRPr sz="2200">
              <a:latin typeface="Cambria"/>
              <a:ea typeface="Cambria"/>
              <a:cs typeface="Cambria"/>
              <a:sym typeface="Cambria"/>
            </a:endParaRPr>
          </a:p>
          <a:p>
            <a:pPr marL="455294" lvl="0" indent="0" algn="ctr" rtl="0">
              <a:lnSpc>
                <a:spcPct val="100000"/>
              </a:lnSpc>
              <a:spcBef>
                <a:spcPts val="1850"/>
              </a:spcBef>
              <a:spcAft>
                <a:spcPts val="0"/>
              </a:spcAft>
              <a:buNone/>
            </a:pPr>
            <a:r>
              <a:rPr lang="en-US" sz="2200">
                <a:solidFill>
                  <a:srgbClr val="575757"/>
                </a:solidFill>
                <a:latin typeface="Arial"/>
                <a:ea typeface="Arial"/>
                <a:cs typeface="Arial"/>
                <a:sym typeface="Arial"/>
              </a:rPr>
              <a:t>array-var = new type[size];</a:t>
            </a:r>
            <a:endParaRPr sz="2200">
              <a:latin typeface="Arial"/>
              <a:ea typeface="Arial"/>
              <a:cs typeface="Arial"/>
              <a:sym typeface="Arial"/>
            </a:endParaRPr>
          </a:p>
        </p:txBody>
      </p:sp>
      <p:pic>
        <p:nvPicPr>
          <p:cNvPr id="86" name="Google Shape;86;p4"/>
          <p:cNvPicPr preferRelativeResize="0"/>
          <p:nvPr/>
        </p:nvPicPr>
        <p:blipFill rotWithShape="1">
          <a:blip r:embed="rId3">
            <a:alphaModFix/>
          </a:blip>
          <a:srcRect/>
          <a:stretch/>
        </p:blipFill>
        <p:spPr>
          <a:xfrm>
            <a:off x="3961765" y="3927983"/>
            <a:ext cx="128015" cy="310895"/>
          </a:xfrm>
          <a:prstGeom prst="rect">
            <a:avLst/>
          </a:prstGeom>
          <a:noFill/>
          <a:ln>
            <a:noFill/>
          </a:ln>
        </p:spPr>
      </p:pic>
      <p:sp>
        <p:nvSpPr>
          <p:cNvPr id="87" name="Google Shape;87;p4"/>
          <p:cNvSpPr txBox="1"/>
          <p:nvPr/>
        </p:nvSpPr>
        <p:spPr>
          <a:xfrm>
            <a:off x="3949065" y="3757701"/>
            <a:ext cx="3152775" cy="952500"/>
          </a:xfrm>
          <a:prstGeom prst="rect">
            <a:avLst/>
          </a:prstGeom>
          <a:noFill/>
          <a:ln>
            <a:noFill/>
          </a:ln>
        </p:spPr>
        <p:txBody>
          <a:bodyPr spcFirstLastPara="1" wrap="square" lIns="0" tIns="140325" rIns="0" bIns="0" anchor="t" anchorCtr="0">
            <a:spAutoFit/>
          </a:bodyPr>
          <a:lstStyle/>
          <a:p>
            <a:pPr marL="401320" lvl="0" indent="0" algn="l" rtl="0">
              <a:lnSpc>
                <a:spcPct val="100000"/>
              </a:lnSpc>
              <a:spcBef>
                <a:spcPts val="0"/>
              </a:spcBef>
              <a:spcAft>
                <a:spcPts val="0"/>
              </a:spcAft>
              <a:buNone/>
            </a:pPr>
            <a:r>
              <a:rPr lang="en-US" sz="2200">
                <a:solidFill>
                  <a:srgbClr val="575757"/>
                </a:solidFill>
                <a:latin typeface="Arial"/>
                <a:ea typeface="Arial"/>
                <a:cs typeface="Arial"/>
                <a:sym typeface="Arial"/>
              </a:rPr>
              <a:t>Example:</a:t>
            </a:r>
            <a:endParaRPr sz="2200">
              <a:latin typeface="Arial"/>
              <a:ea typeface="Arial"/>
              <a:cs typeface="Arial"/>
              <a:sym typeface="Arial"/>
            </a:endParaRPr>
          </a:p>
          <a:p>
            <a:pPr marL="12700" lvl="0" indent="0" algn="l" rtl="0">
              <a:lnSpc>
                <a:spcPct val="100000"/>
              </a:lnSpc>
              <a:spcBef>
                <a:spcPts val="1010"/>
              </a:spcBef>
              <a:spcAft>
                <a:spcPts val="0"/>
              </a:spcAft>
              <a:buNone/>
            </a:pPr>
            <a:r>
              <a:rPr lang="en-US" sz="2200">
                <a:solidFill>
                  <a:srgbClr val="575757"/>
                </a:solidFill>
                <a:latin typeface="Arial"/>
                <a:ea typeface="Arial"/>
                <a:cs typeface="Arial"/>
                <a:sym typeface="Arial"/>
              </a:rPr>
              <a:t>month_days = new int[12];</a:t>
            </a:r>
            <a:endParaRPr sz="2200">
              <a:latin typeface="Arial"/>
              <a:ea typeface="Arial"/>
              <a:cs typeface="Arial"/>
              <a:sym typeface="Arial"/>
            </a:endParaRPr>
          </a:p>
        </p:txBody>
      </p:sp>
      <p:sp>
        <p:nvSpPr>
          <p:cNvPr id="88" name="Google Shape;88;p4"/>
          <p:cNvSpPr txBox="1"/>
          <p:nvPr/>
        </p:nvSpPr>
        <p:spPr>
          <a:xfrm>
            <a:off x="3949065" y="5146294"/>
            <a:ext cx="7092950" cy="1260475"/>
          </a:xfrm>
          <a:prstGeom prst="rect">
            <a:avLst/>
          </a:prstGeom>
          <a:noFill/>
          <a:ln>
            <a:noFill/>
          </a:ln>
        </p:spPr>
        <p:txBody>
          <a:bodyPr spcFirstLastPara="1" wrap="square" lIns="0" tIns="127000" rIns="0" bIns="0" anchor="t" anchorCtr="0">
            <a:spAutoFit/>
          </a:bodyPr>
          <a:lstStyle/>
          <a:p>
            <a:pPr marL="12700" lvl="0" indent="0" algn="l" rtl="0">
              <a:lnSpc>
                <a:spcPct val="100000"/>
              </a:lnSpc>
              <a:spcBef>
                <a:spcPts val="0"/>
              </a:spcBef>
              <a:spcAft>
                <a:spcPts val="0"/>
              </a:spcAft>
              <a:buNone/>
            </a:pPr>
            <a:r>
              <a:rPr lang="en-US" sz="2200">
                <a:solidFill>
                  <a:srgbClr val="575757"/>
                </a:solidFill>
                <a:latin typeface="Arial"/>
                <a:ea typeface="Arial"/>
                <a:cs typeface="Arial"/>
                <a:sym typeface="Arial"/>
              </a:rPr>
              <a:t>int month_days[] = { 31, 28, 31, 30, 31, 30, 31, 31, 30, 31,30, 31 };</a:t>
            </a:r>
            <a:endParaRPr sz="2200">
              <a:latin typeface="Arial"/>
              <a:ea typeface="Arial"/>
              <a:cs typeface="Arial"/>
              <a:sym typeface="Arial"/>
            </a:endParaRPr>
          </a:p>
          <a:p>
            <a:pPr marL="12700" marR="1334135" lvl="0" indent="0" algn="l" rtl="0">
              <a:lnSpc>
                <a:spcPct val="100000"/>
              </a:lnSpc>
              <a:spcBef>
                <a:spcPts val="900"/>
              </a:spcBef>
              <a:spcAft>
                <a:spcPts val="0"/>
              </a:spcAft>
              <a:buNone/>
            </a:pPr>
            <a:r>
              <a:rPr lang="en-US" sz="2200">
                <a:solidFill>
                  <a:srgbClr val="575757"/>
                </a:solidFill>
                <a:latin typeface="Arial"/>
                <a:ea typeface="Arial"/>
                <a:cs typeface="Arial"/>
                <a:sym typeface="Arial"/>
              </a:rPr>
              <a:t>This is called compile-time initialization OR static initialization of array.</a:t>
            </a:r>
            <a:endParaRPr sz="2200">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5"/>
          <p:cNvSpPr txBox="1"/>
          <p:nvPr/>
        </p:nvSpPr>
        <p:spPr>
          <a:xfrm>
            <a:off x="514299" y="2830779"/>
            <a:ext cx="2446655" cy="1069975"/>
          </a:xfrm>
          <a:prstGeom prst="rect">
            <a:avLst/>
          </a:prstGeom>
          <a:noFill/>
          <a:ln>
            <a:noFill/>
          </a:ln>
        </p:spPr>
        <p:txBody>
          <a:bodyPr spcFirstLastPara="1" wrap="square" lIns="0" tIns="73650" rIns="0" bIns="0" anchor="t" anchorCtr="0">
            <a:spAutoFit/>
          </a:bodyPr>
          <a:lstStyle/>
          <a:p>
            <a:pPr marL="483234" marR="5080" lvl="0" indent="-471170" algn="l" rtl="0">
              <a:lnSpc>
                <a:spcPct val="108333"/>
              </a:lnSpc>
              <a:spcBef>
                <a:spcPts val="0"/>
              </a:spcBef>
              <a:spcAft>
                <a:spcPts val="0"/>
              </a:spcAft>
              <a:buNone/>
            </a:pPr>
            <a:r>
              <a:rPr lang="en-US" sz="3600" b="1">
                <a:solidFill>
                  <a:srgbClr val="FFFFFF"/>
                </a:solidFill>
                <a:latin typeface="Cambria"/>
                <a:ea typeface="Cambria"/>
                <a:cs typeface="Cambria"/>
                <a:sym typeface="Cambria"/>
              </a:rPr>
              <a:t>Initialization of Array</a:t>
            </a:r>
            <a:endParaRPr sz="3600">
              <a:latin typeface="Cambria"/>
              <a:ea typeface="Cambria"/>
              <a:cs typeface="Cambria"/>
              <a:sym typeface="Cambria"/>
            </a:endParaRPr>
          </a:p>
        </p:txBody>
      </p:sp>
      <p:sp>
        <p:nvSpPr>
          <p:cNvPr id="94" name="Google Shape;94;p5"/>
          <p:cNvSpPr txBox="1"/>
          <p:nvPr/>
        </p:nvSpPr>
        <p:spPr>
          <a:xfrm>
            <a:off x="3949065" y="1300988"/>
            <a:ext cx="3390900" cy="330835"/>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None/>
            </a:pPr>
            <a:r>
              <a:rPr lang="en-US" sz="2000">
                <a:solidFill>
                  <a:srgbClr val="40B8D2"/>
                </a:solidFill>
                <a:latin typeface="Arial"/>
                <a:ea typeface="Arial"/>
                <a:cs typeface="Arial"/>
                <a:sym typeface="Arial"/>
              </a:rPr>
              <a:t>1.	</a:t>
            </a:r>
            <a:r>
              <a:rPr lang="en-US" sz="2000">
                <a:solidFill>
                  <a:srgbClr val="575757"/>
                </a:solidFill>
                <a:latin typeface="Cambria"/>
                <a:ea typeface="Cambria"/>
                <a:cs typeface="Cambria"/>
                <a:sym typeface="Cambria"/>
              </a:rPr>
              <a:t>int array1[]={5,10,15,20,25};</a:t>
            </a:r>
            <a:endParaRPr sz="2000">
              <a:latin typeface="Cambria"/>
              <a:ea typeface="Cambria"/>
              <a:cs typeface="Cambria"/>
              <a:sym typeface="Cambria"/>
            </a:endParaRPr>
          </a:p>
        </p:txBody>
      </p:sp>
      <p:sp>
        <p:nvSpPr>
          <p:cNvPr id="95" name="Google Shape;95;p5"/>
          <p:cNvSpPr txBox="1"/>
          <p:nvPr/>
        </p:nvSpPr>
        <p:spPr>
          <a:xfrm>
            <a:off x="3949064" y="1982317"/>
            <a:ext cx="5956935" cy="1404872"/>
          </a:xfrm>
          <a:prstGeom prst="rect">
            <a:avLst/>
          </a:prstGeom>
          <a:noFill/>
          <a:ln>
            <a:noFill/>
          </a:ln>
        </p:spPr>
        <p:txBody>
          <a:bodyPr spcFirstLastPara="1" wrap="square" lIns="0" tIns="12050" rIns="0" bIns="0" anchor="t" anchorCtr="0">
            <a:spAutoFit/>
          </a:bodyPr>
          <a:lstStyle/>
          <a:p>
            <a:pPr marL="518159" marR="5080" lvl="0" indent="-506095" algn="l" rtl="0">
              <a:lnSpc>
                <a:spcPct val="144600"/>
              </a:lnSpc>
              <a:spcBef>
                <a:spcPts val="0"/>
              </a:spcBef>
              <a:spcAft>
                <a:spcPts val="0"/>
              </a:spcAft>
              <a:buNone/>
            </a:pPr>
            <a:r>
              <a:rPr lang="en-US" sz="2000">
                <a:solidFill>
                  <a:srgbClr val="40B8D2"/>
                </a:solidFill>
                <a:latin typeface="Cambria"/>
                <a:ea typeface="Cambria"/>
                <a:cs typeface="Cambria"/>
                <a:sym typeface="Cambria"/>
              </a:rPr>
              <a:t>2.	</a:t>
            </a:r>
            <a:r>
              <a:rPr lang="en-US" sz="2000">
                <a:latin typeface="Cambria"/>
                <a:ea typeface="Cambria"/>
                <a:cs typeface="Cambria"/>
                <a:sym typeface="Cambria"/>
              </a:rPr>
              <a:t>Int array1[] =new int[5]; </a:t>
            </a:r>
            <a:endParaRPr/>
          </a:p>
          <a:p>
            <a:pPr marL="518159" marR="5080" lvl="0" indent="-506095" algn="l" rtl="0">
              <a:lnSpc>
                <a:spcPct val="144600"/>
              </a:lnSpc>
              <a:spcBef>
                <a:spcPts val="95"/>
              </a:spcBef>
              <a:spcAft>
                <a:spcPts val="0"/>
              </a:spcAft>
              <a:buNone/>
            </a:pPr>
            <a:r>
              <a:rPr lang="en-US" sz="2000">
                <a:latin typeface="Cambria"/>
                <a:ea typeface="Cambria"/>
                <a:cs typeface="Cambria"/>
                <a:sym typeface="Cambria"/>
              </a:rPr>
              <a:t>	 for(j=0;j&lt;5;j++)</a:t>
            </a:r>
            <a:endParaRPr sz="2000">
              <a:latin typeface="Cambria"/>
              <a:ea typeface="Cambria"/>
              <a:cs typeface="Cambria"/>
              <a:sym typeface="Cambria"/>
            </a:endParaRPr>
          </a:p>
          <a:p>
            <a:pPr marL="927100" lvl="0" indent="0" algn="l" rtl="0">
              <a:lnSpc>
                <a:spcPct val="100000"/>
              </a:lnSpc>
              <a:spcBef>
                <a:spcPts val="1380"/>
              </a:spcBef>
              <a:spcAft>
                <a:spcPts val="0"/>
              </a:spcAft>
              <a:buNone/>
            </a:pPr>
            <a:r>
              <a:rPr lang="en-US" sz="2000">
                <a:latin typeface="Cambria"/>
                <a:ea typeface="Cambria"/>
                <a:cs typeface="Cambria"/>
                <a:sym typeface="Cambria"/>
              </a:rPr>
              <a:t>array1[j] =j+5;</a:t>
            </a:r>
            <a:endParaRPr sz="2000">
              <a:latin typeface="Cambria"/>
              <a:ea typeface="Cambria"/>
              <a:cs typeface="Cambria"/>
              <a:sym typeface="Cambria"/>
            </a:endParaRPr>
          </a:p>
        </p:txBody>
      </p:sp>
      <p:sp>
        <p:nvSpPr>
          <p:cNvPr id="96" name="Google Shape;96;p5"/>
          <p:cNvSpPr txBox="1"/>
          <p:nvPr/>
        </p:nvSpPr>
        <p:spPr>
          <a:xfrm>
            <a:off x="3949065" y="3721066"/>
            <a:ext cx="3019425" cy="2586990"/>
          </a:xfrm>
          <a:prstGeom prst="rect">
            <a:avLst/>
          </a:prstGeom>
          <a:noFill/>
          <a:ln>
            <a:noFill/>
          </a:ln>
        </p:spPr>
        <p:txBody>
          <a:bodyPr spcFirstLastPara="1" wrap="square" lIns="0" tIns="13325" rIns="0" bIns="0" anchor="t" anchorCtr="0">
            <a:spAutoFit/>
          </a:bodyPr>
          <a:lstStyle/>
          <a:p>
            <a:pPr marL="338455" marR="5080" lvl="0" indent="-326390" algn="l" rtl="0">
              <a:lnSpc>
                <a:spcPct val="140000"/>
              </a:lnSpc>
              <a:spcBef>
                <a:spcPts val="0"/>
              </a:spcBef>
              <a:spcAft>
                <a:spcPts val="0"/>
              </a:spcAft>
              <a:buNone/>
            </a:pPr>
            <a:r>
              <a:rPr lang="en-US" sz="2000">
                <a:solidFill>
                  <a:srgbClr val="40B8D2"/>
                </a:solidFill>
                <a:latin typeface="Cambria"/>
                <a:ea typeface="Cambria"/>
                <a:cs typeface="Cambria"/>
                <a:sym typeface="Cambria"/>
              </a:rPr>
              <a:t>3.		</a:t>
            </a:r>
            <a:r>
              <a:rPr lang="en-US" sz="2000">
                <a:latin typeface="Cambria"/>
                <a:ea typeface="Cambria"/>
                <a:cs typeface="Cambria"/>
                <a:sym typeface="Cambria"/>
              </a:rPr>
              <a:t>intarray1[] =new int[5]; array1[0]=5; array1[1]=10; array1[2]=15; array1[3]=20; array1[4]=25;</a:t>
            </a:r>
            <a:endParaRPr sz="2000">
              <a:latin typeface="Cambria"/>
              <a:ea typeface="Cambria"/>
              <a:cs typeface="Cambria"/>
              <a:sym typeface="Cambri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6"/>
          <p:cNvSpPr txBox="1"/>
          <p:nvPr/>
        </p:nvSpPr>
        <p:spPr>
          <a:xfrm>
            <a:off x="331418" y="3075178"/>
            <a:ext cx="2259381" cy="566822"/>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3600" b="1">
                <a:solidFill>
                  <a:srgbClr val="FFFFFF"/>
                </a:solidFill>
                <a:latin typeface="Cambria"/>
                <a:ea typeface="Cambria"/>
                <a:cs typeface="Cambria"/>
                <a:sym typeface="Cambria"/>
              </a:rPr>
              <a:t>Example</a:t>
            </a:r>
            <a:endParaRPr sz="3600">
              <a:latin typeface="Cambria"/>
              <a:ea typeface="Cambria"/>
              <a:cs typeface="Cambria"/>
              <a:sym typeface="Cambria"/>
            </a:endParaRPr>
          </a:p>
        </p:txBody>
      </p:sp>
      <p:sp>
        <p:nvSpPr>
          <p:cNvPr id="102" name="Google Shape;102;p6"/>
          <p:cNvSpPr txBox="1"/>
          <p:nvPr/>
        </p:nvSpPr>
        <p:spPr>
          <a:xfrm>
            <a:off x="3546347" y="1001267"/>
            <a:ext cx="8129270" cy="4919980"/>
          </a:xfrm>
          <a:prstGeom prst="rect">
            <a:avLst/>
          </a:prstGeom>
          <a:solidFill>
            <a:srgbClr val="CEE7EC"/>
          </a:solidFill>
          <a:ln w="12175" cap="flat" cmpd="sng">
            <a:solidFill>
              <a:srgbClr val="FFFFFF"/>
            </a:solidFill>
            <a:prstDash val="solid"/>
            <a:round/>
            <a:headEnd type="none" w="sm" len="sm"/>
            <a:tailEnd type="none" w="sm" len="sm"/>
          </a:ln>
        </p:spPr>
        <p:txBody>
          <a:bodyPr spcFirstLastPara="1" wrap="square" lIns="0" tIns="0" rIns="0" bIns="0" anchor="t" anchorCtr="0">
            <a:spAutoFit/>
          </a:bodyPr>
          <a:lstStyle/>
          <a:p>
            <a:pPr marL="92710" lvl="0" indent="0" algn="l" rtl="0">
              <a:lnSpc>
                <a:spcPct val="112777"/>
              </a:lnSpc>
              <a:spcBef>
                <a:spcPts val="0"/>
              </a:spcBef>
              <a:spcAft>
                <a:spcPts val="0"/>
              </a:spcAft>
              <a:buNone/>
            </a:pPr>
            <a:r>
              <a:rPr lang="en-US" sz="1800">
                <a:latin typeface="Cambria"/>
                <a:ea typeface="Cambria"/>
                <a:cs typeface="Cambria"/>
                <a:sym typeface="Cambria"/>
              </a:rPr>
              <a:t>class Testarray{</a:t>
            </a:r>
            <a:endParaRPr sz="1800">
              <a:latin typeface="Cambria"/>
              <a:ea typeface="Cambria"/>
              <a:cs typeface="Cambria"/>
              <a:sym typeface="Cambria"/>
            </a:endParaRPr>
          </a:p>
          <a:p>
            <a:pPr marL="1007110" lvl="0" indent="0" algn="l" rtl="0">
              <a:lnSpc>
                <a:spcPct val="100000"/>
              </a:lnSpc>
              <a:spcBef>
                <a:spcPts val="215"/>
              </a:spcBef>
              <a:spcAft>
                <a:spcPts val="0"/>
              </a:spcAft>
              <a:buNone/>
            </a:pPr>
            <a:r>
              <a:rPr lang="en-US" sz="1800">
                <a:latin typeface="Cambria"/>
                <a:ea typeface="Cambria"/>
                <a:cs typeface="Cambria"/>
                <a:sym typeface="Cambria"/>
              </a:rPr>
              <a:t>public static void main(String args[]){</a:t>
            </a:r>
            <a:endParaRPr sz="1800">
              <a:latin typeface="Cambria"/>
              <a:ea typeface="Cambria"/>
              <a:cs typeface="Cambria"/>
              <a:sym typeface="Cambria"/>
            </a:endParaRPr>
          </a:p>
          <a:p>
            <a:pPr marL="0" lvl="0" indent="0" algn="l" rtl="0">
              <a:lnSpc>
                <a:spcPct val="100000"/>
              </a:lnSpc>
              <a:spcBef>
                <a:spcPts val="110"/>
              </a:spcBef>
              <a:spcAft>
                <a:spcPts val="0"/>
              </a:spcAft>
              <a:buNone/>
            </a:pPr>
            <a:endParaRPr sz="1800">
              <a:latin typeface="Cambria"/>
              <a:ea typeface="Cambria"/>
              <a:cs typeface="Cambria"/>
              <a:sym typeface="Cambria"/>
            </a:endParaRPr>
          </a:p>
          <a:p>
            <a:pPr marL="1007110" lvl="0" indent="0" algn="l" rtl="0">
              <a:lnSpc>
                <a:spcPct val="100000"/>
              </a:lnSpc>
              <a:spcBef>
                <a:spcPts val="0"/>
              </a:spcBef>
              <a:spcAft>
                <a:spcPts val="0"/>
              </a:spcAft>
              <a:buNone/>
            </a:pPr>
            <a:r>
              <a:rPr lang="en-US" sz="1800">
                <a:latin typeface="Cambria"/>
                <a:ea typeface="Cambria"/>
                <a:cs typeface="Cambria"/>
                <a:sym typeface="Cambria"/>
              </a:rPr>
              <a:t>int a[] = new int[5];</a:t>
            </a:r>
            <a:r>
              <a:rPr lang="en-US" sz="1800">
                <a:solidFill>
                  <a:srgbClr val="FF0000"/>
                </a:solidFill>
                <a:latin typeface="Cambria"/>
                <a:ea typeface="Cambria"/>
                <a:cs typeface="Cambria"/>
                <a:sym typeface="Cambria"/>
              </a:rPr>
              <a:t>//declaration and instantiation</a:t>
            </a:r>
            <a:endParaRPr sz="1800">
              <a:latin typeface="Cambria"/>
              <a:ea typeface="Cambria"/>
              <a:cs typeface="Cambria"/>
              <a:sym typeface="Cambria"/>
            </a:endParaRPr>
          </a:p>
          <a:p>
            <a:pPr marL="0" lvl="0" indent="0" algn="l" rtl="0">
              <a:lnSpc>
                <a:spcPct val="100000"/>
              </a:lnSpc>
              <a:spcBef>
                <a:spcPts val="715"/>
              </a:spcBef>
              <a:spcAft>
                <a:spcPts val="0"/>
              </a:spcAft>
              <a:buNone/>
            </a:pPr>
            <a:endParaRPr sz="1800">
              <a:latin typeface="Cambria"/>
              <a:ea typeface="Cambria"/>
              <a:cs typeface="Cambria"/>
              <a:sym typeface="Cambria"/>
            </a:endParaRPr>
          </a:p>
          <a:p>
            <a:pPr marL="1007110" marR="4822825" lvl="0" indent="0" algn="l" rtl="0">
              <a:lnSpc>
                <a:spcPct val="112200"/>
              </a:lnSpc>
              <a:spcBef>
                <a:spcPts val="0"/>
              </a:spcBef>
              <a:spcAft>
                <a:spcPts val="0"/>
              </a:spcAft>
              <a:buNone/>
            </a:pPr>
            <a:r>
              <a:rPr lang="en-US" sz="1800">
                <a:latin typeface="Cambria"/>
                <a:ea typeface="Cambria"/>
                <a:cs typeface="Cambria"/>
                <a:sym typeface="Cambria"/>
              </a:rPr>
              <a:t>a[0]=10;</a:t>
            </a:r>
            <a:r>
              <a:rPr lang="en-US" sz="1800">
                <a:solidFill>
                  <a:srgbClr val="FF0000"/>
                </a:solidFill>
                <a:latin typeface="Cambria"/>
                <a:ea typeface="Cambria"/>
                <a:cs typeface="Cambria"/>
                <a:sym typeface="Cambria"/>
              </a:rPr>
              <a:t>//initialization </a:t>
            </a:r>
            <a:r>
              <a:rPr lang="en-US" sz="1800">
                <a:latin typeface="Cambria"/>
                <a:ea typeface="Cambria"/>
                <a:cs typeface="Cambria"/>
                <a:sym typeface="Cambria"/>
              </a:rPr>
              <a:t>a[1]=20;</a:t>
            </a:r>
            <a:endParaRPr sz="1800">
              <a:latin typeface="Cambria"/>
              <a:ea typeface="Cambria"/>
              <a:cs typeface="Cambria"/>
              <a:sym typeface="Cambria"/>
            </a:endParaRPr>
          </a:p>
          <a:p>
            <a:pPr marL="1007110" lvl="0" indent="0" algn="l" rtl="0">
              <a:lnSpc>
                <a:spcPct val="100000"/>
              </a:lnSpc>
              <a:spcBef>
                <a:spcPts val="240"/>
              </a:spcBef>
              <a:spcAft>
                <a:spcPts val="0"/>
              </a:spcAft>
              <a:buNone/>
            </a:pPr>
            <a:r>
              <a:rPr lang="en-US" sz="1800">
                <a:latin typeface="Cambria"/>
                <a:ea typeface="Cambria"/>
                <a:cs typeface="Cambria"/>
                <a:sym typeface="Cambria"/>
              </a:rPr>
              <a:t>a[2]=70;</a:t>
            </a:r>
            <a:endParaRPr sz="1800">
              <a:latin typeface="Cambria"/>
              <a:ea typeface="Cambria"/>
              <a:cs typeface="Cambria"/>
              <a:sym typeface="Cambria"/>
            </a:endParaRPr>
          </a:p>
          <a:p>
            <a:pPr marL="1007110" lvl="0" indent="0" algn="l" rtl="0">
              <a:lnSpc>
                <a:spcPct val="100000"/>
              </a:lnSpc>
              <a:spcBef>
                <a:spcPts val="240"/>
              </a:spcBef>
              <a:spcAft>
                <a:spcPts val="0"/>
              </a:spcAft>
              <a:buNone/>
            </a:pPr>
            <a:r>
              <a:rPr lang="en-US" sz="1800">
                <a:latin typeface="Cambria"/>
                <a:ea typeface="Cambria"/>
                <a:cs typeface="Cambria"/>
                <a:sym typeface="Cambria"/>
              </a:rPr>
              <a:t>a[3]=40;</a:t>
            </a:r>
            <a:endParaRPr sz="1800">
              <a:latin typeface="Cambria"/>
              <a:ea typeface="Cambria"/>
              <a:cs typeface="Cambria"/>
              <a:sym typeface="Cambria"/>
            </a:endParaRPr>
          </a:p>
          <a:p>
            <a:pPr marL="1007110" lvl="0" indent="0" algn="l" rtl="0">
              <a:lnSpc>
                <a:spcPct val="100000"/>
              </a:lnSpc>
              <a:spcBef>
                <a:spcPts val="245"/>
              </a:spcBef>
              <a:spcAft>
                <a:spcPts val="0"/>
              </a:spcAft>
              <a:buNone/>
            </a:pPr>
            <a:r>
              <a:rPr lang="en-US" sz="1800">
                <a:latin typeface="Cambria"/>
                <a:ea typeface="Cambria"/>
                <a:cs typeface="Cambria"/>
                <a:sym typeface="Cambria"/>
              </a:rPr>
              <a:t>a[4]=50;</a:t>
            </a:r>
            <a:endParaRPr sz="1800">
              <a:latin typeface="Cambria"/>
              <a:ea typeface="Cambria"/>
              <a:cs typeface="Cambria"/>
              <a:sym typeface="Cambria"/>
            </a:endParaRPr>
          </a:p>
          <a:p>
            <a:pPr marL="1007110" lvl="0" indent="0" algn="l" rtl="0">
              <a:lnSpc>
                <a:spcPct val="120000"/>
              </a:lnSpc>
              <a:spcBef>
                <a:spcPts val="325"/>
              </a:spcBef>
              <a:spcAft>
                <a:spcPts val="0"/>
              </a:spcAft>
              <a:buNone/>
            </a:pPr>
            <a:r>
              <a:rPr lang="en-US" sz="1800">
                <a:solidFill>
                  <a:srgbClr val="FF0000"/>
                </a:solidFill>
                <a:latin typeface="Cambria"/>
                <a:ea typeface="Cambria"/>
                <a:cs typeface="Cambria"/>
                <a:sym typeface="Cambria"/>
              </a:rPr>
              <a:t>//traversing array</a:t>
            </a:r>
            <a:endParaRPr sz="1800">
              <a:latin typeface="Cambria"/>
              <a:ea typeface="Cambria"/>
              <a:cs typeface="Cambria"/>
              <a:sym typeface="Cambria"/>
            </a:endParaRPr>
          </a:p>
          <a:p>
            <a:pPr marL="1007110" lvl="0" indent="0" algn="l" rtl="0">
              <a:lnSpc>
                <a:spcPct val="120000"/>
              </a:lnSpc>
              <a:spcBef>
                <a:spcPts val="0"/>
              </a:spcBef>
              <a:spcAft>
                <a:spcPts val="0"/>
              </a:spcAft>
              <a:buNone/>
            </a:pPr>
            <a:r>
              <a:rPr lang="en-US" sz="1800">
                <a:latin typeface="Cambria"/>
                <a:ea typeface="Cambria"/>
                <a:cs typeface="Cambria"/>
                <a:sym typeface="Cambria"/>
              </a:rPr>
              <a:t>for(int i=0;i&lt;a.length;i++)</a:t>
            </a:r>
            <a:r>
              <a:rPr lang="en-US" sz="1800">
                <a:solidFill>
                  <a:srgbClr val="FF0000"/>
                </a:solidFill>
                <a:latin typeface="Cambria"/>
                <a:ea typeface="Cambria"/>
                <a:cs typeface="Cambria"/>
                <a:sym typeface="Cambria"/>
              </a:rPr>
              <a:t>//length is the property of array</a:t>
            </a:r>
            <a:endParaRPr sz="1800">
              <a:latin typeface="Cambria"/>
              <a:ea typeface="Cambria"/>
              <a:cs typeface="Cambria"/>
              <a:sym typeface="Cambria"/>
            </a:endParaRPr>
          </a:p>
          <a:p>
            <a:pPr marL="1007110" lvl="0" indent="0" algn="l" rtl="0">
              <a:lnSpc>
                <a:spcPct val="100000"/>
              </a:lnSpc>
              <a:spcBef>
                <a:spcPts val="345"/>
              </a:spcBef>
              <a:spcAft>
                <a:spcPts val="0"/>
              </a:spcAft>
              <a:buNone/>
            </a:pPr>
            <a:r>
              <a:rPr lang="en-US" sz="1800">
                <a:latin typeface="Cambria"/>
                <a:ea typeface="Cambria"/>
                <a:cs typeface="Cambria"/>
                <a:sym typeface="Cambria"/>
              </a:rPr>
              <a:t>System.out.println(a[i]);</a:t>
            </a:r>
            <a:endParaRPr sz="1800">
              <a:latin typeface="Cambria"/>
              <a:ea typeface="Cambria"/>
              <a:cs typeface="Cambria"/>
              <a:sym typeface="Cambria"/>
            </a:endParaRPr>
          </a:p>
          <a:p>
            <a:pPr marL="1007110" lvl="0" indent="0" algn="l" rtl="0">
              <a:lnSpc>
                <a:spcPct val="100000"/>
              </a:lnSpc>
              <a:spcBef>
                <a:spcPts val="110"/>
              </a:spcBef>
              <a:spcAft>
                <a:spcPts val="0"/>
              </a:spcAft>
              <a:buNone/>
            </a:pPr>
            <a:r>
              <a:rPr lang="en-US" sz="1800">
                <a:latin typeface="Cambria"/>
                <a:ea typeface="Cambria"/>
                <a:cs typeface="Cambria"/>
                <a:sym typeface="Cambria"/>
              </a:rPr>
              <a:t>}</a:t>
            </a:r>
            <a:endParaRPr sz="1800">
              <a:latin typeface="Cambria"/>
              <a:ea typeface="Cambria"/>
              <a:cs typeface="Cambria"/>
              <a:sym typeface="Cambria"/>
            </a:endParaRPr>
          </a:p>
          <a:p>
            <a:pPr marL="92710" lvl="0" indent="0" algn="l" rtl="0">
              <a:lnSpc>
                <a:spcPct val="100000"/>
              </a:lnSpc>
              <a:spcBef>
                <a:spcPts val="265"/>
              </a:spcBef>
              <a:spcAft>
                <a:spcPts val="0"/>
              </a:spcAft>
              <a:buNone/>
            </a:pPr>
            <a:r>
              <a:rPr lang="en-US" sz="1800">
                <a:latin typeface="Cambria"/>
                <a:ea typeface="Cambria"/>
                <a:cs typeface="Cambria"/>
                <a:sym typeface="Cambria"/>
              </a:rPr>
              <a:t>}</a:t>
            </a:r>
            <a:endParaRPr sz="1800">
              <a:latin typeface="Cambria"/>
              <a:ea typeface="Cambria"/>
              <a:cs typeface="Cambria"/>
              <a:sym typeface="Cambri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7"/>
          <p:cNvSpPr txBox="1"/>
          <p:nvPr/>
        </p:nvSpPr>
        <p:spPr>
          <a:xfrm>
            <a:off x="499059" y="2583941"/>
            <a:ext cx="2410460" cy="1565275"/>
          </a:xfrm>
          <a:prstGeom prst="rect">
            <a:avLst/>
          </a:prstGeom>
          <a:noFill/>
          <a:ln>
            <a:noFill/>
          </a:ln>
        </p:spPr>
        <p:txBody>
          <a:bodyPr spcFirstLastPara="1" wrap="square" lIns="0" tIns="66025" rIns="0" bIns="0" anchor="t" anchorCtr="0">
            <a:spAutoFit/>
          </a:bodyPr>
          <a:lstStyle/>
          <a:p>
            <a:pPr marL="12700" marR="5080" lvl="0" indent="-6985" algn="ctr" rtl="0">
              <a:lnSpc>
                <a:spcPct val="90300"/>
              </a:lnSpc>
              <a:spcBef>
                <a:spcPts val="0"/>
              </a:spcBef>
              <a:spcAft>
                <a:spcPts val="0"/>
              </a:spcAft>
              <a:buNone/>
            </a:pPr>
            <a:r>
              <a:rPr lang="en-US" sz="3600" b="1">
                <a:solidFill>
                  <a:srgbClr val="FFFFFF"/>
                </a:solidFill>
                <a:latin typeface="Cambria"/>
                <a:ea typeface="Cambria"/>
                <a:cs typeface="Cambria"/>
                <a:sym typeface="Cambria"/>
              </a:rPr>
              <a:t>Multi- dimensional Arrays</a:t>
            </a:r>
            <a:endParaRPr sz="3600">
              <a:latin typeface="Cambria"/>
              <a:ea typeface="Cambria"/>
              <a:cs typeface="Cambria"/>
              <a:sym typeface="Cambria"/>
            </a:endParaRPr>
          </a:p>
        </p:txBody>
      </p:sp>
      <p:sp>
        <p:nvSpPr>
          <p:cNvPr id="108" name="Google Shape;108;p7"/>
          <p:cNvSpPr txBox="1"/>
          <p:nvPr/>
        </p:nvSpPr>
        <p:spPr>
          <a:xfrm>
            <a:off x="5522214" y="6191199"/>
            <a:ext cx="4737735" cy="2997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800">
                <a:latin typeface="Calibri"/>
                <a:ea typeface="Calibri"/>
                <a:cs typeface="Calibri"/>
                <a:sym typeface="Calibri"/>
              </a:rPr>
              <a:t>Conceptual View of a 4 by 5 two dimensional array</a:t>
            </a:r>
            <a:endParaRPr sz="1800">
              <a:latin typeface="Calibri"/>
              <a:ea typeface="Calibri"/>
              <a:cs typeface="Calibri"/>
              <a:sym typeface="Calibri"/>
            </a:endParaRPr>
          </a:p>
        </p:txBody>
      </p:sp>
      <p:pic>
        <p:nvPicPr>
          <p:cNvPr id="109" name="Google Shape;109;p7"/>
          <p:cNvPicPr preferRelativeResize="0"/>
          <p:nvPr/>
        </p:nvPicPr>
        <p:blipFill rotWithShape="1">
          <a:blip r:embed="rId3">
            <a:alphaModFix/>
          </a:blip>
          <a:srcRect/>
          <a:stretch/>
        </p:blipFill>
        <p:spPr>
          <a:xfrm>
            <a:off x="3733800" y="1295400"/>
            <a:ext cx="7849356" cy="4639056"/>
          </a:xfrm>
          <a:prstGeom prst="rect">
            <a:avLst/>
          </a:prstGeom>
          <a:noFill/>
          <a:ln>
            <a:noFill/>
          </a:ln>
        </p:spPr>
      </p:pic>
      <p:sp>
        <p:nvSpPr>
          <p:cNvPr id="110" name="Google Shape;110;p7"/>
          <p:cNvSpPr txBox="1"/>
          <p:nvPr/>
        </p:nvSpPr>
        <p:spPr>
          <a:xfrm>
            <a:off x="3889375" y="703834"/>
            <a:ext cx="2533015" cy="2997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800">
                <a:latin typeface="Calibri"/>
                <a:ea typeface="Calibri"/>
                <a:cs typeface="Calibri"/>
                <a:sym typeface="Calibri"/>
              </a:rPr>
              <a:t>int twoD[][] = new int[4][5]</a:t>
            </a:r>
            <a:endParaRPr sz="1800">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8"/>
          <p:cNvSpPr txBox="1"/>
          <p:nvPr/>
        </p:nvSpPr>
        <p:spPr>
          <a:xfrm>
            <a:off x="331419" y="2582417"/>
            <a:ext cx="2420620" cy="1565275"/>
          </a:xfrm>
          <a:prstGeom prst="rect">
            <a:avLst/>
          </a:prstGeom>
          <a:noFill/>
          <a:ln>
            <a:noFill/>
          </a:ln>
        </p:spPr>
        <p:txBody>
          <a:bodyPr spcFirstLastPara="1" wrap="square" lIns="0" tIns="66025" rIns="0" bIns="0" anchor="t" anchorCtr="0">
            <a:spAutoFit/>
          </a:bodyPr>
          <a:lstStyle/>
          <a:p>
            <a:pPr marL="12700" marR="5080" lvl="0" indent="0" algn="l" rtl="0">
              <a:lnSpc>
                <a:spcPct val="90300"/>
              </a:lnSpc>
              <a:spcBef>
                <a:spcPts val="0"/>
              </a:spcBef>
              <a:spcAft>
                <a:spcPts val="0"/>
              </a:spcAft>
              <a:buNone/>
            </a:pPr>
            <a:r>
              <a:rPr lang="en-US" sz="3600" b="1">
                <a:solidFill>
                  <a:srgbClr val="FFFFFF"/>
                </a:solidFill>
                <a:latin typeface="Trebuchet MS"/>
                <a:ea typeface="Trebuchet MS"/>
                <a:cs typeface="Trebuchet MS"/>
                <a:sym typeface="Trebuchet MS"/>
              </a:rPr>
              <a:t>Two- Dimensional Array</a:t>
            </a:r>
            <a:endParaRPr sz="3600">
              <a:latin typeface="Trebuchet MS"/>
              <a:ea typeface="Trebuchet MS"/>
              <a:cs typeface="Trebuchet MS"/>
              <a:sym typeface="Trebuchet MS"/>
            </a:endParaRPr>
          </a:p>
        </p:txBody>
      </p:sp>
      <p:pic>
        <p:nvPicPr>
          <p:cNvPr id="116" name="Google Shape;116;p8"/>
          <p:cNvPicPr preferRelativeResize="0"/>
          <p:nvPr/>
        </p:nvPicPr>
        <p:blipFill rotWithShape="1">
          <a:blip r:embed="rId3">
            <a:alphaModFix/>
          </a:blip>
          <a:srcRect/>
          <a:stretch/>
        </p:blipFill>
        <p:spPr>
          <a:xfrm>
            <a:off x="3961765" y="1395094"/>
            <a:ext cx="115824" cy="284988"/>
          </a:xfrm>
          <a:prstGeom prst="rect">
            <a:avLst/>
          </a:prstGeom>
          <a:noFill/>
          <a:ln>
            <a:noFill/>
          </a:ln>
        </p:spPr>
      </p:pic>
      <p:pic>
        <p:nvPicPr>
          <p:cNvPr id="117" name="Google Shape;117;p8"/>
          <p:cNvPicPr preferRelativeResize="0"/>
          <p:nvPr/>
        </p:nvPicPr>
        <p:blipFill rotWithShape="1">
          <a:blip r:embed="rId4">
            <a:alphaModFix/>
          </a:blip>
          <a:srcRect/>
          <a:stretch/>
        </p:blipFill>
        <p:spPr>
          <a:xfrm>
            <a:off x="3961765" y="2070480"/>
            <a:ext cx="332232" cy="298703"/>
          </a:xfrm>
          <a:prstGeom prst="rect">
            <a:avLst/>
          </a:prstGeom>
          <a:noFill/>
          <a:ln>
            <a:noFill/>
          </a:ln>
        </p:spPr>
      </p:pic>
      <p:pic>
        <p:nvPicPr>
          <p:cNvPr id="118" name="Google Shape;118;p8"/>
          <p:cNvPicPr preferRelativeResize="0"/>
          <p:nvPr/>
        </p:nvPicPr>
        <p:blipFill rotWithShape="1">
          <a:blip r:embed="rId4">
            <a:alphaModFix/>
          </a:blip>
          <a:srcRect/>
          <a:stretch/>
        </p:blipFill>
        <p:spPr>
          <a:xfrm>
            <a:off x="3961765" y="2794761"/>
            <a:ext cx="332232" cy="298703"/>
          </a:xfrm>
          <a:prstGeom prst="rect">
            <a:avLst/>
          </a:prstGeom>
          <a:noFill/>
          <a:ln>
            <a:noFill/>
          </a:ln>
        </p:spPr>
      </p:pic>
      <p:pic>
        <p:nvPicPr>
          <p:cNvPr id="119" name="Google Shape;119;p8"/>
          <p:cNvPicPr preferRelativeResize="0"/>
          <p:nvPr/>
        </p:nvPicPr>
        <p:blipFill rotWithShape="1">
          <a:blip r:embed="rId5">
            <a:alphaModFix/>
          </a:blip>
          <a:srcRect/>
          <a:stretch/>
        </p:blipFill>
        <p:spPr>
          <a:xfrm>
            <a:off x="4464684" y="3111754"/>
            <a:ext cx="301751" cy="268224"/>
          </a:xfrm>
          <a:prstGeom prst="rect">
            <a:avLst/>
          </a:prstGeom>
          <a:noFill/>
          <a:ln>
            <a:noFill/>
          </a:ln>
        </p:spPr>
      </p:pic>
      <p:pic>
        <p:nvPicPr>
          <p:cNvPr id="120" name="Google Shape;120;p8"/>
          <p:cNvPicPr preferRelativeResize="0"/>
          <p:nvPr/>
        </p:nvPicPr>
        <p:blipFill rotWithShape="1">
          <a:blip r:embed="rId5">
            <a:alphaModFix/>
          </a:blip>
          <a:srcRect/>
          <a:stretch/>
        </p:blipFill>
        <p:spPr>
          <a:xfrm>
            <a:off x="4464684" y="3762502"/>
            <a:ext cx="301751" cy="268224"/>
          </a:xfrm>
          <a:prstGeom prst="rect">
            <a:avLst/>
          </a:prstGeom>
          <a:noFill/>
          <a:ln>
            <a:noFill/>
          </a:ln>
        </p:spPr>
      </p:pic>
      <p:pic>
        <p:nvPicPr>
          <p:cNvPr id="121" name="Google Shape;121;p8"/>
          <p:cNvPicPr preferRelativeResize="0"/>
          <p:nvPr/>
        </p:nvPicPr>
        <p:blipFill rotWithShape="1">
          <a:blip r:embed="rId4">
            <a:alphaModFix/>
          </a:blip>
          <a:srcRect/>
          <a:stretch/>
        </p:blipFill>
        <p:spPr>
          <a:xfrm>
            <a:off x="3961765" y="4189476"/>
            <a:ext cx="332232" cy="298704"/>
          </a:xfrm>
          <a:prstGeom prst="rect">
            <a:avLst/>
          </a:prstGeom>
          <a:noFill/>
          <a:ln>
            <a:noFill/>
          </a:ln>
        </p:spPr>
      </p:pic>
      <p:pic>
        <p:nvPicPr>
          <p:cNvPr id="122" name="Google Shape;122;p8"/>
          <p:cNvPicPr preferRelativeResize="0"/>
          <p:nvPr/>
        </p:nvPicPr>
        <p:blipFill rotWithShape="1">
          <a:blip r:embed="rId5">
            <a:alphaModFix/>
          </a:blip>
          <a:srcRect/>
          <a:stretch/>
        </p:blipFill>
        <p:spPr>
          <a:xfrm>
            <a:off x="4464684" y="4506467"/>
            <a:ext cx="301751" cy="268224"/>
          </a:xfrm>
          <a:prstGeom prst="rect">
            <a:avLst/>
          </a:prstGeom>
          <a:noFill/>
          <a:ln>
            <a:noFill/>
          </a:ln>
        </p:spPr>
      </p:pic>
      <p:pic>
        <p:nvPicPr>
          <p:cNvPr id="123" name="Google Shape;123;p8"/>
          <p:cNvPicPr preferRelativeResize="0"/>
          <p:nvPr/>
        </p:nvPicPr>
        <p:blipFill rotWithShape="1">
          <a:blip r:embed="rId5">
            <a:alphaModFix/>
          </a:blip>
          <a:srcRect/>
          <a:stretch/>
        </p:blipFill>
        <p:spPr>
          <a:xfrm>
            <a:off x="4464684" y="5157215"/>
            <a:ext cx="301751" cy="268223"/>
          </a:xfrm>
          <a:prstGeom prst="rect">
            <a:avLst/>
          </a:prstGeom>
          <a:noFill/>
          <a:ln>
            <a:noFill/>
          </a:ln>
        </p:spPr>
      </p:pic>
      <p:sp>
        <p:nvSpPr>
          <p:cNvPr id="124" name="Google Shape;124;p8"/>
          <p:cNvSpPr txBox="1"/>
          <p:nvPr/>
        </p:nvSpPr>
        <p:spPr>
          <a:xfrm>
            <a:off x="4096892" y="1356487"/>
            <a:ext cx="7561708" cy="4077335"/>
          </a:xfrm>
          <a:prstGeom prst="rect">
            <a:avLst/>
          </a:prstGeom>
          <a:noFill/>
          <a:ln>
            <a:noFill/>
          </a:ln>
        </p:spPr>
        <p:txBody>
          <a:bodyPr spcFirstLastPara="1" wrap="square" lIns="0" tIns="47625" rIns="0" bIns="0" anchor="t" anchorCtr="0">
            <a:spAutoFit/>
          </a:bodyPr>
          <a:lstStyle/>
          <a:p>
            <a:pPr marL="47625" marR="446405" lvl="0" indent="-35560" algn="l" rtl="0">
              <a:lnSpc>
                <a:spcPct val="108000"/>
              </a:lnSpc>
              <a:spcBef>
                <a:spcPts val="0"/>
              </a:spcBef>
              <a:spcAft>
                <a:spcPts val="0"/>
              </a:spcAft>
              <a:buNone/>
            </a:pPr>
            <a:r>
              <a:rPr lang="en-US" sz="2000">
                <a:solidFill>
                  <a:srgbClr val="575757"/>
                </a:solidFill>
                <a:latin typeface="Calibri"/>
                <a:ea typeface="Calibri"/>
                <a:cs typeface="Calibri"/>
                <a:sym typeface="Calibri"/>
              </a:rPr>
              <a:t>Data in a table or a matrix can be represented using a two dimensional array.</a:t>
            </a:r>
            <a:endParaRPr sz="2000">
              <a:latin typeface="Calibri"/>
              <a:ea typeface="Calibri"/>
              <a:cs typeface="Calibri"/>
              <a:sym typeface="Calibri"/>
            </a:endParaRPr>
          </a:p>
          <a:p>
            <a:pPr marL="47625" lvl="0" indent="0" algn="l" rtl="0">
              <a:lnSpc>
                <a:spcPct val="117250"/>
              </a:lnSpc>
              <a:spcBef>
                <a:spcPts val="835"/>
              </a:spcBef>
              <a:spcAft>
                <a:spcPts val="0"/>
              </a:spcAft>
              <a:buNone/>
            </a:pPr>
            <a:r>
              <a:rPr lang="en-US" sz="2000">
                <a:solidFill>
                  <a:srgbClr val="575757"/>
                </a:solidFill>
                <a:latin typeface="Calibri"/>
                <a:ea typeface="Calibri"/>
                <a:cs typeface="Calibri"/>
                <a:sym typeface="Calibri"/>
              </a:rPr>
              <a:t>An element in atwo-dimensional arrayis accessed through arow</a:t>
            </a:r>
            <a:endParaRPr sz="2000">
              <a:latin typeface="Calibri"/>
              <a:ea typeface="Calibri"/>
              <a:cs typeface="Calibri"/>
              <a:sym typeface="Calibri"/>
            </a:endParaRPr>
          </a:p>
          <a:p>
            <a:pPr marL="47625" lvl="0" indent="0" algn="l" rtl="0">
              <a:lnSpc>
                <a:spcPct val="117250"/>
              </a:lnSpc>
              <a:spcBef>
                <a:spcPts val="0"/>
              </a:spcBef>
              <a:spcAft>
                <a:spcPts val="0"/>
              </a:spcAft>
              <a:buNone/>
            </a:pPr>
            <a:r>
              <a:rPr lang="en-US" sz="2000">
                <a:solidFill>
                  <a:srgbClr val="575757"/>
                </a:solidFill>
                <a:latin typeface="Calibri"/>
                <a:ea typeface="Calibri"/>
                <a:cs typeface="Calibri"/>
                <a:sym typeface="Calibri"/>
              </a:rPr>
              <a:t>and columnindex.</a:t>
            </a:r>
            <a:endParaRPr sz="2000">
              <a:latin typeface="Calibri"/>
              <a:ea typeface="Calibri"/>
              <a:cs typeface="Calibri"/>
              <a:sym typeface="Calibri"/>
            </a:endParaRPr>
          </a:p>
          <a:p>
            <a:pPr marL="47625" lvl="0" indent="0" algn="l" rtl="0">
              <a:lnSpc>
                <a:spcPct val="100000"/>
              </a:lnSpc>
              <a:spcBef>
                <a:spcPts val="1010"/>
              </a:spcBef>
              <a:spcAft>
                <a:spcPts val="0"/>
              </a:spcAft>
              <a:buNone/>
            </a:pPr>
            <a:r>
              <a:rPr lang="en-US" sz="2000">
                <a:solidFill>
                  <a:srgbClr val="575757"/>
                </a:solidFill>
                <a:latin typeface="Calibri"/>
                <a:ea typeface="Calibri"/>
                <a:cs typeface="Calibri"/>
                <a:sym typeface="Calibri"/>
              </a:rPr>
              <a:t>Syntax:</a:t>
            </a:r>
            <a:endParaRPr sz="2000">
              <a:latin typeface="Calibri"/>
              <a:ea typeface="Calibri"/>
              <a:cs typeface="Calibri"/>
              <a:sym typeface="Calibri"/>
            </a:endParaRPr>
          </a:p>
          <a:p>
            <a:pPr marL="550545" lvl="0" indent="0" algn="l" rtl="0">
              <a:lnSpc>
                <a:spcPct val="100000"/>
              </a:lnSpc>
              <a:spcBef>
                <a:spcPts val="105"/>
              </a:spcBef>
              <a:spcAft>
                <a:spcPts val="0"/>
              </a:spcAft>
              <a:buNone/>
            </a:pPr>
            <a:r>
              <a:rPr lang="en-US" sz="1800">
                <a:solidFill>
                  <a:srgbClr val="575757"/>
                </a:solidFill>
                <a:latin typeface="Calibri"/>
                <a:ea typeface="Calibri"/>
                <a:cs typeface="Calibri"/>
                <a:sym typeface="Calibri"/>
              </a:rPr>
              <a:t>elementType[ ][ ] arrayRefVar;</a:t>
            </a:r>
            <a:endParaRPr sz="1800">
              <a:latin typeface="Calibri"/>
              <a:ea typeface="Calibri"/>
              <a:cs typeface="Calibri"/>
              <a:sym typeface="Calibri"/>
            </a:endParaRPr>
          </a:p>
          <a:p>
            <a:pPr marL="0" marR="952500" lvl="0" indent="0" algn="ctr" rtl="0">
              <a:lnSpc>
                <a:spcPct val="100000"/>
              </a:lnSpc>
              <a:spcBef>
                <a:spcPts val="395"/>
              </a:spcBef>
              <a:spcAft>
                <a:spcPts val="0"/>
              </a:spcAft>
              <a:buNone/>
            </a:pPr>
            <a:r>
              <a:rPr lang="en-US" sz="1800" b="1">
                <a:solidFill>
                  <a:srgbClr val="575757"/>
                </a:solidFill>
                <a:latin typeface="Calibri"/>
                <a:ea typeface="Calibri"/>
                <a:cs typeface="Calibri"/>
                <a:sym typeface="Calibri"/>
              </a:rPr>
              <a:t>OR</a:t>
            </a:r>
            <a:endParaRPr sz="1800">
              <a:latin typeface="Calibri"/>
              <a:ea typeface="Calibri"/>
              <a:cs typeface="Calibri"/>
              <a:sym typeface="Calibri"/>
            </a:endParaRPr>
          </a:p>
          <a:p>
            <a:pPr marL="550545" lvl="0" indent="0" algn="l" rtl="0">
              <a:lnSpc>
                <a:spcPct val="100000"/>
              </a:lnSpc>
              <a:spcBef>
                <a:spcPts val="405"/>
              </a:spcBef>
              <a:spcAft>
                <a:spcPts val="0"/>
              </a:spcAft>
              <a:buNone/>
            </a:pPr>
            <a:r>
              <a:rPr lang="en-US" sz="1800">
                <a:solidFill>
                  <a:srgbClr val="575757"/>
                </a:solidFill>
                <a:latin typeface="Calibri"/>
                <a:ea typeface="Calibri"/>
                <a:cs typeface="Calibri"/>
                <a:sym typeface="Calibri"/>
              </a:rPr>
              <a:t>elementType arrayRefVar[ ][];</a:t>
            </a:r>
            <a:endParaRPr sz="1800">
              <a:latin typeface="Calibri"/>
              <a:ea typeface="Calibri"/>
              <a:cs typeface="Calibri"/>
              <a:sym typeface="Calibri"/>
            </a:endParaRPr>
          </a:p>
          <a:p>
            <a:pPr marL="47625" lvl="0" indent="0" algn="l" rtl="0">
              <a:lnSpc>
                <a:spcPct val="100000"/>
              </a:lnSpc>
              <a:spcBef>
                <a:spcPts val="1195"/>
              </a:spcBef>
              <a:spcAft>
                <a:spcPts val="0"/>
              </a:spcAft>
              <a:buNone/>
            </a:pPr>
            <a:r>
              <a:rPr lang="en-US" sz="2000">
                <a:solidFill>
                  <a:srgbClr val="575757"/>
                </a:solidFill>
                <a:latin typeface="Calibri"/>
                <a:ea typeface="Calibri"/>
                <a:cs typeface="Calibri"/>
                <a:sym typeface="Calibri"/>
              </a:rPr>
              <a:t>Ex:</a:t>
            </a:r>
            <a:endParaRPr sz="2000">
              <a:latin typeface="Calibri"/>
              <a:ea typeface="Calibri"/>
              <a:cs typeface="Calibri"/>
              <a:sym typeface="Calibri"/>
            </a:endParaRPr>
          </a:p>
          <a:p>
            <a:pPr marL="550545" lvl="0" indent="0" algn="l" rtl="0">
              <a:lnSpc>
                <a:spcPct val="100000"/>
              </a:lnSpc>
              <a:spcBef>
                <a:spcPts val="105"/>
              </a:spcBef>
              <a:spcAft>
                <a:spcPts val="0"/>
              </a:spcAft>
              <a:buNone/>
            </a:pPr>
            <a:r>
              <a:rPr lang="en-US" sz="1800">
                <a:solidFill>
                  <a:srgbClr val="575757"/>
                </a:solidFill>
                <a:latin typeface="Calibri"/>
                <a:ea typeface="Calibri"/>
                <a:cs typeface="Calibri"/>
                <a:sym typeface="Calibri"/>
              </a:rPr>
              <a:t>int[ ][ ] matrix;</a:t>
            </a:r>
            <a:endParaRPr sz="1800">
              <a:latin typeface="Calibri"/>
              <a:ea typeface="Calibri"/>
              <a:cs typeface="Calibri"/>
              <a:sym typeface="Calibri"/>
            </a:endParaRPr>
          </a:p>
          <a:p>
            <a:pPr marL="1693545" lvl="0" indent="0" algn="l" rtl="0">
              <a:lnSpc>
                <a:spcPct val="100000"/>
              </a:lnSpc>
              <a:spcBef>
                <a:spcPts val="395"/>
              </a:spcBef>
              <a:spcAft>
                <a:spcPts val="0"/>
              </a:spcAft>
              <a:buNone/>
            </a:pPr>
            <a:r>
              <a:rPr lang="en-US" sz="1800" b="1">
                <a:solidFill>
                  <a:srgbClr val="575757"/>
                </a:solidFill>
                <a:latin typeface="Calibri"/>
                <a:ea typeface="Calibri"/>
                <a:cs typeface="Calibri"/>
                <a:sym typeface="Calibri"/>
              </a:rPr>
              <a:t>OR</a:t>
            </a:r>
            <a:endParaRPr sz="1800">
              <a:latin typeface="Calibri"/>
              <a:ea typeface="Calibri"/>
              <a:cs typeface="Calibri"/>
              <a:sym typeface="Calibri"/>
            </a:endParaRPr>
          </a:p>
          <a:p>
            <a:pPr marL="550545" lvl="0" indent="0" algn="l" rtl="0">
              <a:lnSpc>
                <a:spcPct val="100000"/>
              </a:lnSpc>
              <a:spcBef>
                <a:spcPts val="409"/>
              </a:spcBef>
              <a:spcAft>
                <a:spcPts val="0"/>
              </a:spcAft>
              <a:buNone/>
            </a:pPr>
            <a:r>
              <a:rPr lang="en-US" sz="1800">
                <a:solidFill>
                  <a:srgbClr val="575757"/>
                </a:solidFill>
                <a:latin typeface="Calibri"/>
                <a:ea typeface="Calibri"/>
                <a:cs typeface="Calibri"/>
                <a:sym typeface="Calibri"/>
              </a:rPr>
              <a:t>int matrix[ ][ ];</a:t>
            </a:r>
            <a:endParaRPr sz="1800">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grpSp>
        <p:nvGrpSpPr>
          <p:cNvPr id="129" name="Google Shape;129;p9"/>
          <p:cNvGrpSpPr/>
          <p:nvPr/>
        </p:nvGrpSpPr>
        <p:grpSpPr>
          <a:xfrm>
            <a:off x="1377696" y="658368"/>
            <a:ext cx="10814050" cy="6199630"/>
            <a:chOff x="1377696" y="658368"/>
            <a:chExt cx="10814050" cy="6199630"/>
          </a:xfrm>
        </p:grpSpPr>
        <p:sp>
          <p:nvSpPr>
            <p:cNvPr id="130" name="Google Shape;130;p9"/>
            <p:cNvSpPr/>
            <p:nvPr/>
          </p:nvSpPr>
          <p:spPr>
            <a:xfrm>
              <a:off x="11817096" y="758952"/>
              <a:ext cx="374650" cy="5330825"/>
            </a:xfrm>
            <a:custGeom>
              <a:avLst/>
              <a:gdLst/>
              <a:ahLst/>
              <a:cxnLst/>
              <a:rect l="l" t="t" r="r" b="b"/>
              <a:pathLst>
                <a:path w="374650" h="5330825" extrusionOk="0">
                  <a:moveTo>
                    <a:pt x="374523" y="0"/>
                  </a:moveTo>
                  <a:lnTo>
                    <a:pt x="0" y="0"/>
                  </a:lnTo>
                  <a:lnTo>
                    <a:pt x="0" y="5330444"/>
                  </a:lnTo>
                  <a:lnTo>
                    <a:pt x="374523" y="5330444"/>
                  </a:lnTo>
                  <a:lnTo>
                    <a:pt x="374523" y="0"/>
                  </a:lnTo>
                  <a:close/>
                </a:path>
              </a:pathLst>
            </a:custGeom>
            <a:solidFill>
              <a:srgbClr val="C6C6C6">
                <a:alpha val="49411"/>
              </a:srgbClr>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131" name="Google Shape;131;p9"/>
            <p:cNvPicPr preferRelativeResize="0"/>
            <p:nvPr/>
          </p:nvPicPr>
          <p:blipFill rotWithShape="1">
            <a:blip r:embed="rId3">
              <a:alphaModFix/>
            </a:blip>
            <a:srcRect/>
            <a:stretch/>
          </p:blipFill>
          <p:spPr>
            <a:xfrm>
              <a:off x="3459480" y="658368"/>
              <a:ext cx="8596884" cy="3075431"/>
            </a:xfrm>
            <a:prstGeom prst="rect">
              <a:avLst/>
            </a:prstGeom>
            <a:noFill/>
            <a:ln>
              <a:noFill/>
            </a:ln>
          </p:spPr>
        </p:pic>
        <p:pic>
          <p:nvPicPr>
            <p:cNvPr id="132" name="Google Shape;132;p9"/>
            <p:cNvPicPr preferRelativeResize="0"/>
            <p:nvPr/>
          </p:nvPicPr>
          <p:blipFill rotWithShape="1">
            <a:blip r:embed="rId4">
              <a:alphaModFix/>
            </a:blip>
            <a:srcRect/>
            <a:stretch/>
          </p:blipFill>
          <p:spPr>
            <a:xfrm>
              <a:off x="1377696" y="4334254"/>
              <a:ext cx="10668000" cy="2523744"/>
            </a:xfrm>
            <a:prstGeom prst="rect">
              <a:avLst/>
            </a:prstGeom>
            <a:noFill/>
            <a:ln>
              <a:noFill/>
            </a:ln>
          </p:spPr>
        </p:pic>
      </p:grpSp>
      <p:sp>
        <p:nvSpPr>
          <p:cNvPr id="133" name="Google Shape;133;p9"/>
          <p:cNvSpPr txBox="1">
            <a:spLocks noGrp="1"/>
          </p:cNvSpPr>
          <p:nvPr>
            <p:ph type="title"/>
          </p:nvPr>
        </p:nvSpPr>
        <p:spPr>
          <a:xfrm>
            <a:off x="331419" y="2582417"/>
            <a:ext cx="2420620" cy="1565275"/>
          </a:xfrm>
          <a:prstGeom prst="rect">
            <a:avLst/>
          </a:prstGeom>
          <a:noFill/>
          <a:ln>
            <a:noFill/>
          </a:ln>
        </p:spPr>
        <p:txBody>
          <a:bodyPr spcFirstLastPara="1" wrap="square" lIns="0" tIns="66025" rIns="0" bIns="0" anchor="t" anchorCtr="0">
            <a:spAutoFit/>
          </a:bodyPr>
          <a:lstStyle/>
          <a:p>
            <a:pPr marL="12700" marR="5080" lvl="0" indent="0" algn="l" rtl="0">
              <a:lnSpc>
                <a:spcPct val="90300"/>
              </a:lnSpc>
              <a:spcBef>
                <a:spcPts val="0"/>
              </a:spcBef>
              <a:spcAft>
                <a:spcPts val="0"/>
              </a:spcAft>
              <a:buNone/>
            </a:pPr>
            <a:r>
              <a:rPr lang="en-US"/>
              <a:t>Two- Dimensional Array</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10"/>
          <p:cNvSpPr txBox="1"/>
          <p:nvPr/>
        </p:nvSpPr>
        <p:spPr>
          <a:xfrm>
            <a:off x="331419" y="2582417"/>
            <a:ext cx="2508250" cy="1565275"/>
          </a:xfrm>
          <a:prstGeom prst="rect">
            <a:avLst/>
          </a:prstGeom>
          <a:noFill/>
          <a:ln>
            <a:noFill/>
          </a:ln>
        </p:spPr>
        <p:txBody>
          <a:bodyPr spcFirstLastPara="1" wrap="square" lIns="0" tIns="66025" rIns="0" bIns="0" anchor="t" anchorCtr="0">
            <a:spAutoFit/>
          </a:bodyPr>
          <a:lstStyle/>
          <a:p>
            <a:pPr marL="12700" marR="5080" lvl="0" indent="0" algn="l" rtl="0">
              <a:lnSpc>
                <a:spcPct val="90300"/>
              </a:lnSpc>
              <a:spcBef>
                <a:spcPts val="0"/>
              </a:spcBef>
              <a:spcAft>
                <a:spcPts val="0"/>
              </a:spcAft>
              <a:buNone/>
            </a:pPr>
            <a:r>
              <a:rPr lang="en-US" sz="3600" b="1">
                <a:solidFill>
                  <a:srgbClr val="FFFFFF"/>
                </a:solidFill>
                <a:latin typeface="Trebuchet MS"/>
                <a:ea typeface="Trebuchet MS"/>
                <a:cs typeface="Trebuchet MS"/>
                <a:sym typeface="Trebuchet MS"/>
              </a:rPr>
              <a:t>Obtaining length of2-D Array</a:t>
            </a:r>
            <a:endParaRPr sz="3600">
              <a:latin typeface="Trebuchet MS"/>
              <a:ea typeface="Trebuchet MS"/>
              <a:cs typeface="Trebuchet MS"/>
              <a:sym typeface="Trebuchet MS"/>
            </a:endParaRPr>
          </a:p>
        </p:txBody>
      </p:sp>
      <p:pic>
        <p:nvPicPr>
          <p:cNvPr id="139" name="Google Shape;139;p10"/>
          <p:cNvPicPr preferRelativeResize="0"/>
          <p:nvPr/>
        </p:nvPicPr>
        <p:blipFill rotWithShape="1">
          <a:blip r:embed="rId3">
            <a:alphaModFix/>
          </a:blip>
          <a:srcRect/>
          <a:stretch/>
        </p:blipFill>
        <p:spPr>
          <a:xfrm>
            <a:off x="3961765" y="1040638"/>
            <a:ext cx="128015" cy="310896"/>
          </a:xfrm>
          <a:prstGeom prst="rect">
            <a:avLst/>
          </a:prstGeom>
          <a:noFill/>
          <a:ln>
            <a:noFill/>
          </a:ln>
        </p:spPr>
      </p:pic>
      <p:sp>
        <p:nvSpPr>
          <p:cNvPr id="140" name="Google Shape;140;p10"/>
          <p:cNvSpPr txBox="1"/>
          <p:nvPr/>
        </p:nvSpPr>
        <p:spPr>
          <a:xfrm>
            <a:off x="4086225" y="998981"/>
            <a:ext cx="375920" cy="36068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2200">
                <a:solidFill>
                  <a:srgbClr val="575757"/>
                </a:solidFill>
                <a:latin typeface="Arial"/>
                <a:ea typeface="Arial"/>
                <a:cs typeface="Arial"/>
                <a:sym typeface="Arial"/>
              </a:rPr>
              <a:t>Ex:</a:t>
            </a:r>
            <a:endParaRPr sz="2200">
              <a:latin typeface="Arial"/>
              <a:ea typeface="Arial"/>
              <a:cs typeface="Arial"/>
              <a:sym typeface="Arial"/>
            </a:endParaRPr>
          </a:p>
        </p:txBody>
      </p:sp>
      <p:pic>
        <p:nvPicPr>
          <p:cNvPr id="141" name="Google Shape;141;p10"/>
          <p:cNvPicPr preferRelativeResize="0"/>
          <p:nvPr/>
        </p:nvPicPr>
        <p:blipFill rotWithShape="1">
          <a:blip r:embed="rId3">
            <a:alphaModFix/>
          </a:blip>
          <a:srcRect/>
          <a:stretch/>
        </p:blipFill>
        <p:spPr>
          <a:xfrm>
            <a:off x="3961765" y="1494104"/>
            <a:ext cx="128015" cy="311200"/>
          </a:xfrm>
          <a:prstGeom prst="rect">
            <a:avLst/>
          </a:prstGeom>
          <a:noFill/>
          <a:ln>
            <a:noFill/>
          </a:ln>
        </p:spPr>
      </p:pic>
      <p:sp>
        <p:nvSpPr>
          <p:cNvPr id="142" name="Google Shape;142;p10"/>
          <p:cNvSpPr txBox="1">
            <a:spLocks noGrp="1"/>
          </p:cNvSpPr>
          <p:nvPr>
            <p:ph type="ctrTitle"/>
          </p:nvPr>
        </p:nvSpPr>
        <p:spPr>
          <a:xfrm>
            <a:off x="4096892" y="1452448"/>
            <a:ext cx="6573520" cy="964564"/>
          </a:xfrm>
          <a:prstGeom prst="rect">
            <a:avLst/>
          </a:prstGeom>
          <a:noFill/>
          <a:ln>
            <a:noFill/>
          </a:ln>
        </p:spPr>
        <p:txBody>
          <a:bodyPr spcFirstLastPara="1" wrap="square" lIns="0" tIns="45700" rIns="0" bIns="0" anchor="t" anchorCtr="0">
            <a:spAutoFit/>
          </a:bodyPr>
          <a:lstStyle/>
          <a:p>
            <a:pPr marL="47625" marR="5080" lvl="0" indent="-35560" algn="just" rtl="0">
              <a:lnSpc>
                <a:spcPct val="90100"/>
              </a:lnSpc>
              <a:spcBef>
                <a:spcPts val="0"/>
              </a:spcBef>
              <a:spcAft>
                <a:spcPts val="0"/>
              </a:spcAft>
              <a:buNone/>
            </a:pPr>
            <a:r>
              <a:rPr lang="en-US" sz="2200" b="0">
                <a:solidFill>
                  <a:srgbClr val="575757"/>
                </a:solidFill>
                <a:latin typeface="Arial"/>
                <a:ea typeface="Arial"/>
                <a:cs typeface="Arial"/>
                <a:sym typeface="Arial"/>
              </a:rPr>
              <a:t>x = new int[3][4], x[0], x[1], and x[2] are one-dimensional arrays and each contains four elements. So, x.length is 3, and x[0].length, x[1].length, and x[2].length are 4.</a:t>
            </a:r>
            <a:endParaRPr sz="2200">
              <a:latin typeface="Arial"/>
              <a:ea typeface="Arial"/>
              <a:cs typeface="Arial"/>
              <a:sym typeface="Arial"/>
            </a:endParaRPr>
          </a:p>
        </p:txBody>
      </p:sp>
      <p:pic>
        <p:nvPicPr>
          <p:cNvPr id="143" name="Google Shape;143;p10"/>
          <p:cNvPicPr preferRelativeResize="0"/>
          <p:nvPr/>
        </p:nvPicPr>
        <p:blipFill rotWithShape="1">
          <a:blip r:embed="rId4">
            <a:alphaModFix/>
          </a:blip>
          <a:srcRect/>
          <a:stretch/>
        </p:blipFill>
        <p:spPr>
          <a:xfrm>
            <a:off x="4117847" y="3392423"/>
            <a:ext cx="7132320" cy="216407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11"/>
          <p:cNvSpPr txBox="1"/>
          <p:nvPr/>
        </p:nvSpPr>
        <p:spPr>
          <a:xfrm>
            <a:off x="3569334" y="407619"/>
            <a:ext cx="6148705" cy="6031865"/>
          </a:xfrm>
          <a:prstGeom prst="rect">
            <a:avLst/>
          </a:prstGeom>
          <a:noFill/>
          <a:ln>
            <a:noFill/>
          </a:ln>
        </p:spPr>
        <p:txBody>
          <a:bodyPr spcFirstLastPara="1" wrap="square" lIns="0" tIns="12700" rIns="0" bIns="0" anchor="t" anchorCtr="0">
            <a:spAutoFit/>
          </a:bodyPr>
          <a:lstStyle/>
          <a:p>
            <a:pPr marL="393700" lvl="0" indent="0" algn="l" rtl="0">
              <a:lnSpc>
                <a:spcPct val="100000"/>
              </a:lnSpc>
              <a:spcBef>
                <a:spcPts val="0"/>
              </a:spcBef>
              <a:spcAft>
                <a:spcPts val="0"/>
              </a:spcAft>
              <a:buNone/>
            </a:pPr>
            <a:r>
              <a:rPr lang="en-US" sz="1800">
                <a:solidFill>
                  <a:srgbClr val="575757"/>
                </a:solidFill>
                <a:latin typeface="Arial"/>
                <a:ea typeface="Arial"/>
                <a:cs typeface="Arial"/>
                <a:sym typeface="Arial"/>
              </a:rPr>
              <a:t>class MultidimensionalArray {</a:t>
            </a:r>
            <a:endParaRPr sz="1800">
              <a:latin typeface="Arial"/>
              <a:ea typeface="Arial"/>
              <a:cs typeface="Arial"/>
              <a:sym typeface="Arial"/>
            </a:endParaRPr>
          </a:p>
          <a:p>
            <a:pPr marL="647700" lvl="0" indent="0" algn="l" rtl="0">
              <a:lnSpc>
                <a:spcPct val="100000"/>
              </a:lnSpc>
              <a:spcBef>
                <a:spcPts val="5"/>
              </a:spcBef>
              <a:spcAft>
                <a:spcPts val="0"/>
              </a:spcAft>
              <a:buNone/>
            </a:pPr>
            <a:r>
              <a:rPr lang="en-US" sz="1800">
                <a:solidFill>
                  <a:srgbClr val="575757"/>
                </a:solidFill>
                <a:latin typeface="Arial"/>
                <a:ea typeface="Arial"/>
                <a:cs typeface="Arial"/>
                <a:sym typeface="Arial"/>
              </a:rPr>
              <a:t>public static void main(String[] args) {</a:t>
            </a:r>
            <a:endParaRPr sz="1800">
              <a:latin typeface="Arial"/>
              <a:ea typeface="Arial"/>
              <a:cs typeface="Arial"/>
              <a:sym typeface="Arial"/>
            </a:endParaRPr>
          </a:p>
          <a:p>
            <a:pPr marL="0" lvl="0" indent="0" algn="l" rtl="0">
              <a:lnSpc>
                <a:spcPct val="100000"/>
              </a:lnSpc>
              <a:spcBef>
                <a:spcPts val="85"/>
              </a:spcBef>
              <a:spcAft>
                <a:spcPts val="0"/>
              </a:spcAft>
              <a:buNone/>
            </a:pPr>
            <a:endParaRPr sz="1800">
              <a:latin typeface="Arial"/>
              <a:ea typeface="Arial"/>
              <a:cs typeface="Arial"/>
              <a:sym typeface="Arial"/>
            </a:endParaRPr>
          </a:p>
          <a:p>
            <a:pPr marL="901064" marR="3322320" lvl="0" indent="0" algn="l" rtl="0">
              <a:lnSpc>
                <a:spcPct val="100000"/>
              </a:lnSpc>
              <a:spcBef>
                <a:spcPts val="5"/>
              </a:spcBef>
              <a:spcAft>
                <a:spcPts val="0"/>
              </a:spcAft>
              <a:buNone/>
            </a:pPr>
            <a:r>
              <a:rPr lang="en-US" sz="1800">
                <a:solidFill>
                  <a:srgbClr val="575757"/>
                </a:solidFill>
                <a:latin typeface="Arial"/>
                <a:ea typeface="Arial"/>
                <a:cs typeface="Arial"/>
                <a:sym typeface="Arial"/>
              </a:rPr>
              <a:t>// create a 2d array int[][] a = {</a:t>
            </a:r>
            <a:endParaRPr sz="1800">
              <a:latin typeface="Arial"/>
              <a:ea typeface="Arial"/>
              <a:cs typeface="Arial"/>
              <a:sym typeface="Arial"/>
            </a:endParaRPr>
          </a:p>
          <a:p>
            <a:pPr marL="1155700" lvl="0" indent="0" algn="l" rtl="0">
              <a:lnSpc>
                <a:spcPct val="100000"/>
              </a:lnSpc>
              <a:spcBef>
                <a:spcPts val="0"/>
              </a:spcBef>
              <a:spcAft>
                <a:spcPts val="0"/>
              </a:spcAft>
              <a:buNone/>
            </a:pPr>
            <a:r>
              <a:rPr lang="en-US" sz="1800">
                <a:solidFill>
                  <a:srgbClr val="575757"/>
                </a:solidFill>
                <a:latin typeface="Arial"/>
                <a:ea typeface="Arial"/>
                <a:cs typeface="Arial"/>
                <a:sym typeface="Arial"/>
              </a:rPr>
              <a:t>{1, 2, 3},</a:t>
            </a:r>
            <a:endParaRPr sz="1800">
              <a:latin typeface="Arial"/>
              <a:ea typeface="Arial"/>
              <a:cs typeface="Arial"/>
              <a:sym typeface="Arial"/>
            </a:endParaRPr>
          </a:p>
          <a:p>
            <a:pPr marL="1155700" lvl="0" indent="0" algn="l" rtl="0">
              <a:lnSpc>
                <a:spcPct val="100000"/>
              </a:lnSpc>
              <a:spcBef>
                <a:spcPts val="0"/>
              </a:spcBef>
              <a:spcAft>
                <a:spcPts val="0"/>
              </a:spcAft>
              <a:buNone/>
            </a:pPr>
            <a:r>
              <a:rPr lang="en-US" sz="1800">
                <a:solidFill>
                  <a:srgbClr val="575757"/>
                </a:solidFill>
                <a:latin typeface="Arial"/>
                <a:ea typeface="Arial"/>
                <a:cs typeface="Arial"/>
                <a:sym typeface="Arial"/>
              </a:rPr>
              <a:t>{4, 5, 6, 9},</a:t>
            </a:r>
            <a:endParaRPr sz="1800">
              <a:latin typeface="Arial"/>
              <a:ea typeface="Arial"/>
              <a:cs typeface="Arial"/>
              <a:sym typeface="Arial"/>
            </a:endParaRPr>
          </a:p>
          <a:p>
            <a:pPr marL="1155700" lvl="0" indent="0" algn="l" rtl="0">
              <a:lnSpc>
                <a:spcPct val="100000"/>
              </a:lnSpc>
              <a:spcBef>
                <a:spcPts val="0"/>
              </a:spcBef>
              <a:spcAft>
                <a:spcPts val="0"/>
              </a:spcAft>
              <a:buNone/>
            </a:pPr>
            <a:r>
              <a:rPr lang="en-US" sz="1800">
                <a:solidFill>
                  <a:srgbClr val="575757"/>
                </a:solidFill>
                <a:latin typeface="Arial"/>
                <a:ea typeface="Arial"/>
                <a:cs typeface="Arial"/>
                <a:sym typeface="Arial"/>
              </a:rPr>
              <a:t>{7},</a:t>
            </a:r>
            <a:endParaRPr sz="1800">
              <a:latin typeface="Arial"/>
              <a:ea typeface="Arial"/>
              <a:cs typeface="Arial"/>
              <a:sym typeface="Arial"/>
            </a:endParaRPr>
          </a:p>
          <a:p>
            <a:pPr marL="901064" lvl="0" indent="0" algn="l" rtl="0">
              <a:lnSpc>
                <a:spcPct val="100000"/>
              </a:lnSpc>
              <a:spcBef>
                <a:spcPts val="0"/>
              </a:spcBef>
              <a:spcAft>
                <a:spcPts val="0"/>
              </a:spcAft>
              <a:buNone/>
            </a:pPr>
            <a:r>
              <a:rPr lang="en-US" sz="1800">
                <a:solidFill>
                  <a:srgbClr val="575757"/>
                </a:solidFill>
                <a:latin typeface="Arial"/>
                <a:ea typeface="Arial"/>
                <a:cs typeface="Arial"/>
                <a:sym typeface="Arial"/>
              </a:rPr>
              <a:t>};</a:t>
            </a:r>
            <a:endParaRPr sz="1800">
              <a:latin typeface="Arial"/>
              <a:ea typeface="Arial"/>
              <a:cs typeface="Arial"/>
              <a:sym typeface="Arial"/>
            </a:endParaRPr>
          </a:p>
          <a:p>
            <a:pPr marL="0" lvl="0" indent="0" algn="l" rtl="0">
              <a:lnSpc>
                <a:spcPct val="100000"/>
              </a:lnSpc>
              <a:spcBef>
                <a:spcPts val="90"/>
              </a:spcBef>
              <a:spcAft>
                <a:spcPts val="0"/>
              </a:spcAft>
              <a:buNone/>
            </a:pPr>
            <a:endParaRPr sz="1800">
              <a:latin typeface="Arial"/>
              <a:ea typeface="Arial"/>
              <a:cs typeface="Arial"/>
              <a:sym typeface="Arial"/>
            </a:endParaRPr>
          </a:p>
          <a:p>
            <a:pPr marL="901064" marR="5080" lvl="0" indent="0" algn="l" rtl="0">
              <a:lnSpc>
                <a:spcPct val="100000"/>
              </a:lnSpc>
              <a:spcBef>
                <a:spcPts val="0"/>
              </a:spcBef>
              <a:spcAft>
                <a:spcPts val="0"/>
              </a:spcAft>
              <a:buNone/>
            </a:pPr>
            <a:r>
              <a:rPr lang="en-US" sz="1800">
                <a:solidFill>
                  <a:srgbClr val="575757"/>
                </a:solidFill>
                <a:latin typeface="Arial"/>
                <a:ea typeface="Arial"/>
                <a:cs typeface="Arial"/>
                <a:sym typeface="Arial"/>
              </a:rPr>
              <a:t>// calculate the length of each row System.out.println("Length of row 1: " + a[0].length); System.out.println("Length of row 2: " + a[1].length); System.out.println("Length of row 3: " + a[2].length);</a:t>
            </a:r>
            <a:endParaRPr sz="1800">
              <a:latin typeface="Arial"/>
              <a:ea typeface="Arial"/>
              <a:cs typeface="Arial"/>
              <a:sym typeface="Arial"/>
            </a:endParaRPr>
          </a:p>
          <a:p>
            <a:pPr marL="647700" lvl="0" indent="0" algn="l" rtl="0">
              <a:lnSpc>
                <a:spcPct val="100000"/>
              </a:lnSpc>
              <a:spcBef>
                <a:spcPts val="5"/>
              </a:spcBef>
              <a:spcAft>
                <a:spcPts val="0"/>
              </a:spcAft>
              <a:buNone/>
            </a:pPr>
            <a:r>
              <a:rPr lang="en-US" sz="1800">
                <a:solidFill>
                  <a:srgbClr val="575757"/>
                </a:solidFill>
                <a:latin typeface="Arial"/>
                <a:ea typeface="Arial"/>
                <a:cs typeface="Arial"/>
                <a:sym typeface="Arial"/>
              </a:rPr>
              <a:t>}</a:t>
            </a:r>
            <a:endParaRPr sz="1800">
              <a:latin typeface="Arial"/>
              <a:ea typeface="Arial"/>
              <a:cs typeface="Arial"/>
              <a:sym typeface="Arial"/>
            </a:endParaRPr>
          </a:p>
          <a:p>
            <a:pPr marL="393700" lvl="0" indent="0" algn="l" rtl="0">
              <a:lnSpc>
                <a:spcPct val="100000"/>
              </a:lnSpc>
              <a:spcBef>
                <a:spcPts val="0"/>
              </a:spcBef>
              <a:spcAft>
                <a:spcPts val="0"/>
              </a:spcAft>
              <a:buNone/>
            </a:pPr>
            <a:r>
              <a:rPr lang="en-US" sz="1800">
                <a:solidFill>
                  <a:srgbClr val="575757"/>
                </a:solidFill>
                <a:latin typeface="Arial"/>
                <a:ea typeface="Arial"/>
                <a:cs typeface="Arial"/>
                <a:sym typeface="Arial"/>
              </a:rPr>
              <a:t>}</a:t>
            </a:r>
            <a:endParaRPr sz="1800">
              <a:latin typeface="Arial"/>
              <a:ea typeface="Arial"/>
              <a:cs typeface="Arial"/>
              <a:sym typeface="Arial"/>
            </a:endParaRPr>
          </a:p>
          <a:p>
            <a:pPr marL="0" lvl="0" indent="0" algn="l" rtl="0">
              <a:lnSpc>
                <a:spcPct val="100000"/>
              </a:lnSpc>
              <a:spcBef>
                <a:spcPts val="2010"/>
              </a:spcBef>
              <a:spcAft>
                <a:spcPts val="0"/>
              </a:spcAft>
              <a:buNone/>
            </a:pPr>
            <a:endParaRPr sz="1800">
              <a:latin typeface="Arial"/>
              <a:ea typeface="Arial"/>
              <a:cs typeface="Arial"/>
              <a:sym typeface="Arial"/>
            </a:endParaRPr>
          </a:p>
          <a:p>
            <a:pPr marL="12700" lvl="0" indent="0" algn="l" rtl="0">
              <a:lnSpc>
                <a:spcPct val="100000"/>
              </a:lnSpc>
              <a:spcBef>
                <a:spcPts val="0"/>
              </a:spcBef>
              <a:spcAft>
                <a:spcPts val="0"/>
              </a:spcAft>
              <a:buNone/>
            </a:pPr>
            <a:r>
              <a:rPr lang="en-US" sz="1800" b="1" u="sng">
                <a:solidFill>
                  <a:srgbClr val="575757"/>
                </a:solidFill>
                <a:latin typeface="Arial"/>
                <a:ea typeface="Arial"/>
                <a:cs typeface="Arial"/>
                <a:sym typeface="Arial"/>
              </a:rPr>
              <a:t>OUTPUT</a:t>
            </a:r>
            <a:endParaRPr sz="1800">
              <a:latin typeface="Arial"/>
              <a:ea typeface="Arial"/>
              <a:cs typeface="Arial"/>
              <a:sym typeface="Arial"/>
            </a:endParaRPr>
          </a:p>
          <a:p>
            <a:pPr marL="12700" lvl="0" indent="0" algn="l" rtl="0">
              <a:lnSpc>
                <a:spcPct val="100000"/>
              </a:lnSpc>
              <a:spcBef>
                <a:spcPts val="0"/>
              </a:spcBef>
              <a:spcAft>
                <a:spcPts val="0"/>
              </a:spcAft>
              <a:buNone/>
            </a:pPr>
            <a:r>
              <a:rPr lang="en-US" sz="1800">
                <a:solidFill>
                  <a:srgbClr val="575757"/>
                </a:solidFill>
                <a:latin typeface="Arial"/>
                <a:ea typeface="Arial"/>
                <a:cs typeface="Arial"/>
                <a:sym typeface="Arial"/>
              </a:rPr>
              <a:t>Length of row 1: 3</a:t>
            </a:r>
            <a:endParaRPr sz="1800">
              <a:latin typeface="Arial"/>
              <a:ea typeface="Arial"/>
              <a:cs typeface="Arial"/>
              <a:sym typeface="Arial"/>
            </a:endParaRPr>
          </a:p>
          <a:p>
            <a:pPr marL="12700" lvl="0" indent="0" algn="l" rtl="0">
              <a:lnSpc>
                <a:spcPct val="100000"/>
              </a:lnSpc>
              <a:spcBef>
                <a:spcPts val="0"/>
              </a:spcBef>
              <a:spcAft>
                <a:spcPts val="0"/>
              </a:spcAft>
              <a:buNone/>
            </a:pPr>
            <a:r>
              <a:rPr lang="en-US" sz="1800">
                <a:solidFill>
                  <a:srgbClr val="575757"/>
                </a:solidFill>
                <a:latin typeface="Arial"/>
                <a:ea typeface="Arial"/>
                <a:cs typeface="Arial"/>
                <a:sym typeface="Arial"/>
              </a:rPr>
              <a:t>Length of row 2: 4</a:t>
            </a:r>
            <a:endParaRPr sz="1800">
              <a:latin typeface="Arial"/>
              <a:ea typeface="Arial"/>
              <a:cs typeface="Arial"/>
              <a:sym typeface="Arial"/>
            </a:endParaRPr>
          </a:p>
          <a:p>
            <a:pPr marL="12700" lvl="0" indent="0" algn="l" rtl="0">
              <a:lnSpc>
                <a:spcPct val="100000"/>
              </a:lnSpc>
              <a:spcBef>
                <a:spcPts val="0"/>
              </a:spcBef>
              <a:spcAft>
                <a:spcPts val="0"/>
              </a:spcAft>
              <a:buNone/>
            </a:pPr>
            <a:r>
              <a:rPr lang="en-US" sz="1800">
                <a:solidFill>
                  <a:srgbClr val="575757"/>
                </a:solidFill>
                <a:latin typeface="Arial"/>
                <a:ea typeface="Arial"/>
                <a:cs typeface="Arial"/>
                <a:sym typeface="Arial"/>
              </a:rPr>
              <a:t>Length of row 3: 1</a:t>
            </a:r>
            <a:endParaRPr sz="1800">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12"/>
          <p:cNvSpPr/>
          <p:nvPr/>
        </p:nvSpPr>
        <p:spPr>
          <a:xfrm>
            <a:off x="11817095" y="758951"/>
            <a:ext cx="374650" cy="5330825"/>
          </a:xfrm>
          <a:custGeom>
            <a:avLst/>
            <a:gdLst/>
            <a:ahLst/>
            <a:cxnLst/>
            <a:rect l="l" t="t" r="r" b="b"/>
            <a:pathLst>
              <a:path w="374650" h="5330825" extrusionOk="0">
                <a:moveTo>
                  <a:pt x="374523" y="0"/>
                </a:moveTo>
                <a:lnTo>
                  <a:pt x="0" y="0"/>
                </a:lnTo>
                <a:lnTo>
                  <a:pt x="0" y="5330444"/>
                </a:lnTo>
                <a:lnTo>
                  <a:pt x="374523" y="5330444"/>
                </a:lnTo>
                <a:lnTo>
                  <a:pt x="374523" y="0"/>
                </a:lnTo>
                <a:close/>
              </a:path>
            </a:pathLst>
          </a:custGeom>
          <a:solidFill>
            <a:srgbClr val="C6C6C6">
              <a:alpha val="49411"/>
            </a:srgbClr>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154" name="Google Shape;154;p12"/>
          <p:cNvSpPr txBox="1">
            <a:spLocks noGrp="1"/>
          </p:cNvSpPr>
          <p:nvPr>
            <p:ph type="title"/>
          </p:nvPr>
        </p:nvSpPr>
        <p:spPr>
          <a:xfrm>
            <a:off x="3493134" y="1200658"/>
            <a:ext cx="7760970" cy="574040"/>
          </a:xfrm>
          <a:prstGeom prst="rect">
            <a:avLst/>
          </a:prstGeom>
          <a:noFill/>
          <a:ln>
            <a:noFill/>
          </a:ln>
        </p:spPr>
        <p:txBody>
          <a:bodyPr spcFirstLastPara="1" wrap="square" lIns="0" tIns="12700" rIns="0" bIns="0" anchor="t" anchorCtr="0">
            <a:spAutoFit/>
          </a:bodyPr>
          <a:lstStyle/>
          <a:p>
            <a:pPr marL="12700" marR="5080" lvl="0" indent="0" algn="l" rtl="0">
              <a:lnSpc>
                <a:spcPct val="100000"/>
              </a:lnSpc>
              <a:spcBef>
                <a:spcPts val="0"/>
              </a:spcBef>
              <a:spcAft>
                <a:spcPts val="0"/>
              </a:spcAft>
              <a:buNone/>
            </a:pPr>
            <a:r>
              <a:rPr lang="en-US" sz="1800" b="0">
                <a:solidFill>
                  <a:srgbClr val="000000"/>
                </a:solidFill>
                <a:latin typeface="Cambria"/>
                <a:ea typeface="Cambria"/>
                <a:cs typeface="Cambria"/>
                <a:sym typeface="Cambria"/>
              </a:rPr>
              <a:t>String is basically an object that represents sequence of char values. An array of characters works same as Java string.</a:t>
            </a:r>
            <a:endParaRPr sz="1800">
              <a:latin typeface="Cambria"/>
              <a:ea typeface="Cambria"/>
              <a:cs typeface="Cambria"/>
              <a:sym typeface="Cambria"/>
            </a:endParaRPr>
          </a:p>
        </p:txBody>
      </p:sp>
      <p:sp>
        <p:nvSpPr>
          <p:cNvPr id="155" name="Google Shape;155;p12"/>
          <p:cNvSpPr txBox="1"/>
          <p:nvPr/>
        </p:nvSpPr>
        <p:spPr>
          <a:xfrm>
            <a:off x="3493134" y="2023313"/>
            <a:ext cx="4182745" cy="57531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800" b="1">
                <a:solidFill>
                  <a:srgbClr val="006699"/>
                </a:solidFill>
                <a:latin typeface="Cambria"/>
                <a:ea typeface="Cambria"/>
                <a:cs typeface="Cambria"/>
                <a:sym typeface="Cambria"/>
              </a:rPr>
              <a:t>char</a:t>
            </a:r>
            <a:r>
              <a:rPr lang="en-US" sz="1800">
                <a:latin typeface="Cambria"/>
                <a:ea typeface="Cambria"/>
                <a:cs typeface="Cambria"/>
                <a:sym typeface="Cambria"/>
              </a:rPr>
              <a:t>[] ch={</a:t>
            </a:r>
            <a:r>
              <a:rPr lang="en-US" sz="1800">
                <a:solidFill>
                  <a:srgbClr val="0000FF"/>
                </a:solidFill>
                <a:latin typeface="Cambria"/>
                <a:ea typeface="Cambria"/>
                <a:cs typeface="Cambria"/>
                <a:sym typeface="Cambria"/>
              </a:rPr>
              <a:t>'j'</a:t>
            </a:r>
            <a:r>
              <a:rPr lang="en-US" sz="1800">
                <a:latin typeface="Cambria"/>
                <a:ea typeface="Cambria"/>
                <a:cs typeface="Cambria"/>
                <a:sym typeface="Cambria"/>
              </a:rPr>
              <a:t>,</a:t>
            </a:r>
            <a:r>
              <a:rPr lang="en-US" sz="1800">
                <a:solidFill>
                  <a:srgbClr val="0000FF"/>
                </a:solidFill>
                <a:latin typeface="Cambria"/>
                <a:ea typeface="Cambria"/>
                <a:cs typeface="Cambria"/>
                <a:sym typeface="Cambria"/>
              </a:rPr>
              <a:t>'a'</a:t>
            </a:r>
            <a:r>
              <a:rPr lang="en-US" sz="1800">
                <a:latin typeface="Cambria"/>
                <a:ea typeface="Cambria"/>
                <a:cs typeface="Cambria"/>
                <a:sym typeface="Cambria"/>
              </a:rPr>
              <a:t>,</a:t>
            </a:r>
            <a:r>
              <a:rPr lang="en-US" sz="1800">
                <a:solidFill>
                  <a:srgbClr val="0000FF"/>
                </a:solidFill>
                <a:latin typeface="Cambria"/>
                <a:ea typeface="Cambria"/>
                <a:cs typeface="Cambria"/>
                <a:sym typeface="Cambria"/>
              </a:rPr>
              <a:t>'v'</a:t>
            </a:r>
            <a:r>
              <a:rPr lang="en-US" sz="1800">
                <a:latin typeface="Cambria"/>
                <a:ea typeface="Cambria"/>
                <a:cs typeface="Cambria"/>
                <a:sym typeface="Cambria"/>
              </a:rPr>
              <a:t>,</a:t>
            </a:r>
            <a:r>
              <a:rPr lang="en-US" sz="1800">
                <a:solidFill>
                  <a:srgbClr val="0000FF"/>
                </a:solidFill>
                <a:latin typeface="Cambria"/>
                <a:ea typeface="Cambria"/>
                <a:cs typeface="Cambria"/>
                <a:sym typeface="Cambria"/>
              </a:rPr>
              <a:t>'a'</a:t>
            </a:r>
            <a:r>
              <a:rPr lang="en-US" sz="1800">
                <a:latin typeface="Cambria"/>
                <a:ea typeface="Cambria"/>
                <a:cs typeface="Cambria"/>
                <a:sym typeface="Cambria"/>
              </a:rPr>
              <a:t>,</a:t>
            </a:r>
            <a:r>
              <a:rPr lang="en-US" sz="1800">
                <a:solidFill>
                  <a:srgbClr val="0000FF"/>
                </a:solidFill>
                <a:latin typeface="Cambria"/>
                <a:ea typeface="Cambria"/>
                <a:cs typeface="Cambria"/>
                <a:sym typeface="Cambria"/>
              </a:rPr>
              <a:t>'p'</a:t>
            </a:r>
            <a:r>
              <a:rPr lang="en-US" sz="1800">
                <a:latin typeface="Cambria"/>
                <a:ea typeface="Cambria"/>
                <a:cs typeface="Cambria"/>
                <a:sym typeface="Cambria"/>
              </a:rPr>
              <a:t>,</a:t>
            </a:r>
            <a:r>
              <a:rPr lang="en-US" sz="1800">
                <a:solidFill>
                  <a:srgbClr val="0000FF"/>
                </a:solidFill>
                <a:latin typeface="Cambria"/>
                <a:ea typeface="Cambria"/>
                <a:cs typeface="Cambria"/>
                <a:sym typeface="Cambria"/>
              </a:rPr>
              <a:t>‘r'</a:t>
            </a:r>
            <a:r>
              <a:rPr lang="en-US" sz="1800">
                <a:latin typeface="Cambria"/>
                <a:ea typeface="Cambria"/>
                <a:cs typeface="Cambria"/>
                <a:sym typeface="Cambria"/>
              </a:rPr>
              <a:t>,</a:t>
            </a:r>
            <a:r>
              <a:rPr lang="en-US" sz="1800">
                <a:solidFill>
                  <a:srgbClr val="0000FF"/>
                </a:solidFill>
                <a:latin typeface="Cambria"/>
                <a:ea typeface="Cambria"/>
                <a:cs typeface="Cambria"/>
                <a:sym typeface="Cambria"/>
              </a:rPr>
              <a:t>‘o'</a:t>
            </a:r>
            <a:r>
              <a:rPr lang="en-US" sz="1800">
                <a:latin typeface="Cambria"/>
                <a:ea typeface="Cambria"/>
                <a:cs typeface="Cambria"/>
                <a:sym typeface="Cambria"/>
              </a:rPr>
              <a:t>,</a:t>
            </a:r>
            <a:r>
              <a:rPr lang="en-US" sz="1800">
                <a:solidFill>
                  <a:srgbClr val="0000FF"/>
                </a:solidFill>
                <a:latin typeface="Cambria"/>
                <a:ea typeface="Cambria"/>
                <a:cs typeface="Cambria"/>
                <a:sym typeface="Cambria"/>
              </a:rPr>
              <a:t>‘g'</a:t>
            </a:r>
            <a:r>
              <a:rPr lang="en-US" sz="1800">
                <a:latin typeface="Cambria"/>
                <a:ea typeface="Cambria"/>
                <a:cs typeface="Cambria"/>
                <a:sym typeface="Cambria"/>
              </a:rPr>
              <a:t>,</a:t>
            </a:r>
            <a:r>
              <a:rPr lang="en-US" sz="1800">
                <a:solidFill>
                  <a:srgbClr val="0000FF"/>
                </a:solidFill>
                <a:latin typeface="Cambria"/>
                <a:ea typeface="Cambria"/>
                <a:cs typeface="Cambria"/>
                <a:sym typeface="Cambria"/>
              </a:rPr>
              <a:t>‘r‘,’a’,’m’</a:t>
            </a:r>
            <a:r>
              <a:rPr lang="en-US" sz="1800">
                <a:latin typeface="Cambria"/>
                <a:ea typeface="Cambria"/>
                <a:cs typeface="Cambria"/>
                <a:sym typeface="Cambria"/>
              </a:rPr>
              <a:t>};</a:t>
            </a:r>
            <a:endParaRPr sz="1800">
              <a:latin typeface="Cambria"/>
              <a:ea typeface="Cambria"/>
              <a:cs typeface="Cambria"/>
              <a:sym typeface="Cambria"/>
            </a:endParaRPr>
          </a:p>
          <a:p>
            <a:pPr marL="12700" lvl="0" indent="0" algn="l" rtl="0">
              <a:lnSpc>
                <a:spcPct val="100000"/>
              </a:lnSpc>
              <a:spcBef>
                <a:spcPts val="5"/>
              </a:spcBef>
              <a:spcAft>
                <a:spcPts val="0"/>
              </a:spcAft>
              <a:buNone/>
            </a:pPr>
            <a:r>
              <a:rPr lang="en-US" sz="1800">
                <a:latin typeface="Cambria"/>
                <a:ea typeface="Cambria"/>
                <a:cs typeface="Cambria"/>
                <a:sym typeface="Cambria"/>
              </a:rPr>
              <a:t>String s=</a:t>
            </a:r>
            <a:r>
              <a:rPr lang="en-US" sz="1800" b="1">
                <a:solidFill>
                  <a:srgbClr val="006699"/>
                </a:solidFill>
                <a:latin typeface="Cambria"/>
                <a:ea typeface="Cambria"/>
                <a:cs typeface="Cambria"/>
                <a:sym typeface="Cambria"/>
              </a:rPr>
              <a:t>new </a:t>
            </a:r>
            <a:r>
              <a:rPr lang="en-US" sz="1800">
                <a:latin typeface="Cambria"/>
                <a:ea typeface="Cambria"/>
                <a:cs typeface="Cambria"/>
                <a:sym typeface="Cambria"/>
              </a:rPr>
              <a:t>String(ch);</a:t>
            </a:r>
            <a:endParaRPr sz="1800">
              <a:latin typeface="Cambria"/>
              <a:ea typeface="Cambria"/>
              <a:cs typeface="Cambria"/>
              <a:sym typeface="Cambria"/>
            </a:endParaRPr>
          </a:p>
        </p:txBody>
      </p:sp>
      <p:sp>
        <p:nvSpPr>
          <p:cNvPr id="156" name="Google Shape;156;p12"/>
          <p:cNvSpPr txBox="1"/>
          <p:nvPr/>
        </p:nvSpPr>
        <p:spPr>
          <a:xfrm>
            <a:off x="3493134" y="2846959"/>
            <a:ext cx="2381250" cy="57404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800" b="1">
                <a:latin typeface="Cambria"/>
                <a:ea typeface="Cambria"/>
                <a:cs typeface="Cambria"/>
                <a:sym typeface="Cambria"/>
              </a:rPr>
              <a:t>is same as</a:t>
            </a:r>
            <a:endParaRPr sz="1800">
              <a:latin typeface="Cambria"/>
              <a:ea typeface="Cambria"/>
              <a:cs typeface="Cambria"/>
              <a:sym typeface="Cambria"/>
            </a:endParaRPr>
          </a:p>
          <a:p>
            <a:pPr marL="12700" lvl="0" indent="0" algn="l" rtl="0">
              <a:lnSpc>
                <a:spcPct val="100000"/>
              </a:lnSpc>
              <a:spcBef>
                <a:spcPts val="0"/>
              </a:spcBef>
              <a:spcAft>
                <a:spcPts val="0"/>
              </a:spcAft>
              <a:buNone/>
            </a:pPr>
            <a:r>
              <a:rPr lang="en-US" sz="1800">
                <a:latin typeface="Cambria"/>
                <a:ea typeface="Cambria"/>
                <a:cs typeface="Cambria"/>
                <a:sym typeface="Cambria"/>
              </a:rPr>
              <a:t>String s=</a:t>
            </a:r>
            <a:r>
              <a:rPr lang="en-US" sz="1800">
                <a:solidFill>
                  <a:srgbClr val="0000FF"/>
                </a:solidFill>
                <a:latin typeface="Cambria"/>
                <a:ea typeface="Cambria"/>
                <a:cs typeface="Cambria"/>
                <a:sym typeface="Cambria"/>
              </a:rPr>
              <a:t>"javaprogram"</a:t>
            </a:r>
            <a:r>
              <a:rPr lang="en-US" sz="1800">
                <a:latin typeface="Cambria"/>
                <a:ea typeface="Cambria"/>
                <a:cs typeface="Cambria"/>
                <a:sym typeface="Cambria"/>
              </a:rPr>
              <a:t>;</a:t>
            </a:r>
            <a:endParaRPr sz="1800">
              <a:latin typeface="Cambria"/>
              <a:ea typeface="Cambria"/>
              <a:cs typeface="Cambria"/>
              <a:sym typeface="Cambria"/>
            </a:endParaRPr>
          </a:p>
        </p:txBody>
      </p:sp>
      <p:sp>
        <p:nvSpPr>
          <p:cNvPr id="157" name="Google Shape;157;p12"/>
          <p:cNvSpPr txBox="1"/>
          <p:nvPr/>
        </p:nvSpPr>
        <p:spPr>
          <a:xfrm>
            <a:off x="3493134" y="3670172"/>
            <a:ext cx="8022590" cy="848360"/>
          </a:xfrm>
          <a:prstGeom prst="rect">
            <a:avLst/>
          </a:prstGeom>
          <a:noFill/>
          <a:ln>
            <a:noFill/>
          </a:ln>
        </p:spPr>
        <p:txBody>
          <a:bodyPr spcFirstLastPara="1" wrap="square" lIns="0" tIns="12700" rIns="0" bIns="0" anchor="t" anchorCtr="0">
            <a:spAutoFit/>
          </a:bodyPr>
          <a:lstStyle/>
          <a:p>
            <a:pPr marL="12700" marR="5080" lvl="0" indent="0" algn="l" rtl="0">
              <a:lnSpc>
                <a:spcPct val="100000"/>
              </a:lnSpc>
              <a:spcBef>
                <a:spcPts val="0"/>
              </a:spcBef>
              <a:spcAft>
                <a:spcPts val="0"/>
              </a:spcAft>
              <a:buNone/>
            </a:pPr>
            <a:r>
              <a:rPr lang="en-US" sz="1800">
                <a:latin typeface="Cambria"/>
                <a:ea typeface="Cambria"/>
                <a:cs typeface="Cambria"/>
                <a:sym typeface="Cambria"/>
              </a:rPr>
              <a:t>J</a:t>
            </a:r>
            <a:r>
              <a:rPr lang="en-US" sz="1800" b="1">
                <a:solidFill>
                  <a:srgbClr val="333333"/>
                </a:solidFill>
                <a:latin typeface="Cambria"/>
                <a:ea typeface="Cambria"/>
                <a:cs typeface="Cambria"/>
                <a:sym typeface="Cambria"/>
              </a:rPr>
              <a:t>ava String </a:t>
            </a:r>
            <a:r>
              <a:rPr lang="en-US" sz="1800">
                <a:solidFill>
                  <a:srgbClr val="333333"/>
                </a:solidFill>
                <a:latin typeface="Cambria"/>
                <a:ea typeface="Cambria"/>
                <a:cs typeface="Cambria"/>
                <a:sym typeface="Cambria"/>
              </a:rPr>
              <a:t>class provides a lot of methods to perform operations on strings such as compare(), concat(), equals(), split(), length(), replace(), compareTo(), intern(), substring() etc.</a:t>
            </a:r>
            <a:endParaRPr sz="1800">
              <a:latin typeface="Cambria"/>
              <a:ea typeface="Cambria"/>
              <a:cs typeface="Cambria"/>
              <a:sym typeface="Cambria"/>
            </a:endParaRPr>
          </a:p>
        </p:txBody>
      </p:sp>
      <p:sp>
        <p:nvSpPr>
          <p:cNvPr id="158" name="Google Shape;158;p12"/>
          <p:cNvSpPr txBox="1"/>
          <p:nvPr/>
        </p:nvSpPr>
        <p:spPr>
          <a:xfrm>
            <a:off x="1278382" y="2634234"/>
            <a:ext cx="1601978" cy="566822"/>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3600" b="1" dirty="0">
                <a:solidFill>
                  <a:srgbClr val="FFFFFF"/>
                </a:solidFill>
                <a:latin typeface="Trebuchet MS"/>
                <a:ea typeface="Trebuchet MS"/>
                <a:cs typeface="Trebuchet MS"/>
                <a:sym typeface="Trebuchet MS"/>
              </a:rPr>
              <a:t>String</a:t>
            </a:r>
            <a:endParaRPr sz="3600" dirty="0">
              <a:latin typeface="Trebuchet MS"/>
              <a:ea typeface="Trebuchet MS"/>
              <a:cs typeface="Trebuchet MS"/>
              <a:sym typeface="Trebuchet M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13"/>
          <p:cNvSpPr/>
          <p:nvPr/>
        </p:nvSpPr>
        <p:spPr>
          <a:xfrm>
            <a:off x="11817095" y="758951"/>
            <a:ext cx="374650" cy="5330825"/>
          </a:xfrm>
          <a:custGeom>
            <a:avLst/>
            <a:gdLst/>
            <a:ahLst/>
            <a:cxnLst/>
            <a:rect l="l" t="t" r="r" b="b"/>
            <a:pathLst>
              <a:path w="374650" h="5330825" extrusionOk="0">
                <a:moveTo>
                  <a:pt x="374523" y="0"/>
                </a:moveTo>
                <a:lnTo>
                  <a:pt x="0" y="0"/>
                </a:lnTo>
                <a:lnTo>
                  <a:pt x="0" y="5330444"/>
                </a:lnTo>
                <a:lnTo>
                  <a:pt x="374523" y="5330444"/>
                </a:lnTo>
                <a:lnTo>
                  <a:pt x="374523" y="0"/>
                </a:lnTo>
                <a:close/>
              </a:path>
            </a:pathLst>
          </a:custGeom>
          <a:solidFill>
            <a:srgbClr val="C6C6C6">
              <a:alpha val="49411"/>
            </a:srgbClr>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164" name="Google Shape;164;p13"/>
          <p:cNvSpPr txBox="1"/>
          <p:nvPr/>
        </p:nvSpPr>
        <p:spPr>
          <a:xfrm>
            <a:off x="644144" y="3196589"/>
            <a:ext cx="2317750" cy="57404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3600" b="1">
                <a:solidFill>
                  <a:srgbClr val="FFFFFF"/>
                </a:solidFill>
                <a:latin typeface="Cambria"/>
                <a:ea typeface="Cambria"/>
                <a:cs typeface="Cambria"/>
                <a:sym typeface="Cambria"/>
              </a:rPr>
              <a:t>String Class</a:t>
            </a:r>
            <a:endParaRPr sz="3600">
              <a:latin typeface="Cambria"/>
              <a:ea typeface="Cambria"/>
              <a:cs typeface="Cambria"/>
              <a:sym typeface="Cambria"/>
            </a:endParaRPr>
          </a:p>
        </p:txBody>
      </p:sp>
      <p:sp>
        <p:nvSpPr>
          <p:cNvPr id="165" name="Google Shape;165;p13"/>
          <p:cNvSpPr txBox="1">
            <a:spLocks noGrp="1"/>
          </p:cNvSpPr>
          <p:nvPr>
            <p:ph type="title"/>
          </p:nvPr>
        </p:nvSpPr>
        <p:spPr>
          <a:xfrm>
            <a:off x="3904615" y="452373"/>
            <a:ext cx="7677785" cy="2898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800">
                <a:solidFill>
                  <a:srgbClr val="000000"/>
                </a:solidFill>
                <a:latin typeface="Cambria"/>
                <a:ea typeface="Cambria"/>
                <a:cs typeface="Cambria"/>
                <a:sym typeface="Cambria"/>
              </a:rPr>
              <a:t>java.lang.String </a:t>
            </a:r>
            <a:r>
              <a:rPr lang="en-US" sz="1800" b="0">
                <a:solidFill>
                  <a:srgbClr val="000000"/>
                </a:solidFill>
                <a:latin typeface="Cambria"/>
                <a:ea typeface="Cambria"/>
                <a:cs typeface="Cambria"/>
                <a:sym typeface="Cambria"/>
              </a:rPr>
              <a:t>class provides a lot of methods to work on a string.</a:t>
            </a:r>
            <a:endParaRPr sz="1800">
              <a:latin typeface="Cambria"/>
              <a:ea typeface="Cambria"/>
              <a:cs typeface="Cambria"/>
              <a:sym typeface="Cambria"/>
            </a:endParaRPr>
          </a:p>
        </p:txBody>
      </p:sp>
      <p:sp>
        <p:nvSpPr>
          <p:cNvPr id="166" name="Google Shape;166;p13"/>
          <p:cNvSpPr txBox="1"/>
          <p:nvPr/>
        </p:nvSpPr>
        <p:spPr>
          <a:xfrm>
            <a:off x="3943603" y="1233042"/>
            <a:ext cx="7257797" cy="57404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800">
                <a:latin typeface="Cambria"/>
                <a:ea typeface="Cambria"/>
                <a:cs typeface="Cambria"/>
                <a:sym typeface="Cambria"/>
              </a:rPr>
              <a:t>The java.lang.String class</a:t>
            </a:r>
            <a:endParaRPr sz="1800">
              <a:latin typeface="Cambria"/>
              <a:ea typeface="Cambria"/>
              <a:cs typeface="Cambria"/>
              <a:sym typeface="Cambria"/>
            </a:endParaRPr>
          </a:p>
          <a:p>
            <a:pPr marL="12700" lvl="0" indent="0" algn="l" rtl="0">
              <a:lnSpc>
                <a:spcPct val="100000"/>
              </a:lnSpc>
              <a:spcBef>
                <a:spcPts val="0"/>
              </a:spcBef>
              <a:spcAft>
                <a:spcPts val="0"/>
              </a:spcAft>
              <a:buNone/>
            </a:pPr>
            <a:r>
              <a:rPr lang="en-US" sz="1800">
                <a:latin typeface="Cambria"/>
                <a:ea typeface="Cambria"/>
                <a:cs typeface="Cambria"/>
                <a:sym typeface="Cambria"/>
              </a:rPr>
              <a:t>implements </a:t>
            </a:r>
            <a:r>
              <a:rPr lang="en-US" sz="1800" i="1">
                <a:latin typeface="Cambria"/>
                <a:ea typeface="Cambria"/>
                <a:cs typeface="Cambria"/>
                <a:sym typeface="Cambria"/>
              </a:rPr>
              <a:t>Serializable</a:t>
            </a:r>
            <a:r>
              <a:rPr lang="en-US" sz="1800">
                <a:latin typeface="Cambria"/>
                <a:ea typeface="Cambria"/>
                <a:cs typeface="Cambria"/>
                <a:sym typeface="Cambria"/>
              </a:rPr>
              <a:t>, </a:t>
            </a:r>
            <a:r>
              <a:rPr lang="en-US" sz="1800" i="1">
                <a:latin typeface="Cambria"/>
                <a:ea typeface="Cambria"/>
                <a:cs typeface="Cambria"/>
                <a:sym typeface="Cambria"/>
              </a:rPr>
              <a:t>Comparable </a:t>
            </a:r>
            <a:r>
              <a:rPr lang="en-US" sz="1800">
                <a:latin typeface="Cambria"/>
                <a:ea typeface="Cambria"/>
                <a:cs typeface="Cambria"/>
                <a:sym typeface="Cambria"/>
              </a:rPr>
              <a:t>and </a:t>
            </a:r>
            <a:r>
              <a:rPr lang="en-US" sz="1800" i="1">
                <a:latin typeface="Cambria"/>
                <a:ea typeface="Cambria"/>
                <a:cs typeface="Cambria"/>
                <a:sym typeface="Cambria"/>
              </a:rPr>
              <a:t>CharSequence </a:t>
            </a:r>
            <a:r>
              <a:rPr lang="en-US" sz="1800">
                <a:latin typeface="Cambria"/>
                <a:ea typeface="Cambria"/>
                <a:cs typeface="Cambria"/>
                <a:sym typeface="Cambria"/>
              </a:rPr>
              <a:t>interfaces.</a:t>
            </a:r>
            <a:endParaRPr sz="1800">
              <a:latin typeface="Cambria"/>
              <a:ea typeface="Cambria"/>
              <a:cs typeface="Cambria"/>
              <a:sym typeface="Cambria"/>
            </a:endParaRPr>
          </a:p>
        </p:txBody>
      </p:sp>
      <p:pic>
        <p:nvPicPr>
          <p:cNvPr id="167" name="Google Shape;167;p13"/>
          <p:cNvPicPr preferRelativeResize="0"/>
          <p:nvPr/>
        </p:nvPicPr>
        <p:blipFill rotWithShape="1">
          <a:blip r:embed="rId3">
            <a:alphaModFix/>
          </a:blip>
          <a:srcRect/>
          <a:stretch/>
        </p:blipFill>
        <p:spPr>
          <a:xfrm>
            <a:off x="5680739" y="3087218"/>
            <a:ext cx="4335720" cy="271309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14"/>
          <p:cNvSpPr/>
          <p:nvPr/>
        </p:nvSpPr>
        <p:spPr>
          <a:xfrm>
            <a:off x="11817095" y="758951"/>
            <a:ext cx="374650" cy="5330825"/>
          </a:xfrm>
          <a:custGeom>
            <a:avLst/>
            <a:gdLst/>
            <a:ahLst/>
            <a:cxnLst/>
            <a:rect l="l" t="t" r="r" b="b"/>
            <a:pathLst>
              <a:path w="374650" h="5330825" extrusionOk="0">
                <a:moveTo>
                  <a:pt x="374523" y="0"/>
                </a:moveTo>
                <a:lnTo>
                  <a:pt x="0" y="0"/>
                </a:lnTo>
                <a:lnTo>
                  <a:pt x="0" y="5330444"/>
                </a:lnTo>
                <a:lnTo>
                  <a:pt x="374523" y="5330444"/>
                </a:lnTo>
                <a:lnTo>
                  <a:pt x="374523" y="0"/>
                </a:lnTo>
                <a:close/>
              </a:path>
            </a:pathLst>
          </a:custGeom>
          <a:solidFill>
            <a:srgbClr val="C6C6C6">
              <a:alpha val="49411"/>
            </a:srgbClr>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173" name="Google Shape;173;p14"/>
          <p:cNvSpPr txBox="1"/>
          <p:nvPr/>
        </p:nvSpPr>
        <p:spPr>
          <a:xfrm>
            <a:off x="3797934" y="741934"/>
            <a:ext cx="7706359" cy="695960"/>
          </a:xfrm>
          <a:prstGeom prst="rect">
            <a:avLst/>
          </a:prstGeom>
          <a:noFill/>
          <a:ln>
            <a:noFill/>
          </a:ln>
        </p:spPr>
        <p:txBody>
          <a:bodyPr spcFirstLastPara="1" wrap="square" lIns="0" tIns="12050" rIns="0" bIns="0" anchor="t" anchorCtr="0">
            <a:spAutoFit/>
          </a:bodyPr>
          <a:lstStyle/>
          <a:p>
            <a:pPr marL="12700" marR="5080" lvl="0" indent="0" algn="l" rtl="0">
              <a:lnSpc>
                <a:spcPct val="100000"/>
              </a:lnSpc>
              <a:spcBef>
                <a:spcPts val="0"/>
              </a:spcBef>
              <a:spcAft>
                <a:spcPts val="0"/>
              </a:spcAft>
              <a:buNone/>
            </a:pPr>
            <a:r>
              <a:rPr lang="en-US" sz="2200">
                <a:latin typeface="Cambria"/>
                <a:ea typeface="Cambria"/>
                <a:cs typeface="Cambria"/>
                <a:sym typeface="Cambria"/>
              </a:rPr>
              <a:t>The CharSequence interface is used to represent the sequence of characters.</a:t>
            </a:r>
            <a:endParaRPr sz="2200">
              <a:latin typeface="Cambria"/>
              <a:ea typeface="Cambria"/>
              <a:cs typeface="Cambria"/>
              <a:sym typeface="Cambria"/>
            </a:endParaRPr>
          </a:p>
        </p:txBody>
      </p:sp>
      <p:sp>
        <p:nvSpPr>
          <p:cNvPr id="174" name="Google Shape;174;p14"/>
          <p:cNvSpPr txBox="1">
            <a:spLocks noGrp="1"/>
          </p:cNvSpPr>
          <p:nvPr>
            <p:ph type="title"/>
          </p:nvPr>
        </p:nvSpPr>
        <p:spPr>
          <a:xfrm>
            <a:off x="3733801" y="1747469"/>
            <a:ext cx="7924799" cy="696595"/>
          </a:xfrm>
          <a:prstGeom prst="rect">
            <a:avLst/>
          </a:prstGeom>
          <a:noFill/>
          <a:ln>
            <a:noFill/>
          </a:ln>
        </p:spPr>
        <p:txBody>
          <a:bodyPr spcFirstLastPara="1" wrap="square" lIns="0" tIns="12050" rIns="0" bIns="0" anchor="t" anchorCtr="0">
            <a:spAutoFit/>
          </a:bodyPr>
          <a:lstStyle/>
          <a:p>
            <a:pPr marL="12700" lvl="0" indent="0" algn="just" rtl="0">
              <a:lnSpc>
                <a:spcPct val="100000"/>
              </a:lnSpc>
              <a:spcBef>
                <a:spcPts val="0"/>
              </a:spcBef>
              <a:spcAft>
                <a:spcPts val="0"/>
              </a:spcAft>
              <a:buNone/>
            </a:pPr>
            <a:r>
              <a:rPr lang="en-US" sz="2200" b="0">
                <a:solidFill>
                  <a:srgbClr val="000000"/>
                </a:solidFill>
                <a:latin typeface="Cambria"/>
                <a:ea typeface="Cambria"/>
                <a:cs typeface="Cambria"/>
                <a:sym typeface="Cambria"/>
              </a:rPr>
              <a:t>String, StringBuffer and StringBuilder classes implement it. It  means, we can create strings in Java by using these three classes.</a:t>
            </a:r>
            <a:endParaRPr sz="2200">
              <a:latin typeface="Cambria"/>
              <a:ea typeface="Cambria"/>
              <a:cs typeface="Cambria"/>
              <a:sym typeface="Cambria"/>
            </a:endParaRPr>
          </a:p>
        </p:txBody>
      </p:sp>
      <p:sp>
        <p:nvSpPr>
          <p:cNvPr id="175" name="Google Shape;175;p14"/>
          <p:cNvSpPr txBox="1"/>
          <p:nvPr/>
        </p:nvSpPr>
        <p:spPr>
          <a:xfrm>
            <a:off x="124155" y="2231263"/>
            <a:ext cx="3011805" cy="1122680"/>
          </a:xfrm>
          <a:prstGeom prst="rect">
            <a:avLst/>
          </a:prstGeom>
          <a:noFill/>
          <a:ln>
            <a:noFill/>
          </a:ln>
        </p:spPr>
        <p:txBody>
          <a:bodyPr spcFirstLastPara="1" wrap="square" lIns="0" tIns="12700" rIns="0" bIns="0" anchor="t" anchorCtr="0">
            <a:spAutoFit/>
          </a:bodyPr>
          <a:lstStyle/>
          <a:p>
            <a:pPr marL="554990" marR="5080" lvl="0" indent="-542925" algn="l" rtl="0">
              <a:lnSpc>
                <a:spcPct val="100000"/>
              </a:lnSpc>
              <a:spcBef>
                <a:spcPts val="0"/>
              </a:spcBef>
              <a:spcAft>
                <a:spcPts val="0"/>
              </a:spcAft>
              <a:buNone/>
            </a:pPr>
            <a:r>
              <a:rPr lang="en-US" sz="3600" b="1">
                <a:solidFill>
                  <a:srgbClr val="FFFFFF"/>
                </a:solidFill>
                <a:latin typeface="Cambria"/>
                <a:ea typeface="Cambria"/>
                <a:cs typeface="Cambria"/>
                <a:sym typeface="Cambria"/>
              </a:rPr>
              <a:t>CharSequence Interface</a:t>
            </a:r>
            <a:endParaRPr sz="3600">
              <a:latin typeface="Cambria"/>
              <a:ea typeface="Cambria"/>
              <a:cs typeface="Cambria"/>
              <a:sym typeface="Cambria"/>
            </a:endParaRPr>
          </a:p>
        </p:txBody>
      </p:sp>
      <p:pic>
        <p:nvPicPr>
          <p:cNvPr id="176" name="Google Shape;176;p14"/>
          <p:cNvPicPr preferRelativeResize="0"/>
          <p:nvPr/>
        </p:nvPicPr>
        <p:blipFill rotWithShape="1">
          <a:blip r:embed="rId3">
            <a:alphaModFix/>
          </a:blip>
          <a:srcRect/>
          <a:stretch/>
        </p:blipFill>
        <p:spPr>
          <a:xfrm>
            <a:off x="5314919" y="3071308"/>
            <a:ext cx="2952436" cy="1819886"/>
          </a:xfrm>
          <a:prstGeom prst="rect">
            <a:avLst/>
          </a:prstGeom>
          <a:noFill/>
          <a:ln>
            <a:noFill/>
          </a:ln>
        </p:spPr>
      </p:pic>
      <p:sp>
        <p:nvSpPr>
          <p:cNvPr id="177" name="Google Shape;177;p14"/>
          <p:cNvSpPr txBox="1"/>
          <p:nvPr/>
        </p:nvSpPr>
        <p:spPr>
          <a:xfrm>
            <a:off x="307340" y="6352743"/>
            <a:ext cx="5934075" cy="2997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800">
                <a:latin typeface="Cambria"/>
                <a:ea typeface="Cambria"/>
                <a:cs typeface="Cambria"/>
                <a:sym typeface="Cambria"/>
              </a:rPr>
              <a:t>Note: String Builder class is not in the syllabus of this course.</a:t>
            </a:r>
            <a:endParaRPr sz="1800">
              <a:latin typeface="Cambria"/>
              <a:ea typeface="Cambria"/>
              <a:cs typeface="Cambria"/>
              <a:sym typeface="Cambri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15"/>
          <p:cNvSpPr txBox="1"/>
          <p:nvPr/>
        </p:nvSpPr>
        <p:spPr>
          <a:xfrm>
            <a:off x="644144" y="3196588"/>
            <a:ext cx="2547112" cy="566822"/>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3600" b="1" dirty="0">
                <a:solidFill>
                  <a:srgbClr val="FFFFFF"/>
                </a:solidFill>
                <a:latin typeface="Cambria"/>
                <a:ea typeface="Cambria"/>
                <a:cs typeface="Cambria"/>
                <a:sym typeface="Cambria"/>
              </a:rPr>
              <a:t>String Class</a:t>
            </a:r>
            <a:endParaRPr sz="3600" dirty="0">
              <a:latin typeface="Cambria"/>
              <a:ea typeface="Cambria"/>
              <a:cs typeface="Cambria"/>
              <a:sym typeface="Cambria"/>
            </a:endParaRPr>
          </a:p>
        </p:txBody>
      </p:sp>
      <p:sp>
        <p:nvSpPr>
          <p:cNvPr id="183" name="Google Shape;183;p15"/>
          <p:cNvSpPr txBox="1"/>
          <p:nvPr/>
        </p:nvSpPr>
        <p:spPr>
          <a:xfrm>
            <a:off x="3581526" y="800227"/>
            <a:ext cx="7966329" cy="2844800"/>
          </a:xfrm>
          <a:prstGeom prst="rect">
            <a:avLst/>
          </a:prstGeom>
          <a:noFill/>
          <a:ln>
            <a:noFill/>
          </a:ln>
        </p:spPr>
        <p:txBody>
          <a:bodyPr spcFirstLastPara="1" wrap="square" lIns="0" tIns="47625" rIns="0" bIns="0" anchor="t" anchorCtr="0">
            <a:spAutoFit/>
          </a:bodyPr>
          <a:lstStyle/>
          <a:p>
            <a:pPr marL="195580" marR="5080" lvl="0" indent="-182880" algn="l" rtl="0">
              <a:lnSpc>
                <a:spcPct val="109090"/>
              </a:lnSpc>
              <a:spcBef>
                <a:spcPts val="0"/>
              </a:spcBef>
              <a:spcAft>
                <a:spcPts val="0"/>
              </a:spcAft>
              <a:buClr>
                <a:srgbClr val="40B8D2"/>
              </a:buClr>
              <a:buSzPts val="2200"/>
              <a:buFont typeface="Arial"/>
              <a:buChar char="•"/>
            </a:pPr>
            <a:r>
              <a:rPr lang="en-US" sz="2200">
                <a:solidFill>
                  <a:srgbClr val="40B8D2"/>
                </a:solidFill>
                <a:latin typeface="Arial"/>
                <a:ea typeface="Arial"/>
                <a:cs typeface="Arial"/>
                <a:sym typeface="Arial"/>
              </a:rPr>
              <a:t>	</a:t>
            </a:r>
            <a:r>
              <a:rPr lang="en-US" sz="2200">
                <a:solidFill>
                  <a:srgbClr val="575757"/>
                </a:solidFill>
                <a:latin typeface="Cambria"/>
                <a:ea typeface="Cambria"/>
                <a:cs typeface="Cambria"/>
                <a:sym typeface="Cambria"/>
              </a:rPr>
              <a:t>Once  a String object is created it cannot be changed. Strings are Immutable.</a:t>
            </a:r>
            <a:endParaRPr sz="2200">
              <a:latin typeface="Cambria"/>
              <a:ea typeface="Cambria"/>
              <a:cs typeface="Cambria"/>
              <a:sym typeface="Cambria"/>
            </a:endParaRPr>
          </a:p>
          <a:p>
            <a:pPr marL="195580" lvl="0" indent="-182880" algn="l" rtl="0">
              <a:lnSpc>
                <a:spcPct val="100000"/>
              </a:lnSpc>
              <a:spcBef>
                <a:spcPts val="919"/>
              </a:spcBef>
              <a:spcAft>
                <a:spcPts val="0"/>
              </a:spcAft>
              <a:buClr>
                <a:srgbClr val="40B8D2"/>
              </a:buClr>
              <a:buSzPts val="2200"/>
              <a:buFont typeface="Arial"/>
              <a:buChar char="•"/>
            </a:pPr>
            <a:r>
              <a:rPr lang="en-US" sz="2200">
                <a:solidFill>
                  <a:srgbClr val="575757"/>
                </a:solidFill>
                <a:latin typeface="Cambria"/>
                <a:ea typeface="Cambria"/>
                <a:cs typeface="Cambria"/>
                <a:sym typeface="Cambria"/>
              </a:rPr>
              <a:t>To get </a:t>
            </a:r>
            <a:r>
              <a:rPr lang="en-US" sz="2200" b="1">
                <a:solidFill>
                  <a:srgbClr val="575757"/>
                </a:solidFill>
                <a:latin typeface="Cambria"/>
                <a:ea typeface="Cambria"/>
                <a:cs typeface="Cambria"/>
                <a:sym typeface="Cambria"/>
              </a:rPr>
              <a:t>changeable strings </a:t>
            </a:r>
            <a:r>
              <a:rPr lang="en-US" sz="2200">
                <a:solidFill>
                  <a:srgbClr val="575757"/>
                </a:solidFill>
                <a:latin typeface="Cambria"/>
                <a:ea typeface="Cambria"/>
                <a:cs typeface="Cambria"/>
                <a:sym typeface="Cambria"/>
              </a:rPr>
              <a:t>use the class called </a:t>
            </a:r>
            <a:r>
              <a:rPr lang="en-US" sz="2200" b="1">
                <a:solidFill>
                  <a:srgbClr val="575757"/>
                </a:solidFill>
                <a:latin typeface="Cambria"/>
                <a:ea typeface="Cambria"/>
                <a:cs typeface="Cambria"/>
                <a:sym typeface="Cambria"/>
              </a:rPr>
              <a:t>StringBuffer</a:t>
            </a:r>
            <a:r>
              <a:rPr lang="en-US" sz="2200">
                <a:solidFill>
                  <a:srgbClr val="575757"/>
                </a:solidFill>
                <a:latin typeface="Cambria"/>
                <a:ea typeface="Cambria"/>
                <a:cs typeface="Cambria"/>
                <a:sym typeface="Cambria"/>
              </a:rPr>
              <a:t>.</a:t>
            </a:r>
            <a:endParaRPr sz="2200">
              <a:latin typeface="Cambria"/>
              <a:ea typeface="Cambria"/>
              <a:cs typeface="Cambria"/>
              <a:sym typeface="Cambria"/>
            </a:endParaRPr>
          </a:p>
          <a:p>
            <a:pPr marL="195580" lvl="0" indent="0" algn="l" rtl="0">
              <a:lnSpc>
                <a:spcPct val="100000"/>
              </a:lnSpc>
              <a:spcBef>
                <a:spcPts val="900"/>
              </a:spcBef>
              <a:spcAft>
                <a:spcPts val="0"/>
              </a:spcAft>
              <a:buNone/>
            </a:pPr>
            <a:r>
              <a:rPr lang="en-US" sz="2200">
                <a:solidFill>
                  <a:srgbClr val="575757"/>
                </a:solidFill>
                <a:latin typeface="Cambria"/>
                <a:ea typeface="Cambria"/>
                <a:cs typeface="Cambria"/>
                <a:sym typeface="Cambria"/>
              </a:rPr>
              <a:t>String anyString=null;</a:t>
            </a:r>
            <a:endParaRPr sz="2200">
              <a:latin typeface="Cambria"/>
              <a:ea typeface="Cambria"/>
              <a:cs typeface="Cambria"/>
              <a:sym typeface="Cambria"/>
            </a:endParaRPr>
          </a:p>
          <a:p>
            <a:pPr marL="195580" lvl="0" indent="-182880" algn="l" rtl="0">
              <a:lnSpc>
                <a:spcPct val="100000"/>
              </a:lnSpc>
              <a:spcBef>
                <a:spcPts val="900"/>
              </a:spcBef>
              <a:spcAft>
                <a:spcPts val="0"/>
              </a:spcAft>
              <a:buClr>
                <a:srgbClr val="40B8D2"/>
              </a:buClr>
              <a:buSzPts val="2200"/>
              <a:buFont typeface="Arial"/>
              <a:buChar char="•"/>
            </a:pPr>
            <a:r>
              <a:rPr lang="en-US" sz="2200">
                <a:solidFill>
                  <a:srgbClr val="575757"/>
                </a:solidFill>
                <a:latin typeface="Cambria"/>
                <a:ea typeface="Cambria"/>
                <a:cs typeface="Cambria"/>
                <a:sym typeface="Cambria"/>
              </a:rPr>
              <a:t>Array of String:</a:t>
            </a:r>
            <a:endParaRPr sz="2200">
              <a:latin typeface="Cambria"/>
              <a:ea typeface="Cambria"/>
              <a:cs typeface="Cambria"/>
              <a:sym typeface="Cambria"/>
            </a:endParaRPr>
          </a:p>
          <a:p>
            <a:pPr marL="515619" lvl="0" indent="0" algn="l" rtl="0">
              <a:lnSpc>
                <a:spcPct val="100000"/>
              </a:lnSpc>
              <a:spcBef>
                <a:spcPts val="0"/>
              </a:spcBef>
              <a:spcAft>
                <a:spcPts val="0"/>
              </a:spcAft>
              <a:buNone/>
            </a:pPr>
            <a:r>
              <a:rPr lang="en-US" sz="2200">
                <a:solidFill>
                  <a:srgbClr val="575757"/>
                </a:solidFill>
                <a:latin typeface="Cambria"/>
                <a:ea typeface="Cambria"/>
                <a:cs typeface="Cambria"/>
                <a:sym typeface="Cambria"/>
              </a:rPr>
              <a:t>Stringnames[ ] =newString[5];</a:t>
            </a:r>
            <a:endParaRPr sz="2200">
              <a:latin typeface="Cambria"/>
              <a:ea typeface="Cambria"/>
              <a:cs typeface="Cambria"/>
              <a:sym typeface="Cambria"/>
            </a:endParaRPr>
          </a:p>
          <a:p>
            <a:pPr marL="195580" lvl="0" indent="-182880" algn="l" rtl="0">
              <a:lnSpc>
                <a:spcPct val="100000"/>
              </a:lnSpc>
              <a:spcBef>
                <a:spcPts val="1200"/>
              </a:spcBef>
              <a:spcAft>
                <a:spcPts val="0"/>
              </a:spcAft>
              <a:buClr>
                <a:srgbClr val="40B8D2"/>
              </a:buClr>
              <a:buSzPts val="2200"/>
              <a:buFont typeface="Arial"/>
              <a:buChar char="•"/>
            </a:pPr>
            <a:r>
              <a:rPr lang="en-US" sz="2200">
                <a:solidFill>
                  <a:srgbClr val="575757"/>
                </a:solidFill>
                <a:latin typeface="Cambria"/>
                <a:ea typeface="Cambria"/>
                <a:cs typeface="Cambria"/>
                <a:sym typeface="Cambria"/>
              </a:rPr>
              <a:t>Initialization of array of String:</a:t>
            </a:r>
            <a:endParaRPr sz="2200">
              <a:latin typeface="Cambria"/>
              <a:ea typeface="Cambria"/>
              <a:cs typeface="Cambria"/>
              <a:sym typeface="Cambria"/>
            </a:endParaRPr>
          </a:p>
        </p:txBody>
      </p:sp>
      <p:sp>
        <p:nvSpPr>
          <p:cNvPr id="184" name="Google Shape;184;p15"/>
          <p:cNvSpPr txBox="1"/>
          <p:nvPr/>
        </p:nvSpPr>
        <p:spPr>
          <a:xfrm>
            <a:off x="3657600" y="3920490"/>
            <a:ext cx="7890255" cy="677545"/>
          </a:xfrm>
          <a:prstGeom prst="rect">
            <a:avLst/>
          </a:prstGeom>
          <a:noFill/>
          <a:ln>
            <a:noFill/>
          </a:ln>
        </p:spPr>
        <p:txBody>
          <a:bodyPr spcFirstLastPara="1" wrap="square" lIns="0" tIns="37450" rIns="0" bIns="0" anchor="t" anchorCtr="0">
            <a:spAutoFit/>
          </a:bodyPr>
          <a:lstStyle/>
          <a:p>
            <a:pPr marL="21590" marR="5080" lvl="0" indent="-9525" algn="l" rtl="0">
              <a:lnSpc>
                <a:spcPct val="113636"/>
              </a:lnSpc>
              <a:spcBef>
                <a:spcPts val="0"/>
              </a:spcBef>
              <a:spcAft>
                <a:spcPts val="0"/>
              </a:spcAft>
              <a:buNone/>
            </a:pPr>
            <a:r>
              <a:rPr lang="en-US" sz="2200">
                <a:solidFill>
                  <a:srgbClr val="575757"/>
                </a:solidFill>
                <a:latin typeface="Cambria"/>
                <a:ea typeface="Cambria"/>
                <a:cs typeface="Cambria"/>
                <a:sym typeface="Cambria"/>
              </a:rPr>
              <a:t>String names[ ]= {“Red”, “Orange”, “Yellow”, “Green”, “Blue”, “Indigo”,“Violet”};</a:t>
            </a:r>
            <a:endParaRPr sz="2200">
              <a:latin typeface="Cambria"/>
              <a:ea typeface="Cambria"/>
              <a:cs typeface="Cambria"/>
              <a:sym typeface="Cambri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6"/>
          <p:cNvSpPr txBox="1"/>
          <p:nvPr/>
        </p:nvSpPr>
        <p:spPr>
          <a:xfrm>
            <a:off x="3950334" y="1048258"/>
            <a:ext cx="4208780" cy="8483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800">
                <a:solidFill>
                  <a:srgbClr val="333333"/>
                </a:solidFill>
                <a:latin typeface="Cambria"/>
                <a:ea typeface="Cambria"/>
                <a:cs typeface="Cambria"/>
                <a:sym typeface="Cambria"/>
              </a:rPr>
              <a:t>There are two ways to create String object:</a:t>
            </a:r>
            <a:endParaRPr sz="1800">
              <a:latin typeface="Cambria"/>
              <a:ea typeface="Cambria"/>
              <a:cs typeface="Cambria"/>
              <a:sym typeface="Cambria"/>
            </a:endParaRPr>
          </a:p>
          <a:p>
            <a:pPr marL="187325" lvl="0" indent="-176530" algn="l" rtl="0">
              <a:lnSpc>
                <a:spcPct val="100000"/>
              </a:lnSpc>
              <a:spcBef>
                <a:spcPts val="0"/>
              </a:spcBef>
              <a:spcAft>
                <a:spcPts val="0"/>
              </a:spcAft>
              <a:buSzPts val="1700"/>
              <a:buFont typeface="Cambria"/>
              <a:buAutoNum type="arabicPeriod"/>
            </a:pPr>
            <a:r>
              <a:rPr lang="en-US" sz="1800">
                <a:latin typeface="Cambria"/>
                <a:ea typeface="Cambria"/>
                <a:cs typeface="Cambria"/>
                <a:sym typeface="Cambria"/>
              </a:rPr>
              <a:t>By string literal</a:t>
            </a:r>
            <a:endParaRPr sz="1800">
              <a:latin typeface="Cambria"/>
              <a:ea typeface="Cambria"/>
              <a:cs typeface="Cambria"/>
              <a:sym typeface="Cambria"/>
            </a:endParaRPr>
          </a:p>
          <a:p>
            <a:pPr marL="187325" lvl="0" indent="-176530" algn="l" rtl="0">
              <a:lnSpc>
                <a:spcPct val="100000"/>
              </a:lnSpc>
              <a:spcBef>
                <a:spcPts val="0"/>
              </a:spcBef>
              <a:spcAft>
                <a:spcPts val="0"/>
              </a:spcAft>
              <a:buSzPts val="1700"/>
              <a:buFont typeface="Cambria"/>
              <a:buAutoNum type="arabicPeriod"/>
            </a:pPr>
            <a:r>
              <a:rPr lang="en-US" sz="1800">
                <a:latin typeface="Cambria"/>
                <a:ea typeface="Cambria"/>
                <a:cs typeface="Cambria"/>
                <a:sym typeface="Cambria"/>
              </a:rPr>
              <a:t>By new keyword</a:t>
            </a:r>
            <a:endParaRPr sz="1800">
              <a:latin typeface="Cambria"/>
              <a:ea typeface="Cambria"/>
              <a:cs typeface="Cambria"/>
              <a:sym typeface="Cambria"/>
            </a:endParaRPr>
          </a:p>
        </p:txBody>
      </p:sp>
      <p:sp>
        <p:nvSpPr>
          <p:cNvPr id="190" name="Google Shape;190;p16"/>
          <p:cNvSpPr txBox="1"/>
          <p:nvPr/>
        </p:nvSpPr>
        <p:spPr>
          <a:xfrm>
            <a:off x="3950334" y="2145919"/>
            <a:ext cx="6629400" cy="574040"/>
          </a:xfrm>
          <a:prstGeom prst="rect">
            <a:avLst/>
          </a:prstGeom>
          <a:noFill/>
          <a:ln>
            <a:noFill/>
          </a:ln>
        </p:spPr>
        <p:txBody>
          <a:bodyPr spcFirstLastPara="1" wrap="square" lIns="0" tIns="12700" rIns="0" bIns="0" anchor="t" anchorCtr="0">
            <a:spAutoFit/>
          </a:bodyPr>
          <a:lstStyle/>
          <a:p>
            <a:pPr marL="12700" marR="5080" lvl="0" indent="0" algn="l" rtl="0">
              <a:lnSpc>
                <a:spcPct val="100000"/>
              </a:lnSpc>
              <a:spcBef>
                <a:spcPts val="0"/>
              </a:spcBef>
              <a:spcAft>
                <a:spcPts val="0"/>
              </a:spcAft>
              <a:buNone/>
            </a:pPr>
            <a:r>
              <a:rPr lang="en-US" sz="1800">
                <a:solidFill>
                  <a:srgbClr val="333333"/>
                </a:solidFill>
                <a:latin typeface="Cambria"/>
                <a:ea typeface="Cambria"/>
                <a:cs typeface="Cambria"/>
                <a:sym typeface="Cambria"/>
              </a:rPr>
              <a:t>1. Java String literal is created by using double quotes. For Example: </a:t>
            </a:r>
            <a:r>
              <a:rPr lang="en-US" sz="1800">
                <a:latin typeface="Cambria"/>
                <a:ea typeface="Cambria"/>
                <a:cs typeface="Cambria"/>
                <a:sym typeface="Cambria"/>
              </a:rPr>
              <a:t>String s=</a:t>
            </a:r>
            <a:r>
              <a:rPr lang="en-US" sz="1800">
                <a:solidFill>
                  <a:srgbClr val="0000FF"/>
                </a:solidFill>
                <a:latin typeface="Cambria"/>
                <a:ea typeface="Cambria"/>
                <a:cs typeface="Cambria"/>
                <a:sym typeface="Cambria"/>
              </a:rPr>
              <a:t>"welcome"</a:t>
            </a:r>
            <a:r>
              <a:rPr lang="en-US" sz="1800">
                <a:latin typeface="Cambria"/>
                <a:ea typeface="Cambria"/>
                <a:cs typeface="Cambria"/>
                <a:sym typeface="Cambria"/>
              </a:rPr>
              <a:t>;</a:t>
            </a:r>
            <a:endParaRPr sz="1800">
              <a:latin typeface="Cambria"/>
              <a:ea typeface="Cambria"/>
              <a:cs typeface="Cambria"/>
              <a:sym typeface="Cambria"/>
            </a:endParaRPr>
          </a:p>
        </p:txBody>
      </p:sp>
      <p:sp>
        <p:nvSpPr>
          <p:cNvPr id="191" name="Google Shape;191;p16"/>
          <p:cNvSpPr txBox="1"/>
          <p:nvPr/>
        </p:nvSpPr>
        <p:spPr>
          <a:xfrm>
            <a:off x="3950334" y="2968878"/>
            <a:ext cx="7647940" cy="1123315"/>
          </a:xfrm>
          <a:prstGeom prst="rect">
            <a:avLst/>
          </a:prstGeom>
          <a:noFill/>
          <a:ln>
            <a:noFill/>
          </a:ln>
        </p:spPr>
        <p:txBody>
          <a:bodyPr spcFirstLastPara="1" wrap="square" lIns="0" tIns="12700" rIns="0" bIns="0" anchor="t" anchorCtr="0">
            <a:spAutoFit/>
          </a:bodyPr>
          <a:lstStyle/>
          <a:p>
            <a:pPr marL="12700" marR="5080" lvl="0" indent="0" algn="just" rtl="0">
              <a:lnSpc>
                <a:spcPct val="100000"/>
              </a:lnSpc>
              <a:spcBef>
                <a:spcPts val="0"/>
              </a:spcBef>
              <a:spcAft>
                <a:spcPts val="0"/>
              </a:spcAft>
              <a:buNone/>
            </a:pPr>
            <a:r>
              <a:rPr lang="en-US" sz="1800">
                <a:solidFill>
                  <a:srgbClr val="333333"/>
                </a:solidFill>
                <a:latin typeface="Cambria"/>
                <a:ea typeface="Cambria"/>
                <a:cs typeface="Cambria"/>
                <a:sym typeface="Cambria"/>
              </a:rPr>
              <a:t>Each time you create a string literal, the JVM checks the "string constant pool" first. If the string already exists in the pool, a reference to the pooled instance is returned. If the string doesn't exist in the pool, a new string instance is created and placed in the pool. For example:</a:t>
            </a:r>
            <a:endParaRPr sz="1800">
              <a:latin typeface="Cambria"/>
              <a:ea typeface="Cambria"/>
              <a:cs typeface="Cambria"/>
              <a:sym typeface="Cambria"/>
            </a:endParaRPr>
          </a:p>
        </p:txBody>
      </p:sp>
      <p:sp>
        <p:nvSpPr>
          <p:cNvPr id="192" name="Google Shape;192;p16"/>
          <p:cNvSpPr txBox="1"/>
          <p:nvPr/>
        </p:nvSpPr>
        <p:spPr>
          <a:xfrm>
            <a:off x="3950334" y="4340732"/>
            <a:ext cx="5465445" cy="57404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800">
                <a:latin typeface="Cambria"/>
                <a:ea typeface="Cambria"/>
                <a:cs typeface="Cambria"/>
                <a:sym typeface="Cambria"/>
              </a:rPr>
              <a:t>String s1=</a:t>
            </a:r>
            <a:r>
              <a:rPr lang="en-US" sz="1800">
                <a:solidFill>
                  <a:srgbClr val="0000FF"/>
                </a:solidFill>
                <a:latin typeface="Cambria"/>
                <a:ea typeface="Cambria"/>
                <a:cs typeface="Cambria"/>
                <a:sym typeface="Cambria"/>
              </a:rPr>
              <a:t>"Welcome"</a:t>
            </a:r>
            <a:r>
              <a:rPr lang="en-US" sz="1800">
                <a:latin typeface="Cambria"/>
                <a:ea typeface="Cambria"/>
                <a:cs typeface="Cambria"/>
                <a:sym typeface="Cambria"/>
              </a:rPr>
              <a:t>;</a:t>
            </a:r>
            <a:endParaRPr sz="1800">
              <a:latin typeface="Cambria"/>
              <a:ea typeface="Cambria"/>
              <a:cs typeface="Cambria"/>
              <a:sym typeface="Cambria"/>
            </a:endParaRPr>
          </a:p>
          <a:p>
            <a:pPr marL="12700" lvl="0" indent="0" algn="l" rtl="0">
              <a:lnSpc>
                <a:spcPct val="100000"/>
              </a:lnSpc>
              <a:spcBef>
                <a:spcPts val="0"/>
              </a:spcBef>
              <a:spcAft>
                <a:spcPts val="0"/>
              </a:spcAft>
              <a:buNone/>
            </a:pPr>
            <a:r>
              <a:rPr lang="en-US" sz="1800">
                <a:latin typeface="Cambria"/>
                <a:ea typeface="Cambria"/>
                <a:cs typeface="Cambria"/>
                <a:sym typeface="Cambria"/>
              </a:rPr>
              <a:t>String s2=</a:t>
            </a:r>
            <a:r>
              <a:rPr lang="en-US" sz="1800">
                <a:solidFill>
                  <a:srgbClr val="0000FF"/>
                </a:solidFill>
                <a:latin typeface="Cambria"/>
                <a:ea typeface="Cambria"/>
                <a:cs typeface="Cambria"/>
                <a:sym typeface="Cambria"/>
              </a:rPr>
              <a:t>"Welcome"</a:t>
            </a:r>
            <a:r>
              <a:rPr lang="en-US" sz="1800">
                <a:latin typeface="Cambria"/>
                <a:ea typeface="Cambria"/>
                <a:cs typeface="Cambria"/>
                <a:sym typeface="Cambria"/>
              </a:rPr>
              <a:t>;</a:t>
            </a:r>
            <a:r>
              <a:rPr lang="en-US" sz="1800">
                <a:solidFill>
                  <a:srgbClr val="008200"/>
                </a:solidFill>
                <a:latin typeface="Cambria"/>
                <a:ea typeface="Cambria"/>
                <a:cs typeface="Cambria"/>
                <a:sym typeface="Cambria"/>
              </a:rPr>
              <a:t>//It doesn't create a new instance</a:t>
            </a:r>
            <a:endParaRPr sz="1800">
              <a:latin typeface="Cambria"/>
              <a:ea typeface="Cambria"/>
              <a:cs typeface="Cambria"/>
              <a:sym typeface="Cambria"/>
            </a:endParaRPr>
          </a:p>
        </p:txBody>
      </p:sp>
      <p:sp>
        <p:nvSpPr>
          <p:cNvPr id="193" name="Google Shape;193;p16"/>
          <p:cNvSpPr txBox="1"/>
          <p:nvPr/>
        </p:nvSpPr>
        <p:spPr>
          <a:xfrm>
            <a:off x="318617" y="2536063"/>
            <a:ext cx="2865120" cy="1001394"/>
          </a:xfrm>
          <a:prstGeom prst="rect">
            <a:avLst/>
          </a:prstGeom>
          <a:noFill/>
          <a:ln>
            <a:noFill/>
          </a:ln>
        </p:spPr>
        <p:txBody>
          <a:bodyPr spcFirstLastPara="1" wrap="square" lIns="0" tIns="13325" rIns="0" bIns="0" anchor="t" anchorCtr="0">
            <a:spAutoFit/>
          </a:bodyPr>
          <a:lstStyle/>
          <a:p>
            <a:pPr marL="12700" marR="5080" lvl="0" indent="139700" algn="l" rtl="0">
              <a:lnSpc>
                <a:spcPct val="100000"/>
              </a:lnSpc>
              <a:spcBef>
                <a:spcPts val="0"/>
              </a:spcBef>
              <a:spcAft>
                <a:spcPts val="0"/>
              </a:spcAft>
              <a:buNone/>
            </a:pPr>
            <a:r>
              <a:rPr lang="en-US" sz="3200" b="1">
                <a:solidFill>
                  <a:srgbClr val="FFFFFF"/>
                </a:solidFill>
                <a:latin typeface="Cambria"/>
                <a:ea typeface="Cambria"/>
                <a:cs typeface="Cambria"/>
                <a:sym typeface="Cambria"/>
              </a:rPr>
              <a:t>How to create a string object?</a:t>
            </a:r>
            <a:endParaRPr sz="3200">
              <a:latin typeface="Cambria"/>
              <a:ea typeface="Cambria"/>
              <a:cs typeface="Cambria"/>
              <a:sym typeface="Cambri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17"/>
          <p:cNvSpPr/>
          <p:nvPr/>
        </p:nvSpPr>
        <p:spPr>
          <a:xfrm>
            <a:off x="11817095" y="758951"/>
            <a:ext cx="374650" cy="5330825"/>
          </a:xfrm>
          <a:custGeom>
            <a:avLst/>
            <a:gdLst/>
            <a:ahLst/>
            <a:cxnLst/>
            <a:rect l="l" t="t" r="r" b="b"/>
            <a:pathLst>
              <a:path w="374650" h="5330825" extrusionOk="0">
                <a:moveTo>
                  <a:pt x="374523" y="0"/>
                </a:moveTo>
                <a:lnTo>
                  <a:pt x="0" y="0"/>
                </a:lnTo>
                <a:lnTo>
                  <a:pt x="0" y="5330444"/>
                </a:lnTo>
                <a:lnTo>
                  <a:pt x="374523" y="5330444"/>
                </a:lnTo>
                <a:lnTo>
                  <a:pt x="374523" y="0"/>
                </a:lnTo>
                <a:close/>
              </a:path>
            </a:pathLst>
          </a:custGeom>
          <a:solidFill>
            <a:srgbClr val="C6C6C6">
              <a:alpha val="49411"/>
            </a:srgbClr>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199" name="Google Shape;199;p17"/>
          <p:cNvSpPr txBox="1">
            <a:spLocks noGrp="1"/>
          </p:cNvSpPr>
          <p:nvPr>
            <p:ph type="title"/>
          </p:nvPr>
        </p:nvSpPr>
        <p:spPr>
          <a:xfrm>
            <a:off x="3936872" y="1917268"/>
            <a:ext cx="5150485" cy="36068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2200" b="0">
                <a:solidFill>
                  <a:srgbClr val="600A4A"/>
                </a:solidFill>
                <a:latin typeface="Cambria"/>
                <a:ea typeface="Cambria"/>
                <a:cs typeface="Cambria"/>
                <a:sym typeface="Cambria"/>
              </a:rPr>
              <a:t>Why Java uses the concept of String literal?</a:t>
            </a:r>
            <a:endParaRPr sz="2200">
              <a:latin typeface="Cambria"/>
              <a:ea typeface="Cambria"/>
              <a:cs typeface="Cambria"/>
              <a:sym typeface="Cambria"/>
            </a:endParaRPr>
          </a:p>
        </p:txBody>
      </p:sp>
      <p:sp>
        <p:nvSpPr>
          <p:cNvPr id="200" name="Google Shape;200;p17"/>
          <p:cNvSpPr txBox="1"/>
          <p:nvPr/>
        </p:nvSpPr>
        <p:spPr>
          <a:xfrm>
            <a:off x="3936872" y="2588513"/>
            <a:ext cx="7656830" cy="695960"/>
          </a:xfrm>
          <a:prstGeom prst="rect">
            <a:avLst/>
          </a:prstGeom>
          <a:noFill/>
          <a:ln>
            <a:noFill/>
          </a:ln>
        </p:spPr>
        <p:txBody>
          <a:bodyPr spcFirstLastPara="1" wrap="square" lIns="0" tIns="12050" rIns="0" bIns="0" anchor="t" anchorCtr="0">
            <a:spAutoFit/>
          </a:bodyPr>
          <a:lstStyle/>
          <a:p>
            <a:pPr marL="12700" marR="5080" lvl="0" indent="0" algn="just" rtl="0">
              <a:lnSpc>
                <a:spcPct val="100000"/>
              </a:lnSpc>
              <a:spcBef>
                <a:spcPts val="0"/>
              </a:spcBef>
              <a:spcAft>
                <a:spcPts val="0"/>
              </a:spcAft>
              <a:buNone/>
            </a:pPr>
            <a:r>
              <a:rPr lang="en-US" sz="2200">
                <a:solidFill>
                  <a:srgbClr val="333333"/>
                </a:solidFill>
                <a:latin typeface="Cambria"/>
                <a:ea typeface="Cambria"/>
                <a:cs typeface="Cambria"/>
                <a:sym typeface="Cambria"/>
              </a:rPr>
              <a:t>To make Java more memory efficient (because no new objects are created if it exists already in the string constant pool).</a:t>
            </a:r>
            <a:endParaRPr sz="2200">
              <a:latin typeface="Cambria"/>
              <a:ea typeface="Cambria"/>
              <a:cs typeface="Cambria"/>
              <a:sym typeface="Cambria"/>
            </a:endParaRPr>
          </a:p>
        </p:txBody>
      </p:sp>
      <p:sp>
        <p:nvSpPr>
          <p:cNvPr id="201" name="Google Shape;201;p17"/>
          <p:cNvSpPr txBox="1"/>
          <p:nvPr/>
        </p:nvSpPr>
        <p:spPr>
          <a:xfrm>
            <a:off x="344525" y="2155063"/>
            <a:ext cx="2584450" cy="1489710"/>
          </a:xfrm>
          <a:prstGeom prst="rect">
            <a:avLst/>
          </a:prstGeom>
          <a:noFill/>
          <a:ln>
            <a:noFill/>
          </a:ln>
        </p:spPr>
        <p:txBody>
          <a:bodyPr spcFirstLastPara="1" wrap="square" lIns="0" tIns="13325" rIns="0" bIns="0" anchor="t" anchorCtr="0">
            <a:spAutoFit/>
          </a:bodyPr>
          <a:lstStyle/>
          <a:p>
            <a:pPr marL="12700" marR="5080" lvl="0" indent="0" algn="ctr" rtl="0">
              <a:lnSpc>
                <a:spcPct val="100000"/>
              </a:lnSpc>
              <a:spcBef>
                <a:spcPts val="0"/>
              </a:spcBef>
              <a:spcAft>
                <a:spcPts val="0"/>
              </a:spcAft>
              <a:buNone/>
            </a:pPr>
            <a:r>
              <a:rPr lang="en-US" sz="3200" b="1">
                <a:solidFill>
                  <a:srgbClr val="FFFFFF"/>
                </a:solidFill>
                <a:latin typeface="Cambria"/>
                <a:ea typeface="Cambria"/>
                <a:cs typeface="Cambria"/>
                <a:sym typeface="Cambria"/>
              </a:rPr>
              <a:t>How to create a string object?</a:t>
            </a:r>
            <a:endParaRPr sz="3200">
              <a:latin typeface="Cambria"/>
              <a:ea typeface="Cambria"/>
              <a:cs typeface="Cambria"/>
              <a:sym typeface="Cambri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18"/>
          <p:cNvSpPr/>
          <p:nvPr/>
        </p:nvSpPr>
        <p:spPr>
          <a:xfrm>
            <a:off x="11817095" y="758951"/>
            <a:ext cx="374650" cy="5330825"/>
          </a:xfrm>
          <a:custGeom>
            <a:avLst/>
            <a:gdLst/>
            <a:ahLst/>
            <a:cxnLst/>
            <a:rect l="l" t="t" r="r" b="b"/>
            <a:pathLst>
              <a:path w="374650" h="5330825" extrusionOk="0">
                <a:moveTo>
                  <a:pt x="374523" y="0"/>
                </a:moveTo>
                <a:lnTo>
                  <a:pt x="0" y="0"/>
                </a:lnTo>
                <a:lnTo>
                  <a:pt x="0" y="5330444"/>
                </a:lnTo>
                <a:lnTo>
                  <a:pt x="374523" y="5330444"/>
                </a:lnTo>
                <a:lnTo>
                  <a:pt x="374523" y="0"/>
                </a:lnTo>
                <a:close/>
              </a:path>
            </a:pathLst>
          </a:custGeom>
          <a:solidFill>
            <a:srgbClr val="C6C6C6">
              <a:alpha val="49411"/>
            </a:srgbClr>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07" name="Google Shape;207;p18"/>
          <p:cNvSpPr txBox="1"/>
          <p:nvPr/>
        </p:nvSpPr>
        <p:spPr>
          <a:xfrm>
            <a:off x="3936872" y="1917268"/>
            <a:ext cx="4020820" cy="36068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2200">
                <a:latin typeface="Cambria"/>
                <a:ea typeface="Cambria"/>
                <a:cs typeface="Cambria"/>
                <a:sym typeface="Cambria"/>
              </a:rPr>
              <a:t>String s=</a:t>
            </a:r>
            <a:r>
              <a:rPr lang="en-US" sz="2200" b="1">
                <a:latin typeface="Cambria"/>
                <a:ea typeface="Cambria"/>
                <a:cs typeface="Cambria"/>
                <a:sym typeface="Cambria"/>
              </a:rPr>
              <a:t>new </a:t>
            </a:r>
            <a:r>
              <a:rPr lang="en-US" sz="2200">
                <a:latin typeface="Cambria"/>
                <a:ea typeface="Cambria"/>
                <a:cs typeface="Cambria"/>
                <a:sym typeface="Cambria"/>
              </a:rPr>
              <a:t>String("Welcome");</a:t>
            </a:r>
            <a:endParaRPr sz="2200">
              <a:latin typeface="Cambria"/>
              <a:ea typeface="Cambria"/>
              <a:cs typeface="Cambria"/>
              <a:sym typeface="Cambria"/>
            </a:endParaRPr>
          </a:p>
        </p:txBody>
      </p:sp>
      <p:sp>
        <p:nvSpPr>
          <p:cNvPr id="208" name="Google Shape;208;p18"/>
          <p:cNvSpPr txBox="1"/>
          <p:nvPr/>
        </p:nvSpPr>
        <p:spPr>
          <a:xfrm>
            <a:off x="3936872" y="2923793"/>
            <a:ext cx="7649209" cy="1366520"/>
          </a:xfrm>
          <a:prstGeom prst="rect">
            <a:avLst/>
          </a:prstGeom>
          <a:noFill/>
          <a:ln>
            <a:noFill/>
          </a:ln>
        </p:spPr>
        <p:txBody>
          <a:bodyPr spcFirstLastPara="1" wrap="square" lIns="0" tIns="12050" rIns="0" bIns="0" anchor="t" anchorCtr="0">
            <a:spAutoFit/>
          </a:bodyPr>
          <a:lstStyle/>
          <a:p>
            <a:pPr marL="12700" marR="5080" lvl="0" indent="0" algn="just" rtl="0">
              <a:lnSpc>
                <a:spcPct val="100000"/>
              </a:lnSpc>
              <a:spcBef>
                <a:spcPts val="0"/>
              </a:spcBef>
              <a:spcAft>
                <a:spcPts val="0"/>
              </a:spcAft>
              <a:buNone/>
            </a:pPr>
            <a:r>
              <a:rPr lang="en-US" sz="2200" dirty="0">
                <a:solidFill>
                  <a:srgbClr val="333333"/>
                </a:solidFill>
                <a:latin typeface="Cambria"/>
                <a:ea typeface="Cambria"/>
                <a:cs typeface="Cambria"/>
                <a:sym typeface="Cambria"/>
              </a:rPr>
              <a:t>In such case, </a:t>
            </a:r>
            <a:r>
              <a:rPr lang="en-US" sz="2200" dirty="0">
                <a:latin typeface="Cambria"/>
                <a:ea typeface="Cambria"/>
                <a:cs typeface="Cambria"/>
                <a:sym typeface="Cambria"/>
              </a:rPr>
              <a:t>JVM </a:t>
            </a:r>
            <a:r>
              <a:rPr lang="en-US" sz="2200" dirty="0">
                <a:solidFill>
                  <a:srgbClr val="333333"/>
                </a:solidFill>
                <a:latin typeface="Cambria"/>
                <a:ea typeface="Cambria"/>
                <a:cs typeface="Cambria"/>
                <a:sym typeface="Cambria"/>
              </a:rPr>
              <a:t>will create a new string object in normal (non- pool) heap memory, and the literal "Welcome" will be placed in the string constant pool. The variable s will refer to the object in a heap (non-pool).</a:t>
            </a:r>
            <a:endParaRPr sz="2200" dirty="0">
              <a:latin typeface="Cambria"/>
              <a:ea typeface="Cambria"/>
              <a:cs typeface="Cambria"/>
              <a:sym typeface="Cambria"/>
            </a:endParaRPr>
          </a:p>
        </p:txBody>
      </p:sp>
      <p:sp>
        <p:nvSpPr>
          <p:cNvPr id="209" name="Google Shape;209;p18"/>
          <p:cNvSpPr txBox="1">
            <a:spLocks noGrp="1"/>
          </p:cNvSpPr>
          <p:nvPr>
            <p:ph type="title"/>
          </p:nvPr>
        </p:nvSpPr>
        <p:spPr>
          <a:xfrm>
            <a:off x="3813175" y="630682"/>
            <a:ext cx="3606165" cy="505898"/>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None/>
            </a:pPr>
            <a:r>
              <a:rPr lang="en-US" sz="3200" dirty="0" smtClean="0">
                <a:solidFill>
                  <a:srgbClr val="600A38"/>
                </a:solidFill>
                <a:latin typeface="Cambria"/>
                <a:ea typeface="Cambria"/>
                <a:cs typeface="Cambria"/>
                <a:sym typeface="Cambria"/>
              </a:rPr>
              <a:t>2. </a:t>
            </a:r>
            <a:r>
              <a:rPr lang="en-US" sz="2400" dirty="0" smtClean="0">
                <a:solidFill>
                  <a:srgbClr val="600A38"/>
                </a:solidFill>
                <a:latin typeface="Cambria"/>
                <a:ea typeface="Cambria"/>
                <a:cs typeface="Cambria"/>
                <a:sym typeface="Cambria"/>
              </a:rPr>
              <a:t>By new  keyword</a:t>
            </a:r>
            <a:endParaRPr sz="2400" dirty="0">
              <a:latin typeface="Cambria"/>
              <a:ea typeface="Cambria"/>
              <a:cs typeface="Cambria"/>
              <a:sym typeface="Cambria"/>
            </a:endParaRPr>
          </a:p>
        </p:txBody>
      </p:sp>
      <p:sp>
        <p:nvSpPr>
          <p:cNvPr id="210" name="Google Shape;210;p18"/>
          <p:cNvSpPr txBox="1"/>
          <p:nvPr/>
        </p:nvSpPr>
        <p:spPr>
          <a:xfrm>
            <a:off x="344525" y="2155063"/>
            <a:ext cx="2584450" cy="1489710"/>
          </a:xfrm>
          <a:prstGeom prst="rect">
            <a:avLst/>
          </a:prstGeom>
          <a:noFill/>
          <a:ln>
            <a:noFill/>
          </a:ln>
        </p:spPr>
        <p:txBody>
          <a:bodyPr spcFirstLastPara="1" wrap="square" lIns="0" tIns="13325" rIns="0" bIns="0" anchor="t" anchorCtr="0">
            <a:spAutoFit/>
          </a:bodyPr>
          <a:lstStyle/>
          <a:p>
            <a:pPr marL="12700" marR="5080" lvl="0" indent="0" algn="ctr" rtl="0">
              <a:lnSpc>
                <a:spcPct val="100000"/>
              </a:lnSpc>
              <a:spcBef>
                <a:spcPts val="0"/>
              </a:spcBef>
              <a:spcAft>
                <a:spcPts val="0"/>
              </a:spcAft>
              <a:buNone/>
            </a:pPr>
            <a:r>
              <a:rPr lang="en-US" sz="3200" b="1">
                <a:solidFill>
                  <a:srgbClr val="FFFFFF"/>
                </a:solidFill>
                <a:latin typeface="Cambria"/>
                <a:ea typeface="Cambria"/>
                <a:cs typeface="Cambria"/>
                <a:sym typeface="Cambria"/>
              </a:rPr>
              <a:t>How to create a string object?</a:t>
            </a:r>
            <a:endParaRPr sz="3200">
              <a:latin typeface="Cambria"/>
              <a:ea typeface="Cambria"/>
              <a:cs typeface="Cambria"/>
              <a:sym typeface="Cambri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19"/>
          <p:cNvSpPr txBox="1"/>
          <p:nvPr/>
        </p:nvSpPr>
        <p:spPr>
          <a:xfrm>
            <a:off x="3569334" y="878484"/>
            <a:ext cx="6491605" cy="1534795"/>
          </a:xfrm>
          <a:prstGeom prst="rect">
            <a:avLst/>
          </a:prstGeom>
          <a:noFill/>
          <a:ln>
            <a:noFill/>
          </a:ln>
        </p:spPr>
        <p:txBody>
          <a:bodyPr spcFirstLastPara="1" wrap="square" lIns="0" tIns="180325" rIns="0" bIns="0" anchor="t" anchorCtr="0">
            <a:spAutoFit/>
          </a:bodyPr>
          <a:lstStyle/>
          <a:p>
            <a:pPr marL="12700" lvl="0" indent="0" algn="l" rtl="0">
              <a:lnSpc>
                <a:spcPct val="100000"/>
              </a:lnSpc>
              <a:spcBef>
                <a:spcPts val="0"/>
              </a:spcBef>
              <a:spcAft>
                <a:spcPts val="0"/>
              </a:spcAft>
              <a:buNone/>
            </a:pPr>
            <a:r>
              <a:rPr lang="en-US" sz="2200" b="1">
                <a:solidFill>
                  <a:srgbClr val="006699"/>
                </a:solidFill>
                <a:latin typeface="Cambria"/>
                <a:ea typeface="Cambria"/>
                <a:cs typeface="Cambria"/>
                <a:sym typeface="Cambria"/>
              </a:rPr>
              <a:t>public class </a:t>
            </a:r>
            <a:r>
              <a:rPr lang="en-US" sz="2200">
                <a:latin typeface="Cambria"/>
                <a:ea typeface="Cambria"/>
                <a:cs typeface="Cambria"/>
                <a:sym typeface="Cambria"/>
              </a:rPr>
              <a:t>StringExample{</a:t>
            </a:r>
            <a:endParaRPr sz="2200">
              <a:latin typeface="Cambria"/>
              <a:ea typeface="Cambria"/>
              <a:cs typeface="Cambria"/>
              <a:sym typeface="Cambria"/>
            </a:endParaRPr>
          </a:p>
          <a:p>
            <a:pPr marL="12700" lvl="0" indent="0" algn="l" rtl="0">
              <a:lnSpc>
                <a:spcPct val="100000"/>
              </a:lnSpc>
              <a:spcBef>
                <a:spcPts val="1320"/>
              </a:spcBef>
              <a:spcAft>
                <a:spcPts val="0"/>
              </a:spcAft>
              <a:buNone/>
            </a:pPr>
            <a:r>
              <a:rPr lang="en-US" sz="2200" b="1">
                <a:solidFill>
                  <a:srgbClr val="006699"/>
                </a:solidFill>
                <a:latin typeface="Cambria"/>
                <a:ea typeface="Cambria"/>
                <a:cs typeface="Cambria"/>
                <a:sym typeface="Cambria"/>
              </a:rPr>
              <a:t>public static void </a:t>
            </a:r>
            <a:r>
              <a:rPr lang="en-US" sz="2200">
                <a:latin typeface="Cambria"/>
                <a:ea typeface="Cambria"/>
                <a:cs typeface="Cambria"/>
                <a:sym typeface="Cambria"/>
              </a:rPr>
              <a:t>main(String args[]){</a:t>
            </a:r>
            <a:endParaRPr sz="2200">
              <a:latin typeface="Cambria"/>
              <a:ea typeface="Cambria"/>
              <a:cs typeface="Cambria"/>
              <a:sym typeface="Cambria"/>
            </a:endParaRPr>
          </a:p>
          <a:p>
            <a:pPr marL="12700" lvl="0" indent="0" algn="l" rtl="0">
              <a:lnSpc>
                <a:spcPct val="100000"/>
              </a:lnSpc>
              <a:spcBef>
                <a:spcPts val="1320"/>
              </a:spcBef>
              <a:spcAft>
                <a:spcPts val="0"/>
              </a:spcAft>
              <a:buNone/>
            </a:pPr>
            <a:r>
              <a:rPr lang="en-US" sz="2200">
                <a:latin typeface="Cambria"/>
                <a:ea typeface="Cambria"/>
                <a:cs typeface="Cambria"/>
                <a:sym typeface="Cambria"/>
              </a:rPr>
              <a:t>String s1=</a:t>
            </a:r>
            <a:r>
              <a:rPr lang="en-US" sz="2200">
                <a:solidFill>
                  <a:srgbClr val="0000FF"/>
                </a:solidFill>
                <a:latin typeface="Cambria"/>
                <a:ea typeface="Cambria"/>
                <a:cs typeface="Cambria"/>
                <a:sym typeface="Cambria"/>
              </a:rPr>
              <a:t>"java"</a:t>
            </a:r>
            <a:r>
              <a:rPr lang="en-US" sz="2200">
                <a:latin typeface="Cambria"/>
                <a:ea typeface="Cambria"/>
                <a:cs typeface="Cambria"/>
                <a:sym typeface="Cambria"/>
              </a:rPr>
              <a:t>;</a:t>
            </a:r>
            <a:r>
              <a:rPr lang="en-US" sz="2200">
                <a:solidFill>
                  <a:srgbClr val="008200"/>
                </a:solidFill>
                <a:latin typeface="Cambria"/>
                <a:ea typeface="Cambria"/>
                <a:cs typeface="Cambria"/>
                <a:sym typeface="Cambria"/>
              </a:rPr>
              <a:t>//creating string by Java string literal</a:t>
            </a:r>
            <a:endParaRPr sz="2200">
              <a:latin typeface="Cambria"/>
              <a:ea typeface="Cambria"/>
              <a:cs typeface="Cambria"/>
              <a:sym typeface="Cambria"/>
            </a:endParaRPr>
          </a:p>
        </p:txBody>
      </p:sp>
      <p:sp>
        <p:nvSpPr>
          <p:cNvPr id="216" name="Google Shape;216;p19"/>
          <p:cNvSpPr txBox="1"/>
          <p:nvPr/>
        </p:nvSpPr>
        <p:spPr>
          <a:xfrm>
            <a:off x="3569334" y="2387625"/>
            <a:ext cx="8253730" cy="1534795"/>
          </a:xfrm>
          <a:prstGeom prst="rect">
            <a:avLst/>
          </a:prstGeom>
          <a:noFill/>
          <a:ln>
            <a:noFill/>
          </a:ln>
        </p:spPr>
        <p:txBody>
          <a:bodyPr spcFirstLastPara="1" wrap="square" lIns="0" tIns="180325" rIns="0" bIns="0" anchor="t" anchorCtr="0">
            <a:spAutoFit/>
          </a:bodyPr>
          <a:lstStyle/>
          <a:p>
            <a:pPr marL="12700" lvl="0" indent="0" algn="l" rtl="0">
              <a:lnSpc>
                <a:spcPct val="100000"/>
              </a:lnSpc>
              <a:spcBef>
                <a:spcPts val="0"/>
              </a:spcBef>
              <a:spcAft>
                <a:spcPts val="0"/>
              </a:spcAft>
              <a:buNone/>
            </a:pPr>
            <a:r>
              <a:rPr lang="en-US" sz="2200" b="1">
                <a:solidFill>
                  <a:srgbClr val="006699"/>
                </a:solidFill>
                <a:latin typeface="Cambria"/>
                <a:ea typeface="Cambria"/>
                <a:cs typeface="Cambria"/>
                <a:sym typeface="Cambria"/>
              </a:rPr>
              <a:t>char </a:t>
            </a:r>
            <a:r>
              <a:rPr lang="en-US" sz="2200">
                <a:latin typeface="Cambria"/>
                <a:ea typeface="Cambria"/>
                <a:cs typeface="Cambria"/>
                <a:sym typeface="Cambria"/>
              </a:rPr>
              <a:t>ch[]={</a:t>
            </a:r>
            <a:r>
              <a:rPr lang="en-US" sz="2200">
                <a:solidFill>
                  <a:srgbClr val="0000FF"/>
                </a:solidFill>
                <a:latin typeface="Cambria"/>
                <a:ea typeface="Cambria"/>
                <a:cs typeface="Cambria"/>
                <a:sym typeface="Cambria"/>
              </a:rPr>
              <a:t>'s'</a:t>
            </a:r>
            <a:r>
              <a:rPr lang="en-US" sz="2200">
                <a:latin typeface="Cambria"/>
                <a:ea typeface="Cambria"/>
                <a:cs typeface="Cambria"/>
                <a:sym typeface="Cambria"/>
              </a:rPr>
              <a:t>,</a:t>
            </a:r>
            <a:r>
              <a:rPr lang="en-US" sz="2200">
                <a:solidFill>
                  <a:srgbClr val="0000FF"/>
                </a:solidFill>
                <a:latin typeface="Cambria"/>
                <a:ea typeface="Cambria"/>
                <a:cs typeface="Cambria"/>
                <a:sym typeface="Cambria"/>
              </a:rPr>
              <a:t>'t'</a:t>
            </a:r>
            <a:r>
              <a:rPr lang="en-US" sz="2200">
                <a:latin typeface="Cambria"/>
                <a:ea typeface="Cambria"/>
                <a:cs typeface="Cambria"/>
                <a:sym typeface="Cambria"/>
              </a:rPr>
              <a:t>,</a:t>
            </a:r>
            <a:r>
              <a:rPr lang="en-US" sz="2200">
                <a:solidFill>
                  <a:srgbClr val="0000FF"/>
                </a:solidFill>
                <a:latin typeface="Cambria"/>
                <a:ea typeface="Cambria"/>
                <a:cs typeface="Cambria"/>
                <a:sym typeface="Cambria"/>
              </a:rPr>
              <a:t>'r'</a:t>
            </a:r>
            <a:r>
              <a:rPr lang="en-US" sz="2200">
                <a:latin typeface="Cambria"/>
                <a:ea typeface="Cambria"/>
                <a:cs typeface="Cambria"/>
                <a:sym typeface="Cambria"/>
              </a:rPr>
              <a:t>,</a:t>
            </a:r>
            <a:r>
              <a:rPr lang="en-US" sz="2200">
                <a:solidFill>
                  <a:srgbClr val="0000FF"/>
                </a:solidFill>
                <a:latin typeface="Cambria"/>
                <a:ea typeface="Cambria"/>
                <a:cs typeface="Cambria"/>
                <a:sym typeface="Cambria"/>
              </a:rPr>
              <a:t>'i'</a:t>
            </a:r>
            <a:r>
              <a:rPr lang="en-US" sz="2200">
                <a:latin typeface="Cambria"/>
                <a:ea typeface="Cambria"/>
                <a:cs typeface="Cambria"/>
                <a:sym typeface="Cambria"/>
              </a:rPr>
              <a:t>,</a:t>
            </a:r>
            <a:r>
              <a:rPr lang="en-US" sz="2200">
                <a:solidFill>
                  <a:srgbClr val="0000FF"/>
                </a:solidFill>
                <a:latin typeface="Cambria"/>
                <a:ea typeface="Cambria"/>
                <a:cs typeface="Cambria"/>
                <a:sym typeface="Cambria"/>
              </a:rPr>
              <a:t>'n'</a:t>
            </a:r>
            <a:r>
              <a:rPr lang="en-US" sz="2200">
                <a:latin typeface="Cambria"/>
                <a:ea typeface="Cambria"/>
                <a:cs typeface="Cambria"/>
                <a:sym typeface="Cambria"/>
              </a:rPr>
              <a:t>,</a:t>
            </a:r>
            <a:r>
              <a:rPr lang="en-US" sz="2200">
                <a:solidFill>
                  <a:srgbClr val="0000FF"/>
                </a:solidFill>
                <a:latin typeface="Cambria"/>
                <a:ea typeface="Cambria"/>
                <a:cs typeface="Cambria"/>
                <a:sym typeface="Cambria"/>
              </a:rPr>
              <a:t>'g'</a:t>
            </a:r>
            <a:r>
              <a:rPr lang="en-US" sz="2200">
                <a:latin typeface="Cambria"/>
                <a:ea typeface="Cambria"/>
                <a:cs typeface="Cambria"/>
                <a:sym typeface="Cambria"/>
              </a:rPr>
              <a:t>,</a:t>
            </a:r>
            <a:r>
              <a:rPr lang="en-US" sz="2200">
                <a:solidFill>
                  <a:srgbClr val="0000FF"/>
                </a:solidFill>
                <a:latin typeface="Cambria"/>
                <a:ea typeface="Cambria"/>
                <a:cs typeface="Cambria"/>
                <a:sym typeface="Cambria"/>
              </a:rPr>
              <a:t>'s'</a:t>
            </a:r>
            <a:r>
              <a:rPr lang="en-US" sz="2200">
                <a:latin typeface="Cambria"/>
                <a:ea typeface="Cambria"/>
                <a:cs typeface="Cambria"/>
                <a:sym typeface="Cambria"/>
              </a:rPr>
              <a:t>};</a:t>
            </a:r>
            <a:endParaRPr sz="2200">
              <a:latin typeface="Cambria"/>
              <a:ea typeface="Cambria"/>
              <a:cs typeface="Cambria"/>
              <a:sym typeface="Cambria"/>
            </a:endParaRPr>
          </a:p>
          <a:p>
            <a:pPr marL="12700" lvl="0" indent="0" algn="l" rtl="0">
              <a:lnSpc>
                <a:spcPct val="100000"/>
              </a:lnSpc>
              <a:spcBef>
                <a:spcPts val="1320"/>
              </a:spcBef>
              <a:spcAft>
                <a:spcPts val="0"/>
              </a:spcAft>
              <a:buNone/>
            </a:pPr>
            <a:r>
              <a:rPr lang="en-US" sz="2200">
                <a:latin typeface="Cambria"/>
                <a:ea typeface="Cambria"/>
                <a:cs typeface="Cambria"/>
                <a:sym typeface="Cambria"/>
              </a:rPr>
              <a:t>String s2=</a:t>
            </a:r>
            <a:r>
              <a:rPr lang="en-US" sz="2200" b="1">
                <a:solidFill>
                  <a:srgbClr val="006699"/>
                </a:solidFill>
                <a:latin typeface="Cambria"/>
                <a:ea typeface="Cambria"/>
                <a:cs typeface="Cambria"/>
                <a:sym typeface="Cambria"/>
              </a:rPr>
              <a:t>new </a:t>
            </a:r>
            <a:r>
              <a:rPr lang="en-US" sz="2200">
                <a:latin typeface="Cambria"/>
                <a:ea typeface="Cambria"/>
                <a:cs typeface="Cambria"/>
                <a:sym typeface="Cambria"/>
              </a:rPr>
              <a:t>String(ch);</a:t>
            </a:r>
            <a:r>
              <a:rPr lang="en-US" sz="2200">
                <a:solidFill>
                  <a:srgbClr val="008200"/>
                </a:solidFill>
                <a:latin typeface="Cambria"/>
                <a:ea typeface="Cambria"/>
                <a:cs typeface="Cambria"/>
                <a:sym typeface="Cambria"/>
              </a:rPr>
              <a:t>//converting char array to string</a:t>
            </a:r>
            <a:endParaRPr sz="2200">
              <a:latin typeface="Cambria"/>
              <a:ea typeface="Cambria"/>
              <a:cs typeface="Cambria"/>
              <a:sym typeface="Cambria"/>
            </a:endParaRPr>
          </a:p>
          <a:p>
            <a:pPr marL="12700" lvl="0" indent="0" algn="l" rtl="0">
              <a:lnSpc>
                <a:spcPct val="100000"/>
              </a:lnSpc>
              <a:spcBef>
                <a:spcPts val="1320"/>
              </a:spcBef>
              <a:spcAft>
                <a:spcPts val="0"/>
              </a:spcAft>
              <a:buNone/>
            </a:pPr>
            <a:r>
              <a:rPr lang="en-US" sz="2200">
                <a:latin typeface="Cambria"/>
                <a:ea typeface="Cambria"/>
                <a:cs typeface="Cambria"/>
                <a:sym typeface="Cambria"/>
              </a:rPr>
              <a:t>String s3=</a:t>
            </a:r>
            <a:r>
              <a:rPr lang="en-US" sz="2200" b="1">
                <a:solidFill>
                  <a:srgbClr val="006699"/>
                </a:solidFill>
                <a:latin typeface="Cambria"/>
                <a:ea typeface="Cambria"/>
                <a:cs typeface="Cambria"/>
                <a:sym typeface="Cambria"/>
              </a:rPr>
              <a:t>new </a:t>
            </a:r>
            <a:r>
              <a:rPr lang="en-US" sz="2200">
                <a:latin typeface="Cambria"/>
                <a:ea typeface="Cambria"/>
                <a:cs typeface="Cambria"/>
                <a:sym typeface="Cambria"/>
              </a:rPr>
              <a:t>String(</a:t>
            </a:r>
            <a:r>
              <a:rPr lang="en-US" sz="2200">
                <a:solidFill>
                  <a:srgbClr val="0000FF"/>
                </a:solidFill>
                <a:latin typeface="Cambria"/>
                <a:ea typeface="Cambria"/>
                <a:cs typeface="Cambria"/>
                <a:sym typeface="Cambria"/>
              </a:rPr>
              <a:t>"example"</a:t>
            </a:r>
            <a:r>
              <a:rPr lang="en-US" sz="2200">
                <a:latin typeface="Cambria"/>
                <a:ea typeface="Cambria"/>
                <a:cs typeface="Cambria"/>
                <a:sym typeface="Cambria"/>
              </a:rPr>
              <a:t>);</a:t>
            </a:r>
            <a:r>
              <a:rPr lang="en-US" sz="2200">
                <a:solidFill>
                  <a:srgbClr val="008200"/>
                </a:solidFill>
                <a:latin typeface="Cambria"/>
                <a:ea typeface="Cambria"/>
                <a:cs typeface="Cambria"/>
                <a:sym typeface="Cambria"/>
              </a:rPr>
              <a:t>//creating Java string by new key</a:t>
            </a:r>
            <a:endParaRPr sz="2200">
              <a:latin typeface="Cambria"/>
              <a:ea typeface="Cambria"/>
              <a:cs typeface="Cambria"/>
              <a:sym typeface="Cambria"/>
            </a:endParaRPr>
          </a:p>
        </p:txBody>
      </p:sp>
      <p:sp>
        <p:nvSpPr>
          <p:cNvPr id="217" name="Google Shape;217;p19"/>
          <p:cNvSpPr txBox="1"/>
          <p:nvPr/>
        </p:nvSpPr>
        <p:spPr>
          <a:xfrm>
            <a:off x="3569334" y="3896639"/>
            <a:ext cx="3549650" cy="2037714"/>
          </a:xfrm>
          <a:prstGeom prst="rect">
            <a:avLst/>
          </a:prstGeom>
          <a:noFill/>
          <a:ln>
            <a:noFill/>
          </a:ln>
        </p:spPr>
        <p:txBody>
          <a:bodyPr spcFirstLastPara="1" wrap="square" lIns="0" tIns="12700" rIns="0" bIns="0" anchor="t" anchorCtr="0">
            <a:spAutoFit/>
          </a:bodyPr>
          <a:lstStyle/>
          <a:p>
            <a:pPr marL="12700" marR="5080" lvl="0" indent="0" algn="l" rtl="0">
              <a:lnSpc>
                <a:spcPct val="150000"/>
              </a:lnSpc>
              <a:spcBef>
                <a:spcPts val="0"/>
              </a:spcBef>
              <a:spcAft>
                <a:spcPts val="0"/>
              </a:spcAft>
              <a:buNone/>
            </a:pPr>
            <a:r>
              <a:rPr lang="en-US" sz="2200">
                <a:solidFill>
                  <a:srgbClr val="008200"/>
                </a:solidFill>
                <a:latin typeface="Cambria"/>
                <a:ea typeface="Cambria"/>
                <a:cs typeface="Cambria"/>
                <a:sym typeface="Cambria"/>
              </a:rPr>
              <a:t>word </a:t>
            </a:r>
            <a:r>
              <a:rPr lang="en-US" sz="2200">
                <a:latin typeface="Cambria"/>
                <a:ea typeface="Cambria"/>
                <a:cs typeface="Cambria"/>
                <a:sym typeface="Cambria"/>
              </a:rPr>
              <a:t>System.out.println(s1); System.out.println(s2); System.out.println(s3);</a:t>
            </a:r>
            <a:endParaRPr sz="2200">
              <a:latin typeface="Cambria"/>
              <a:ea typeface="Cambria"/>
              <a:cs typeface="Cambria"/>
              <a:sym typeface="Cambria"/>
            </a:endParaRPr>
          </a:p>
          <a:p>
            <a:pPr marL="12700" lvl="0" indent="0" algn="l" rtl="0">
              <a:lnSpc>
                <a:spcPct val="100000"/>
              </a:lnSpc>
              <a:spcBef>
                <a:spcPts val="1320"/>
              </a:spcBef>
              <a:spcAft>
                <a:spcPts val="0"/>
              </a:spcAft>
              <a:buNone/>
            </a:pPr>
            <a:r>
              <a:rPr lang="en-US" sz="2200">
                <a:latin typeface="Cambria"/>
                <a:ea typeface="Cambria"/>
                <a:cs typeface="Cambria"/>
                <a:sym typeface="Cambria"/>
              </a:rPr>
              <a:t>}}</a:t>
            </a:r>
            <a:endParaRPr sz="2200">
              <a:latin typeface="Cambria"/>
              <a:ea typeface="Cambria"/>
              <a:cs typeface="Cambria"/>
              <a:sym typeface="Cambria"/>
            </a:endParaRPr>
          </a:p>
        </p:txBody>
      </p:sp>
      <p:sp>
        <p:nvSpPr>
          <p:cNvPr id="218" name="Google Shape;218;p19"/>
          <p:cNvSpPr txBox="1"/>
          <p:nvPr/>
        </p:nvSpPr>
        <p:spPr>
          <a:xfrm>
            <a:off x="446633" y="2767710"/>
            <a:ext cx="2799487" cy="873942"/>
          </a:xfrm>
          <a:prstGeom prst="rect">
            <a:avLst/>
          </a:prstGeom>
          <a:noFill/>
          <a:ln>
            <a:noFill/>
          </a:ln>
        </p:spPr>
        <p:txBody>
          <a:bodyPr spcFirstLastPara="1" wrap="square" lIns="0" tIns="12050" rIns="0" bIns="0" anchor="t" anchorCtr="0">
            <a:spAutoFit/>
          </a:bodyPr>
          <a:lstStyle/>
          <a:p>
            <a:pPr marL="163195" marR="5080" lvl="0" indent="-151130" algn="l" rtl="0">
              <a:lnSpc>
                <a:spcPct val="100000"/>
              </a:lnSpc>
              <a:spcBef>
                <a:spcPts val="0"/>
              </a:spcBef>
              <a:spcAft>
                <a:spcPts val="0"/>
              </a:spcAft>
              <a:buNone/>
            </a:pPr>
            <a:r>
              <a:rPr lang="en-US" sz="2800" b="1" dirty="0">
                <a:solidFill>
                  <a:srgbClr val="FFFFFF"/>
                </a:solidFill>
                <a:latin typeface="Cambria"/>
                <a:ea typeface="Cambria"/>
                <a:cs typeface="Cambria"/>
                <a:sym typeface="Cambria"/>
              </a:rPr>
              <a:t>How to create a string object?</a:t>
            </a:r>
            <a:endParaRPr sz="2800" dirty="0">
              <a:latin typeface="Cambria"/>
              <a:ea typeface="Cambria"/>
              <a:cs typeface="Cambria"/>
              <a:sym typeface="Cambria"/>
            </a:endParaRPr>
          </a:p>
        </p:txBody>
      </p:sp>
      <p:sp>
        <p:nvSpPr>
          <p:cNvPr id="219" name="Google Shape;219;p19"/>
          <p:cNvSpPr txBox="1"/>
          <p:nvPr/>
        </p:nvSpPr>
        <p:spPr>
          <a:xfrm>
            <a:off x="8080629" y="4224908"/>
            <a:ext cx="1120140" cy="1489075"/>
          </a:xfrm>
          <a:prstGeom prst="rect">
            <a:avLst/>
          </a:prstGeom>
          <a:noFill/>
          <a:ln>
            <a:noFill/>
          </a:ln>
        </p:spPr>
        <p:txBody>
          <a:bodyPr spcFirstLastPara="1" wrap="square" lIns="0" tIns="12700" rIns="0" bIns="0" anchor="t" anchorCtr="0">
            <a:spAutoFit/>
          </a:bodyPr>
          <a:lstStyle/>
          <a:p>
            <a:pPr marL="12700" marR="5080" lvl="0" indent="0" algn="l" rtl="0">
              <a:lnSpc>
                <a:spcPct val="100000"/>
              </a:lnSpc>
              <a:spcBef>
                <a:spcPts val="0"/>
              </a:spcBef>
              <a:spcAft>
                <a:spcPts val="0"/>
              </a:spcAft>
              <a:buNone/>
            </a:pPr>
            <a:r>
              <a:rPr lang="en-US" sz="2400" b="1" u="sng">
                <a:latin typeface="Cambria"/>
                <a:ea typeface="Cambria"/>
                <a:cs typeface="Cambria"/>
                <a:sym typeface="Cambria"/>
              </a:rPr>
              <a:t>Output</a:t>
            </a:r>
            <a:r>
              <a:rPr lang="en-US" sz="2400" b="1">
                <a:latin typeface="Cambria"/>
                <a:ea typeface="Cambria"/>
                <a:cs typeface="Cambria"/>
                <a:sym typeface="Cambria"/>
              </a:rPr>
              <a:t> </a:t>
            </a:r>
            <a:r>
              <a:rPr lang="en-US" sz="2400">
                <a:latin typeface="Cambria"/>
                <a:ea typeface="Cambria"/>
                <a:cs typeface="Cambria"/>
                <a:sym typeface="Cambria"/>
              </a:rPr>
              <a:t>Java strings example</a:t>
            </a:r>
            <a:endParaRPr sz="2400">
              <a:latin typeface="Cambria"/>
              <a:ea typeface="Cambria"/>
              <a:cs typeface="Cambria"/>
              <a:sym typeface="Cambri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20"/>
          <p:cNvSpPr/>
          <p:nvPr/>
        </p:nvSpPr>
        <p:spPr>
          <a:xfrm>
            <a:off x="11817095" y="758951"/>
            <a:ext cx="374650" cy="5330825"/>
          </a:xfrm>
          <a:custGeom>
            <a:avLst/>
            <a:gdLst/>
            <a:ahLst/>
            <a:cxnLst/>
            <a:rect l="l" t="t" r="r" b="b"/>
            <a:pathLst>
              <a:path w="374650" h="5330825" extrusionOk="0">
                <a:moveTo>
                  <a:pt x="374523" y="0"/>
                </a:moveTo>
                <a:lnTo>
                  <a:pt x="0" y="0"/>
                </a:lnTo>
                <a:lnTo>
                  <a:pt x="0" y="5330444"/>
                </a:lnTo>
                <a:lnTo>
                  <a:pt x="374523" y="5330444"/>
                </a:lnTo>
                <a:lnTo>
                  <a:pt x="374523" y="0"/>
                </a:lnTo>
                <a:close/>
              </a:path>
            </a:pathLst>
          </a:custGeom>
          <a:solidFill>
            <a:srgbClr val="C6C6C6">
              <a:alpha val="49411"/>
            </a:srgbClr>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25" name="Google Shape;225;p20"/>
          <p:cNvSpPr txBox="1"/>
          <p:nvPr/>
        </p:nvSpPr>
        <p:spPr>
          <a:xfrm>
            <a:off x="602995" y="2846391"/>
            <a:ext cx="2414525" cy="1012377"/>
          </a:xfrm>
          <a:prstGeom prst="rect">
            <a:avLst/>
          </a:prstGeom>
          <a:noFill/>
          <a:ln>
            <a:noFill/>
          </a:ln>
        </p:spPr>
        <p:txBody>
          <a:bodyPr spcFirstLastPara="1" wrap="square" lIns="0" tIns="12700" rIns="0" bIns="0" anchor="t" anchorCtr="0">
            <a:spAutoFit/>
          </a:bodyPr>
          <a:lstStyle/>
          <a:p>
            <a:pPr marL="12700" marR="5080" lvl="0" indent="51435" algn="l" rtl="0">
              <a:lnSpc>
                <a:spcPct val="112100"/>
              </a:lnSpc>
              <a:spcBef>
                <a:spcPts val="0"/>
              </a:spcBef>
              <a:spcAft>
                <a:spcPts val="0"/>
              </a:spcAft>
              <a:buNone/>
            </a:pPr>
            <a:r>
              <a:rPr lang="en-US" sz="2900" b="1" dirty="0">
                <a:solidFill>
                  <a:srgbClr val="FFFFFF"/>
                </a:solidFill>
                <a:latin typeface="Cambria"/>
                <a:ea typeface="Cambria"/>
                <a:cs typeface="Cambria"/>
                <a:sym typeface="Cambria"/>
              </a:rPr>
              <a:t>String Class Constructors</a:t>
            </a:r>
            <a:endParaRPr sz="2900" dirty="0">
              <a:latin typeface="Cambria"/>
              <a:ea typeface="Cambria"/>
              <a:cs typeface="Cambria"/>
              <a:sym typeface="Cambria"/>
            </a:endParaRPr>
          </a:p>
        </p:txBody>
      </p:sp>
      <p:sp>
        <p:nvSpPr>
          <p:cNvPr id="226" name="Google Shape;226;p20"/>
          <p:cNvSpPr txBox="1">
            <a:spLocks noGrp="1"/>
          </p:cNvSpPr>
          <p:nvPr>
            <p:ph type="title"/>
          </p:nvPr>
        </p:nvSpPr>
        <p:spPr>
          <a:xfrm>
            <a:off x="3949065" y="1861261"/>
            <a:ext cx="2757805" cy="36068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2200" b="0" dirty="0">
                <a:solidFill>
                  <a:srgbClr val="40B8D2"/>
                </a:solidFill>
                <a:latin typeface="Cambria"/>
                <a:ea typeface="Cambria"/>
                <a:cs typeface="Cambria"/>
                <a:sym typeface="Cambria"/>
              </a:rPr>
              <a:t>1.	</a:t>
            </a:r>
            <a:r>
              <a:rPr lang="en-US" sz="2200" b="0" dirty="0" err="1">
                <a:solidFill>
                  <a:srgbClr val="575757"/>
                </a:solidFill>
                <a:latin typeface="Cambria"/>
                <a:ea typeface="Cambria"/>
                <a:cs typeface="Cambria"/>
                <a:sym typeface="Cambria"/>
              </a:rPr>
              <a:t>DefaultConstructor</a:t>
            </a:r>
            <a:r>
              <a:rPr lang="en-US" sz="2200" b="0" dirty="0">
                <a:solidFill>
                  <a:srgbClr val="575757"/>
                </a:solidFill>
                <a:latin typeface="Cambria"/>
                <a:ea typeface="Cambria"/>
                <a:cs typeface="Cambria"/>
                <a:sym typeface="Cambria"/>
              </a:rPr>
              <a:t>:</a:t>
            </a:r>
            <a:endParaRPr sz="2200" dirty="0">
              <a:latin typeface="Cambria"/>
              <a:ea typeface="Cambria"/>
              <a:cs typeface="Cambria"/>
              <a:sym typeface="Cambria"/>
            </a:endParaRPr>
          </a:p>
        </p:txBody>
      </p:sp>
      <p:sp>
        <p:nvSpPr>
          <p:cNvPr id="227" name="Google Shape;227;p20"/>
          <p:cNvSpPr txBox="1"/>
          <p:nvPr/>
        </p:nvSpPr>
        <p:spPr>
          <a:xfrm>
            <a:off x="4451984" y="2200401"/>
            <a:ext cx="4082416" cy="350737"/>
          </a:xfrm>
          <a:prstGeom prst="rect">
            <a:avLst/>
          </a:prstGeom>
          <a:noFill/>
          <a:ln>
            <a:noFill/>
          </a:ln>
        </p:spPr>
        <p:txBody>
          <a:bodyPr spcFirstLastPara="1" wrap="square" lIns="0" tIns="12050" rIns="0" bIns="0" anchor="t" anchorCtr="0">
            <a:spAutoFit/>
          </a:bodyPr>
          <a:lstStyle/>
          <a:p>
            <a:pPr marL="111125" lvl="0" indent="-133349" algn="l" rtl="0">
              <a:lnSpc>
                <a:spcPct val="100000"/>
              </a:lnSpc>
              <a:spcBef>
                <a:spcPts val="0"/>
              </a:spcBef>
              <a:spcAft>
                <a:spcPts val="0"/>
              </a:spcAft>
              <a:buClr>
                <a:srgbClr val="40B8D2"/>
              </a:buClr>
              <a:buSzPts val="2100"/>
              <a:buFont typeface="Arial"/>
              <a:buChar char="•"/>
            </a:pPr>
            <a:r>
              <a:rPr lang="en-US" sz="2200" dirty="0">
                <a:solidFill>
                  <a:srgbClr val="575757"/>
                </a:solidFill>
                <a:latin typeface="Cambria"/>
                <a:ea typeface="Cambria"/>
                <a:cs typeface="Cambria"/>
                <a:sym typeface="Cambria"/>
              </a:rPr>
              <a:t>String </a:t>
            </a:r>
            <a:r>
              <a:rPr lang="en-US" sz="2200" dirty="0" err="1">
                <a:solidFill>
                  <a:srgbClr val="575757"/>
                </a:solidFill>
                <a:latin typeface="Cambria"/>
                <a:ea typeface="Cambria"/>
                <a:cs typeface="Cambria"/>
                <a:sym typeface="Cambria"/>
              </a:rPr>
              <a:t>str</a:t>
            </a:r>
            <a:r>
              <a:rPr lang="en-US" sz="2200" dirty="0">
                <a:solidFill>
                  <a:srgbClr val="575757"/>
                </a:solidFill>
                <a:latin typeface="Cambria"/>
                <a:ea typeface="Cambria"/>
                <a:cs typeface="Cambria"/>
                <a:sym typeface="Cambria"/>
              </a:rPr>
              <a:t> =new String( );</a:t>
            </a:r>
            <a:endParaRPr sz="2200" dirty="0">
              <a:latin typeface="Cambria"/>
              <a:ea typeface="Cambria"/>
              <a:cs typeface="Cambria"/>
              <a:sym typeface="Cambria"/>
            </a:endParaRPr>
          </a:p>
        </p:txBody>
      </p:sp>
      <p:sp>
        <p:nvSpPr>
          <p:cNvPr id="228" name="Google Shape;228;p20"/>
          <p:cNvSpPr txBox="1"/>
          <p:nvPr/>
        </p:nvSpPr>
        <p:spPr>
          <a:xfrm>
            <a:off x="3949064" y="3451097"/>
            <a:ext cx="7023735" cy="1443344"/>
          </a:xfrm>
          <a:prstGeom prst="rect">
            <a:avLst/>
          </a:prstGeom>
          <a:noFill/>
          <a:ln>
            <a:noFill/>
          </a:ln>
        </p:spPr>
        <p:txBody>
          <a:bodyPr spcFirstLastPara="1" wrap="square" lIns="0" tIns="12050" rIns="0" bIns="0" anchor="t" anchorCtr="0">
            <a:spAutoFit/>
          </a:bodyPr>
          <a:lstStyle/>
          <a:p>
            <a:pPr marL="469265" lvl="0" indent="-456565" algn="l" rtl="0">
              <a:lnSpc>
                <a:spcPct val="100000"/>
              </a:lnSpc>
              <a:spcBef>
                <a:spcPts val="0"/>
              </a:spcBef>
              <a:spcAft>
                <a:spcPts val="0"/>
              </a:spcAft>
              <a:buClr>
                <a:srgbClr val="40B8D2"/>
              </a:buClr>
              <a:buSzPts val="2200"/>
              <a:buFont typeface="Cambria"/>
              <a:buAutoNum type="arabicPeriod" startAt="2"/>
            </a:pPr>
            <a:r>
              <a:rPr lang="en-US" sz="2200" dirty="0">
                <a:solidFill>
                  <a:srgbClr val="575757"/>
                </a:solidFill>
                <a:latin typeface="Cambria"/>
                <a:ea typeface="Cambria"/>
                <a:cs typeface="Cambria"/>
                <a:sym typeface="Cambria"/>
              </a:rPr>
              <a:t>String object using an array of Characters</a:t>
            </a:r>
            <a:endParaRPr sz="2200" dirty="0">
              <a:latin typeface="Cambria"/>
              <a:ea typeface="Cambria"/>
              <a:cs typeface="Cambria"/>
              <a:sym typeface="Cambria"/>
            </a:endParaRPr>
          </a:p>
          <a:p>
            <a:pPr marL="698500" lvl="1" indent="-182880" algn="l" rtl="0">
              <a:lnSpc>
                <a:spcPct val="100000"/>
              </a:lnSpc>
              <a:spcBef>
                <a:spcPts val="0"/>
              </a:spcBef>
              <a:spcAft>
                <a:spcPts val="0"/>
              </a:spcAft>
              <a:buClr>
                <a:srgbClr val="40B8D2"/>
              </a:buClr>
              <a:buSzPts val="2200"/>
              <a:buFont typeface="Arial"/>
              <a:buChar char="•"/>
            </a:pPr>
            <a:r>
              <a:rPr lang="en-US" sz="2200" b="1" dirty="0">
                <a:solidFill>
                  <a:srgbClr val="575757"/>
                </a:solidFill>
                <a:latin typeface="Cambria"/>
                <a:ea typeface="Cambria"/>
                <a:cs typeface="Cambria"/>
                <a:sym typeface="Cambria"/>
              </a:rPr>
              <a:t>String(char </a:t>
            </a:r>
            <a:r>
              <a:rPr lang="en-US" sz="2200" b="1" dirty="0" err="1">
                <a:solidFill>
                  <a:srgbClr val="575757"/>
                </a:solidFill>
                <a:latin typeface="Cambria"/>
                <a:ea typeface="Cambria"/>
                <a:cs typeface="Cambria"/>
                <a:sym typeface="Cambria"/>
              </a:rPr>
              <a:t>charArray</a:t>
            </a:r>
            <a:r>
              <a:rPr lang="en-US" sz="2200" b="1" dirty="0">
                <a:solidFill>
                  <a:srgbClr val="575757"/>
                </a:solidFill>
                <a:latin typeface="Cambria"/>
                <a:ea typeface="Cambria"/>
                <a:cs typeface="Cambria"/>
                <a:sym typeface="Cambria"/>
              </a:rPr>
              <a:t>[ ])</a:t>
            </a:r>
            <a:endParaRPr sz="2200" dirty="0">
              <a:latin typeface="Cambria"/>
              <a:ea typeface="Cambria"/>
              <a:cs typeface="Cambria"/>
              <a:sym typeface="Cambria"/>
            </a:endParaRPr>
          </a:p>
          <a:p>
            <a:pPr marL="680085" lvl="1" indent="-164465" algn="l" rtl="0">
              <a:lnSpc>
                <a:spcPct val="100000"/>
              </a:lnSpc>
              <a:spcBef>
                <a:spcPts val="300"/>
              </a:spcBef>
              <a:spcAft>
                <a:spcPts val="0"/>
              </a:spcAft>
              <a:buClr>
                <a:srgbClr val="40B8D2"/>
              </a:buClr>
              <a:buSzPts val="2200"/>
              <a:buFont typeface="Arial"/>
              <a:buChar char="•"/>
            </a:pPr>
            <a:r>
              <a:rPr lang="en-US" sz="2200" dirty="0">
                <a:solidFill>
                  <a:srgbClr val="575757"/>
                </a:solidFill>
                <a:latin typeface="Cambria"/>
                <a:ea typeface="Cambria"/>
                <a:cs typeface="Cambria"/>
                <a:sym typeface="Cambria"/>
              </a:rPr>
              <a:t>char Name[ ] ={‘J’, ‘A’, ‘V’, ‘A’, ‘P’, ‘R’, ‘O’, ‘G’};</a:t>
            </a:r>
            <a:endParaRPr sz="2200" dirty="0">
              <a:latin typeface="Cambria"/>
              <a:ea typeface="Cambria"/>
              <a:cs typeface="Cambria"/>
              <a:sym typeface="Cambria"/>
            </a:endParaRPr>
          </a:p>
          <a:p>
            <a:pPr marL="698500" lvl="1" indent="-182880" algn="l" rtl="0">
              <a:lnSpc>
                <a:spcPct val="100000"/>
              </a:lnSpc>
              <a:spcBef>
                <a:spcPts val="300"/>
              </a:spcBef>
              <a:spcAft>
                <a:spcPts val="0"/>
              </a:spcAft>
              <a:buClr>
                <a:srgbClr val="40B8D2"/>
              </a:buClr>
              <a:buSzPts val="2200"/>
              <a:buFont typeface="Arial"/>
              <a:buChar char="•"/>
            </a:pPr>
            <a:r>
              <a:rPr lang="en-US" sz="2200" dirty="0" err="1">
                <a:solidFill>
                  <a:srgbClr val="575757"/>
                </a:solidFill>
                <a:latin typeface="Cambria"/>
                <a:ea typeface="Cambria"/>
                <a:cs typeface="Cambria"/>
                <a:sym typeface="Cambria"/>
              </a:rPr>
              <a:t>StringstrName</a:t>
            </a:r>
            <a:r>
              <a:rPr lang="en-US" sz="2200" dirty="0">
                <a:solidFill>
                  <a:srgbClr val="575757"/>
                </a:solidFill>
                <a:latin typeface="Cambria"/>
                <a:ea typeface="Cambria"/>
                <a:cs typeface="Cambria"/>
                <a:sym typeface="Cambria"/>
              </a:rPr>
              <a:t> =</a:t>
            </a:r>
            <a:r>
              <a:rPr lang="en-US" sz="2200" dirty="0" err="1">
                <a:solidFill>
                  <a:srgbClr val="575757"/>
                </a:solidFill>
                <a:latin typeface="Cambria"/>
                <a:ea typeface="Cambria"/>
                <a:cs typeface="Cambria"/>
                <a:sym typeface="Cambria"/>
              </a:rPr>
              <a:t>newString</a:t>
            </a:r>
            <a:r>
              <a:rPr lang="en-US" sz="2200" dirty="0">
                <a:solidFill>
                  <a:srgbClr val="575757"/>
                </a:solidFill>
                <a:latin typeface="Cambria"/>
                <a:ea typeface="Cambria"/>
                <a:cs typeface="Cambria"/>
                <a:sym typeface="Cambria"/>
              </a:rPr>
              <a:t>(Name);</a:t>
            </a:r>
            <a:endParaRPr sz="2200" dirty="0">
              <a:latin typeface="Cambria"/>
              <a:ea typeface="Cambria"/>
              <a:cs typeface="Cambria"/>
              <a:sym typeface="Cambri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21"/>
          <p:cNvSpPr txBox="1"/>
          <p:nvPr/>
        </p:nvSpPr>
        <p:spPr>
          <a:xfrm>
            <a:off x="331418" y="2830779"/>
            <a:ext cx="2942133" cy="1270979"/>
          </a:xfrm>
          <a:prstGeom prst="rect">
            <a:avLst/>
          </a:prstGeom>
          <a:noFill/>
          <a:ln>
            <a:noFill/>
          </a:ln>
        </p:spPr>
        <p:txBody>
          <a:bodyPr spcFirstLastPara="1" wrap="square" lIns="0" tIns="73650" rIns="0" bIns="0" anchor="t" anchorCtr="0">
            <a:spAutoFit/>
          </a:bodyPr>
          <a:lstStyle/>
          <a:p>
            <a:pPr marL="12700" marR="5080" lvl="0" indent="0" algn="l" rtl="0">
              <a:lnSpc>
                <a:spcPct val="108333"/>
              </a:lnSpc>
              <a:spcBef>
                <a:spcPts val="0"/>
              </a:spcBef>
              <a:spcAft>
                <a:spcPts val="0"/>
              </a:spcAft>
              <a:buNone/>
            </a:pPr>
            <a:r>
              <a:rPr lang="en-US" sz="3600" b="1" dirty="0">
                <a:solidFill>
                  <a:srgbClr val="FFFFFF"/>
                </a:solidFill>
                <a:latin typeface="Cambria"/>
                <a:ea typeface="Cambria"/>
                <a:cs typeface="Cambria"/>
                <a:sym typeface="Cambria"/>
              </a:rPr>
              <a:t>String Class Constructors</a:t>
            </a:r>
            <a:endParaRPr sz="3600" dirty="0">
              <a:latin typeface="Cambria"/>
              <a:ea typeface="Cambria"/>
              <a:cs typeface="Cambria"/>
              <a:sym typeface="Cambria"/>
            </a:endParaRPr>
          </a:p>
        </p:txBody>
      </p:sp>
      <p:sp>
        <p:nvSpPr>
          <p:cNvPr id="234" name="Google Shape;234;p21"/>
          <p:cNvSpPr txBox="1"/>
          <p:nvPr/>
        </p:nvSpPr>
        <p:spPr>
          <a:xfrm>
            <a:off x="3949065" y="1294256"/>
            <a:ext cx="6790055" cy="102783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2200" dirty="0" smtClean="0">
                <a:solidFill>
                  <a:srgbClr val="40B8D2"/>
                </a:solidFill>
                <a:latin typeface="Cambria"/>
                <a:ea typeface="Cambria"/>
                <a:cs typeface="Cambria"/>
                <a:sym typeface="Cambria"/>
              </a:rPr>
              <a:t>3.    </a:t>
            </a:r>
            <a:r>
              <a:rPr lang="en-US" sz="2200" dirty="0" smtClean="0">
                <a:solidFill>
                  <a:srgbClr val="575757"/>
                </a:solidFill>
                <a:latin typeface="Cambria"/>
                <a:ea typeface="Cambria"/>
                <a:cs typeface="Cambria"/>
                <a:sym typeface="Cambria"/>
              </a:rPr>
              <a:t>String </a:t>
            </a:r>
            <a:r>
              <a:rPr lang="en-US" sz="2200" dirty="0">
                <a:solidFill>
                  <a:srgbClr val="575757"/>
                </a:solidFill>
                <a:latin typeface="Cambria"/>
                <a:ea typeface="Cambria"/>
                <a:cs typeface="Cambria"/>
                <a:sym typeface="Cambria"/>
              </a:rPr>
              <a:t>Object Initialized by range from </a:t>
            </a:r>
            <a:r>
              <a:rPr lang="en-US" sz="2200" dirty="0" err="1">
                <a:solidFill>
                  <a:srgbClr val="575757"/>
                </a:solidFill>
                <a:latin typeface="Cambria"/>
                <a:ea typeface="Cambria"/>
                <a:cs typeface="Cambria"/>
                <a:sym typeface="Cambria"/>
              </a:rPr>
              <a:t>chararray</a:t>
            </a:r>
            <a:endParaRPr sz="2200" dirty="0">
              <a:latin typeface="Cambria"/>
              <a:ea typeface="Cambria"/>
              <a:cs typeface="Cambria"/>
              <a:sym typeface="Cambria"/>
            </a:endParaRPr>
          </a:p>
          <a:p>
            <a:pPr marL="515619" lvl="0" indent="0" algn="l" rtl="0">
              <a:lnSpc>
                <a:spcPct val="100000"/>
              </a:lnSpc>
              <a:spcBef>
                <a:spcPts val="25"/>
              </a:spcBef>
              <a:spcAft>
                <a:spcPts val="0"/>
              </a:spcAft>
              <a:buNone/>
            </a:pPr>
            <a:r>
              <a:rPr lang="en-US" sz="2200" b="1" dirty="0">
                <a:solidFill>
                  <a:srgbClr val="575757"/>
                </a:solidFill>
                <a:latin typeface="Cambria"/>
                <a:ea typeface="Cambria"/>
                <a:cs typeface="Cambria"/>
                <a:sym typeface="Cambria"/>
              </a:rPr>
              <a:t>String(char </a:t>
            </a:r>
            <a:r>
              <a:rPr lang="en-US" sz="2200" b="1" dirty="0" err="1">
                <a:solidFill>
                  <a:srgbClr val="575757"/>
                </a:solidFill>
                <a:latin typeface="Cambria"/>
                <a:ea typeface="Cambria"/>
                <a:cs typeface="Cambria"/>
                <a:sym typeface="Cambria"/>
              </a:rPr>
              <a:t>charArray</a:t>
            </a:r>
            <a:r>
              <a:rPr lang="en-US" sz="2200" b="1" dirty="0">
                <a:solidFill>
                  <a:srgbClr val="575757"/>
                </a:solidFill>
                <a:latin typeface="Cambria"/>
                <a:ea typeface="Cambria"/>
                <a:cs typeface="Cambria"/>
                <a:sym typeface="Cambria"/>
              </a:rPr>
              <a:t>[ ],</a:t>
            </a:r>
            <a:r>
              <a:rPr lang="en-US" sz="2200" b="1" dirty="0" err="1">
                <a:solidFill>
                  <a:srgbClr val="575757"/>
                </a:solidFill>
                <a:latin typeface="Cambria"/>
                <a:ea typeface="Cambria"/>
                <a:cs typeface="Cambria"/>
                <a:sym typeface="Cambria"/>
              </a:rPr>
              <a:t>intstartindex</a:t>
            </a:r>
            <a:r>
              <a:rPr lang="en-US" sz="2200" b="1" dirty="0">
                <a:solidFill>
                  <a:srgbClr val="575757"/>
                </a:solidFill>
                <a:latin typeface="Cambria"/>
                <a:ea typeface="Cambria"/>
                <a:cs typeface="Cambria"/>
                <a:sym typeface="Cambria"/>
              </a:rPr>
              <a:t>, </a:t>
            </a:r>
            <a:r>
              <a:rPr lang="en-US" sz="2200" b="1" dirty="0" err="1">
                <a:solidFill>
                  <a:srgbClr val="575757"/>
                </a:solidFill>
                <a:latin typeface="Cambria"/>
                <a:ea typeface="Cambria"/>
                <a:cs typeface="Cambria"/>
                <a:sym typeface="Cambria"/>
              </a:rPr>
              <a:t>int</a:t>
            </a:r>
            <a:r>
              <a:rPr lang="en-US" sz="2200" b="1" dirty="0">
                <a:solidFill>
                  <a:srgbClr val="575757"/>
                </a:solidFill>
                <a:latin typeface="Cambria"/>
                <a:ea typeface="Cambria"/>
                <a:cs typeface="Cambria"/>
                <a:sym typeface="Cambria"/>
              </a:rPr>
              <a:t> </a:t>
            </a:r>
            <a:r>
              <a:rPr lang="en-US" sz="2200" b="1" dirty="0" err="1">
                <a:solidFill>
                  <a:srgbClr val="575757"/>
                </a:solidFill>
                <a:latin typeface="Cambria"/>
                <a:ea typeface="Cambria"/>
                <a:cs typeface="Cambria"/>
                <a:sym typeface="Cambria"/>
              </a:rPr>
              <a:t>no_of_char</a:t>
            </a:r>
            <a:r>
              <a:rPr lang="en-US" sz="2200" b="1" dirty="0">
                <a:solidFill>
                  <a:srgbClr val="575757"/>
                </a:solidFill>
                <a:latin typeface="Cambria"/>
                <a:ea typeface="Cambria"/>
                <a:cs typeface="Cambria"/>
                <a:sym typeface="Cambria"/>
              </a:rPr>
              <a:t>)</a:t>
            </a:r>
            <a:endParaRPr sz="2200" dirty="0">
              <a:latin typeface="Cambria"/>
              <a:ea typeface="Cambria"/>
              <a:cs typeface="Cambria"/>
              <a:sym typeface="Cambria"/>
            </a:endParaRPr>
          </a:p>
        </p:txBody>
      </p:sp>
      <p:sp>
        <p:nvSpPr>
          <p:cNvPr id="235" name="Google Shape;235;p21"/>
          <p:cNvSpPr txBox="1"/>
          <p:nvPr/>
        </p:nvSpPr>
        <p:spPr>
          <a:xfrm>
            <a:off x="4331334" y="2320797"/>
            <a:ext cx="6641466" cy="150368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400" b="1">
                <a:solidFill>
                  <a:srgbClr val="333333"/>
                </a:solidFill>
                <a:latin typeface="Cambria"/>
                <a:ea typeface="Cambria"/>
                <a:cs typeface="Cambria"/>
                <a:sym typeface="Cambria"/>
              </a:rPr>
              <a:t>startIndex </a:t>
            </a:r>
            <a:r>
              <a:rPr lang="en-US" sz="2400">
                <a:solidFill>
                  <a:srgbClr val="333333"/>
                </a:solidFill>
                <a:latin typeface="Cambria"/>
                <a:ea typeface="Cambria"/>
                <a:cs typeface="Cambria"/>
                <a:sym typeface="Cambria"/>
              </a:rPr>
              <a:t>: starting index is inclusive</a:t>
            </a:r>
            <a:endParaRPr sz="2400">
              <a:latin typeface="Cambria"/>
              <a:ea typeface="Cambria"/>
              <a:cs typeface="Cambria"/>
              <a:sym typeface="Cambria"/>
            </a:endParaRPr>
          </a:p>
          <a:p>
            <a:pPr marL="12700" lvl="0" indent="0" algn="l" rtl="0">
              <a:lnSpc>
                <a:spcPct val="100000"/>
              </a:lnSpc>
              <a:spcBef>
                <a:spcPts val="0"/>
              </a:spcBef>
              <a:spcAft>
                <a:spcPts val="0"/>
              </a:spcAft>
              <a:buNone/>
            </a:pPr>
            <a:r>
              <a:rPr lang="en-US" sz="2400" b="1">
                <a:solidFill>
                  <a:srgbClr val="333333"/>
                </a:solidFill>
                <a:latin typeface="Cambria"/>
                <a:ea typeface="Cambria"/>
                <a:cs typeface="Cambria"/>
                <a:sym typeface="Cambria"/>
              </a:rPr>
              <a:t>endIndex </a:t>
            </a:r>
            <a:r>
              <a:rPr lang="en-US" sz="2400">
                <a:solidFill>
                  <a:srgbClr val="333333"/>
                </a:solidFill>
                <a:latin typeface="Cambria"/>
                <a:ea typeface="Cambria"/>
                <a:cs typeface="Cambria"/>
                <a:sym typeface="Cambria"/>
              </a:rPr>
              <a:t>: ending index is exclusive</a:t>
            </a:r>
            <a:endParaRPr sz="2400">
              <a:latin typeface="Cambria"/>
              <a:ea typeface="Cambria"/>
              <a:cs typeface="Cambria"/>
              <a:sym typeface="Cambria"/>
            </a:endParaRPr>
          </a:p>
          <a:p>
            <a:pPr marL="254634" lvl="0" indent="-229869" algn="l" rtl="0">
              <a:lnSpc>
                <a:spcPct val="100000"/>
              </a:lnSpc>
              <a:spcBef>
                <a:spcPts val="295"/>
              </a:spcBef>
              <a:spcAft>
                <a:spcPts val="0"/>
              </a:spcAft>
              <a:buClr>
                <a:srgbClr val="40B8D2"/>
              </a:buClr>
              <a:buSzPts val="2200"/>
              <a:buFont typeface="Arial"/>
              <a:buChar char="•"/>
            </a:pPr>
            <a:r>
              <a:rPr lang="en-US" sz="2200">
                <a:solidFill>
                  <a:srgbClr val="575757"/>
                </a:solidFill>
                <a:latin typeface="Cambria"/>
                <a:ea typeface="Cambria"/>
                <a:cs typeface="Cambria"/>
                <a:sym typeface="Cambria"/>
              </a:rPr>
              <a:t>char Name[ ] ={‘J’, ‘A’, ‘V’, ‘A’, ‘P’, ‘R’, ‘O’, ‘G’};</a:t>
            </a:r>
            <a:endParaRPr sz="2200">
              <a:latin typeface="Cambria"/>
              <a:ea typeface="Cambria"/>
              <a:cs typeface="Cambria"/>
              <a:sym typeface="Cambria"/>
            </a:endParaRPr>
          </a:p>
          <a:p>
            <a:pPr marL="189230" lvl="0" indent="-164465" algn="l" rtl="0">
              <a:lnSpc>
                <a:spcPct val="100000"/>
              </a:lnSpc>
              <a:spcBef>
                <a:spcPts val="305"/>
              </a:spcBef>
              <a:spcAft>
                <a:spcPts val="0"/>
              </a:spcAft>
              <a:buClr>
                <a:srgbClr val="40B8D2"/>
              </a:buClr>
              <a:buSzPts val="2200"/>
              <a:buFont typeface="Arial"/>
              <a:buChar char="•"/>
            </a:pPr>
            <a:r>
              <a:rPr lang="en-US" sz="2200">
                <a:solidFill>
                  <a:srgbClr val="575757"/>
                </a:solidFill>
                <a:latin typeface="Cambria"/>
                <a:ea typeface="Cambria"/>
                <a:cs typeface="Cambria"/>
                <a:sym typeface="Cambria"/>
              </a:rPr>
              <a:t>StringstrName =newString(Name, 3, 5); // APR</a:t>
            </a:r>
            <a:endParaRPr sz="2200">
              <a:latin typeface="Cambria"/>
              <a:ea typeface="Cambria"/>
              <a:cs typeface="Cambria"/>
              <a:sym typeface="Cambria"/>
            </a:endParaRPr>
          </a:p>
        </p:txBody>
      </p:sp>
      <p:pic>
        <p:nvPicPr>
          <p:cNvPr id="236" name="Google Shape;236;p21"/>
          <p:cNvPicPr preferRelativeResize="0"/>
          <p:nvPr/>
        </p:nvPicPr>
        <p:blipFill rotWithShape="1">
          <a:blip r:embed="rId3">
            <a:alphaModFix/>
          </a:blip>
          <a:srcRect/>
          <a:stretch/>
        </p:blipFill>
        <p:spPr>
          <a:xfrm>
            <a:off x="4491863" y="5701588"/>
            <a:ext cx="368808" cy="327659"/>
          </a:xfrm>
          <a:prstGeom prst="rect">
            <a:avLst/>
          </a:prstGeom>
          <a:noFill/>
          <a:ln>
            <a:noFill/>
          </a:ln>
        </p:spPr>
      </p:pic>
      <p:sp>
        <p:nvSpPr>
          <p:cNvPr id="237" name="Google Shape;237;p21"/>
          <p:cNvSpPr txBox="1"/>
          <p:nvPr/>
        </p:nvSpPr>
        <p:spPr>
          <a:xfrm>
            <a:off x="3976242" y="4295647"/>
            <a:ext cx="7529958" cy="1743426"/>
          </a:xfrm>
          <a:prstGeom prst="rect">
            <a:avLst/>
          </a:prstGeom>
          <a:noFill/>
          <a:ln>
            <a:noFill/>
          </a:ln>
        </p:spPr>
        <p:txBody>
          <a:bodyPr spcFirstLastPara="1" wrap="square" lIns="0" tIns="12050" rIns="0" bIns="0" anchor="t" anchorCtr="0">
            <a:spAutoFit/>
          </a:bodyPr>
          <a:lstStyle/>
          <a:p>
            <a:pPr marL="469265" lvl="0" indent="-456565" algn="l" rtl="0">
              <a:lnSpc>
                <a:spcPct val="100000"/>
              </a:lnSpc>
              <a:spcBef>
                <a:spcPts val="0"/>
              </a:spcBef>
              <a:spcAft>
                <a:spcPts val="0"/>
              </a:spcAft>
              <a:buClr>
                <a:srgbClr val="40B8D2"/>
              </a:buClr>
              <a:buSzPts val="2200"/>
              <a:buFont typeface="Cambria"/>
              <a:buAutoNum type="arabicPeriod" startAt="4"/>
            </a:pPr>
            <a:r>
              <a:rPr lang="en-US" sz="2200" dirty="0">
                <a:solidFill>
                  <a:srgbClr val="575757"/>
                </a:solidFill>
                <a:latin typeface="Cambria"/>
                <a:ea typeface="Cambria"/>
                <a:cs typeface="Cambria"/>
                <a:sym typeface="Cambria"/>
              </a:rPr>
              <a:t>String object using another String Object:</a:t>
            </a:r>
            <a:endParaRPr sz="2200" dirty="0">
              <a:latin typeface="Cambria"/>
              <a:ea typeface="Cambria"/>
              <a:cs typeface="Cambria"/>
              <a:sym typeface="Cambria"/>
            </a:endParaRPr>
          </a:p>
          <a:p>
            <a:pPr marL="698500" lvl="1" indent="-182880" algn="l" rtl="0">
              <a:lnSpc>
                <a:spcPct val="100000"/>
              </a:lnSpc>
              <a:spcBef>
                <a:spcPts val="0"/>
              </a:spcBef>
              <a:spcAft>
                <a:spcPts val="0"/>
              </a:spcAft>
              <a:buClr>
                <a:srgbClr val="40B8D2"/>
              </a:buClr>
              <a:buSzPts val="2200"/>
              <a:buFont typeface="Arial"/>
              <a:buChar char="•"/>
            </a:pPr>
            <a:r>
              <a:rPr lang="en-US" sz="2200" b="1" dirty="0">
                <a:solidFill>
                  <a:srgbClr val="575757"/>
                </a:solidFill>
                <a:latin typeface="Cambria"/>
                <a:ea typeface="Cambria"/>
                <a:cs typeface="Cambria"/>
                <a:sym typeface="Cambria"/>
              </a:rPr>
              <a:t>String (</a:t>
            </a:r>
            <a:r>
              <a:rPr lang="en-US" sz="2200" b="1" dirty="0" err="1">
                <a:solidFill>
                  <a:srgbClr val="575757"/>
                </a:solidFill>
                <a:latin typeface="Cambria"/>
                <a:ea typeface="Cambria"/>
                <a:cs typeface="Cambria"/>
                <a:sym typeface="Cambria"/>
              </a:rPr>
              <a:t>StringstrObject</a:t>
            </a:r>
            <a:r>
              <a:rPr lang="en-US" sz="2200" b="1" dirty="0">
                <a:solidFill>
                  <a:srgbClr val="575757"/>
                </a:solidFill>
                <a:latin typeface="Cambria"/>
                <a:ea typeface="Cambria"/>
                <a:cs typeface="Cambria"/>
                <a:sym typeface="Cambria"/>
              </a:rPr>
              <a:t>);</a:t>
            </a:r>
            <a:endParaRPr sz="2200" dirty="0">
              <a:latin typeface="Cambria"/>
              <a:ea typeface="Cambria"/>
              <a:cs typeface="Cambria"/>
              <a:sym typeface="Cambria"/>
            </a:endParaRPr>
          </a:p>
          <a:p>
            <a:pPr marL="697865" lvl="1" indent="-182245" algn="l" rtl="0">
              <a:lnSpc>
                <a:spcPct val="100000"/>
              </a:lnSpc>
              <a:spcBef>
                <a:spcPts val="0"/>
              </a:spcBef>
              <a:spcAft>
                <a:spcPts val="0"/>
              </a:spcAft>
              <a:buClr>
                <a:srgbClr val="40B8D2"/>
              </a:buClr>
              <a:buSzPts val="2200"/>
              <a:buFont typeface="Arial"/>
              <a:buChar char="•"/>
            </a:pPr>
            <a:r>
              <a:rPr lang="en-US" sz="2200" dirty="0">
                <a:solidFill>
                  <a:srgbClr val="575757"/>
                </a:solidFill>
                <a:latin typeface="Cambria"/>
                <a:ea typeface="Cambria"/>
                <a:cs typeface="Cambria"/>
                <a:sym typeface="Cambria"/>
              </a:rPr>
              <a:t>char Name[ ] ={‘J’, ‘A’, ‘V’, ‘A’, ‘P’, ‘R’, ‘O’, ‘G’};</a:t>
            </a:r>
            <a:endParaRPr sz="2200" dirty="0">
              <a:latin typeface="Cambria"/>
              <a:ea typeface="Cambria"/>
              <a:cs typeface="Cambria"/>
              <a:sym typeface="Cambria"/>
            </a:endParaRPr>
          </a:p>
          <a:p>
            <a:pPr marL="698500" lvl="1" indent="-182880" algn="l" rtl="0">
              <a:lnSpc>
                <a:spcPct val="100000"/>
              </a:lnSpc>
              <a:spcBef>
                <a:spcPts val="0"/>
              </a:spcBef>
              <a:spcAft>
                <a:spcPts val="0"/>
              </a:spcAft>
              <a:buClr>
                <a:srgbClr val="40B8D2"/>
              </a:buClr>
              <a:buSzPts val="2200"/>
              <a:buFont typeface="Arial"/>
              <a:buChar char="•"/>
            </a:pPr>
            <a:r>
              <a:rPr lang="en-US" sz="2200" dirty="0" err="1">
                <a:solidFill>
                  <a:srgbClr val="575757"/>
                </a:solidFill>
                <a:latin typeface="Cambria"/>
                <a:ea typeface="Cambria"/>
                <a:cs typeface="Cambria"/>
                <a:sym typeface="Cambria"/>
              </a:rPr>
              <a:t>StringstrName</a:t>
            </a:r>
            <a:r>
              <a:rPr lang="en-US" sz="2200" dirty="0">
                <a:solidFill>
                  <a:srgbClr val="575757"/>
                </a:solidFill>
                <a:latin typeface="Cambria"/>
                <a:ea typeface="Cambria"/>
                <a:cs typeface="Cambria"/>
                <a:sym typeface="Cambria"/>
              </a:rPr>
              <a:t> =</a:t>
            </a:r>
            <a:r>
              <a:rPr lang="en-US" sz="2200" dirty="0" err="1">
                <a:solidFill>
                  <a:srgbClr val="575757"/>
                </a:solidFill>
                <a:latin typeface="Cambria"/>
                <a:ea typeface="Cambria"/>
                <a:cs typeface="Cambria"/>
                <a:sym typeface="Cambria"/>
              </a:rPr>
              <a:t>newString</a:t>
            </a:r>
            <a:r>
              <a:rPr lang="en-US" sz="2200" dirty="0">
                <a:solidFill>
                  <a:srgbClr val="575757"/>
                </a:solidFill>
                <a:latin typeface="Cambria"/>
                <a:ea typeface="Cambria"/>
                <a:cs typeface="Cambria"/>
                <a:sym typeface="Cambria"/>
              </a:rPr>
              <a:t>(Name</a:t>
            </a:r>
            <a:r>
              <a:rPr lang="en-US" sz="2200" dirty="0" smtClean="0">
                <a:solidFill>
                  <a:srgbClr val="575757"/>
                </a:solidFill>
                <a:latin typeface="Cambria"/>
                <a:ea typeface="Cambria"/>
                <a:cs typeface="Cambria"/>
                <a:sym typeface="Cambria"/>
              </a:rPr>
              <a:t>);</a:t>
            </a:r>
            <a:endParaRPr sz="2200" dirty="0" smtClean="0">
              <a:latin typeface="Cambria"/>
              <a:ea typeface="Cambria"/>
              <a:cs typeface="Cambria"/>
              <a:sym typeface="Cambria"/>
            </a:endParaRPr>
          </a:p>
          <a:p>
            <a:pPr marL="699770" lvl="0" indent="0" algn="l" rtl="0">
              <a:lnSpc>
                <a:spcPct val="100000"/>
              </a:lnSpc>
              <a:spcBef>
                <a:spcPts val="300"/>
              </a:spcBef>
              <a:spcAft>
                <a:spcPts val="0"/>
              </a:spcAft>
              <a:buNone/>
            </a:pPr>
            <a:r>
              <a:rPr lang="en-US" sz="2200" dirty="0" smtClean="0">
                <a:solidFill>
                  <a:srgbClr val="575757"/>
                </a:solidFill>
                <a:latin typeface="Cambria"/>
                <a:ea typeface="Cambria"/>
                <a:cs typeface="Cambria"/>
                <a:sym typeface="Cambria"/>
              </a:rPr>
              <a:t>StringstrName2 =</a:t>
            </a:r>
            <a:r>
              <a:rPr lang="en-US" sz="2200" dirty="0" err="1" smtClean="0">
                <a:solidFill>
                  <a:srgbClr val="575757"/>
                </a:solidFill>
                <a:latin typeface="Cambria"/>
                <a:ea typeface="Cambria"/>
                <a:cs typeface="Cambria"/>
                <a:sym typeface="Cambria"/>
              </a:rPr>
              <a:t>newString</a:t>
            </a:r>
            <a:r>
              <a:rPr lang="en-US" sz="2200" dirty="0" smtClean="0">
                <a:solidFill>
                  <a:srgbClr val="575757"/>
                </a:solidFill>
                <a:latin typeface="Cambria"/>
                <a:ea typeface="Cambria"/>
                <a:cs typeface="Cambria"/>
                <a:sym typeface="Cambria"/>
              </a:rPr>
              <a:t>(</a:t>
            </a:r>
            <a:r>
              <a:rPr lang="en-US" sz="2200" dirty="0" err="1" smtClean="0">
                <a:solidFill>
                  <a:srgbClr val="575757"/>
                </a:solidFill>
                <a:latin typeface="Cambria"/>
                <a:ea typeface="Cambria"/>
                <a:cs typeface="Cambria"/>
                <a:sym typeface="Cambria"/>
              </a:rPr>
              <a:t>strName</a:t>
            </a:r>
            <a:r>
              <a:rPr lang="en-US" sz="2200" dirty="0" smtClean="0">
                <a:solidFill>
                  <a:srgbClr val="575757"/>
                </a:solidFill>
                <a:latin typeface="Cambria"/>
                <a:ea typeface="Cambria"/>
                <a:cs typeface="Cambria"/>
                <a:sym typeface="Cambria"/>
              </a:rPr>
              <a:t>);</a:t>
            </a:r>
            <a:endParaRPr sz="2200" dirty="0">
              <a:latin typeface="Cambria"/>
              <a:ea typeface="Cambria"/>
              <a:cs typeface="Cambria"/>
              <a:sym typeface="Cambri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22"/>
          <p:cNvSpPr/>
          <p:nvPr/>
        </p:nvSpPr>
        <p:spPr>
          <a:xfrm>
            <a:off x="11817095" y="758951"/>
            <a:ext cx="374650" cy="5330825"/>
          </a:xfrm>
          <a:custGeom>
            <a:avLst/>
            <a:gdLst/>
            <a:ahLst/>
            <a:cxnLst/>
            <a:rect l="l" t="t" r="r" b="b"/>
            <a:pathLst>
              <a:path w="374650" h="5330825" extrusionOk="0">
                <a:moveTo>
                  <a:pt x="374523" y="0"/>
                </a:moveTo>
                <a:lnTo>
                  <a:pt x="0" y="0"/>
                </a:lnTo>
                <a:lnTo>
                  <a:pt x="0" y="5330444"/>
                </a:lnTo>
                <a:lnTo>
                  <a:pt x="374523" y="5330444"/>
                </a:lnTo>
                <a:lnTo>
                  <a:pt x="374523" y="0"/>
                </a:lnTo>
                <a:close/>
              </a:path>
            </a:pathLst>
          </a:custGeom>
          <a:solidFill>
            <a:srgbClr val="C6C6C6">
              <a:alpha val="49411"/>
            </a:srgbClr>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43" name="Google Shape;243;p22"/>
          <p:cNvSpPr txBox="1"/>
          <p:nvPr/>
        </p:nvSpPr>
        <p:spPr>
          <a:xfrm>
            <a:off x="331419" y="3067253"/>
            <a:ext cx="2235200" cy="57467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3600" b="1">
                <a:solidFill>
                  <a:srgbClr val="FFFFFF"/>
                </a:solidFill>
                <a:latin typeface="Trebuchet MS"/>
                <a:ea typeface="Trebuchet MS"/>
                <a:cs typeface="Trebuchet MS"/>
                <a:sym typeface="Trebuchet MS"/>
              </a:rPr>
              <a:t>String Class</a:t>
            </a:r>
            <a:endParaRPr sz="3600">
              <a:latin typeface="Trebuchet MS"/>
              <a:ea typeface="Trebuchet MS"/>
              <a:cs typeface="Trebuchet MS"/>
              <a:sym typeface="Trebuchet MS"/>
            </a:endParaRPr>
          </a:p>
        </p:txBody>
      </p:sp>
      <p:sp>
        <p:nvSpPr>
          <p:cNvPr id="244" name="Google Shape;244;p22"/>
          <p:cNvSpPr txBox="1">
            <a:spLocks noGrp="1"/>
          </p:cNvSpPr>
          <p:nvPr>
            <p:ph type="title"/>
          </p:nvPr>
        </p:nvSpPr>
        <p:spPr>
          <a:xfrm>
            <a:off x="3962527" y="1898395"/>
            <a:ext cx="1654175" cy="36068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2200" b="0">
                <a:solidFill>
                  <a:srgbClr val="575757"/>
                </a:solidFill>
                <a:latin typeface="Cambria"/>
                <a:ea typeface="Cambria"/>
                <a:cs typeface="Cambria"/>
                <a:sym typeface="Cambria"/>
              </a:rPr>
              <a:t>String Literals:</a:t>
            </a:r>
            <a:endParaRPr sz="2200">
              <a:latin typeface="Cambria"/>
              <a:ea typeface="Cambria"/>
              <a:cs typeface="Cambria"/>
              <a:sym typeface="Cambria"/>
            </a:endParaRPr>
          </a:p>
        </p:txBody>
      </p:sp>
      <p:sp>
        <p:nvSpPr>
          <p:cNvPr id="245" name="Google Shape;245;p22"/>
          <p:cNvSpPr txBox="1"/>
          <p:nvPr/>
        </p:nvSpPr>
        <p:spPr>
          <a:xfrm>
            <a:off x="4451984" y="2762275"/>
            <a:ext cx="4671695" cy="1529080"/>
          </a:xfrm>
          <a:prstGeom prst="rect">
            <a:avLst/>
          </a:prstGeom>
          <a:noFill/>
          <a:ln>
            <a:noFill/>
          </a:ln>
        </p:spPr>
        <p:txBody>
          <a:bodyPr spcFirstLastPara="1" wrap="square" lIns="0" tIns="55225" rIns="0" bIns="0" anchor="t" anchorCtr="0">
            <a:spAutoFit/>
          </a:bodyPr>
          <a:lstStyle/>
          <a:p>
            <a:pPr marL="111125" lvl="0" indent="-133349" algn="l" rtl="0">
              <a:lnSpc>
                <a:spcPct val="100000"/>
              </a:lnSpc>
              <a:spcBef>
                <a:spcPts val="0"/>
              </a:spcBef>
              <a:spcAft>
                <a:spcPts val="0"/>
              </a:spcAft>
              <a:buClr>
                <a:srgbClr val="40B8D2"/>
              </a:buClr>
              <a:buSzPts val="2100"/>
              <a:buFont typeface="Arial"/>
              <a:buChar char="•"/>
            </a:pPr>
            <a:r>
              <a:rPr lang="en-US" sz="2200">
                <a:solidFill>
                  <a:srgbClr val="575757"/>
                </a:solidFill>
                <a:latin typeface="Cambria"/>
                <a:ea typeface="Cambria"/>
                <a:cs typeface="Cambria"/>
                <a:sym typeface="Cambria"/>
              </a:rPr>
              <a:t>char Name[ ] ={‘J’, ‘A’, ‘V’, ‘A’, ‘P’, ‘R’, ‘O’, ‘G’};</a:t>
            </a:r>
            <a:endParaRPr sz="2200">
              <a:latin typeface="Cambria"/>
              <a:ea typeface="Cambria"/>
              <a:cs typeface="Cambria"/>
              <a:sym typeface="Cambria"/>
            </a:endParaRPr>
          </a:p>
          <a:p>
            <a:pPr marL="195580" lvl="0" indent="-182880" algn="l" rtl="0">
              <a:lnSpc>
                <a:spcPct val="100000"/>
              </a:lnSpc>
              <a:spcBef>
                <a:spcPts val="340"/>
              </a:spcBef>
              <a:spcAft>
                <a:spcPts val="0"/>
              </a:spcAft>
              <a:buClr>
                <a:srgbClr val="40B8D2"/>
              </a:buClr>
              <a:buSzPts val="2100"/>
              <a:buFont typeface="Arial"/>
              <a:buChar char="•"/>
            </a:pPr>
            <a:r>
              <a:rPr lang="en-US" sz="2200">
                <a:solidFill>
                  <a:srgbClr val="575757"/>
                </a:solidFill>
                <a:latin typeface="Cambria"/>
                <a:ea typeface="Cambria"/>
                <a:cs typeface="Cambria"/>
                <a:sym typeface="Cambria"/>
              </a:rPr>
              <a:t>StringstrName =newString(Name);</a:t>
            </a:r>
            <a:endParaRPr sz="2200">
              <a:latin typeface="Cambria"/>
              <a:ea typeface="Cambria"/>
              <a:cs typeface="Cambria"/>
              <a:sym typeface="Cambria"/>
            </a:endParaRPr>
          </a:p>
          <a:p>
            <a:pPr marL="3835400" lvl="0" indent="0" algn="l" rtl="0">
              <a:lnSpc>
                <a:spcPct val="100000"/>
              </a:lnSpc>
              <a:spcBef>
                <a:spcPts val="300"/>
              </a:spcBef>
              <a:spcAft>
                <a:spcPts val="0"/>
              </a:spcAft>
              <a:buNone/>
            </a:pPr>
            <a:r>
              <a:rPr lang="en-US" sz="2200" b="1">
                <a:solidFill>
                  <a:srgbClr val="575757"/>
                </a:solidFill>
                <a:latin typeface="Cambria"/>
                <a:ea typeface="Cambria"/>
                <a:cs typeface="Cambria"/>
                <a:sym typeface="Cambria"/>
              </a:rPr>
              <a:t>OR</a:t>
            </a:r>
            <a:endParaRPr sz="2200">
              <a:latin typeface="Cambria"/>
              <a:ea typeface="Cambria"/>
              <a:cs typeface="Cambria"/>
              <a:sym typeface="Cambria"/>
            </a:endParaRPr>
          </a:p>
          <a:p>
            <a:pPr marL="195580" lvl="0" indent="-182880" algn="l" rtl="0">
              <a:lnSpc>
                <a:spcPct val="100000"/>
              </a:lnSpc>
              <a:spcBef>
                <a:spcPts val="300"/>
              </a:spcBef>
              <a:spcAft>
                <a:spcPts val="0"/>
              </a:spcAft>
              <a:buClr>
                <a:srgbClr val="40B8D2"/>
              </a:buClr>
              <a:buSzPts val="2100"/>
              <a:buFont typeface="Arial"/>
              <a:buChar char="•"/>
            </a:pPr>
            <a:r>
              <a:rPr lang="en-US" sz="2200">
                <a:solidFill>
                  <a:srgbClr val="575757"/>
                </a:solidFill>
                <a:latin typeface="Cambria"/>
                <a:ea typeface="Cambria"/>
                <a:cs typeface="Cambria"/>
                <a:sym typeface="Cambria"/>
              </a:rPr>
              <a:t>String strName= “JAVAPROG”;</a:t>
            </a:r>
            <a:endParaRPr sz="2200">
              <a:latin typeface="Cambria"/>
              <a:ea typeface="Cambria"/>
              <a:cs typeface="Cambria"/>
              <a:sym typeface="Cambri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23"/>
          <p:cNvSpPr txBox="1"/>
          <p:nvPr/>
        </p:nvSpPr>
        <p:spPr>
          <a:xfrm>
            <a:off x="332942" y="2830779"/>
            <a:ext cx="2382825" cy="1270979"/>
          </a:xfrm>
          <a:prstGeom prst="rect">
            <a:avLst/>
          </a:prstGeom>
          <a:noFill/>
          <a:ln>
            <a:noFill/>
          </a:ln>
        </p:spPr>
        <p:txBody>
          <a:bodyPr spcFirstLastPara="1" wrap="square" lIns="0" tIns="73650" rIns="0" bIns="0" anchor="t" anchorCtr="0">
            <a:spAutoFit/>
          </a:bodyPr>
          <a:lstStyle/>
          <a:p>
            <a:pPr marL="12700" marR="5080" lvl="0" indent="467359" algn="l" rtl="0">
              <a:lnSpc>
                <a:spcPct val="108333"/>
              </a:lnSpc>
              <a:spcBef>
                <a:spcPts val="0"/>
              </a:spcBef>
              <a:spcAft>
                <a:spcPts val="0"/>
              </a:spcAft>
              <a:buNone/>
            </a:pPr>
            <a:r>
              <a:rPr lang="en-US" sz="3600" b="1" dirty="0">
                <a:solidFill>
                  <a:srgbClr val="FFFFFF"/>
                </a:solidFill>
                <a:latin typeface="Cambria"/>
                <a:ea typeface="Cambria"/>
                <a:cs typeface="Cambria"/>
                <a:sym typeface="Cambria"/>
              </a:rPr>
              <a:t>String Operations</a:t>
            </a:r>
            <a:endParaRPr sz="3600" dirty="0">
              <a:latin typeface="Cambria"/>
              <a:ea typeface="Cambria"/>
              <a:cs typeface="Cambria"/>
              <a:sym typeface="Cambria"/>
            </a:endParaRPr>
          </a:p>
        </p:txBody>
      </p:sp>
      <p:sp>
        <p:nvSpPr>
          <p:cNvPr id="251" name="Google Shape;251;p23"/>
          <p:cNvSpPr txBox="1"/>
          <p:nvPr/>
        </p:nvSpPr>
        <p:spPr>
          <a:xfrm>
            <a:off x="3949064" y="1766138"/>
            <a:ext cx="7480935" cy="920124"/>
          </a:xfrm>
          <a:prstGeom prst="rect">
            <a:avLst/>
          </a:prstGeom>
          <a:noFill/>
          <a:ln>
            <a:noFill/>
          </a:ln>
        </p:spPr>
        <p:txBody>
          <a:bodyPr spcFirstLastPara="1" wrap="square" lIns="0" tIns="12050" rIns="0" bIns="0" anchor="t" anchorCtr="0">
            <a:spAutoFit/>
          </a:bodyPr>
          <a:lstStyle/>
          <a:p>
            <a:pPr marL="111125" lvl="0" indent="-133349" algn="l" rtl="0">
              <a:lnSpc>
                <a:spcPct val="100000"/>
              </a:lnSpc>
              <a:spcBef>
                <a:spcPts val="0"/>
              </a:spcBef>
              <a:spcAft>
                <a:spcPts val="0"/>
              </a:spcAft>
              <a:buClr>
                <a:srgbClr val="40B8D2"/>
              </a:buClr>
              <a:buSzPts val="2100"/>
              <a:buFont typeface="Arial"/>
              <a:buChar char="•"/>
            </a:pPr>
            <a:r>
              <a:rPr lang="en-US" sz="2200">
                <a:solidFill>
                  <a:srgbClr val="575757"/>
                </a:solidFill>
                <a:latin typeface="Cambria"/>
                <a:ea typeface="Cambria"/>
                <a:cs typeface="Cambria"/>
                <a:sym typeface="Cambria"/>
              </a:rPr>
              <a:t>The  </a:t>
            </a:r>
            <a:r>
              <a:rPr lang="en-US" sz="2200" b="1">
                <a:solidFill>
                  <a:srgbClr val="575757"/>
                </a:solidFill>
                <a:latin typeface="Cambria"/>
                <a:ea typeface="Cambria"/>
                <a:cs typeface="Cambria"/>
                <a:sym typeface="Cambria"/>
              </a:rPr>
              <a:t>length()</a:t>
            </a:r>
            <a:r>
              <a:rPr lang="en-US" sz="2200">
                <a:solidFill>
                  <a:srgbClr val="575757"/>
                </a:solidFill>
                <a:latin typeface="Cambria"/>
                <a:ea typeface="Cambria"/>
                <a:cs typeface="Cambria"/>
                <a:sym typeface="Cambria"/>
              </a:rPr>
              <a:t>method returns the length of the string.</a:t>
            </a:r>
            <a:endParaRPr sz="2200">
              <a:latin typeface="Cambria"/>
              <a:ea typeface="Cambria"/>
              <a:cs typeface="Cambria"/>
              <a:sym typeface="Cambria"/>
            </a:endParaRPr>
          </a:p>
          <a:p>
            <a:pPr marL="195580" lvl="0" indent="0" algn="l" rtl="0">
              <a:lnSpc>
                <a:spcPct val="100000"/>
              </a:lnSpc>
              <a:spcBef>
                <a:spcPts val="1785"/>
              </a:spcBef>
              <a:spcAft>
                <a:spcPts val="0"/>
              </a:spcAft>
              <a:buNone/>
            </a:pPr>
            <a:r>
              <a:rPr lang="en-US" sz="2200">
                <a:solidFill>
                  <a:srgbClr val="575757"/>
                </a:solidFill>
                <a:latin typeface="Cambria"/>
                <a:ea typeface="Cambria"/>
                <a:cs typeface="Cambria"/>
                <a:sym typeface="Cambria"/>
              </a:rPr>
              <a:t>Ex:System.out.println(“Hello”.length());// prints 5</a:t>
            </a:r>
            <a:endParaRPr sz="2200">
              <a:latin typeface="Cambria"/>
              <a:ea typeface="Cambria"/>
              <a:cs typeface="Cambria"/>
              <a:sym typeface="Cambria"/>
            </a:endParaRPr>
          </a:p>
        </p:txBody>
      </p:sp>
      <p:sp>
        <p:nvSpPr>
          <p:cNvPr id="252" name="Google Shape;252;p23"/>
          <p:cNvSpPr txBox="1"/>
          <p:nvPr/>
        </p:nvSpPr>
        <p:spPr>
          <a:xfrm>
            <a:off x="3949065" y="2945129"/>
            <a:ext cx="7404735" cy="350737"/>
          </a:xfrm>
          <a:prstGeom prst="rect">
            <a:avLst/>
          </a:prstGeom>
          <a:noFill/>
          <a:ln>
            <a:noFill/>
          </a:ln>
        </p:spPr>
        <p:txBody>
          <a:bodyPr spcFirstLastPara="1" wrap="square" lIns="0" tIns="12050" rIns="0" bIns="0" anchor="t" anchorCtr="0">
            <a:spAutoFit/>
          </a:bodyPr>
          <a:lstStyle/>
          <a:p>
            <a:pPr marL="195580" lvl="0" indent="-182880" algn="l" rtl="0">
              <a:lnSpc>
                <a:spcPct val="100000"/>
              </a:lnSpc>
              <a:spcBef>
                <a:spcPts val="0"/>
              </a:spcBef>
              <a:spcAft>
                <a:spcPts val="0"/>
              </a:spcAft>
              <a:buClr>
                <a:srgbClr val="40B8D2"/>
              </a:buClr>
              <a:buSzPts val="2200"/>
              <a:buFont typeface="Arial"/>
              <a:buChar char="•"/>
            </a:pPr>
            <a:r>
              <a:rPr lang="en-US" sz="2200">
                <a:solidFill>
                  <a:srgbClr val="575757"/>
                </a:solidFill>
                <a:latin typeface="Cambria"/>
                <a:ea typeface="Cambria"/>
                <a:cs typeface="Cambria"/>
                <a:sym typeface="Cambria"/>
              </a:rPr>
              <a:t>The  </a:t>
            </a:r>
            <a:r>
              <a:rPr lang="en-US" sz="2200" b="1">
                <a:solidFill>
                  <a:srgbClr val="575757"/>
                </a:solidFill>
                <a:latin typeface="Cambria"/>
                <a:ea typeface="Cambria"/>
                <a:cs typeface="Cambria"/>
                <a:sym typeface="Cambria"/>
              </a:rPr>
              <a:t>+</a:t>
            </a:r>
            <a:r>
              <a:rPr lang="en-US" sz="2200">
                <a:solidFill>
                  <a:srgbClr val="575757"/>
                </a:solidFill>
                <a:latin typeface="Cambria"/>
                <a:ea typeface="Cambria"/>
                <a:cs typeface="Cambria"/>
                <a:sym typeface="Cambria"/>
              </a:rPr>
              <a:t>operator is used to </a:t>
            </a:r>
            <a:r>
              <a:rPr lang="en-US" sz="2200" b="1">
                <a:solidFill>
                  <a:srgbClr val="575757"/>
                </a:solidFill>
                <a:latin typeface="Cambria"/>
                <a:ea typeface="Cambria"/>
                <a:cs typeface="Cambria"/>
                <a:sym typeface="Cambria"/>
              </a:rPr>
              <a:t>concatenate </a:t>
            </a:r>
            <a:r>
              <a:rPr lang="en-US" sz="2200">
                <a:solidFill>
                  <a:srgbClr val="575757"/>
                </a:solidFill>
                <a:latin typeface="Cambria"/>
                <a:ea typeface="Cambria"/>
                <a:cs typeface="Cambria"/>
                <a:sym typeface="Cambria"/>
              </a:rPr>
              <a:t>two or more strings.</a:t>
            </a:r>
            <a:endParaRPr sz="2200">
              <a:latin typeface="Cambria"/>
              <a:ea typeface="Cambria"/>
              <a:cs typeface="Cambria"/>
              <a:sym typeface="Cambria"/>
            </a:endParaRPr>
          </a:p>
        </p:txBody>
      </p:sp>
      <p:sp>
        <p:nvSpPr>
          <p:cNvPr id="253" name="Google Shape;253;p23"/>
          <p:cNvSpPr txBox="1"/>
          <p:nvPr/>
        </p:nvSpPr>
        <p:spPr>
          <a:xfrm>
            <a:off x="4131945" y="3562045"/>
            <a:ext cx="4478655" cy="350737"/>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2200">
                <a:solidFill>
                  <a:srgbClr val="575757"/>
                </a:solidFill>
                <a:latin typeface="Cambria"/>
                <a:ea typeface="Cambria"/>
                <a:cs typeface="Cambria"/>
                <a:sym typeface="Cambria"/>
              </a:rPr>
              <a:t>Eg: String  myname =“Harry”;</a:t>
            </a:r>
            <a:endParaRPr sz="2200">
              <a:latin typeface="Cambria"/>
              <a:ea typeface="Cambria"/>
              <a:cs typeface="Cambria"/>
              <a:sym typeface="Cambria"/>
            </a:endParaRPr>
          </a:p>
        </p:txBody>
      </p:sp>
      <p:sp>
        <p:nvSpPr>
          <p:cNvPr id="254" name="Google Shape;254;p23"/>
          <p:cNvSpPr txBox="1"/>
          <p:nvPr/>
        </p:nvSpPr>
        <p:spPr>
          <a:xfrm>
            <a:off x="3949065" y="4179823"/>
            <a:ext cx="7578725" cy="1457515"/>
          </a:xfrm>
          <a:prstGeom prst="rect">
            <a:avLst/>
          </a:prstGeom>
          <a:noFill/>
          <a:ln>
            <a:noFill/>
          </a:ln>
        </p:spPr>
        <p:txBody>
          <a:bodyPr spcFirstLastPara="1" wrap="square" lIns="0" tIns="12050" rIns="0" bIns="0" anchor="t" anchorCtr="0">
            <a:spAutoFit/>
          </a:bodyPr>
          <a:lstStyle/>
          <a:p>
            <a:pPr marL="927100" lvl="0" indent="0" algn="l" rtl="0">
              <a:lnSpc>
                <a:spcPct val="100000"/>
              </a:lnSpc>
              <a:spcBef>
                <a:spcPts val="0"/>
              </a:spcBef>
              <a:spcAft>
                <a:spcPts val="0"/>
              </a:spcAft>
              <a:buNone/>
            </a:pPr>
            <a:r>
              <a:rPr lang="en-US" sz="2200">
                <a:solidFill>
                  <a:srgbClr val="575757"/>
                </a:solidFill>
                <a:latin typeface="Cambria"/>
                <a:ea typeface="Cambria"/>
                <a:cs typeface="Cambria"/>
                <a:sym typeface="Cambria"/>
              </a:rPr>
              <a:t>String str =“My nameis” </a:t>
            </a:r>
            <a:r>
              <a:rPr lang="en-US" sz="2200" b="1">
                <a:solidFill>
                  <a:srgbClr val="575757"/>
                </a:solidFill>
                <a:latin typeface="Cambria"/>
                <a:ea typeface="Cambria"/>
                <a:cs typeface="Cambria"/>
                <a:sym typeface="Cambria"/>
              </a:rPr>
              <a:t>+</a:t>
            </a:r>
            <a:r>
              <a:rPr lang="en-US" sz="2200">
                <a:solidFill>
                  <a:srgbClr val="575757"/>
                </a:solidFill>
                <a:latin typeface="Cambria"/>
                <a:ea typeface="Cambria"/>
                <a:cs typeface="Cambria"/>
                <a:sym typeface="Cambria"/>
              </a:rPr>
              <a:t>myname+ “.”;</a:t>
            </a:r>
            <a:endParaRPr sz="2200">
              <a:latin typeface="Cambria"/>
              <a:ea typeface="Cambria"/>
              <a:cs typeface="Cambria"/>
              <a:sym typeface="Cambria"/>
            </a:endParaRPr>
          </a:p>
          <a:p>
            <a:pPr marL="195580" marR="5080" lvl="0" indent="-182880" algn="l" rtl="0">
              <a:lnSpc>
                <a:spcPct val="150100"/>
              </a:lnSpc>
              <a:spcBef>
                <a:spcPts val="1195"/>
              </a:spcBef>
              <a:spcAft>
                <a:spcPts val="0"/>
              </a:spcAft>
              <a:buClr>
                <a:srgbClr val="40B8D2"/>
              </a:buClr>
              <a:buSzPts val="2200"/>
              <a:buFont typeface="Arial"/>
              <a:buChar char="•"/>
            </a:pPr>
            <a:r>
              <a:rPr lang="en-US" sz="2200">
                <a:solidFill>
                  <a:srgbClr val="575757"/>
                </a:solidFill>
                <a:latin typeface="Cambria"/>
                <a:ea typeface="Cambria"/>
                <a:cs typeface="Cambria"/>
                <a:sym typeface="Cambria"/>
              </a:rPr>
              <a:t>For string concatenation the Java  compiler converts an operand to a String when ever the other operand of the +is a String object.</a:t>
            </a:r>
            <a:endParaRPr sz="2200">
              <a:latin typeface="Cambria"/>
              <a:ea typeface="Cambria"/>
              <a:cs typeface="Cambria"/>
              <a:sym typeface="Cambri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24"/>
          <p:cNvSpPr txBox="1"/>
          <p:nvPr/>
        </p:nvSpPr>
        <p:spPr>
          <a:xfrm>
            <a:off x="331418" y="2829255"/>
            <a:ext cx="2457501" cy="1270979"/>
          </a:xfrm>
          <a:prstGeom prst="rect">
            <a:avLst/>
          </a:prstGeom>
          <a:noFill/>
          <a:ln>
            <a:noFill/>
          </a:ln>
        </p:spPr>
        <p:txBody>
          <a:bodyPr spcFirstLastPara="1" wrap="square" lIns="0" tIns="73650" rIns="0" bIns="0" anchor="t" anchorCtr="0">
            <a:spAutoFit/>
          </a:bodyPr>
          <a:lstStyle/>
          <a:p>
            <a:pPr marL="12700" marR="5080" lvl="0" indent="0" algn="l" rtl="0">
              <a:lnSpc>
                <a:spcPct val="108333"/>
              </a:lnSpc>
              <a:spcBef>
                <a:spcPts val="0"/>
              </a:spcBef>
              <a:spcAft>
                <a:spcPts val="0"/>
              </a:spcAft>
              <a:buNone/>
            </a:pPr>
            <a:r>
              <a:rPr lang="en-US" sz="3600" b="1" dirty="0">
                <a:solidFill>
                  <a:srgbClr val="FFFFFF"/>
                </a:solidFill>
                <a:latin typeface="Trebuchet MS"/>
                <a:ea typeface="Trebuchet MS"/>
                <a:cs typeface="Trebuchet MS"/>
                <a:sym typeface="Trebuchet MS"/>
              </a:rPr>
              <a:t>String Operations</a:t>
            </a:r>
            <a:endParaRPr sz="3600" dirty="0">
              <a:latin typeface="Trebuchet MS"/>
              <a:ea typeface="Trebuchet MS"/>
              <a:cs typeface="Trebuchet MS"/>
              <a:sym typeface="Trebuchet MS"/>
            </a:endParaRPr>
          </a:p>
        </p:txBody>
      </p:sp>
      <p:sp>
        <p:nvSpPr>
          <p:cNvPr id="260" name="Google Shape;260;p24"/>
          <p:cNvSpPr txBox="1"/>
          <p:nvPr/>
        </p:nvSpPr>
        <p:spPr>
          <a:xfrm>
            <a:off x="3949064" y="1436787"/>
            <a:ext cx="7252335" cy="898323"/>
          </a:xfrm>
          <a:prstGeom prst="rect">
            <a:avLst/>
          </a:prstGeom>
          <a:noFill/>
          <a:ln>
            <a:noFill/>
          </a:ln>
        </p:spPr>
        <p:txBody>
          <a:bodyPr spcFirstLastPara="1" wrap="square" lIns="0" tIns="135250" rIns="0" bIns="0" anchor="t" anchorCtr="0">
            <a:spAutoFit/>
          </a:bodyPr>
          <a:lstStyle/>
          <a:p>
            <a:pPr marL="111125" lvl="0" indent="-133349" algn="l" rtl="0">
              <a:lnSpc>
                <a:spcPct val="100000"/>
              </a:lnSpc>
              <a:spcBef>
                <a:spcPts val="0"/>
              </a:spcBef>
              <a:spcAft>
                <a:spcPts val="0"/>
              </a:spcAft>
              <a:buClr>
                <a:srgbClr val="40B8D2"/>
              </a:buClr>
              <a:buSzPts val="2100"/>
              <a:buFont typeface="Arial"/>
              <a:buChar char="•"/>
            </a:pPr>
            <a:r>
              <a:rPr lang="en-US" sz="2200">
                <a:solidFill>
                  <a:srgbClr val="575757"/>
                </a:solidFill>
                <a:latin typeface="Cambria"/>
                <a:ea typeface="Cambria"/>
                <a:cs typeface="Cambria"/>
                <a:sym typeface="Cambria"/>
              </a:rPr>
              <a:t>Characters in a string can be extracted in a number of ways.</a:t>
            </a:r>
            <a:endParaRPr sz="2200">
              <a:latin typeface="Cambria"/>
              <a:ea typeface="Cambria"/>
              <a:cs typeface="Cambria"/>
              <a:sym typeface="Cambria"/>
            </a:endParaRPr>
          </a:p>
          <a:p>
            <a:pPr marL="334010" lvl="0" indent="0" algn="l" rtl="0">
              <a:lnSpc>
                <a:spcPct val="100000"/>
              </a:lnSpc>
              <a:spcBef>
                <a:spcPts val="885"/>
              </a:spcBef>
              <a:spcAft>
                <a:spcPts val="0"/>
              </a:spcAft>
              <a:buNone/>
            </a:pPr>
            <a:r>
              <a:rPr lang="en-US" sz="2000">
                <a:latin typeface="Cambria"/>
                <a:ea typeface="Cambria"/>
                <a:cs typeface="Cambria"/>
                <a:sym typeface="Cambria"/>
              </a:rPr>
              <a:t>public char charAt(int index)</a:t>
            </a:r>
            <a:endParaRPr sz="2000">
              <a:latin typeface="Cambria"/>
              <a:ea typeface="Cambria"/>
              <a:cs typeface="Cambria"/>
              <a:sym typeface="Cambria"/>
            </a:endParaRPr>
          </a:p>
        </p:txBody>
      </p:sp>
      <p:sp>
        <p:nvSpPr>
          <p:cNvPr id="261" name="Google Shape;261;p24"/>
          <p:cNvSpPr txBox="1"/>
          <p:nvPr/>
        </p:nvSpPr>
        <p:spPr>
          <a:xfrm>
            <a:off x="3810127" y="2806954"/>
            <a:ext cx="7940675" cy="963930"/>
          </a:xfrm>
          <a:prstGeom prst="rect">
            <a:avLst/>
          </a:prstGeom>
          <a:noFill/>
          <a:ln>
            <a:noFill/>
          </a:ln>
        </p:spPr>
        <p:txBody>
          <a:bodyPr spcFirstLastPara="1" wrap="square" lIns="0" tIns="49525" rIns="0" bIns="0" anchor="t" anchorCtr="0">
            <a:spAutoFit/>
          </a:bodyPr>
          <a:lstStyle/>
          <a:p>
            <a:pPr marL="195580" marR="5080" lvl="0" indent="-182880" algn="just" rtl="0">
              <a:lnSpc>
                <a:spcPct val="108181"/>
              </a:lnSpc>
              <a:spcBef>
                <a:spcPts val="0"/>
              </a:spcBef>
              <a:spcAft>
                <a:spcPts val="0"/>
              </a:spcAft>
              <a:buNone/>
            </a:pPr>
            <a:r>
              <a:rPr lang="en-US" sz="2200">
                <a:latin typeface="Cambria"/>
                <a:ea typeface="Cambria"/>
                <a:cs typeface="Cambria"/>
                <a:sym typeface="Cambria"/>
              </a:rPr>
              <a:t>Returns the character at the specified index. An index ranges from 0 to length() - 1. The first character of the sequence is at index 0, the next at index 1,and so on, as for arrayindexing.</a:t>
            </a:r>
            <a:endParaRPr sz="2200">
              <a:latin typeface="Cambria"/>
              <a:ea typeface="Cambria"/>
              <a:cs typeface="Cambria"/>
              <a:sym typeface="Cambria"/>
            </a:endParaRPr>
          </a:p>
        </p:txBody>
      </p:sp>
      <p:sp>
        <p:nvSpPr>
          <p:cNvPr id="262" name="Google Shape;262;p24"/>
          <p:cNvSpPr txBox="1"/>
          <p:nvPr/>
        </p:nvSpPr>
        <p:spPr>
          <a:xfrm>
            <a:off x="4634865" y="4430928"/>
            <a:ext cx="3443604" cy="772160"/>
          </a:xfrm>
          <a:prstGeom prst="rect">
            <a:avLst/>
          </a:prstGeom>
          <a:noFill/>
          <a:ln>
            <a:noFill/>
          </a:ln>
        </p:spPr>
        <p:txBody>
          <a:bodyPr spcFirstLastPara="1" wrap="square" lIns="0" tIns="50800" rIns="0" bIns="0" anchor="t" anchorCtr="0">
            <a:spAutoFit/>
          </a:bodyPr>
          <a:lstStyle/>
          <a:p>
            <a:pPr marL="12700" lvl="0" indent="0" algn="l" rtl="0">
              <a:lnSpc>
                <a:spcPct val="100000"/>
              </a:lnSpc>
              <a:spcBef>
                <a:spcPts val="0"/>
              </a:spcBef>
              <a:spcAft>
                <a:spcPts val="0"/>
              </a:spcAft>
              <a:buNone/>
            </a:pPr>
            <a:r>
              <a:rPr lang="en-US" sz="2200">
                <a:latin typeface="Cambria"/>
                <a:ea typeface="Cambria"/>
                <a:cs typeface="Cambria"/>
                <a:sym typeface="Cambria"/>
              </a:rPr>
              <a:t>charch;</a:t>
            </a:r>
            <a:endParaRPr sz="2200">
              <a:latin typeface="Cambria"/>
              <a:ea typeface="Cambria"/>
              <a:cs typeface="Cambria"/>
              <a:sym typeface="Cambria"/>
            </a:endParaRPr>
          </a:p>
          <a:p>
            <a:pPr marL="12700" lvl="0" indent="0" algn="l" rtl="0">
              <a:lnSpc>
                <a:spcPct val="100000"/>
              </a:lnSpc>
              <a:spcBef>
                <a:spcPts val="300"/>
              </a:spcBef>
              <a:spcAft>
                <a:spcPts val="0"/>
              </a:spcAft>
              <a:buNone/>
            </a:pPr>
            <a:r>
              <a:rPr lang="en-US" sz="2200">
                <a:latin typeface="Cambria"/>
                <a:ea typeface="Cambria"/>
                <a:cs typeface="Cambria"/>
                <a:sym typeface="Cambria"/>
              </a:rPr>
              <a:t>ch =“abc”.charAt(1); // ch =“b”</a:t>
            </a:r>
            <a:endParaRPr sz="2200">
              <a:latin typeface="Cambria"/>
              <a:ea typeface="Cambria"/>
              <a:cs typeface="Cambria"/>
              <a:sym typeface="Cambri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25"/>
          <p:cNvSpPr/>
          <p:nvPr/>
        </p:nvSpPr>
        <p:spPr>
          <a:xfrm>
            <a:off x="11817095" y="758951"/>
            <a:ext cx="374650" cy="5330825"/>
          </a:xfrm>
          <a:custGeom>
            <a:avLst/>
            <a:gdLst/>
            <a:ahLst/>
            <a:cxnLst/>
            <a:rect l="l" t="t" r="r" b="b"/>
            <a:pathLst>
              <a:path w="374650" h="5330825" extrusionOk="0">
                <a:moveTo>
                  <a:pt x="374523" y="0"/>
                </a:moveTo>
                <a:lnTo>
                  <a:pt x="0" y="0"/>
                </a:lnTo>
                <a:lnTo>
                  <a:pt x="0" y="5330444"/>
                </a:lnTo>
                <a:lnTo>
                  <a:pt x="374523" y="5330444"/>
                </a:lnTo>
                <a:lnTo>
                  <a:pt x="374523" y="0"/>
                </a:lnTo>
                <a:close/>
              </a:path>
            </a:pathLst>
          </a:custGeom>
          <a:solidFill>
            <a:srgbClr val="C6C6C6">
              <a:alpha val="49411"/>
            </a:srgbClr>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68" name="Google Shape;268;p25"/>
          <p:cNvSpPr txBox="1"/>
          <p:nvPr/>
        </p:nvSpPr>
        <p:spPr>
          <a:xfrm>
            <a:off x="358850" y="2830779"/>
            <a:ext cx="2567229" cy="1270979"/>
          </a:xfrm>
          <a:prstGeom prst="rect">
            <a:avLst/>
          </a:prstGeom>
          <a:noFill/>
          <a:ln>
            <a:noFill/>
          </a:ln>
        </p:spPr>
        <p:txBody>
          <a:bodyPr spcFirstLastPara="1" wrap="square" lIns="0" tIns="73650" rIns="0" bIns="0" anchor="t" anchorCtr="0">
            <a:spAutoFit/>
          </a:bodyPr>
          <a:lstStyle/>
          <a:p>
            <a:pPr marL="12700" marR="5080" lvl="0" indent="0" algn="l" rtl="0">
              <a:lnSpc>
                <a:spcPct val="108333"/>
              </a:lnSpc>
              <a:spcBef>
                <a:spcPts val="0"/>
              </a:spcBef>
              <a:spcAft>
                <a:spcPts val="0"/>
              </a:spcAft>
              <a:buNone/>
            </a:pPr>
            <a:r>
              <a:rPr lang="en-US" sz="3600" b="1" dirty="0">
                <a:solidFill>
                  <a:srgbClr val="FFFFFF"/>
                </a:solidFill>
                <a:latin typeface="Cambria"/>
                <a:ea typeface="Cambria"/>
                <a:cs typeface="Cambria"/>
                <a:sym typeface="Cambria"/>
              </a:rPr>
              <a:t>String Operations</a:t>
            </a:r>
            <a:endParaRPr sz="3600" dirty="0">
              <a:latin typeface="Cambria"/>
              <a:ea typeface="Cambria"/>
              <a:cs typeface="Cambria"/>
              <a:sym typeface="Cambria"/>
            </a:endParaRPr>
          </a:p>
        </p:txBody>
      </p:sp>
      <p:sp>
        <p:nvSpPr>
          <p:cNvPr id="269" name="Google Shape;269;p25"/>
          <p:cNvSpPr txBox="1"/>
          <p:nvPr/>
        </p:nvSpPr>
        <p:spPr>
          <a:xfrm>
            <a:off x="4038726" y="602437"/>
            <a:ext cx="7543673" cy="350737"/>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2200" b="1">
                <a:solidFill>
                  <a:srgbClr val="575757"/>
                </a:solidFill>
                <a:latin typeface="Cambria"/>
                <a:ea typeface="Cambria"/>
                <a:cs typeface="Cambria"/>
                <a:sym typeface="Cambria"/>
              </a:rPr>
              <a:t>getChars() - </a:t>
            </a:r>
            <a:r>
              <a:rPr lang="en-US" sz="2200">
                <a:solidFill>
                  <a:srgbClr val="575757"/>
                </a:solidFill>
                <a:latin typeface="Cambria"/>
                <a:ea typeface="Cambria"/>
                <a:cs typeface="Cambria"/>
                <a:sym typeface="Cambria"/>
              </a:rPr>
              <a:t>Copies characters from this string into the</a:t>
            </a:r>
            <a:endParaRPr sz="2200">
              <a:latin typeface="Cambria"/>
              <a:ea typeface="Cambria"/>
              <a:cs typeface="Cambria"/>
              <a:sym typeface="Cambria"/>
            </a:endParaRPr>
          </a:p>
        </p:txBody>
      </p:sp>
      <p:sp>
        <p:nvSpPr>
          <p:cNvPr id="270" name="Google Shape;270;p25"/>
          <p:cNvSpPr txBox="1">
            <a:spLocks noGrp="1"/>
          </p:cNvSpPr>
          <p:nvPr>
            <p:ph type="title"/>
          </p:nvPr>
        </p:nvSpPr>
        <p:spPr>
          <a:xfrm>
            <a:off x="4038727" y="938276"/>
            <a:ext cx="5181473" cy="382156"/>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400" b="0">
                <a:solidFill>
                  <a:srgbClr val="000000"/>
                </a:solidFill>
                <a:latin typeface="Cambria"/>
                <a:ea typeface="Cambria"/>
                <a:cs typeface="Cambria"/>
                <a:sym typeface="Cambria"/>
              </a:rPr>
              <a:t>destination character rarray.</a:t>
            </a:r>
            <a:endParaRPr sz="2400">
              <a:latin typeface="Cambria"/>
              <a:ea typeface="Cambria"/>
              <a:cs typeface="Cambria"/>
              <a:sym typeface="Cambria"/>
            </a:endParaRPr>
          </a:p>
        </p:txBody>
      </p:sp>
      <p:sp>
        <p:nvSpPr>
          <p:cNvPr id="271" name="Google Shape;271;p25"/>
          <p:cNvSpPr txBox="1"/>
          <p:nvPr/>
        </p:nvSpPr>
        <p:spPr>
          <a:xfrm>
            <a:off x="4114927" y="1576831"/>
            <a:ext cx="6252210" cy="677545"/>
          </a:xfrm>
          <a:prstGeom prst="rect">
            <a:avLst/>
          </a:prstGeom>
          <a:noFill/>
          <a:ln>
            <a:noFill/>
          </a:ln>
        </p:spPr>
        <p:txBody>
          <a:bodyPr spcFirstLastPara="1" wrap="square" lIns="0" tIns="37450" rIns="0" bIns="0" anchor="t" anchorCtr="0">
            <a:spAutoFit/>
          </a:bodyPr>
          <a:lstStyle/>
          <a:p>
            <a:pPr marL="12700" marR="5080" lvl="0" indent="0" algn="l" rtl="0">
              <a:lnSpc>
                <a:spcPct val="113636"/>
              </a:lnSpc>
              <a:spcBef>
                <a:spcPts val="0"/>
              </a:spcBef>
              <a:spcAft>
                <a:spcPts val="0"/>
              </a:spcAft>
              <a:buNone/>
            </a:pPr>
            <a:r>
              <a:rPr lang="en-US" sz="2200">
                <a:solidFill>
                  <a:srgbClr val="575757"/>
                </a:solidFill>
                <a:latin typeface="Cambria"/>
                <a:ea typeface="Cambria"/>
                <a:cs typeface="Cambria"/>
                <a:sym typeface="Cambria"/>
              </a:rPr>
              <a:t>publicvoid </a:t>
            </a:r>
            <a:r>
              <a:rPr lang="en-US" sz="2200" b="1">
                <a:solidFill>
                  <a:srgbClr val="575757"/>
                </a:solidFill>
                <a:latin typeface="Cambria"/>
                <a:ea typeface="Cambria"/>
                <a:cs typeface="Cambria"/>
                <a:sym typeface="Cambria"/>
              </a:rPr>
              <a:t>getChars</a:t>
            </a:r>
            <a:r>
              <a:rPr lang="en-US" sz="2200">
                <a:solidFill>
                  <a:srgbClr val="575757"/>
                </a:solidFill>
                <a:latin typeface="Cambria"/>
                <a:ea typeface="Cambria"/>
                <a:cs typeface="Cambria"/>
                <a:sym typeface="Cambria"/>
              </a:rPr>
              <a:t>(int srcBegin, int srcEnd, char[] dst, int dstBegin)</a:t>
            </a:r>
            <a:endParaRPr sz="2200">
              <a:latin typeface="Cambria"/>
              <a:ea typeface="Cambria"/>
              <a:cs typeface="Cambria"/>
              <a:sym typeface="Cambria"/>
            </a:endParaRPr>
          </a:p>
        </p:txBody>
      </p:sp>
      <p:sp>
        <p:nvSpPr>
          <p:cNvPr id="272" name="Google Shape;272;p25"/>
          <p:cNvSpPr txBox="1"/>
          <p:nvPr/>
        </p:nvSpPr>
        <p:spPr>
          <a:xfrm>
            <a:off x="4465446" y="2667761"/>
            <a:ext cx="7269354" cy="1494640"/>
          </a:xfrm>
          <a:prstGeom prst="rect">
            <a:avLst/>
          </a:prstGeom>
          <a:noFill/>
          <a:ln>
            <a:noFill/>
          </a:ln>
        </p:spPr>
        <p:txBody>
          <a:bodyPr spcFirstLastPara="1" wrap="square" lIns="0" tIns="47625" rIns="0" bIns="0" anchor="t" anchorCtr="0">
            <a:spAutoFit/>
          </a:bodyPr>
          <a:lstStyle/>
          <a:p>
            <a:pPr marL="194945" marR="29209" lvl="0" indent="-182880" algn="just" rtl="0">
              <a:lnSpc>
                <a:spcPct val="109090"/>
              </a:lnSpc>
              <a:spcBef>
                <a:spcPts val="0"/>
              </a:spcBef>
              <a:spcAft>
                <a:spcPts val="0"/>
              </a:spcAft>
              <a:buClr>
                <a:srgbClr val="40B8D2"/>
              </a:buClr>
              <a:buSzPts val="2200"/>
              <a:buFont typeface="Arial"/>
              <a:buChar char="•"/>
            </a:pPr>
            <a:r>
              <a:rPr lang="en-US" sz="2200">
                <a:solidFill>
                  <a:srgbClr val="575757"/>
                </a:solidFill>
                <a:latin typeface="Cambria"/>
                <a:ea typeface="Cambria"/>
                <a:cs typeface="Cambria"/>
                <a:sym typeface="Cambria"/>
              </a:rPr>
              <a:t>srcBegin  – index of the first character in the stringto copy.</a:t>
            </a:r>
            <a:endParaRPr sz="2200">
              <a:latin typeface="Cambria"/>
              <a:ea typeface="Cambria"/>
              <a:cs typeface="Cambria"/>
              <a:sym typeface="Cambria"/>
            </a:endParaRPr>
          </a:p>
          <a:p>
            <a:pPr marL="194945" marR="5080" lvl="0" indent="-182880" algn="just" rtl="0">
              <a:lnSpc>
                <a:spcPct val="109090"/>
              </a:lnSpc>
              <a:spcBef>
                <a:spcPts val="600"/>
              </a:spcBef>
              <a:spcAft>
                <a:spcPts val="0"/>
              </a:spcAft>
              <a:buClr>
                <a:srgbClr val="40B8D2"/>
              </a:buClr>
              <a:buSzPts val="2200"/>
              <a:buFont typeface="Arial"/>
              <a:buChar char="•"/>
            </a:pPr>
            <a:r>
              <a:rPr lang="en-US" sz="2200">
                <a:solidFill>
                  <a:srgbClr val="575757"/>
                </a:solidFill>
                <a:latin typeface="Cambria"/>
                <a:ea typeface="Cambria"/>
                <a:cs typeface="Cambria"/>
                <a:sym typeface="Cambria"/>
              </a:rPr>
              <a:t>srcEnd - index after the last character in the stringto copy.</a:t>
            </a:r>
            <a:endParaRPr sz="2200">
              <a:latin typeface="Cambria"/>
              <a:ea typeface="Cambria"/>
              <a:cs typeface="Cambria"/>
              <a:sym typeface="Cambria"/>
            </a:endParaRPr>
          </a:p>
          <a:p>
            <a:pPr marL="194945" lvl="0" indent="-182245" algn="just" rtl="0">
              <a:lnSpc>
                <a:spcPct val="100000"/>
              </a:lnSpc>
              <a:spcBef>
                <a:spcPts val="260"/>
              </a:spcBef>
              <a:spcAft>
                <a:spcPts val="0"/>
              </a:spcAft>
              <a:buClr>
                <a:srgbClr val="40B8D2"/>
              </a:buClr>
              <a:buSzPts val="2200"/>
              <a:buFont typeface="Arial"/>
              <a:buChar char="•"/>
            </a:pPr>
            <a:r>
              <a:rPr lang="en-US" sz="2200">
                <a:solidFill>
                  <a:srgbClr val="575757"/>
                </a:solidFill>
                <a:latin typeface="Cambria"/>
                <a:ea typeface="Cambria"/>
                <a:cs typeface="Cambria"/>
                <a:sym typeface="Cambria"/>
              </a:rPr>
              <a:t>dst- the destination array.</a:t>
            </a:r>
            <a:endParaRPr sz="2200">
              <a:latin typeface="Cambria"/>
              <a:ea typeface="Cambria"/>
              <a:cs typeface="Cambria"/>
              <a:sym typeface="Cambria"/>
            </a:endParaRPr>
          </a:p>
          <a:p>
            <a:pPr marL="195580" lvl="0" indent="-182880" algn="just" rtl="0">
              <a:lnSpc>
                <a:spcPct val="100000"/>
              </a:lnSpc>
              <a:spcBef>
                <a:spcPts val="300"/>
              </a:spcBef>
              <a:spcAft>
                <a:spcPts val="0"/>
              </a:spcAft>
              <a:buClr>
                <a:srgbClr val="40B8D2"/>
              </a:buClr>
              <a:buSzPts val="2200"/>
              <a:buFont typeface="Arial"/>
              <a:buChar char="•"/>
            </a:pPr>
            <a:r>
              <a:rPr lang="en-US" sz="2200">
                <a:solidFill>
                  <a:srgbClr val="575757"/>
                </a:solidFill>
                <a:latin typeface="Cambria"/>
                <a:ea typeface="Cambria"/>
                <a:cs typeface="Cambria"/>
                <a:sym typeface="Cambria"/>
              </a:rPr>
              <a:t>dstBegin- the start offset in the destination array.</a:t>
            </a:r>
            <a:endParaRPr sz="2200">
              <a:latin typeface="Cambria"/>
              <a:ea typeface="Cambria"/>
              <a:cs typeface="Cambria"/>
              <a:sym typeface="Cambri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26"/>
          <p:cNvSpPr txBox="1"/>
          <p:nvPr/>
        </p:nvSpPr>
        <p:spPr>
          <a:xfrm>
            <a:off x="3954526" y="799846"/>
            <a:ext cx="5008880" cy="5473293"/>
          </a:xfrm>
          <a:prstGeom prst="rect">
            <a:avLst/>
          </a:prstGeom>
          <a:noFill/>
          <a:ln>
            <a:noFill/>
          </a:ln>
        </p:spPr>
        <p:txBody>
          <a:bodyPr spcFirstLastPara="1" wrap="square" lIns="0" tIns="149850" rIns="0" bIns="0" anchor="t" anchorCtr="0">
            <a:spAutoFit/>
          </a:bodyPr>
          <a:lstStyle/>
          <a:p>
            <a:pPr marL="12700" lvl="0" indent="0" algn="l" rtl="0">
              <a:lnSpc>
                <a:spcPct val="100000"/>
              </a:lnSpc>
              <a:spcBef>
                <a:spcPts val="0"/>
              </a:spcBef>
              <a:spcAft>
                <a:spcPts val="0"/>
              </a:spcAft>
              <a:buNone/>
            </a:pPr>
            <a:r>
              <a:rPr lang="en-US" sz="1800" b="1">
                <a:latin typeface="Cambria"/>
                <a:ea typeface="Cambria"/>
                <a:cs typeface="Cambria"/>
                <a:sym typeface="Cambria"/>
              </a:rPr>
              <a:t>Example</a:t>
            </a:r>
            <a:endParaRPr sz="1800">
              <a:latin typeface="Cambria"/>
              <a:ea typeface="Cambria"/>
              <a:cs typeface="Cambria"/>
              <a:sym typeface="Cambria"/>
            </a:endParaRPr>
          </a:p>
          <a:p>
            <a:pPr marL="12700" lvl="0" indent="0" algn="l" rtl="0">
              <a:lnSpc>
                <a:spcPct val="100000"/>
              </a:lnSpc>
              <a:spcBef>
                <a:spcPts val="1080"/>
              </a:spcBef>
              <a:spcAft>
                <a:spcPts val="0"/>
              </a:spcAft>
              <a:buNone/>
            </a:pPr>
            <a:r>
              <a:rPr lang="en-US" sz="1800" b="1">
                <a:solidFill>
                  <a:srgbClr val="006699"/>
                </a:solidFill>
                <a:latin typeface="Cambria"/>
                <a:ea typeface="Cambria"/>
                <a:cs typeface="Cambria"/>
                <a:sym typeface="Cambria"/>
              </a:rPr>
              <a:t>public class </a:t>
            </a:r>
            <a:r>
              <a:rPr lang="en-US" sz="1800">
                <a:latin typeface="Cambria"/>
                <a:ea typeface="Cambria"/>
                <a:cs typeface="Cambria"/>
                <a:sym typeface="Cambria"/>
              </a:rPr>
              <a:t>StringGetCharsExample{</a:t>
            </a:r>
            <a:endParaRPr sz="1800">
              <a:latin typeface="Cambria"/>
              <a:ea typeface="Cambria"/>
              <a:cs typeface="Cambria"/>
              <a:sym typeface="Cambria"/>
            </a:endParaRPr>
          </a:p>
          <a:p>
            <a:pPr marL="12700" lvl="0" indent="0" algn="l" rtl="0">
              <a:lnSpc>
                <a:spcPct val="100000"/>
              </a:lnSpc>
              <a:spcBef>
                <a:spcPts val="1080"/>
              </a:spcBef>
              <a:spcAft>
                <a:spcPts val="0"/>
              </a:spcAft>
              <a:buNone/>
            </a:pPr>
            <a:r>
              <a:rPr lang="en-US" sz="1800" b="1">
                <a:solidFill>
                  <a:srgbClr val="006699"/>
                </a:solidFill>
                <a:latin typeface="Cambria"/>
                <a:ea typeface="Cambria"/>
                <a:cs typeface="Cambria"/>
                <a:sym typeface="Cambria"/>
              </a:rPr>
              <a:t>public static void </a:t>
            </a:r>
            <a:r>
              <a:rPr lang="en-US" sz="1800">
                <a:latin typeface="Cambria"/>
                <a:ea typeface="Cambria"/>
                <a:cs typeface="Cambria"/>
                <a:sym typeface="Cambria"/>
              </a:rPr>
              <a:t>main(String args[]){</a:t>
            </a:r>
            <a:endParaRPr sz="1800">
              <a:latin typeface="Cambria"/>
              <a:ea typeface="Cambria"/>
              <a:cs typeface="Cambria"/>
              <a:sym typeface="Cambria"/>
            </a:endParaRPr>
          </a:p>
          <a:p>
            <a:pPr marL="62864" lvl="0" indent="0" algn="l" rtl="0">
              <a:lnSpc>
                <a:spcPct val="100000"/>
              </a:lnSpc>
              <a:spcBef>
                <a:spcPts val="1080"/>
              </a:spcBef>
              <a:spcAft>
                <a:spcPts val="0"/>
              </a:spcAft>
              <a:buNone/>
            </a:pPr>
            <a:r>
              <a:rPr lang="en-US" sz="1800">
                <a:latin typeface="Cambria"/>
                <a:ea typeface="Cambria"/>
                <a:cs typeface="Cambria"/>
                <a:sym typeface="Cambria"/>
              </a:rPr>
              <a:t>String str = </a:t>
            </a:r>
            <a:r>
              <a:rPr lang="en-US" sz="1800" b="1">
                <a:solidFill>
                  <a:srgbClr val="006699"/>
                </a:solidFill>
                <a:latin typeface="Cambria"/>
                <a:ea typeface="Cambria"/>
                <a:cs typeface="Cambria"/>
                <a:sym typeface="Cambria"/>
              </a:rPr>
              <a:t>new </a:t>
            </a:r>
            <a:r>
              <a:rPr lang="en-US" sz="1800">
                <a:latin typeface="Cambria"/>
                <a:ea typeface="Cambria"/>
                <a:cs typeface="Cambria"/>
                <a:sym typeface="Cambria"/>
              </a:rPr>
              <a:t>String(</a:t>
            </a:r>
            <a:r>
              <a:rPr lang="en-US" sz="1800">
                <a:solidFill>
                  <a:srgbClr val="0000FF"/>
                </a:solidFill>
                <a:latin typeface="Cambria"/>
                <a:ea typeface="Cambria"/>
                <a:cs typeface="Cambria"/>
                <a:sym typeface="Cambria"/>
              </a:rPr>
              <a:t>"hello Marwadi how r u"</a:t>
            </a:r>
            <a:r>
              <a:rPr lang="en-US" sz="1800">
                <a:latin typeface="Cambria"/>
                <a:ea typeface="Cambria"/>
                <a:cs typeface="Cambria"/>
                <a:sym typeface="Cambria"/>
              </a:rPr>
              <a:t>);</a:t>
            </a:r>
            <a:endParaRPr sz="1800">
              <a:latin typeface="Cambria"/>
              <a:ea typeface="Cambria"/>
              <a:cs typeface="Cambria"/>
              <a:sym typeface="Cambria"/>
            </a:endParaRPr>
          </a:p>
          <a:p>
            <a:pPr marL="317500" marR="2109470" lvl="0" indent="0" algn="l" rtl="0">
              <a:lnSpc>
                <a:spcPct val="150000"/>
              </a:lnSpc>
              <a:spcBef>
                <a:spcPts val="0"/>
              </a:spcBef>
              <a:spcAft>
                <a:spcPts val="0"/>
              </a:spcAft>
              <a:buNone/>
            </a:pPr>
            <a:r>
              <a:rPr lang="en-US" sz="1800" b="1">
                <a:solidFill>
                  <a:srgbClr val="006699"/>
                </a:solidFill>
                <a:latin typeface="Cambria"/>
                <a:ea typeface="Cambria"/>
                <a:cs typeface="Cambria"/>
                <a:sym typeface="Cambria"/>
              </a:rPr>
              <a:t>char</a:t>
            </a:r>
            <a:r>
              <a:rPr lang="en-US" sz="1800">
                <a:latin typeface="Cambria"/>
                <a:ea typeface="Cambria"/>
                <a:cs typeface="Cambria"/>
                <a:sym typeface="Cambria"/>
              </a:rPr>
              <a:t>[] ch = </a:t>
            </a:r>
            <a:r>
              <a:rPr lang="en-US" sz="1800" b="1">
                <a:solidFill>
                  <a:srgbClr val="006699"/>
                </a:solidFill>
                <a:latin typeface="Cambria"/>
                <a:ea typeface="Cambria"/>
                <a:cs typeface="Cambria"/>
                <a:sym typeface="Cambria"/>
              </a:rPr>
              <a:t>new char</a:t>
            </a:r>
            <a:r>
              <a:rPr lang="en-US" sz="1800">
                <a:latin typeface="Cambria"/>
                <a:ea typeface="Cambria"/>
                <a:cs typeface="Cambria"/>
                <a:sym typeface="Cambria"/>
              </a:rPr>
              <a:t>[</a:t>
            </a:r>
            <a:r>
              <a:rPr lang="en-US" sz="1800">
                <a:solidFill>
                  <a:srgbClr val="C00000"/>
                </a:solidFill>
                <a:latin typeface="Cambria"/>
                <a:ea typeface="Cambria"/>
                <a:cs typeface="Cambria"/>
                <a:sym typeface="Cambria"/>
              </a:rPr>
              <a:t>10</a:t>
            </a:r>
            <a:r>
              <a:rPr lang="en-US" sz="1800">
                <a:latin typeface="Cambria"/>
                <a:ea typeface="Cambria"/>
                <a:cs typeface="Cambria"/>
                <a:sym typeface="Cambria"/>
              </a:rPr>
              <a:t>]; </a:t>
            </a:r>
            <a:r>
              <a:rPr lang="en-US" sz="1800" b="1">
                <a:solidFill>
                  <a:srgbClr val="006699"/>
                </a:solidFill>
                <a:latin typeface="Cambria"/>
                <a:ea typeface="Cambria"/>
                <a:cs typeface="Cambria"/>
                <a:sym typeface="Cambria"/>
              </a:rPr>
              <a:t>try</a:t>
            </a:r>
            <a:r>
              <a:rPr lang="en-US" sz="1800">
                <a:latin typeface="Cambria"/>
                <a:ea typeface="Cambria"/>
                <a:cs typeface="Cambria"/>
                <a:sym typeface="Cambria"/>
              </a:rPr>
              <a:t>{</a:t>
            </a:r>
            <a:endParaRPr sz="1800">
              <a:latin typeface="Cambria"/>
              <a:ea typeface="Cambria"/>
              <a:cs typeface="Cambria"/>
              <a:sym typeface="Cambria"/>
            </a:endParaRPr>
          </a:p>
          <a:p>
            <a:pPr marL="469900" lvl="0" indent="0" algn="l" rtl="0">
              <a:lnSpc>
                <a:spcPct val="100000"/>
              </a:lnSpc>
              <a:spcBef>
                <a:spcPts val="1080"/>
              </a:spcBef>
              <a:spcAft>
                <a:spcPts val="0"/>
              </a:spcAft>
              <a:buNone/>
            </a:pPr>
            <a:r>
              <a:rPr lang="en-US" sz="1800">
                <a:latin typeface="Cambria"/>
                <a:ea typeface="Cambria"/>
                <a:cs typeface="Cambria"/>
                <a:sym typeface="Cambria"/>
              </a:rPr>
              <a:t>str.getChars(</a:t>
            </a:r>
            <a:r>
              <a:rPr lang="en-US" sz="1800">
                <a:solidFill>
                  <a:srgbClr val="C00000"/>
                </a:solidFill>
                <a:latin typeface="Cambria"/>
                <a:ea typeface="Cambria"/>
                <a:cs typeface="Cambria"/>
                <a:sym typeface="Cambria"/>
              </a:rPr>
              <a:t>6</a:t>
            </a:r>
            <a:r>
              <a:rPr lang="en-US" sz="1800">
                <a:latin typeface="Cambria"/>
                <a:ea typeface="Cambria"/>
                <a:cs typeface="Cambria"/>
                <a:sym typeface="Cambria"/>
              </a:rPr>
              <a:t>, </a:t>
            </a:r>
            <a:r>
              <a:rPr lang="en-US" sz="1800">
                <a:solidFill>
                  <a:srgbClr val="C00000"/>
                </a:solidFill>
                <a:latin typeface="Cambria"/>
                <a:ea typeface="Cambria"/>
                <a:cs typeface="Cambria"/>
                <a:sym typeface="Cambria"/>
              </a:rPr>
              <a:t>15</a:t>
            </a:r>
            <a:r>
              <a:rPr lang="en-US" sz="1800">
                <a:latin typeface="Cambria"/>
                <a:ea typeface="Cambria"/>
                <a:cs typeface="Cambria"/>
                <a:sym typeface="Cambria"/>
              </a:rPr>
              <a:t>, ch, </a:t>
            </a:r>
            <a:r>
              <a:rPr lang="en-US" sz="1800">
                <a:solidFill>
                  <a:srgbClr val="C00000"/>
                </a:solidFill>
                <a:latin typeface="Cambria"/>
                <a:ea typeface="Cambria"/>
                <a:cs typeface="Cambria"/>
                <a:sym typeface="Cambria"/>
              </a:rPr>
              <a:t>0</a:t>
            </a:r>
            <a:r>
              <a:rPr lang="en-US" sz="1800">
                <a:latin typeface="Cambria"/>
                <a:ea typeface="Cambria"/>
                <a:cs typeface="Cambria"/>
                <a:sym typeface="Cambria"/>
              </a:rPr>
              <a:t>);</a:t>
            </a:r>
            <a:endParaRPr sz="1800">
              <a:latin typeface="Cambria"/>
              <a:ea typeface="Cambria"/>
              <a:cs typeface="Cambria"/>
              <a:sym typeface="Cambria"/>
            </a:endParaRPr>
          </a:p>
          <a:p>
            <a:pPr marL="469900" lvl="0" indent="0" algn="l" rtl="0">
              <a:lnSpc>
                <a:spcPct val="100000"/>
              </a:lnSpc>
              <a:spcBef>
                <a:spcPts val="1085"/>
              </a:spcBef>
              <a:spcAft>
                <a:spcPts val="0"/>
              </a:spcAft>
              <a:buNone/>
            </a:pPr>
            <a:r>
              <a:rPr lang="en-US" sz="1800">
                <a:latin typeface="Cambria"/>
                <a:ea typeface="Cambria"/>
                <a:cs typeface="Cambria"/>
                <a:sym typeface="Cambria"/>
              </a:rPr>
              <a:t>System.out.println(ch);</a:t>
            </a:r>
            <a:endParaRPr sz="1800">
              <a:latin typeface="Cambria"/>
              <a:ea typeface="Cambria"/>
              <a:cs typeface="Cambria"/>
              <a:sym typeface="Cambria"/>
            </a:endParaRPr>
          </a:p>
          <a:p>
            <a:pPr marL="317500" lvl="0" indent="0" algn="l" rtl="0">
              <a:lnSpc>
                <a:spcPct val="100000"/>
              </a:lnSpc>
              <a:spcBef>
                <a:spcPts val="1080"/>
              </a:spcBef>
              <a:spcAft>
                <a:spcPts val="0"/>
              </a:spcAft>
              <a:buNone/>
            </a:pPr>
            <a:r>
              <a:rPr lang="en-US" sz="1800">
                <a:latin typeface="Cambria"/>
                <a:ea typeface="Cambria"/>
                <a:cs typeface="Cambria"/>
                <a:sym typeface="Cambria"/>
              </a:rPr>
              <a:t>}</a:t>
            </a:r>
            <a:r>
              <a:rPr lang="en-US" sz="1800" b="1">
                <a:solidFill>
                  <a:srgbClr val="006699"/>
                </a:solidFill>
                <a:latin typeface="Cambria"/>
                <a:ea typeface="Cambria"/>
                <a:cs typeface="Cambria"/>
                <a:sym typeface="Cambria"/>
              </a:rPr>
              <a:t>catch</a:t>
            </a:r>
            <a:r>
              <a:rPr lang="en-US" sz="1800">
                <a:latin typeface="Cambria"/>
                <a:ea typeface="Cambria"/>
                <a:cs typeface="Cambria"/>
                <a:sym typeface="Cambria"/>
              </a:rPr>
              <a:t>(Exception ex){System.out.println(ex);}</a:t>
            </a:r>
            <a:endParaRPr sz="1800">
              <a:latin typeface="Cambria"/>
              <a:ea typeface="Cambria"/>
              <a:cs typeface="Cambria"/>
              <a:sym typeface="Cambria"/>
            </a:endParaRPr>
          </a:p>
          <a:p>
            <a:pPr marL="12700" lvl="0" indent="0" algn="l" rtl="0">
              <a:lnSpc>
                <a:spcPct val="100000"/>
              </a:lnSpc>
              <a:spcBef>
                <a:spcPts val="1080"/>
              </a:spcBef>
              <a:spcAft>
                <a:spcPts val="0"/>
              </a:spcAft>
              <a:buNone/>
            </a:pPr>
            <a:r>
              <a:rPr lang="en-US" sz="1800">
                <a:latin typeface="Cambria"/>
                <a:ea typeface="Cambria"/>
                <a:cs typeface="Cambria"/>
                <a:sym typeface="Cambria"/>
              </a:rPr>
              <a:t>}}</a:t>
            </a:r>
            <a:endParaRPr sz="1800">
              <a:latin typeface="Cambria"/>
              <a:ea typeface="Cambria"/>
              <a:cs typeface="Cambria"/>
              <a:sym typeface="Cambria"/>
            </a:endParaRPr>
          </a:p>
          <a:p>
            <a:pPr marL="0" lvl="0" indent="0" algn="l" rtl="0">
              <a:lnSpc>
                <a:spcPct val="100000"/>
              </a:lnSpc>
              <a:spcBef>
                <a:spcPts val="0"/>
              </a:spcBef>
              <a:spcAft>
                <a:spcPts val="0"/>
              </a:spcAft>
              <a:buNone/>
            </a:pPr>
            <a:endParaRPr sz="1800">
              <a:latin typeface="Cambria"/>
              <a:ea typeface="Cambria"/>
              <a:cs typeface="Cambria"/>
              <a:sym typeface="Cambria"/>
            </a:endParaRPr>
          </a:p>
          <a:p>
            <a:pPr marL="0" lvl="0" indent="0" algn="l" rtl="0">
              <a:lnSpc>
                <a:spcPct val="100000"/>
              </a:lnSpc>
              <a:spcBef>
                <a:spcPts val="100"/>
              </a:spcBef>
              <a:spcAft>
                <a:spcPts val="0"/>
              </a:spcAft>
              <a:buNone/>
            </a:pPr>
            <a:endParaRPr sz="1800">
              <a:latin typeface="Cambria"/>
              <a:ea typeface="Cambria"/>
              <a:cs typeface="Cambria"/>
              <a:sym typeface="Cambria"/>
            </a:endParaRPr>
          </a:p>
          <a:p>
            <a:pPr marL="12700" lvl="0" indent="0" algn="l" rtl="0">
              <a:lnSpc>
                <a:spcPct val="100000"/>
              </a:lnSpc>
              <a:spcBef>
                <a:spcPts val="0"/>
              </a:spcBef>
              <a:spcAft>
                <a:spcPts val="0"/>
              </a:spcAft>
              <a:buNone/>
            </a:pPr>
            <a:r>
              <a:rPr lang="en-US" sz="1800" b="1" u="sng">
                <a:latin typeface="Cambria"/>
                <a:ea typeface="Cambria"/>
                <a:cs typeface="Cambria"/>
                <a:sym typeface="Cambria"/>
              </a:rPr>
              <a:t>Output</a:t>
            </a:r>
            <a:endParaRPr sz="1800">
              <a:latin typeface="Cambria"/>
              <a:ea typeface="Cambria"/>
              <a:cs typeface="Cambria"/>
              <a:sym typeface="Cambria"/>
            </a:endParaRPr>
          </a:p>
          <a:p>
            <a:pPr marL="99695" lvl="0" indent="0" algn="l" rtl="0">
              <a:lnSpc>
                <a:spcPct val="100000"/>
              </a:lnSpc>
              <a:spcBef>
                <a:spcPts val="1250"/>
              </a:spcBef>
              <a:spcAft>
                <a:spcPts val="0"/>
              </a:spcAft>
              <a:buNone/>
            </a:pPr>
            <a:r>
              <a:rPr lang="en-US" sz="1800">
                <a:latin typeface="Cambria"/>
                <a:ea typeface="Cambria"/>
                <a:cs typeface="Cambria"/>
                <a:sym typeface="Cambria"/>
              </a:rPr>
              <a:t>Marwadi how r</a:t>
            </a:r>
            <a:endParaRPr sz="1800">
              <a:latin typeface="Cambria"/>
              <a:ea typeface="Cambria"/>
              <a:cs typeface="Cambria"/>
              <a:sym typeface="Cambria"/>
            </a:endParaRPr>
          </a:p>
        </p:txBody>
      </p:sp>
      <p:pic>
        <p:nvPicPr>
          <p:cNvPr id="278" name="Google Shape;278;p26"/>
          <p:cNvPicPr preferRelativeResize="0"/>
          <p:nvPr/>
        </p:nvPicPr>
        <p:blipFill rotWithShape="1">
          <a:blip r:embed="rId3">
            <a:alphaModFix/>
          </a:blip>
          <a:srcRect/>
          <a:stretch/>
        </p:blipFill>
        <p:spPr>
          <a:xfrm>
            <a:off x="3047" y="2590800"/>
            <a:ext cx="3121152" cy="963167"/>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27"/>
          <p:cNvSpPr/>
          <p:nvPr/>
        </p:nvSpPr>
        <p:spPr>
          <a:xfrm>
            <a:off x="11817095" y="758951"/>
            <a:ext cx="374650" cy="5330825"/>
          </a:xfrm>
          <a:custGeom>
            <a:avLst/>
            <a:gdLst/>
            <a:ahLst/>
            <a:cxnLst/>
            <a:rect l="l" t="t" r="r" b="b"/>
            <a:pathLst>
              <a:path w="374650" h="5330825" extrusionOk="0">
                <a:moveTo>
                  <a:pt x="374523" y="0"/>
                </a:moveTo>
                <a:lnTo>
                  <a:pt x="0" y="0"/>
                </a:lnTo>
                <a:lnTo>
                  <a:pt x="0" y="5330444"/>
                </a:lnTo>
                <a:lnTo>
                  <a:pt x="374523" y="5330444"/>
                </a:lnTo>
                <a:lnTo>
                  <a:pt x="374523" y="0"/>
                </a:lnTo>
                <a:close/>
              </a:path>
            </a:pathLst>
          </a:custGeom>
          <a:solidFill>
            <a:srgbClr val="C6C6C6">
              <a:alpha val="49411"/>
            </a:srgbClr>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84" name="Google Shape;284;p27"/>
          <p:cNvSpPr txBox="1"/>
          <p:nvPr/>
        </p:nvSpPr>
        <p:spPr>
          <a:xfrm>
            <a:off x="331418" y="2829255"/>
            <a:ext cx="2777541" cy="1270979"/>
          </a:xfrm>
          <a:prstGeom prst="rect">
            <a:avLst/>
          </a:prstGeom>
          <a:noFill/>
          <a:ln>
            <a:noFill/>
          </a:ln>
        </p:spPr>
        <p:txBody>
          <a:bodyPr spcFirstLastPara="1" wrap="square" lIns="0" tIns="73650" rIns="0" bIns="0" anchor="t" anchorCtr="0">
            <a:spAutoFit/>
          </a:bodyPr>
          <a:lstStyle/>
          <a:p>
            <a:pPr marL="12700" marR="5080" lvl="0" indent="0" algn="l" rtl="0">
              <a:lnSpc>
                <a:spcPct val="108333"/>
              </a:lnSpc>
              <a:spcBef>
                <a:spcPts val="0"/>
              </a:spcBef>
              <a:spcAft>
                <a:spcPts val="0"/>
              </a:spcAft>
              <a:buNone/>
            </a:pPr>
            <a:r>
              <a:rPr lang="en-US" sz="3600" b="1" dirty="0" smtClean="0">
                <a:solidFill>
                  <a:srgbClr val="FFFFFF"/>
                </a:solidFill>
                <a:latin typeface="Trebuchet MS"/>
                <a:ea typeface="Trebuchet MS"/>
                <a:cs typeface="Trebuchet MS"/>
                <a:sym typeface="Trebuchet MS"/>
              </a:rPr>
              <a:t>     String </a:t>
            </a:r>
            <a:r>
              <a:rPr lang="en-US" sz="3600" b="1" dirty="0">
                <a:solidFill>
                  <a:srgbClr val="FFFFFF"/>
                </a:solidFill>
                <a:latin typeface="Trebuchet MS"/>
                <a:ea typeface="Trebuchet MS"/>
                <a:cs typeface="Trebuchet MS"/>
                <a:sym typeface="Trebuchet MS"/>
              </a:rPr>
              <a:t>Operations</a:t>
            </a:r>
            <a:endParaRPr sz="3600" dirty="0">
              <a:latin typeface="Trebuchet MS"/>
              <a:ea typeface="Trebuchet MS"/>
              <a:cs typeface="Trebuchet MS"/>
              <a:sym typeface="Trebuchet MS"/>
            </a:endParaRPr>
          </a:p>
        </p:txBody>
      </p:sp>
      <p:sp>
        <p:nvSpPr>
          <p:cNvPr id="285" name="Google Shape;285;p27"/>
          <p:cNvSpPr txBox="1">
            <a:spLocks noGrp="1"/>
          </p:cNvSpPr>
          <p:nvPr>
            <p:ph type="title"/>
          </p:nvPr>
        </p:nvSpPr>
        <p:spPr>
          <a:xfrm>
            <a:off x="3657726" y="333811"/>
            <a:ext cx="8000873" cy="1704313"/>
          </a:xfrm>
          <a:prstGeom prst="rect">
            <a:avLst/>
          </a:prstGeom>
          <a:noFill/>
          <a:ln>
            <a:noFill/>
          </a:ln>
        </p:spPr>
        <p:txBody>
          <a:bodyPr spcFirstLastPara="1" wrap="square" lIns="0" tIns="128250" rIns="0" bIns="0" anchor="t" anchorCtr="0">
            <a:spAutoFit/>
          </a:bodyPr>
          <a:lstStyle/>
          <a:p>
            <a:pPr marL="62864" lvl="0" indent="0" algn="just" rtl="0">
              <a:lnSpc>
                <a:spcPct val="100000"/>
              </a:lnSpc>
              <a:spcBef>
                <a:spcPts val="0"/>
              </a:spcBef>
              <a:spcAft>
                <a:spcPts val="0"/>
              </a:spcAft>
              <a:buNone/>
            </a:pPr>
            <a:r>
              <a:rPr lang="en-US" sz="2200">
                <a:solidFill>
                  <a:srgbClr val="575757"/>
                </a:solidFill>
                <a:latin typeface="Cambria"/>
                <a:ea typeface="Cambria"/>
                <a:cs typeface="Cambria"/>
                <a:sym typeface="Cambria"/>
              </a:rPr>
              <a:t>equals() – </a:t>
            </a:r>
            <a:r>
              <a:rPr lang="en-US" sz="2200" b="0">
                <a:solidFill>
                  <a:srgbClr val="575757"/>
                </a:solidFill>
                <a:latin typeface="Cambria"/>
                <a:ea typeface="Cambria"/>
                <a:cs typeface="Cambria"/>
                <a:sym typeface="Cambria"/>
              </a:rPr>
              <a:t>Compares the invoking string to the specified object.</a:t>
            </a:r>
            <a:endParaRPr sz="2200">
              <a:latin typeface="Cambria"/>
              <a:ea typeface="Cambria"/>
              <a:cs typeface="Cambria"/>
              <a:sym typeface="Cambria"/>
            </a:endParaRPr>
          </a:p>
          <a:p>
            <a:pPr marL="12700" lvl="0" indent="0" algn="just" rtl="0">
              <a:lnSpc>
                <a:spcPct val="100000"/>
              </a:lnSpc>
              <a:spcBef>
                <a:spcPts val="1005"/>
              </a:spcBef>
              <a:spcAft>
                <a:spcPts val="0"/>
              </a:spcAft>
              <a:buNone/>
            </a:pPr>
            <a:r>
              <a:rPr lang="en-US" sz="2400" b="0">
                <a:solidFill>
                  <a:srgbClr val="000000"/>
                </a:solidFill>
                <a:latin typeface="Cambria"/>
                <a:ea typeface="Cambria"/>
                <a:cs typeface="Cambria"/>
                <a:sym typeface="Cambria"/>
              </a:rPr>
              <a:t>The result is true if and only if the argument is not null and is a String object that represents the same sequence of characters as the invoking object.</a:t>
            </a:r>
            <a:endParaRPr sz="2400">
              <a:latin typeface="Cambria"/>
              <a:ea typeface="Cambria"/>
              <a:cs typeface="Cambria"/>
              <a:sym typeface="Cambria"/>
            </a:endParaRPr>
          </a:p>
        </p:txBody>
      </p:sp>
      <p:sp>
        <p:nvSpPr>
          <p:cNvPr id="286" name="Google Shape;286;p27"/>
          <p:cNvSpPr txBox="1"/>
          <p:nvPr/>
        </p:nvSpPr>
        <p:spPr>
          <a:xfrm>
            <a:off x="4191127" y="2736849"/>
            <a:ext cx="4349115" cy="36068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2200">
                <a:latin typeface="Cambria"/>
                <a:ea typeface="Cambria"/>
                <a:cs typeface="Cambria"/>
                <a:sym typeface="Cambria"/>
              </a:rPr>
              <a:t>public </a:t>
            </a:r>
            <a:r>
              <a:rPr lang="en-US" sz="2200">
                <a:solidFill>
                  <a:srgbClr val="575757"/>
                </a:solidFill>
                <a:latin typeface="Cambria"/>
                <a:ea typeface="Cambria"/>
                <a:cs typeface="Cambria"/>
                <a:sym typeface="Cambria"/>
              </a:rPr>
              <a:t>boolean equals(ObjectanObject)</a:t>
            </a:r>
            <a:endParaRPr sz="2200">
              <a:latin typeface="Cambria"/>
              <a:ea typeface="Cambria"/>
              <a:cs typeface="Cambria"/>
              <a:sym typeface="Cambria"/>
            </a:endParaRPr>
          </a:p>
        </p:txBody>
      </p:sp>
      <p:sp>
        <p:nvSpPr>
          <p:cNvPr id="287" name="Google Shape;287;p27"/>
          <p:cNvSpPr txBox="1"/>
          <p:nvPr/>
        </p:nvSpPr>
        <p:spPr>
          <a:xfrm>
            <a:off x="3926841" y="3526434"/>
            <a:ext cx="7655560" cy="2037714"/>
          </a:xfrm>
          <a:prstGeom prst="rect">
            <a:avLst/>
          </a:prstGeom>
          <a:noFill/>
          <a:ln>
            <a:noFill/>
          </a:ln>
        </p:spPr>
        <p:txBody>
          <a:bodyPr spcFirstLastPara="1" wrap="square" lIns="0" tIns="12700" rIns="0" bIns="0" anchor="t" anchorCtr="0">
            <a:spAutoFit/>
          </a:bodyPr>
          <a:lstStyle/>
          <a:p>
            <a:pPr marL="40005" marR="5080" lvl="0" indent="-27940" algn="just" rtl="0">
              <a:lnSpc>
                <a:spcPct val="150000"/>
              </a:lnSpc>
              <a:spcBef>
                <a:spcPts val="0"/>
              </a:spcBef>
              <a:spcAft>
                <a:spcPts val="0"/>
              </a:spcAft>
              <a:buNone/>
            </a:pPr>
            <a:r>
              <a:rPr lang="en-US" sz="2200" b="1">
                <a:solidFill>
                  <a:srgbClr val="575757"/>
                </a:solidFill>
                <a:latin typeface="Cambria"/>
                <a:ea typeface="Cambria"/>
                <a:cs typeface="Cambria"/>
                <a:sym typeface="Cambria"/>
              </a:rPr>
              <a:t>equalsIgnoreCase()- </a:t>
            </a:r>
            <a:r>
              <a:rPr lang="en-US" sz="2200">
                <a:solidFill>
                  <a:srgbClr val="575757"/>
                </a:solidFill>
                <a:latin typeface="Cambria"/>
                <a:ea typeface="Cambria"/>
                <a:cs typeface="Cambria"/>
                <a:sym typeface="Cambria"/>
              </a:rPr>
              <a:t>Compares this String to another String, ignoring case considerations. Two strings are considered equal ignoring case if they are of the same length, and corresponding characters in the two strings are  equal ignoring  case.</a:t>
            </a:r>
            <a:endParaRPr sz="2200">
              <a:latin typeface="Cambria"/>
              <a:ea typeface="Cambria"/>
              <a:cs typeface="Cambria"/>
              <a:sym typeface="Cambria"/>
            </a:endParaRPr>
          </a:p>
        </p:txBody>
      </p:sp>
      <p:sp>
        <p:nvSpPr>
          <p:cNvPr id="288" name="Google Shape;288;p27"/>
          <p:cNvSpPr txBox="1"/>
          <p:nvPr/>
        </p:nvSpPr>
        <p:spPr>
          <a:xfrm>
            <a:off x="3771391" y="5821476"/>
            <a:ext cx="7353809" cy="350737"/>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2200">
                <a:solidFill>
                  <a:srgbClr val="575757"/>
                </a:solidFill>
                <a:latin typeface="Cambria"/>
                <a:ea typeface="Cambria"/>
                <a:cs typeface="Cambria"/>
                <a:sym typeface="Cambria"/>
              </a:rPr>
              <a:t>public boolean equals IgnoreCase(String anotherString)</a:t>
            </a:r>
            <a:endParaRPr sz="2200">
              <a:latin typeface="Cambria"/>
              <a:ea typeface="Cambria"/>
              <a:cs typeface="Cambria"/>
              <a:sym typeface="Cambri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28"/>
          <p:cNvSpPr txBox="1"/>
          <p:nvPr/>
        </p:nvSpPr>
        <p:spPr>
          <a:xfrm>
            <a:off x="332942" y="2884119"/>
            <a:ext cx="2519985" cy="1120820"/>
          </a:xfrm>
          <a:prstGeom prst="rect">
            <a:avLst/>
          </a:prstGeom>
          <a:noFill/>
          <a:ln>
            <a:noFill/>
          </a:ln>
        </p:spPr>
        <p:txBody>
          <a:bodyPr spcFirstLastPara="1" wrap="square" lIns="0" tIns="12700" rIns="0" bIns="0" anchor="t" anchorCtr="0">
            <a:spAutoFit/>
          </a:bodyPr>
          <a:lstStyle/>
          <a:p>
            <a:pPr marL="12700" marR="5080" lvl="0" indent="467359" algn="l" rtl="0">
              <a:lnSpc>
                <a:spcPct val="100000"/>
              </a:lnSpc>
              <a:spcBef>
                <a:spcPts val="0"/>
              </a:spcBef>
              <a:spcAft>
                <a:spcPts val="0"/>
              </a:spcAft>
              <a:buNone/>
            </a:pPr>
            <a:r>
              <a:rPr lang="en-US" sz="3600" b="1" dirty="0">
                <a:solidFill>
                  <a:srgbClr val="FFFFFF"/>
                </a:solidFill>
                <a:latin typeface="Cambria"/>
                <a:ea typeface="Cambria"/>
                <a:cs typeface="Cambria"/>
                <a:sym typeface="Cambria"/>
              </a:rPr>
              <a:t>String Operations</a:t>
            </a:r>
            <a:endParaRPr sz="3600" dirty="0">
              <a:latin typeface="Cambria"/>
              <a:ea typeface="Cambria"/>
              <a:cs typeface="Cambria"/>
              <a:sym typeface="Cambria"/>
            </a:endParaRPr>
          </a:p>
        </p:txBody>
      </p:sp>
      <p:sp>
        <p:nvSpPr>
          <p:cNvPr id="294" name="Google Shape;294;p28"/>
          <p:cNvSpPr txBox="1"/>
          <p:nvPr/>
        </p:nvSpPr>
        <p:spPr>
          <a:xfrm>
            <a:off x="3949065" y="479805"/>
            <a:ext cx="7663180" cy="2184572"/>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2200" b="1">
                <a:solidFill>
                  <a:srgbClr val="575757"/>
                </a:solidFill>
                <a:latin typeface="Cambria"/>
                <a:ea typeface="Cambria"/>
                <a:cs typeface="Cambria"/>
                <a:sym typeface="Cambria"/>
              </a:rPr>
              <a:t>startsWith()– </a:t>
            </a:r>
            <a:r>
              <a:rPr lang="en-US" sz="2200">
                <a:solidFill>
                  <a:srgbClr val="575757"/>
                </a:solidFill>
                <a:latin typeface="Cambria"/>
                <a:ea typeface="Cambria"/>
                <a:cs typeface="Cambria"/>
                <a:sym typeface="Cambria"/>
              </a:rPr>
              <a:t>Tests if this string starts with the specified prefix.</a:t>
            </a:r>
            <a:endParaRPr sz="2200">
              <a:latin typeface="Cambria"/>
              <a:ea typeface="Cambria"/>
              <a:cs typeface="Cambria"/>
              <a:sym typeface="Cambria"/>
            </a:endParaRPr>
          </a:p>
          <a:p>
            <a:pPr marL="12700" lvl="0" indent="0" algn="l" rtl="0">
              <a:lnSpc>
                <a:spcPct val="100000"/>
              </a:lnSpc>
              <a:spcBef>
                <a:spcPts val="95"/>
              </a:spcBef>
              <a:spcAft>
                <a:spcPts val="0"/>
              </a:spcAft>
              <a:buNone/>
            </a:pPr>
            <a:endParaRPr sz="2200">
              <a:solidFill>
                <a:srgbClr val="575757"/>
              </a:solidFill>
              <a:latin typeface="Cambria"/>
              <a:ea typeface="Cambria"/>
              <a:cs typeface="Cambria"/>
              <a:sym typeface="Cambria"/>
            </a:endParaRPr>
          </a:p>
          <a:p>
            <a:pPr marL="12700" lvl="0" indent="0" algn="l" rtl="0">
              <a:lnSpc>
                <a:spcPct val="100000"/>
              </a:lnSpc>
              <a:spcBef>
                <a:spcPts val="95"/>
              </a:spcBef>
              <a:spcAft>
                <a:spcPts val="0"/>
              </a:spcAft>
              <a:buNone/>
            </a:pPr>
            <a:r>
              <a:rPr lang="en-US" sz="2200">
                <a:solidFill>
                  <a:srgbClr val="575757"/>
                </a:solidFill>
                <a:latin typeface="Cambria"/>
                <a:ea typeface="Cambria"/>
                <a:cs typeface="Cambria"/>
                <a:sym typeface="Cambria"/>
              </a:rPr>
              <a:t>Public Boolean startsWith(Stringprefix) “Figure”.startsWith(“Fig”); //true</a:t>
            </a:r>
            <a:endParaRPr sz="2200">
              <a:latin typeface="Cambria"/>
              <a:ea typeface="Cambria"/>
              <a:cs typeface="Cambria"/>
              <a:sym typeface="Cambria"/>
            </a:endParaRPr>
          </a:p>
          <a:p>
            <a:pPr marL="0" lvl="0" indent="0" algn="l" rtl="0">
              <a:lnSpc>
                <a:spcPct val="100000"/>
              </a:lnSpc>
              <a:spcBef>
                <a:spcPts val="905"/>
              </a:spcBef>
              <a:spcAft>
                <a:spcPts val="0"/>
              </a:spcAft>
              <a:buNone/>
            </a:pPr>
            <a:endParaRPr sz="2200">
              <a:latin typeface="Cambria"/>
              <a:ea typeface="Cambria"/>
              <a:cs typeface="Cambria"/>
              <a:sym typeface="Cambria"/>
            </a:endParaRPr>
          </a:p>
          <a:p>
            <a:pPr marL="79375" lvl="0" indent="0" algn="l" rtl="0">
              <a:lnSpc>
                <a:spcPct val="100000"/>
              </a:lnSpc>
              <a:spcBef>
                <a:spcPts val="0"/>
              </a:spcBef>
              <a:spcAft>
                <a:spcPts val="0"/>
              </a:spcAft>
              <a:buNone/>
            </a:pPr>
            <a:r>
              <a:rPr lang="en-US" sz="2200" b="1">
                <a:solidFill>
                  <a:srgbClr val="575757"/>
                </a:solidFill>
                <a:latin typeface="Cambria"/>
                <a:ea typeface="Cambria"/>
                <a:cs typeface="Cambria"/>
                <a:sym typeface="Cambria"/>
              </a:rPr>
              <a:t>endsWith() - </a:t>
            </a:r>
            <a:r>
              <a:rPr lang="en-US" sz="2200">
                <a:solidFill>
                  <a:srgbClr val="575757"/>
                </a:solidFill>
                <a:latin typeface="Cambria"/>
                <a:ea typeface="Cambria"/>
                <a:cs typeface="Cambria"/>
                <a:sym typeface="Cambria"/>
              </a:rPr>
              <a:t>Testsif this string ends with the specified suffix. </a:t>
            </a:r>
            <a:endParaRPr sz="2200">
              <a:latin typeface="Cambria"/>
              <a:ea typeface="Cambria"/>
              <a:cs typeface="Cambria"/>
              <a:sym typeface="Cambria"/>
            </a:endParaRPr>
          </a:p>
        </p:txBody>
      </p:sp>
      <p:sp>
        <p:nvSpPr>
          <p:cNvPr id="295" name="Google Shape;295;p28"/>
          <p:cNvSpPr txBox="1"/>
          <p:nvPr/>
        </p:nvSpPr>
        <p:spPr>
          <a:xfrm>
            <a:off x="5418137" y="3074987"/>
            <a:ext cx="4725035" cy="708025"/>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2200">
                <a:solidFill>
                  <a:srgbClr val="575757"/>
                </a:solidFill>
                <a:latin typeface="Cambria"/>
                <a:ea typeface="Cambria"/>
                <a:cs typeface="Cambria"/>
                <a:sym typeface="Cambria"/>
              </a:rPr>
              <a:t>public boolean endsWith(String suffix)</a:t>
            </a:r>
            <a:endParaRPr sz="2200">
              <a:latin typeface="Cambria"/>
              <a:ea typeface="Cambria"/>
              <a:cs typeface="Cambria"/>
              <a:sym typeface="Cambria"/>
            </a:endParaRPr>
          </a:p>
          <a:p>
            <a:pPr marL="12700" lvl="0" indent="0" algn="l" rtl="0">
              <a:lnSpc>
                <a:spcPct val="100000"/>
              </a:lnSpc>
              <a:spcBef>
                <a:spcPts val="95"/>
              </a:spcBef>
              <a:spcAft>
                <a:spcPts val="0"/>
              </a:spcAft>
              <a:buNone/>
            </a:pPr>
            <a:r>
              <a:rPr lang="en-US" sz="2200">
                <a:solidFill>
                  <a:srgbClr val="575757"/>
                </a:solidFill>
                <a:latin typeface="Cambria"/>
                <a:ea typeface="Cambria"/>
                <a:cs typeface="Cambria"/>
                <a:sym typeface="Cambria"/>
              </a:rPr>
              <a:t>“Figure”.endsWith(“re”); //true</a:t>
            </a:r>
            <a:endParaRPr sz="2200">
              <a:latin typeface="Cambria"/>
              <a:ea typeface="Cambria"/>
              <a:cs typeface="Cambria"/>
              <a:sym typeface="Cambria"/>
            </a:endParaRPr>
          </a:p>
        </p:txBody>
      </p:sp>
      <p:sp>
        <p:nvSpPr>
          <p:cNvPr id="296" name="Google Shape;296;p28"/>
          <p:cNvSpPr txBox="1"/>
          <p:nvPr/>
        </p:nvSpPr>
        <p:spPr>
          <a:xfrm>
            <a:off x="5715000" y="4025036"/>
            <a:ext cx="4013835" cy="1882139"/>
          </a:xfrm>
          <a:prstGeom prst="rect">
            <a:avLst/>
          </a:prstGeom>
          <a:noFill/>
          <a:ln>
            <a:noFill/>
          </a:ln>
        </p:spPr>
        <p:txBody>
          <a:bodyPr spcFirstLastPara="1" wrap="square" lIns="0" tIns="102225" rIns="0" bIns="0" anchor="t" anchorCtr="0">
            <a:spAutoFit/>
          </a:bodyPr>
          <a:lstStyle/>
          <a:p>
            <a:pPr marL="12700" lvl="0" indent="0" algn="just" rtl="0">
              <a:lnSpc>
                <a:spcPct val="100000"/>
              </a:lnSpc>
              <a:spcBef>
                <a:spcPts val="0"/>
              </a:spcBef>
              <a:spcAft>
                <a:spcPts val="0"/>
              </a:spcAft>
              <a:buNone/>
            </a:pPr>
            <a:r>
              <a:rPr lang="en-US" sz="2200">
                <a:solidFill>
                  <a:srgbClr val="575757"/>
                </a:solidFill>
                <a:latin typeface="Cambria"/>
                <a:ea typeface="Cambria"/>
                <a:cs typeface="Cambria"/>
                <a:sym typeface="Cambria"/>
              </a:rPr>
              <a:t>String str1= “JAVA”;</a:t>
            </a:r>
            <a:endParaRPr sz="2200">
              <a:latin typeface="Cambria"/>
              <a:ea typeface="Cambria"/>
              <a:cs typeface="Cambria"/>
              <a:sym typeface="Cambria"/>
            </a:endParaRPr>
          </a:p>
          <a:p>
            <a:pPr marL="12700" lvl="0" indent="0" algn="just" rtl="0">
              <a:lnSpc>
                <a:spcPct val="100000"/>
              </a:lnSpc>
              <a:spcBef>
                <a:spcPts val="710"/>
              </a:spcBef>
              <a:spcAft>
                <a:spcPts val="0"/>
              </a:spcAft>
              <a:buNone/>
            </a:pPr>
            <a:r>
              <a:rPr lang="en-US" sz="2200">
                <a:solidFill>
                  <a:srgbClr val="575757"/>
                </a:solidFill>
                <a:latin typeface="Cambria"/>
                <a:ea typeface="Cambria"/>
                <a:cs typeface="Cambria"/>
                <a:sym typeface="Cambria"/>
              </a:rPr>
              <a:t>String str2= “JAVA PROGRAMMING”;</a:t>
            </a:r>
            <a:endParaRPr sz="2200">
              <a:latin typeface="Cambria"/>
              <a:ea typeface="Cambria"/>
              <a:cs typeface="Cambria"/>
              <a:sym typeface="Cambria"/>
            </a:endParaRPr>
          </a:p>
          <a:p>
            <a:pPr marL="12700" marR="1562100" lvl="0" indent="0" algn="just" rtl="0">
              <a:lnSpc>
                <a:spcPct val="100000"/>
              </a:lnSpc>
              <a:spcBef>
                <a:spcPts val="0"/>
              </a:spcBef>
              <a:spcAft>
                <a:spcPts val="0"/>
              </a:spcAft>
              <a:buNone/>
            </a:pPr>
            <a:r>
              <a:rPr lang="en-US" sz="2200">
                <a:solidFill>
                  <a:srgbClr val="575757"/>
                </a:solidFill>
                <a:latin typeface="Cambria"/>
                <a:ea typeface="Cambria"/>
                <a:cs typeface="Cambria"/>
                <a:sym typeface="Cambria"/>
              </a:rPr>
              <a:t>String str3=“MING”; str2.startWith(str1); str2.endsWith(str3);</a:t>
            </a:r>
            <a:endParaRPr sz="2200">
              <a:latin typeface="Cambria"/>
              <a:ea typeface="Cambria"/>
              <a:cs typeface="Cambria"/>
              <a:sym typeface="Cambri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29"/>
          <p:cNvSpPr/>
          <p:nvPr/>
        </p:nvSpPr>
        <p:spPr>
          <a:xfrm>
            <a:off x="11817095" y="758951"/>
            <a:ext cx="374650" cy="5330825"/>
          </a:xfrm>
          <a:custGeom>
            <a:avLst/>
            <a:gdLst/>
            <a:ahLst/>
            <a:cxnLst/>
            <a:rect l="l" t="t" r="r" b="b"/>
            <a:pathLst>
              <a:path w="374650" h="5330825" extrusionOk="0">
                <a:moveTo>
                  <a:pt x="374523" y="0"/>
                </a:moveTo>
                <a:lnTo>
                  <a:pt x="0" y="0"/>
                </a:lnTo>
                <a:lnTo>
                  <a:pt x="0" y="5330444"/>
                </a:lnTo>
                <a:lnTo>
                  <a:pt x="374523" y="5330444"/>
                </a:lnTo>
                <a:lnTo>
                  <a:pt x="374523" y="0"/>
                </a:lnTo>
                <a:close/>
              </a:path>
            </a:pathLst>
          </a:custGeom>
          <a:solidFill>
            <a:srgbClr val="C6C6C6">
              <a:alpha val="49411"/>
            </a:srgbClr>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02" name="Google Shape;302;p29"/>
          <p:cNvSpPr txBox="1"/>
          <p:nvPr/>
        </p:nvSpPr>
        <p:spPr>
          <a:xfrm>
            <a:off x="332942" y="2830779"/>
            <a:ext cx="2492553" cy="1270979"/>
          </a:xfrm>
          <a:prstGeom prst="rect">
            <a:avLst/>
          </a:prstGeom>
          <a:noFill/>
          <a:ln>
            <a:noFill/>
          </a:ln>
        </p:spPr>
        <p:txBody>
          <a:bodyPr spcFirstLastPara="1" wrap="square" lIns="0" tIns="73650" rIns="0" bIns="0" anchor="t" anchorCtr="0">
            <a:spAutoFit/>
          </a:bodyPr>
          <a:lstStyle/>
          <a:p>
            <a:pPr marL="12700" marR="5080" lvl="0" indent="467359" algn="l" rtl="0">
              <a:lnSpc>
                <a:spcPct val="108333"/>
              </a:lnSpc>
              <a:spcBef>
                <a:spcPts val="0"/>
              </a:spcBef>
              <a:spcAft>
                <a:spcPts val="0"/>
              </a:spcAft>
              <a:buNone/>
            </a:pPr>
            <a:r>
              <a:rPr lang="en-US" sz="3600" b="1" dirty="0">
                <a:solidFill>
                  <a:srgbClr val="FFFFFF"/>
                </a:solidFill>
                <a:latin typeface="Cambria"/>
                <a:ea typeface="Cambria"/>
                <a:cs typeface="Cambria"/>
                <a:sym typeface="Cambria"/>
              </a:rPr>
              <a:t>String Operations</a:t>
            </a:r>
            <a:endParaRPr sz="3600" dirty="0">
              <a:latin typeface="Cambria"/>
              <a:ea typeface="Cambria"/>
              <a:cs typeface="Cambria"/>
              <a:sym typeface="Cambria"/>
            </a:endParaRPr>
          </a:p>
        </p:txBody>
      </p:sp>
      <p:sp>
        <p:nvSpPr>
          <p:cNvPr id="303" name="Google Shape;303;p29"/>
          <p:cNvSpPr txBox="1">
            <a:spLocks noGrp="1"/>
          </p:cNvSpPr>
          <p:nvPr>
            <p:ph type="title"/>
          </p:nvPr>
        </p:nvSpPr>
        <p:spPr>
          <a:xfrm>
            <a:off x="3949064" y="1741754"/>
            <a:ext cx="7785735" cy="689291"/>
          </a:xfrm>
          <a:prstGeom prst="rect">
            <a:avLst/>
          </a:prstGeom>
          <a:noFill/>
          <a:ln>
            <a:noFill/>
          </a:ln>
        </p:spPr>
        <p:txBody>
          <a:bodyPr spcFirstLastPara="1" wrap="square" lIns="0" tIns="12050" rIns="0" bIns="0" anchor="t" anchorCtr="0">
            <a:spAutoFit/>
          </a:bodyPr>
          <a:lstStyle/>
          <a:p>
            <a:pPr marL="79375" lvl="0" indent="0" algn="just" rtl="0">
              <a:lnSpc>
                <a:spcPct val="100000"/>
              </a:lnSpc>
              <a:spcBef>
                <a:spcPts val="0"/>
              </a:spcBef>
              <a:spcAft>
                <a:spcPts val="0"/>
              </a:spcAft>
              <a:buNone/>
            </a:pPr>
            <a:r>
              <a:rPr lang="en-US" sz="2200">
                <a:solidFill>
                  <a:srgbClr val="575757"/>
                </a:solidFill>
                <a:latin typeface="Cambria"/>
                <a:ea typeface="Cambria"/>
                <a:cs typeface="Cambria"/>
                <a:sym typeface="Cambria"/>
              </a:rPr>
              <a:t>startsWith() </a:t>
            </a:r>
            <a:r>
              <a:rPr lang="en-US" sz="2200" b="0">
                <a:solidFill>
                  <a:srgbClr val="575757"/>
                </a:solidFill>
                <a:latin typeface="Cambria"/>
                <a:ea typeface="Cambria"/>
                <a:cs typeface="Cambria"/>
                <a:sym typeface="Cambria"/>
              </a:rPr>
              <a:t>–Tests if this string starts with the specified Prefix beginning at as pecified index.</a:t>
            </a:r>
            <a:endParaRPr sz="2200">
              <a:latin typeface="Cambria"/>
              <a:ea typeface="Cambria"/>
              <a:cs typeface="Cambria"/>
              <a:sym typeface="Cambria"/>
            </a:endParaRPr>
          </a:p>
        </p:txBody>
      </p:sp>
      <p:sp>
        <p:nvSpPr>
          <p:cNvPr id="304" name="Google Shape;304;p29"/>
          <p:cNvSpPr txBox="1"/>
          <p:nvPr/>
        </p:nvSpPr>
        <p:spPr>
          <a:xfrm>
            <a:off x="4114927" y="2663518"/>
            <a:ext cx="7619872" cy="1258677"/>
          </a:xfrm>
          <a:prstGeom prst="rect">
            <a:avLst/>
          </a:prstGeom>
          <a:noFill/>
          <a:ln>
            <a:noFill/>
          </a:ln>
        </p:spPr>
        <p:txBody>
          <a:bodyPr spcFirstLastPara="1" wrap="square" lIns="0" tIns="126350" rIns="0" bIns="0" anchor="t" anchorCtr="0">
            <a:spAutoFit/>
          </a:bodyPr>
          <a:lstStyle/>
          <a:p>
            <a:pPr marL="12700" lvl="0" indent="0" algn="l" rtl="0">
              <a:lnSpc>
                <a:spcPct val="100000"/>
              </a:lnSpc>
              <a:spcBef>
                <a:spcPts val="0"/>
              </a:spcBef>
              <a:spcAft>
                <a:spcPts val="0"/>
              </a:spcAft>
              <a:buNone/>
            </a:pPr>
            <a:r>
              <a:rPr lang="en-US" sz="2200">
                <a:solidFill>
                  <a:srgbClr val="575757"/>
                </a:solidFill>
                <a:latin typeface="Cambria"/>
                <a:ea typeface="Cambria"/>
                <a:cs typeface="Cambria"/>
                <a:sym typeface="Cambria"/>
              </a:rPr>
              <a:t>Public boolean </a:t>
            </a:r>
            <a:r>
              <a:rPr lang="en-US" sz="2200" b="1">
                <a:solidFill>
                  <a:srgbClr val="575757"/>
                </a:solidFill>
                <a:latin typeface="Cambria"/>
                <a:ea typeface="Cambria"/>
                <a:cs typeface="Cambria"/>
                <a:sym typeface="Cambria"/>
              </a:rPr>
              <a:t>startsWith</a:t>
            </a:r>
            <a:r>
              <a:rPr lang="en-US" sz="2200">
                <a:solidFill>
                  <a:srgbClr val="575757"/>
                </a:solidFill>
                <a:latin typeface="Cambria"/>
                <a:ea typeface="Cambria"/>
                <a:cs typeface="Cambria"/>
                <a:sym typeface="Cambria"/>
              </a:rPr>
              <a:t>(Stringprefix, int toffset)</a:t>
            </a:r>
            <a:endParaRPr sz="2200">
              <a:latin typeface="Cambria"/>
              <a:ea typeface="Cambria"/>
              <a:cs typeface="Cambria"/>
              <a:sym typeface="Cambria"/>
            </a:endParaRPr>
          </a:p>
          <a:p>
            <a:pPr marL="744220" lvl="0" indent="0" algn="l" rtl="0">
              <a:lnSpc>
                <a:spcPct val="100000"/>
              </a:lnSpc>
              <a:spcBef>
                <a:spcPts val="900"/>
              </a:spcBef>
              <a:spcAft>
                <a:spcPts val="0"/>
              </a:spcAft>
              <a:buNone/>
            </a:pPr>
            <a:r>
              <a:rPr lang="en-US" sz="2200">
                <a:solidFill>
                  <a:srgbClr val="575757"/>
                </a:solidFill>
                <a:latin typeface="Cambria"/>
                <a:ea typeface="Cambria"/>
                <a:cs typeface="Cambria"/>
                <a:sym typeface="Cambria"/>
              </a:rPr>
              <a:t>prefix- the prefix.</a:t>
            </a:r>
            <a:endParaRPr sz="2200">
              <a:latin typeface="Cambria"/>
              <a:ea typeface="Cambria"/>
              <a:cs typeface="Cambria"/>
              <a:sym typeface="Cambria"/>
            </a:endParaRPr>
          </a:p>
          <a:p>
            <a:pPr marL="744220" lvl="0" indent="0" algn="l" rtl="0">
              <a:lnSpc>
                <a:spcPct val="100000"/>
              </a:lnSpc>
              <a:spcBef>
                <a:spcPts val="5"/>
              </a:spcBef>
              <a:spcAft>
                <a:spcPts val="0"/>
              </a:spcAft>
              <a:buNone/>
            </a:pPr>
            <a:r>
              <a:rPr lang="en-US" sz="2200">
                <a:solidFill>
                  <a:srgbClr val="575757"/>
                </a:solidFill>
                <a:latin typeface="Cambria"/>
                <a:ea typeface="Cambria"/>
                <a:cs typeface="Cambria"/>
                <a:sym typeface="Cambria"/>
              </a:rPr>
              <a:t>toffset - whereto begin looking  in the string.</a:t>
            </a:r>
            <a:endParaRPr sz="2200">
              <a:latin typeface="Cambria"/>
              <a:ea typeface="Cambria"/>
              <a:cs typeface="Cambria"/>
              <a:sym typeface="Cambria"/>
            </a:endParaRPr>
          </a:p>
        </p:txBody>
      </p:sp>
      <p:sp>
        <p:nvSpPr>
          <p:cNvPr id="305" name="Google Shape;305;p29"/>
          <p:cNvSpPr txBox="1"/>
          <p:nvPr/>
        </p:nvSpPr>
        <p:spPr>
          <a:xfrm>
            <a:off x="4131945" y="4239895"/>
            <a:ext cx="4243705" cy="36068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2200">
                <a:latin typeface="Cambria"/>
                <a:ea typeface="Cambria"/>
                <a:cs typeface="Cambria"/>
                <a:sym typeface="Cambria"/>
              </a:rPr>
              <a:t>“figure”.startsWith(“gure”, 2); // true</a:t>
            </a:r>
            <a:endParaRPr sz="2200">
              <a:latin typeface="Cambria"/>
              <a:ea typeface="Cambria"/>
              <a:cs typeface="Cambria"/>
              <a:sym typeface="Cambria"/>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30"/>
          <p:cNvSpPr txBox="1"/>
          <p:nvPr/>
        </p:nvSpPr>
        <p:spPr>
          <a:xfrm>
            <a:off x="332942" y="2830779"/>
            <a:ext cx="2465121" cy="1270979"/>
          </a:xfrm>
          <a:prstGeom prst="rect">
            <a:avLst/>
          </a:prstGeom>
          <a:noFill/>
          <a:ln>
            <a:noFill/>
          </a:ln>
        </p:spPr>
        <p:txBody>
          <a:bodyPr spcFirstLastPara="1" wrap="square" lIns="0" tIns="73650" rIns="0" bIns="0" anchor="t" anchorCtr="0">
            <a:spAutoFit/>
          </a:bodyPr>
          <a:lstStyle/>
          <a:p>
            <a:pPr marL="12700" marR="5080" lvl="0" indent="467359" algn="l" rtl="0">
              <a:lnSpc>
                <a:spcPct val="108333"/>
              </a:lnSpc>
              <a:spcBef>
                <a:spcPts val="0"/>
              </a:spcBef>
              <a:spcAft>
                <a:spcPts val="0"/>
              </a:spcAft>
              <a:buNone/>
            </a:pPr>
            <a:r>
              <a:rPr lang="en-US" sz="3600" b="1">
                <a:solidFill>
                  <a:srgbClr val="FFFFFF"/>
                </a:solidFill>
                <a:latin typeface="Cambria"/>
                <a:ea typeface="Cambria"/>
                <a:cs typeface="Cambria"/>
                <a:sym typeface="Cambria"/>
              </a:rPr>
              <a:t>String Operations</a:t>
            </a:r>
            <a:endParaRPr sz="3600">
              <a:latin typeface="Cambria"/>
              <a:ea typeface="Cambria"/>
              <a:cs typeface="Cambria"/>
              <a:sym typeface="Cambria"/>
            </a:endParaRPr>
          </a:p>
        </p:txBody>
      </p:sp>
      <p:sp>
        <p:nvSpPr>
          <p:cNvPr id="311" name="Google Shape;311;p30"/>
          <p:cNvSpPr txBox="1"/>
          <p:nvPr/>
        </p:nvSpPr>
        <p:spPr>
          <a:xfrm>
            <a:off x="3733926" y="326923"/>
            <a:ext cx="8000873" cy="1970411"/>
          </a:xfrm>
          <a:prstGeom prst="rect">
            <a:avLst/>
          </a:prstGeom>
          <a:noFill/>
          <a:ln>
            <a:noFill/>
          </a:ln>
        </p:spPr>
        <p:txBody>
          <a:bodyPr spcFirstLastPara="1" wrap="square" lIns="0" tIns="135250" rIns="0" bIns="0" anchor="t" anchorCtr="0">
            <a:spAutoFit/>
          </a:bodyPr>
          <a:lstStyle/>
          <a:p>
            <a:pPr marL="12700" lvl="0" indent="0" algn="just" rtl="0">
              <a:lnSpc>
                <a:spcPct val="100000"/>
              </a:lnSpc>
              <a:spcBef>
                <a:spcPts val="0"/>
              </a:spcBef>
              <a:spcAft>
                <a:spcPts val="0"/>
              </a:spcAft>
              <a:buNone/>
            </a:pPr>
            <a:r>
              <a:rPr lang="en-US" sz="2200" b="1">
                <a:solidFill>
                  <a:srgbClr val="575757"/>
                </a:solidFill>
                <a:latin typeface="Cambria"/>
                <a:ea typeface="Cambria"/>
                <a:cs typeface="Cambria"/>
                <a:sym typeface="Cambria"/>
              </a:rPr>
              <a:t>compareTo() </a:t>
            </a:r>
            <a:r>
              <a:rPr lang="en-US" sz="2200">
                <a:solidFill>
                  <a:srgbClr val="575757"/>
                </a:solidFill>
                <a:latin typeface="Cambria"/>
                <a:ea typeface="Cambria"/>
                <a:cs typeface="Cambria"/>
                <a:sym typeface="Cambria"/>
              </a:rPr>
              <a:t>- Compares two strings lexico graphically.</a:t>
            </a:r>
            <a:r>
              <a:rPr lang="en-US" sz="2200">
                <a:latin typeface="Cambria"/>
                <a:ea typeface="Cambria"/>
                <a:cs typeface="Cambria"/>
                <a:sym typeface="Cambria"/>
              </a:rPr>
              <a:t> </a:t>
            </a:r>
            <a:r>
              <a:rPr lang="en-US" sz="2200">
                <a:solidFill>
                  <a:srgbClr val="575757"/>
                </a:solidFill>
                <a:latin typeface="Cambria"/>
                <a:ea typeface="Cambria"/>
                <a:cs typeface="Cambria"/>
                <a:sym typeface="Cambria"/>
              </a:rPr>
              <a:t>The result is a negative integer if this String object lexico graphically precedes the argument string.</a:t>
            </a:r>
            <a:endParaRPr sz="2200">
              <a:latin typeface="Cambria"/>
              <a:ea typeface="Cambria"/>
              <a:cs typeface="Cambria"/>
              <a:sym typeface="Cambria"/>
            </a:endParaRPr>
          </a:p>
          <a:p>
            <a:pPr marL="12700" lvl="0" indent="0" algn="just" rtl="0">
              <a:lnSpc>
                <a:spcPct val="100000"/>
              </a:lnSpc>
              <a:spcBef>
                <a:spcPts val="1065"/>
              </a:spcBef>
              <a:spcAft>
                <a:spcPts val="0"/>
              </a:spcAft>
              <a:buNone/>
            </a:pPr>
            <a:r>
              <a:rPr lang="en-US" sz="2200">
                <a:solidFill>
                  <a:srgbClr val="575757"/>
                </a:solidFill>
                <a:latin typeface="Cambria"/>
                <a:ea typeface="Cambria"/>
                <a:cs typeface="Cambria"/>
                <a:sym typeface="Cambria"/>
              </a:rPr>
              <a:t>The result is a positive integer if this String object lexico graphically follows the argument string.</a:t>
            </a:r>
            <a:endParaRPr sz="2200">
              <a:latin typeface="Cambria"/>
              <a:ea typeface="Cambria"/>
              <a:cs typeface="Cambria"/>
              <a:sym typeface="Cambria"/>
            </a:endParaRPr>
          </a:p>
        </p:txBody>
      </p:sp>
      <p:sp>
        <p:nvSpPr>
          <p:cNvPr id="312" name="Google Shape;312;p30"/>
          <p:cNvSpPr txBox="1"/>
          <p:nvPr/>
        </p:nvSpPr>
        <p:spPr>
          <a:xfrm>
            <a:off x="4031107" y="2920364"/>
            <a:ext cx="5417693" cy="350737"/>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2200">
                <a:solidFill>
                  <a:srgbClr val="575757"/>
                </a:solidFill>
                <a:latin typeface="Cambria"/>
                <a:ea typeface="Cambria"/>
                <a:cs typeface="Cambria"/>
                <a:sym typeface="Cambria"/>
              </a:rPr>
              <a:t>The result is zero if the strings are equal.</a:t>
            </a:r>
            <a:endParaRPr sz="2200">
              <a:latin typeface="Cambria"/>
              <a:ea typeface="Cambria"/>
              <a:cs typeface="Cambria"/>
              <a:sym typeface="Cambria"/>
            </a:endParaRPr>
          </a:p>
        </p:txBody>
      </p:sp>
      <p:sp>
        <p:nvSpPr>
          <p:cNvPr id="313" name="Google Shape;313;p30"/>
          <p:cNvSpPr txBox="1"/>
          <p:nvPr/>
        </p:nvSpPr>
        <p:spPr>
          <a:xfrm>
            <a:off x="3721734" y="3590620"/>
            <a:ext cx="8000873" cy="689291"/>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2200">
                <a:solidFill>
                  <a:srgbClr val="575757"/>
                </a:solidFill>
                <a:latin typeface="Cambria"/>
                <a:ea typeface="Cambria"/>
                <a:cs typeface="Cambria"/>
                <a:sym typeface="Cambria"/>
              </a:rPr>
              <a:t>compareTo  returns 0 exactly when the equals(Object) method would</a:t>
            </a:r>
            <a:endParaRPr sz="2200">
              <a:latin typeface="Cambria"/>
              <a:ea typeface="Cambria"/>
              <a:cs typeface="Cambria"/>
              <a:sym typeface="Cambria"/>
            </a:endParaRPr>
          </a:p>
          <a:p>
            <a:pPr marL="12700" lvl="0" indent="0" algn="l" rtl="0">
              <a:lnSpc>
                <a:spcPct val="100000"/>
              </a:lnSpc>
              <a:spcBef>
                <a:spcPts val="5"/>
              </a:spcBef>
              <a:spcAft>
                <a:spcPts val="0"/>
              </a:spcAft>
              <a:buNone/>
            </a:pPr>
            <a:r>
              <a:rPr lang="en-US" sz="2200">
                <a:solidFill>
                  <a:srgbClr val="575757"/>
                </a:solidFill>
                <a:latin typeface="Cambria"/>
                <a:ea typeface="Cambria"/>
                <a:cs typeface="Cambria"/>
                <a:sym typeface="Cambria"/>
              </a:rPr>
              <a:t>Return true.</a:t>
            </a:r>
            <a:endParaRPr sz="2200">
              <a:latin typeface="Cambria"/>
              <a:ea typeface="Cambria"/>
              <a:cs typeface="Cambria"/>
              <a:sym typeface="Cambria"/>
            </a:endParaRPr>
          </a:p>
        </p:txBody>
      </p:sp>
      <p:sp>
        <p:nvSpPr>
          <p:cNvPr id="314" name="Google Shape;314;p30"/>
          <p:cNvSpPr txBox="1"/>
          <p:nvPr/>
        </p:nvSpPr>
        <p:spPr>
          <a:xfrm>
            <a:off x="3721734" y="4597146"/>
            <a:ext cx="5879466" cy="689291"/>
          </a:xfrm>
          <a:prstGeom prst="rect">
            <a:avLst/>
          </a:prstGeom>
          <a:noFill/>
          <a:ln>
            <a:noFill/>
          </a:ln>
        </p:spPr>
        <p:txBody>
          <a:bodyPr spcFirstLastPara="1" wrap="square" lIns="0" tIns="12050" rIns="0" bIns="0" anchor="t" anchorCtr="0">
            <a:spAutoFit/>
          </a:bodyPr>
          <a:lstStyle/>
          <a:p>
            <a:pPr marL="12700" marR="5080" lvl="0" indent="0" algn="l" rtl="0">
              <a:lnSpc>
                <a:spcPct val="100000"/>
              </a:lnSpc>
              <a:spcBef>
                <a:spcPts val="0"/>
              </a:spcBef>
              <a:spcAft>
                <a:spcPts val="0"/>
              </a:spcAft>
              <a:buNone/>
            </a:pPr>
            <a:r>
              <a:rPr lang="en-US" sz="2200">
                <a:solidFill>
                  <a:srgbClr val="575757"/>
                </a:solidFill>
                <a:latin typeface="Cambria"/>
                <a:ea typeface="Cambria"/>
                <a:cs typeface="Cambria"/>
                <a:sym typeface="Cambria"/>
              </a:rPr>
              <a:t>public int </a:t>
            </a:r>
            <a:r>
              <a:rPr lang="en-US" sz="2200" b="1">
                <a:solidFill>
                  <a:srgbClr val="575757"/>
                </a:solidFill>
                <a:latin typeface="Cambria"/>
                <a:ea typeface="Cambria"/>
                <a:cs typeface="Cambria"/>
                <a:sym typeface="Cambria"/>
              </a:rPr>
              <a:t>compareTo</a:t>
            </a:r>
            <a:r>
              <a:rPr lang="en-US" sz="2200">
                <a:solidFill>
                  <a:srgbClr val="575757"/>
                </a:solidFill>
                <a:latin typeface="Cambria"/>
                <a:ea typeface="Cambria"/>
                <a:cs typeface="Cambria"/>
                <a:sym typeface="Cambria"/>
              </a:rPr>
              <a:t>(String anotherString) public int </a:t>
            </a:r>
            <a:r>
              <a:rPr lang="en-US" sz="2200" b="1">
                <a:solidFill>
                  <a:srgbClr val="575757"/>
                </a:solidFill>
                <a:latin typeface="Cambria"/>
                <a:ea typeface="Cambria"/>
                <a:cs typeface="Cambria"/>
                <a:sym typeface="Cambria"/>
              </a:rPr>
              <a:t>compareToIgnoreCase</a:t>
            </a:r>
            <a:r>
              <a:rPr lang="en-US" sz="2200">
                <a:solidFill>
                  <a:srgbClr val="575757"/>
                </a:solidFill>
                <a:latin typeface="Cambria"/>
                <a:ea typeface="Cambria"/>
                <a:cs typeface="Cambria"/>
                <a:sym typeface="Cambria"/>
              </a:rPr>
              <a:t>(Stringstr)</a:t>
            </a:r>
            <a:endParaRPr sz="2200">
              <a:latin typeface="Cambria"/>
              <a:ea typeface="Cambria"/>
              <a:cs typeface="Cambria"/>
              <a:sym typeface="Cambria"/>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31"/>
          <p:cNvSpPr/>
          <p:nvPr/>
        </p:nvSpPr>
        <p:spPr>
          <a:xfrm>
            <a:off x="11817095" y="758951"/>
            <a:ext cx="374650" cy="5330825"/>
          </a:xfrm>
          <a:custGeom>
            <a:avLst/>
            <a:gdLst/>
            <a:ahLst/>
            <a:cxnLst/>
            <a:rect l="l" t="t" r="r" b="b"/>
            <a:pathLst>
              <a:path w="374650" h="5330825" extrusionOk="0">
                <a:moveTo>
                  <a:pt x="374523" y="0"/>
                </a:moveTo>
                <a:lnTo>
                  <a:pt x="0" y="0"/>
                </a:lnTo>
                <a:lnTo>
                  <a:pt x="0" y="5330444"/>
                </a:lnTo>
                <a:lnTo>
                  <a:pt x="374523" y="5330444"/>
                </a:lnTo>
                <a:lnTo>
                  <a:pt x="374523" y="0"/>
                </a:lnTo>
                <a:close/>
              </a:path>
            </a:pathLst>
          </a:custGeom>
          <a:solidFill>
            <a:srgbClr val="C6C6C6">
              <a:alpha val="49411"/>
            </a:srgbClr>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20" name="Google Shape;320;p31"/>
          <p:cNvSpPr txBox="1"/>
          <p:nvPr/>
        </p:nvSpPr>
        <p:spPr>
          <a:xfrm>
            <a:off x="331419" y="2829255"/>
            <a:ext cx="2448358" cy="1270979"/>
          </a:xfrm>
          <a:prstGeom prst="rect">
            <a:avLst/>
          </a:prstGeom>
          <a:noFill/>
          <a:ln>
            <a:noFill/>
          </a:ln>
        </p:spPr>
        <p:txBody>
          <a:bodyPr spcFirstLastPara="1" wrap="square" lIns="0" tIns="73650" rIns="0" bIns="0" anchor="t" anchorCtr="0">
            <a:spAutoFit/>
          </a:bodyPr>
          <a:lstStyle/>
          <a:p>
            <a:pPr marL="12700" marR="5080" lvl="0" indent="0" algn="l" rtl="0">
              <a:lnSpc>
                <a:spcPct val="108333"/>
              </a:lnSpc>
              <a:spcBef>
                <a:spcPts val="0"/>
              </a:spcBef>
              <a:spcAft>
                <a:spcPts val="0"/>
              </a:spcAft>
              <a:buNone/>
            </a:pPr>
            <a:r>
              <a:rPr lang="en-US" sz="3600" b="1" dirty="0" smtClean="0">
                <a:solidFill>
                  <a:srgbClr val="FFFFFF"/>
                </a:solidFill>
                <a:latin typeface="Trebuchet MS"/>
                <a:ea typeface="Trebuchet MS"/>
                <a:cs typeface="Trebuchet MS"/>
                <a:sym typeface="Trebuchet MS"/>
              </a:rPr>
              <a:t>    String </a:t>
            </a:r>
            <a:r>
              <a:rPr lang="en-US" sz="3600" b="1" dirty="0">
                <a:solidFill>
                  <a:srgbClr val="FFFFFF"/>
                </a:solidFill>
                <a:latin typeface="Trebuchet MS"/>
                <a:ea typeface="Trebuchet MS"/>
                <a:cs typeface="Trebuchet MS"/>
                <a:sym typeface="Trebuchet MS"/>
              </a:rPr>
              <a:t>Operations</a:t>
            </a:r>
            <a:endParaRPr sz="3600" dirty="0">
              <a:latin typeface="Trebuchet MS"/>
              <a:ea typeface="Trebuchet MS"/>
              <a:cs typeface="Trebuchet MS"/>
              <a:sym typeface="Trebuchet MS"/>
            </a:endParaRPr>
          </a:p>
        </p:txBody>
      </p:sp>
      <p:sp>
        <p:nvSpPr>
          <p:cNvPr id="321" name="Google Shape;321;p31"/>
          <p:cNvSpPr txBox="1"/>
          <p:nvPr/>
        </p:nvSpPr>
        <p:spPr>
          <a:xfrm>
            <a:off x="3784473" y="1083310"/>
            <a:ext cx="7721727" cy="689291"/>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2200" b="1">
                <a:solidFill>
                  <a:srgbClr val="575757"/>
                </a:solidFill>
                <a:latin typeface="Cambria"/>
                <a:ea typeface="Cambria"/>
                <a:cs typeface="Cambria"/>
                <a:sym typeface="Cambria"/>
              </a:rPr>
              <a:t>indexOf– </a:t>
            </a:r>
            <a:r>
              <a:rPr lang="en-US" sz="2200">
                <a:solidFill>
                  <a:srgbClr val="575757"/>
                </a:solidFill>
                <a:latin typeface="Cambria"/>
                <a:ea typeface="Cambria"/>
                <a:cs typeface="Cambria"/>
                <a:sym typeface="Cambria"/>
              </a:rPr>
              <a:t>Searches for the first occurrence of a character or </a:t>
            </a:r>
            <a:r>
              <a:rPr lang="en-US" sz="2200" b="0">
                <a:solidFill>
                  <a:srgbClr val="575757"/>
                </a:solidFill>
                <a:latin typeface="Cambria"/>
                <a:ea typeface="Cambria"/>
                <a:cs typeface="Cambria"/>
                <a:sym typeface="Cambria"/>
              </a:rPr>
              <a:t>substring.  Returns-1if the character does not occur.</a:t>
            </a:r>
            <a:endParaRPr sz="2200">
              <a:latin typeface="Cambria"/>
              <a:ea typeface="Cambria"/>
              <a:cs typeface="Cambria"/>
              <a:sym typeface="Cambria"/>
            </a:endParaRPr>
          </a:p>
        </p:txBody>
      </p:sp>
      <p:sp>
        <p:nvSpPr>
          <p:cNvPr id="322" name="Google Shape;322;p31"/>
          <p:cNvSpPr txBox="1"/>
          <p:nvPr/>
        </p:nvSpPr>
        <p:spPr>
          <a:xfrm>
            <a:off x="3936872" y="2294000"/>
            <a:ext cx="7721728" cy="689610"/>
          </a:xfrm>
          <a:prstGeom prst="rect">
            <a:avLst/>
          </a:prstGeom>
          <a:noFill/>
          <a:ln>
            <a:noFill/>
          </a:ln>
        </p:spPr>
        <p:txBody>
          <a:bodyPr spcFirstLastPara="1" wrap="square" lIns="0" tIns="27925" rIns="0" bIns="0" anchor="t" anchorCtr="0">
            <a:spAutoFit/>
          </a:bodyPr>
          <a:lstStyle/>
          <a:p>
            <a:pPr marL="12700" marR="5080" lvl="0" indent="0" algn="l" rtl="0">
              <a:lnSpc>
                <a:spcPct val="117727"/>
              </a:lnSpc>
              <a:spcBef>
                <a:spcPts val="0"/>
              </a:spcBef>
              <a:spcAft>
                <a:spcPts val="0"/>
              </a:spcAft>
              <a:buNone/>
            </a:pPr>
            <a:r>
              <a:rPr lang="en-US" sz="2200">
                <a:solidFill>
                  <a:srgbClr val="575757"/>
                </a:solidFill>
                <a:latin typeface="Cambria"/>
                <a:ea typeface="Cambria"/>
                <a:cs typeface="Cambria"/>
                <a:sym typeface="Cambria"/>
              </a:rPr>
              <a:t>Public int </a:t>
            </a:r>
            <a:r>
              <a:rPr lang="en-US" sz="2200" b="1">
                <a:solidFill>
                  <a:srgbClr val="575757"/>
                </a:solidFill>
                <a:latin typeface="Cambria"/>
                <a:ea typeface="Cambria"/>
                <a:cs typeface="Cambria"/>
                <a:sym typeface="Cambria"/>
              </a:rPr>
              <a:t>indexOf</a:t>
            </a:r>
            <a:r>
              <a:rPr lang="en-US" sz="2200">
                <a:solidFill>
                  <a:srgbClr val="575757"/>
                </a:solidFill>
                <a:latin typeface="Cambria"/>
                <a:ea typeface="Cambria"/>
                <a:cs typeface="Cambria"/>
                <a:sym typeface="Cambria"/>
              </a:rPr>
              <a:t>(intch)- Returns the index within this string of the first occurrence of the specifiedcharacter.</a:t>
            </a:r>
            <a:endParaRPr sz="2200">
              <a:latin typeface="Cambria"/>
              <a:ea typeface="Cambria"/>
              <a:cs typeface="Cambria"/>
              <a:sym typeface="Cambria"/>
            </a:endParaRPr>
          </a:p>
        </p:txBody>
      </p:sp>
      <p:sp>
        <p:nvSpPr>
          <p:cNvPr id="323" name="Google Shape;323;p31"/>
          <p:cNvSpPr txBox="1"/>
          <p:nvPr/>
        </p:nvSpPr>
        <p:spPr>
          <a:xfrm>
            <a:off x="4003928" y="3385565"/>
            <a:ext cx="7654672" cy="678815"/>
          </a:xfrm>
          <a:prstGeom prst="rect">
            <a:avLst/>
          </a:prstGeom>
          <a:noFill/>
          <a:ln>
            <a:noFill/>
          </a:ln>
        </p:spPr>
        <p:txBody>
          <a:bodyPr spcFirstLastPara="1" wrap="square" lIns="0" tIns="36175" rIns="0" bIns="0" anchor="t" anchorCtr="0">
            <a:spAutoFit/>
          </a:bodyPr>
          <a:lstStyle/>
          <a:p>
            <a:pPr marL="140335" marR="5080" lvl="0" indent="-128270" algn="l" rtl="0">
              <a:lnSpc>
                <a:spcPct val="114090"/>
              </a:lnSpc>
              <a:spcBef>
                <a:spcPts val="0"/>
              </a:spcBef>
              <a:spcAft>
                <a:spcPts val="0"/>
              </a:spcAft>
              <a:buNone/>
            </a:pPr>
            <a:r>
              <a:rPr lang="en-US" sz="2200">
                <a:solidFill>
                  <a:srgbClr val="575757"/>
                </a:solidFill>
                <a:latin typeface="Cambria"/>
                <a:ea typeface="Cambria"/>
                <a:cs typeface="Cambria"/>
                <a:sym typeface="Cambria"/>
              </a:rPr>
              <a:t>Public int </a:t>
            </a:r>
            <a:r>
              <a:rPr lang="en-US" sz="2200" b="1">
                <a:solidFill>
                  <a:srgbClr val="575757"/>
                </a:solidFill>
                <a:latin typeface="Cambria"/>
                <a:ea typeface="Cambria"/>
                <a:cs typeface="Cambria"/>
                <a:sym typeface="Cambria"/>
              </a:rPr>
              <a:t>indexOf</a:t>
            </a:r>
            <a:r>
              <a:rPr lang="en-US" sz="2200">
                <a:solidFill>
                  <a:srgbClr val="575757"/>
                </a:solidFill>
                <a:latin typeface="Cambria"/>
                <a:ea typeface="Cambria"/>
                <a:cs typeface="Cambria"/>
                <a:sym typeface="Cambria"/>
              </a:rPr>
              <a:t>(Stringstr)- Returns the index within this string of the first occurrence of the specified substring.</a:t>
            </a:r>
            <a:endParaRPr sz="2200">
              <a:latin typeface="Cambria"/>
              <a:ea typeface="Cambria"/>
              <a:cs typeface="Cambria"/>
              <a:sym typeface="Cambria"/>
            </a:endParaRPr>
          </a:p>
        </p:txBody>
      </p:sp>
      <p:sp>
        <p:nvSpPr>
          <p:cNvPr id="324" name="Google Shape;324;p31"/>
          <p:cNvSpPr txBox="1"/>
          <p:nvPr/>
        </p:nvSpPr>
        <p:spPr>
          <a:xfrm>
            <a:off x="4038727" y="4885182"/>
            <a:ext cx="5105273" cy="1534795"/>
          </a:xfrm>
          <a:prstGeom prst="rect">
            <a:avLst/>
          </a:prstGeom>
          <a:noFill/>
          <a:ln>
            <a:noFill/>
          </a:ln>
        </p:spPr>
        <p:txBody>
          <a:bodyPr spcFirstLastPara="1" wrap="square" lIns="0" tIns="12700" rIns="0" bIns="0" anchor="t" anchorCtr="0">
            <a:spAutoFit/>
          </a:bodyPr>
          <a:lstStyle/>
          <a:p>
            <a:pPr marL="12700" marR="5080" lvl="0" indent="0" algn="l" rtl="0">
              <a:lnSpc>
                <a:spcPct val="150100"/>
              </a:lnSpc>
              <a:spcBef>
                <a:spcPts val="0"/>
              </a:spcBef>
              <a:spcAft>
                <a:spcPts val="0"/>
              </a:spcAft>
              <a:buNone/>
            </a:pPr>
            <a:r>
              <a:rPr lang="en-US" sz="2200">
                <a:solidFill>
                  <a:srgbClr val="575757"/>
                </a:solidFill>
                <a:latin typeface="Cambria"/>
                <a:ea typeface="Cambria"/>
                <a:cs typeface="Cambria"/>
                <a:sym typeface="Cambria"/>
              </a:rPr>
              <a:t>String str =“How was your day today?”; str.indexof(‘t’);</a:t>
            </a:r>
            <a:endParaRPr sz="2200">
              <a:latin typeface="Cambria"/>
              <a:ea typeface="Cambria"/>
              <a:cs typeface="Cambria"/>
              <a:sym typeface="Cambria"/>
            </a:endParaRPr>
          </a:p>
          <a:p>
            <a:pPr marL="12700" lvl="0" indent="0" algn="l" rtl="0">
              <a:lnSpc>
                <a:spcPct val="100000"/>
              </a:lnSpc>
              <a:spcBef>
                <a:spcPts val="1320"/>
              </a:spcBef>
              <a:spcAft>
                <a:spcPts val="0"/>
              </a:spcAft>
              <a:buNone/>
            </a:pPr>
            <a:r>
              <a:rPr lang="en-US" sz="2200">
                <a:solidFill>
                  <a:srgbClr val="575757"/>
                </a:solidFill>
                <a:latin typeface="Cambria"/>
                <a:ea typeface="Cambria"/>
                <a:cs typeface="Cambria"/>
                <a:sym typeface="Cambria"/>
              </a:rPr>
              <a:t>str.indexof(“was”);</a:t>
            </a:r>
            <a:endParaRPr sz="2200">
              <a:latin typeface="Cambria"/>
              <a:ea typeface="Cambria"/>
              <a:cs typeface="Cambria"/>
              <a:sym typeface="Cambria"/>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32"/>
          <p:cNvSpPr/>
          <p:nvPr/>
        </p:nvSpPr>
        <p:spPr>
          <a:xfrm>
            <a:off x="11817095" y="758951"/>
            <a:ext cx="374650" cy="5330825"/>
          </a:xfrm>
          <a:custGeom>
            <a:avLst/>
            <a:gdLst/>
            <a:ahLst/>
            <a:cxnLst/>
            <a:rect l="l" t="t" r="r" b="b"/>
            <a:pathLst>
              <a:path w="374650" h="5330825" extrusionOk="0">
                <a:moveTo>
                  <a:pt x="374523" y="0"/>
                </a:moveTo>
                <a:lnTo>
                  <a:pt x="0" y="0"/>
                </a:lnTo>
                <a:lnTo>
                  <a:pt x="0" y="5330444"/>
                </a:lnTo>
                <a:lnTo>
                  <a:pt x="374523" y="5330444"/>
                </a:lnTo>
                <a:lnTo>
                  <a:pt x="374523" y="0"/>
                </a:lnTo>
                <a:close/>
              </a:path>
            </a:pathLst>
          </a:custGeom>
          <a:solidFill>
            <a:srgbClr val="C6C6C6">
              <a:alpha val="49411"/>
            </a:srgbClr>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30" name="Google Shape;330;p32"/>
          <p:cNvSpPr txBox="1"/>
          <p:nvPr/>
        </p:nvSpPr>
        <p:spPr>
          <a:xfrm>
            <a:off x="560322" y="2861258"/>
            <a:ext cx="2512061" cy="1010390"/>
          </a:xfrm>
          <a:prstGeom prst="rect">
            <a:avLst/>
          </a:prstGeom>
          <a:noFill/>
          <a:ln>
            <a:noFill/>
          </a:ln>
        </p:spPr>
        <p:txBody>
          <a:bodyPr spcFirstLastPara="1" wrap="square" lIns="0" tIns="5700" rIns="0" bIns="0" anchor="t" anchorCtr="0">
            <a:spAutoFit/>
          </a:bodyPr>
          <a:lstStyle/>
          <a:p>
            <a:pPr marL="12700" marR="5080" lvl="0" indent="408305" algn="l" rtl="0">
              <a:lnSpc>
                <a:spcPct val="101600"/>
              </a:lnSpc>
              <a:spcBef>
                <a:spcPts val="0"/>
              </a:spcBef>
              <a:spcAft>
                <a:spcPts val="0"/>
              </a:spcAft>
              <a:buNone/>
            </a:pPr>
            <a:r>
              <a:rPr lang="en-US" sz="3200" b="1" dirty="0">
                <a:solidFill>
                  <a:srgbClr val="FFFFFF"/>
                </a:solidFill>
                <a:latin typeface="Cambria"/>
                <a:ea typeface="Cambria"/>
                <a:cs typeface="Cambria"/>
                <a:sym typeface="Cambria"/>
              </a:rPr>
              <a:t>String Operations</a:t>
            </a:r>
            <a:endParaRPr sz="3200" dirty="0">
              <a:latin typeface="Cambria"/>
              <a:ea typeface="Cambria"/>
              <a:cs typeface="Cambria"/>
              <a:sym typeface="Cambria"/>
            </a:endParaRPr>
          </a:p>
        </p:txBody>
      </p:sp>
      <p:sp>
        <p:nvSpPr>
          <p:cNvPr id="331" name="Google Shape;331;p32"/>
          <p:cNvSpPr txBox="1">
            <a:spLocks noGrp="1"/>
          </p:cNvSpPr>
          <p:nvPr>
            <p:ph type="title"/>
          </p:nvPr>
        </p:nvSpPr>
        <p:spPr>
          <a:xfrm>
            <a:off x="3837813" y="763015"/>
            <a:ext cx="7820786" cy="793750"/>
          </a:xfrm>
          <a:prstGeom prst="rect">
            <a:avLst/>
          </a:prstGeom>
          <a:noFill/>
          <a:ln>
            <a:noFill/>
          </a:ln>
        </p:spPr>
        <p:txBody>
          <a:bodyPr spcFirstLastPara="1" wrap="square" lIns="0" tIns="43800" rIns="0" bIns="0" anchor="t" anchorCtr="0">
            <a:spAutoFit/>
          </a:bodyPr>
          <a:lstStyle/>
          <a:p>
            <a:pPr marL="194945" marR="5080" lvl="0" indent="-182880" algn="just" rtl="0">
              <a:lnSpc>
                <a:spcPct val="96950"/>
              </a:lnSpc>
              <a:spcBef>
                <a:spcPts val="0"/>
              </a:spcBef>
              <a:spcAft>
                <a:spcPts val="0"/>
              </a:spcAft>
              <a:buNone/>
            </a:pPr>
            <a:r>
              <a:rPr lang="en-US" sz="2000" b="0">
                <a:solidFill>
                  <a:srgbClr val="575757"/>
                </a:solidFill>
                <a:latin typeface="Cambria"/>
                <a:ea typeface="Cambria"/>
                <a:cs typeface="Cambria"/>
                <a:sym typeface="Cambria"/>
              </a:rPr>
              <a:t>public int </a:t>
            </a:r>
            <a:r>
              <a:rPr lang="en-US" sz="2000">
                <a:solidFill>
                  <a:srgbClr val="575757"/>
                </a:solidFill>
                <a:latin typeface="Cambria"/>
                <a:ea typeface="Cambria"/>
                <a:cs typeface="Cambria"/>
                <a:sym typeface="Cambria"/>
              </a:rPr>
              <a:t>indexOf</a:t>
            </a:r>
            <a:r>
              <a:rPr lang="en-US" sz="2000" b="0">
                <a:solidFill>
                  <a:srgbClr val="575757"/>
                </a:solidFill>
                <a:latin typeface="Cambria"/>
                <a:ea typeface="Cambria"/>
                <a:cs typeface="Cambria"/>
                <a:sym typeface="Cambria"/>
              </a:rPr>
              <a:t>(int ch, int fromIndex)- Returns the index within this string of the first occurrence of the specified character, starting the search at the specified index.</a:t>
            </a:r>
            <a:endParaRPr sz="2000">
              <a:latin typeface="Cambria"/>
              <a:ea typeface="Cambria"/>
              <a:cs typeface="Cambria"/>
              <a:sym typeface="Cambria"/>
            </a:endParaRPr>
          </a:p>
        </p:txBody>
      </p:sp>
      <p:sp>
        <p:nvSpPr>
          <p:cNvPr id="332" name="Google Shape;332;p32"/>
          <p:cNvSpPr txBox="1"/>
          <p:nvPr/>
        </p:nvSpPr>
        <p:spPr>
          <a:xfrm>
            <a:off x="3837813" y="1825879"/>
            <a:ext cx="7979282" cy="1163011"/>
          </a:xfrm>
          <a:prstGeom prst="rect">
            <a:avLst/>
          </a:prstGeom>
          <a:noFill/>
          <a:ln>
            <a:noFill/>
          </a:ln>
        </p:spPr>
        <p:txBody>
          <a:bodyPr spcFirstLastPara="1" wrap="square" lIns="0" tIns="12700" rIns="0" bIns="0" anchor="t" anchorCtr="0">
            <a:spAutoFit/>
          </a:bodyPr>
          <a:lstStyle/>
          <a:p>
            <a:pPr marL="12700" marR="5080" lvl="0" indent="0" algn="l" rtl="0">
              <a:lnSpc>
                <a:spcPct val="129399"/>
              </a:lnSpc>
              <a:spcBef>
                <a:spcPts val="0"/>
              </a:spcBef>
              <a:spcAft>
                <a:spcPts val="0"/>
              </a:spcAft>
              <a:buNone/>
            </a:pPr>
            <a:r>
              <a:rPr lang="en-US" sz="2000">
                <a:solidFill>
                  <a:srgbClr val="575757"/>
                </a:solidFill>
                <a:latin typeface="Cambria"/>
                <a:ea typeface="Cambria"/>
                <a:cs typeface="Cambria"/>
                <a:sym typeface="Cambria"/>
              </a:rPr>
              <a:t>Public int </a:t>
            </a:r>
            <a:r>
              <a:rPr lang="en-US" sz="2000" b="1">
                <a:solidFill>
                  <a:srgbClr val="575757"/>
                </a:solidFill>
                <a:latin typeface="Cambria"/>
                <a:ea typeface="Cambria"/>
                <a:cs typeface="Cambria"/>
                <a:sym typeface="Cambria"/>
              </a:rPr>
              <a:t>indexOf</a:t>
            </a:r>
            <a:r>
              <a:rPr lang="en-US" sz="2000">
                <a:solidFill>
                  <a:srgbClr val="575757"/>
                </a:solidFill>
                <a:latin typeface="Cambria"/>
                <a:ea typeface="Cambria"/>
                <a:cs typeface="Cambria"/>
                <a:sym typeface="Cambria"/>
              </a:rPr>
              <a:t>(String str, int fromIndex)- Returns the index within this string of the first occurrence of the specified substring, starting at the specified index.</a:t>
            </a:r>
            <a:endParaRPr sz="2000">
              <a:latin typeface="Cambria"/>
              <a:ea typeface="Cambria"/>
              <a:cs typeface="Cambria"/>
              <a:sym typeface="Cambria"/>
            </a:endParaRPr>
          </a:p>
        </p:txBody>
      </p:sp>
      <p:sp>
        <p:nvSpPr>
          <p:cNvPr id="333" name="Google Shape;333;p32"/>
          <p:cNvSpPr txBox="1"/>
          <p:nvPr/>
        </p:nvSpPr>
        <p:spPr>
          <a:xfrm>
            <a:off x="4038727" y="3035300"/>
            <a:ext cx="3509010" cy="1048492"/>
          </a:xfrm>
          <a:prstGeom prst="rect">
            <a:avLst/>
          </a:prstGeom>
          <a:noFill/>
          <a:ln>
            <a:noFill/>
          </a:ln>
        </p:spPr>
        <p:txBody>
          <a:bodyPr spcFirstLastPara="1" wrap="square" lIns="0" tIns="12700" rIns="0" bIns="0" anchor="t" anchorCtr="0">
            <a:spAutoFit/>
          </a:bodyPr>
          <a:lstStyle/>
          <a:p>
            <a:pPr marL="12700" marR="5080" lvl="0" indent="0" algn="l" rtl="0">
              <a:lnSpc>
                <a:spcPct val="112200"/>
              </a:lnSpc>
              <a:spcBef>
                <a:spcPts val="0"/>
              </a:spcBef>
              <a:spcAft>
                <a:spcPts val="0"/>
              </a:spcAft>
              <a:buNone/>
            </a:pPr>
            <a:r>
              <a:rPr lang="en-US" sz="2000">
                <a:solidFill>
                  <a:srgbClr val="575757"/>
                </a:solidFill>
                <a:latin typeface="Cambria"/>
                <a:ea typeface="Cambria"/>
                <a:cs typeface="Cambria"/>
                <a:sym typeface="Cambria"/>
              </a:rPr>
              <a:t>Stringstr =“How wasyour daytoday?”; str.indexof(‘a’,6);</a:t>
            </a:r>
            <a:endParaRPr sz="2000">
              <a:latin typeface="Cambria"/>
              <a:ea typeface="Cambria"/>
              <a:cs typeface="Cambria"/>
              <a:sym typeface="Cambria"/>
            </a:endParaRPr>
          </a:p>
          <a:p>
            <a:pPr marL="12700" lvl="0" indent="0" algn="l" rtl="0">
              <a:lnSpc>
                <a:spcPct val="100000"/>
              </a:lnSpc>
              <a:spcBef>
                <a:spcPts val="325"/>
              </a:spcBef>
              <a:spcAft>
                <a:spcPts val="0"/>
              </a:spcAft>
              <a:buNone/>
            </a:pPr>
            <a:r>
              <a:rPr lang="en-US" sz="2000">
                <a:solidFill>
                  <a:srgbClr val="575757"/>
                </a:solidFill>
                <a:latin typeface="Cambria"/>
                <a:ea typeface="Cambria"/>
                <a:cs typeface="Cambria"/>
                <a:sym typeface="Cambria"/>
              </a:rPr>
              <a:t>str.indexof(“was”,2);</a:t>
            </a:r>
            <a:endParaRPr sz="2000">
              <a:latin typeface="Cambria"/>
              <a:ea typeface="Cambria"/>
              <a:cs typeface="Cambria"/>
              <a:sym typeface="Cambria"/>
            </a:endParaRPr>
          </a:p>
        </p:txBody>
      </p:sp>
      <p:sp>
        <p:nvSpPr>
          <p:cNvPr id="334" name="Google Shape;334;p32"/>
          <p:cNvSpPr txBox="1"/>
          <p:nvPr/>
        </p:nvSpPr>
        <p:spPr>
          <a:xfrm>
            <a:off x="3813175" y="4295013"/>
            <a:ext cx="7240905" cy="2997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800">
                <a:latin typeface="Cambria"/>
                <a:ea typeface="Cambria"/>
                <a:cs typeface="Cambria"/>
                <a:sym typeface="Cambria"/>
              </a:rPr>
              <a:t>lastIndexOf() –Searches for the last occurrence of a character or substring.</a:t>
            </a:r>
            <a:endParaRPr sz="1800">
              <a:latin typeface="Cambria"/>
              <a:ea typeface="Cambria"/>
              <a:cs typeface="Cambria"/>
              <a:sym typeface="Cambri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33"/>
          <p:cNvSpPr txBox="1"/>
          <p:nvPr/>
        </p:nvSpPr>
        <p:spPr>
          <a:xfrm>
            <a:off x="3569334" y="514858"/>
            <a:ext cx="3840479" cy="1397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800" b="1">
                <a:solidFill>
                  <a:srgbClr val="006699"/>
                </a:solidFill>
                <a:latin typeface="Cambria"/>
                <a:ea typeface="Cambria"/>
                <a:cs typeface="Cambria"/>
                <a:sym typeface="Cambria"/>
              </a:rPr>
              <a:t>public class </a:t>
            </a:r>
            <a:r>
              <a:rPr lang="en-US" sz="1800">
                <a:latin typeface="Cambria"/>
                <a:ea typeface="Cambria"/>
                <a:cs typeface="Cambria"/>
                <a:sym typeface="Cambria"/>
              </a:rPr>
              <a:t>IndexOfExample{</a:t>
            </a:r>
            <a:endParaRPr sz="1800">
              <a:latin typeface="Cambria"/>
              <a:ea typeface="Cambria"/>
              <a:cs typeface="Cambria"/>
              <a:sym typeface="Cambria"/>
            </a:endParaRPr>
          </a:p>
          <a:p>
            <a:pPr marL="12700" marR="5080" lvl="0" indent="0" algn="l" rtl="0">
              <a:lnSpc>
                <a:spcPct val="200000"/>
              </a:lnSpc>
              <a:spcBef>
                <a:spcPts val="0"/>
              </a:spcBef>
              <a:spcAft>
                <a:spcPts val="0"/>
              </a:spcAft>
              <a:buNone/>
            </a:pPr>
            <a:r>
              <a:rPr lang="en-US" sz="1800" b="1">
                <a:solidFill>
                  <a:srgbClr val="006699"/>
                </a:solidFill>
                <a:latin typeface="Cambria"/>
                <a:ea typeface="Cambria"/>
                <a:cs typeface="Cambria"/>
                <a:sym typeface="Cambria"/>
              </a:rPr>
              <a:t>public static void </a:t>
            </a:r>
            <a:r>
              <a:rPr lang="en-US" sz="1800">
                <a:latin typeface="Cambria"/>
                <a:ea typeface="Cambria"/>
                <a:cs typeface="Cambria"/>
                <a:sym typeface="Cambria"/>
              </a:rPr>
              <a:t>main(String args[]){ String s1=</a:t>
            </a:r>
            <a:r>
              <a:rPr lang="en-US" sz="1800">
                <a:solidFill>
                  <a:srgbClr val="0000FF"/>
                </a:solidFill>
                <a:latin typeface="Cambria"/>
                <a:ea typeface="Cambria"/>
                <a:cs typeface="Cambria"/>
                <a:sym typeface="Cambria"/>
              </a:rPr>
              <a:t>"this is index of example"</a:t>
            </a:r>
            <a:r>
              <a:rPr lang="en-US" sz="1800">
                <a:latin typeface="Cambria"/>
                <a:ea typeface="Cambria"/>
                <a:cs typeface="Cambria"/>
                <a:sym typeface="Cambria"/>
              </a:rPr>
              <a:t>;</a:t>
            </a:r>
            <a:endParaRPr sz="1800">
              <a:latin typeface="Cambria"/>
              <a:ea typeface="Cambria"/>
              <a:cs typeface="Cambria"/>
              <a:sym typeface="Cambria"/>
            </a:endParaRPr>
          </a:p>
        </p:txBody>
      </p:sp>
      <p:sp>
        <p:nvSpPr>
          <p:cNvPr id="340" name="Google Shape;340;p33"/>
          <p:cNvSpPr txBox="1"/>
          <p:nvPr/>
        </p:nvSpPr>
        <p:spPr>
          <a:xfrm>
            <a:off x="3569334" y="2161159"/>
            <a:ext cx="6870065" cy="112268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800">
                <a:solidFill>
                  <a:srgbClr val="008200"/>
                </a:solidFill>
                <a:latin typeface="Cambria"/>
                <a:ea typeface="Cambria"/>
                <a:cs typeface="Cambria"/>
                <a:sym typeface="Cambria"/>
              </a:rPr>
              <a:t>//passing substring</a:t>
            </a:r>
            <a:endParaRPr sz="1800">
              <a:latin typeface="Cambria"/>
              <a:ea typeface="Cambria"/>
              <a:cs typeface="Cambria"/>
              <a:sym typeface="Cambria"/>
            </a:endParaRPr>
          </a:p>
          <a:p>
            <a:pPr marL="12700" lvl="0" indent="0" algn="l" rtl="0">
              <a:lnSpc>
                <a:spcPct val="100000"/>
              </a:lnSpc>
              <a:spcBef>
                <a:spcPts val="0"/>
              </a:spcBef>
              <a:spcAft>
                <a:spcPts val="0"/>
              </a:spcAft>
              <a:buNone/>
            </a:pPr>
            <a:r>
              <a:rPr lang="en-US" sz="1800" b="1">
                <a:solidFill>
                  <a:srgbClr val="006699"/>
                </a:solidFill>
                <a:latin typeface="Cambria"/>
                <a:ea typeface="Cambria"/>
                <a:cs typeface="Cambria"/>
                <a:sym typeface="Cambria"/>
              </a:rPr>
              <a:t>int </a:t>
            </a:r>
            <a:r>
              <a:rPr lang="en-US" sz="1800">
                <a:latin typeface="Cambria"/>
                <a:ea typeface="Cambria"/>
                <a:cs typeface="Cambria"/>
                <a:sym typeface="Cambria"/>
              </a:rPr>
              <a:t>index1=s1.indexOf(</a:t>
            </a:r>
            <a:r>
              <a:rPr lang="en-US" sz="1800">
                <a:solidFill>
                  <a:srgbClr val="0000FF"/>
                </a:solidFill>
                <a:latin typeface="Cambria"/>
                <a:ea typeface="Cambria"/>
                <a:cs typeface="Cambria"/>
                <a:sym typeface="Cambria"/>
              </a:rPr>
              <a:t>"is"</a:t>
            </a:r>
            <a:r>
              <a:rPr lang="en-US" sz="1800">
                <a:latin typeface="Cambria"/>
                <a:ea typeface="Cambria"/>
                <a:cs typeface="Cambria"/>
                <a:sym typeface="Cambria"/>
              </a:rPr>
              <a:t>);</a:t>
            </a:r>
            <a:r>
              <a:rPr lang="en-US" sz="1800">
                <a:solidFill>
                  <a:srgbClr val="008200"/>
                </a:solidFill>
                <a:latin typeface="Cambria"/>
                <a:ea typeface="Cambria"/>
                <a:cs typeface="Cambria"/>
                <a:sym typeface="Cambria"/>
              </a:rPr>
              <a:t>//returns the index of is substring</a:t>
            </a:r>
            <a:endParaRPr sz="1800">
              <a:latin typeface="Cambria"/>
              <a:ea typeface="Cambria"/>
              <a:cs typeface="Cambria"/>
              <a:sym typeface="Cambria"/>
            </a:endParaRPr>
          </a:p>
          <a:p>
            <a:pPr marL="12700" marR="5080" lvl="0" indent="0" algn="l" rtl="0">
              <a:lnSpc>
                <a:spcPct val="100000"/>
              </a:lnSpc>
              <a:spcBef>
                <a:spcPts val="0"/>
              </a:spcBef>
              <a:spcAft>
                <a:spcPts val="0"/>
              </a:spcAft>
              <a:buNone/>
            </a:pPr>
            <a:r>
              <a:rPr lang="en-US" sz="1800" b="1">
                <a:solidFill>
                  <a:srgbClr val="006699"/>
                </a:solidFill>
                <a:latin typeface="Cambria"/>
                <a:ea typeface="Cambria"/>
                <a:cs typeface="Cambria"/>
                <a:sym typeface="Cambria"/>
              </a:rPr>
              <a:t>int </a:t>
            </a:r>
            <a:r>
              <a:rPr lang="en-US" sz="1800">
                <a:latin typeface="Cambria"/>
                <a:ea typeface="Cambria"/>
                <a:cs typeface="Cambria"/>
                <a:sym typeface="Cambria"/>
              </a:rPr>
              <a:t>index2=s1.indexOf(</a:t>
            </a:r>
            <a:r>
              <a:rPr lang="en-US" sz="1800">
                <a:solidFill>
                  <a:srgbClr val="0000FF"/>
                </a:solidFill>
                <a:latin typeface="Cambria"/>
                <a:ea typeface="Cambria"/>
                <a:cs typeface="Cambria"/>
                <a:sym typeface="Cambria"/>
              </a:rPr>
              <a:t>"index"</a:t>
            </a:r>
            <a:r>
              <a:rPr lang="en-US" sz="1800">
                <a:latin typeface="Cambria"/>
                <a:ea typeface="Cambria"/>
                <a:cs typeface="Cambria"/>
                <a:sym typeface="Cambria"/>
              </a:rPr>
              <a:t>);</a:t>
            </a:r>
            <a:r>
              <a:rPr lang="en-US" sz="1800">
                <a:solidFill>
                  <a:srgbClr val="008200"/>
                </a:solidFill>
                <a:latin typeface="Cambria"/>
                <a:ea typeface="Cambria"/>
                <a:cs typeface="Cambria"/>
                <a:sym typeface="Cambria"/>
              </a:rPr>
              <a:t>//returns the index of index substring </a:t>
            </a:r>
            <a:r>
              <a:rPr lang="en-US" sz="1800">
                <a:latin typeface="Cambria"/>
                <a:ea typeface="Cambria"/>
                <a:cs typeface="Cambria"/>
                <a:sym typeface="Cambria"/>
              </a:rPr>
              <a:t>System.out.println(index1+</a:t>
            </a:r>
            <a:r>
              <a:rPr lang="en-US" sz="1800">
                <a:solidFill>
                  <a:srgbClr val="0000FF"/>
                </a:solidFill>
                <a:latin typeface="Cambria"/>
                <a:ea typeface="Cambria"/>
                <a:cs typeface="Cambria"/>
                <a:sym typeface="Cambria"/>
              </a:rPr>
              <a:t>" "</a:t>
            </a:r>
            <a:r>
              <a:rPr lang="en-US" sz="1800">
                <a:latin typeface="Cambria"/>
                <a:ea typeface="Cambria"/>
                <a:cs typeface="Cambria"/>
                <a:sym typeface="Cambria"/>
              </a:rPr>
              <a:t>+index2);</a:t>
            </a:r>
            <a:r>
              <a:rPr lang="en-US" sz="1800">
                <a:solidFill>
                  <a:srgbClr val="008200"/>
                </a:solidFill>
                <a:latin typeface="Cambria"/>
                <a:ea typeface="Cambria"/>
                <a:cs typeface="Cambria"/>
                <a:sym typeface="Cambria"/>
              </a:rPr>
              <a:t>//</a:t>
            </a:r>
            <a:endParaRPr sz="1800">
              <a:latin typeface="Cambria"/>
              <a:ea typeface="Cambria"/>
              <a:cs typeface="Cambria"/>
              <a:sym typeface="Cambria"/>
            </a:endParaRPr>
          </a:p>
        </p:txBody>
      </p:sp>
      <p:sp>
        <p:nvSpPr>
          <p:cNvPr id="341" name="Google Shape;341;p33"/>
          <p:cNvSpPr txBox="1"/>
          <p:nvPr/>
        </p:nvSpPr>
        <p:spPr>
          <a:xfrm>
            <a:off x="3569334" y="3532454"/>
            <a:ext cx="7779384" cy="848994"/>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800">
                <a:solidFill>
                  <a:srgbClr val="008200"/>
                </a:solidFill>
                <a:latin typeface="Cambria"/>
                <a:ea typeface="Cambria"/>
                <a:cs typeface="Cambria"/>
                <a:sym typeface="Cambria"/>
              </a:rPr>
              <a:t>//passing substring with from index</a:t>
            </a:r>
            <a:endParaRPr sz="1800">
              <a:latin typeface="Cambria"/>
              <a:ea typeface="Cambria"/>
              <a:cs typeface="Cambria"/>
              <a:sym typeface="Cambria"/>
            </a:endParaRPr>
          </a:p>
          <a:p>
            <a:pPr marL="12700" marR="5080" lvl="0" indent="0" algn="l" rtl="0">
              <a:lnSpc>
                <a:spcPct val="100000"/>
              </a:lnSpc>
              <a:spcBef>
                <a:spcPts val="5"/>
              </a:spcBef>
              <a:spcAft>
                <a:spcPts val="0"/>
              </a:spcAft>
              <a:buNone/>
            </a:pPr>
            <a:r>
              <a:rPr lang="en-US" sz="1800" b="1">
                <a:solidFill>
                  <a:srgbClr val="006699"/>
                </a:solidFill>
                <a:latin typeface="Cambria"/>
                <a:ea typeface="Cambria"/>
                <a:cs typeface="Cambria"/>
                <a:sym typeface="Cambria"/>
              </a:rPr>
              <a:t>int </a:t>
            </a:r>
            <a:r>
              <a:rPr lang="en-US" sz="1800">
                <a:latin typeface="Cambria"/>
                <a:ea typeface="Cambria"/>
                <a:cs typeface="Cambria"/>
                <a:sym typeface="Cambria"/>
              </a:rPr>
              <a:t>index3=s1.indexOf(</a:t>
            </a:r>
            <a:r>
              <a:rPr lang="en-US" sz="1800">
                <a:solidFill>
                  <a:srgbClr val="0000FF"/>
                </a:solidFill>
                <a:latin typeface="Cambria"/>
                <a:ea typeface="Cambria"/>
                <a:cs typeface="Cambria"/>
                <a:sym typeface="Cambria"/>
              </a:rPr>
              <a:t>"is"</a:t>
            </a:r>
            <a:r>
              <a:rPr lang="en-US" sz="1800">
                <a:latin typeface="Cambria"/>
                <a:ea typeface="Cambria"/>
                <a:cs typeface="Cambria"/>
                <a:sym typeface="Cambria"/>
              </a:rPr>
              <a:t>,</a:t>
            </a:r>
            <a:r>
              <a:rPr lang="en-US" sz="1800">
                <a:solidFill>
                  <a:srgbClr val="C00000"/>
                </a:solidFill>
                <a:latin typeface="Cambria"/>
                <a:ea typeface="Cambria"/>
                <a:cs typeface="Cambria"/>
                <a:sym typeface="Cambria"/>
              </a:rPr>
              <a:t>4</a:t>
            </a:r>
            <a:r>
              <a:rPr lang="en-US" sz="1800">
                <a:latin typeface="Cambria"/>
                <a:ea typeface="Cambria"/>
                <a:cs typeface="Cambria"/>
                <a:sym typeface="Cambria"/>
              </a:rPr>
              <a:t>);</a:t>
            </a:r>
            <a:r>
              <a:rPr lang="en-US" sz="1800">
                <a:solidFill>
                  <a:srgbClr val="008200"/>
                </a:solidFill>
                <a:latin typeface="Cambria"/>
                <a:ea typeface="Cambria"/>
                <a:cs typeface="Cambria"/>
                <a:sym typeface="Cambria"/>
              </a:rPr>
              <a:t>//returns the index of is substring after 4th index </a:t>
            </a:r>
            <a:r>
              <a:rPr lang="en-US" sz="1800">
                <a:latin typeface="Cambria"/>
                <a:ea typeface="Cambria"/>
                <a:cs typeface="Cambria"/>
                <a:sym typeface="Cambria"/>
              </a:rPr>
              <a:t>System.out.println(index3);</a:t>
            </a:r>
            <a:r>
              <a:rPr lang="en-US" sz="1800">
                <a:solidFill>
                  <a:srgbClr val="008200"/>
                </a:solidFill>
                <a:latin typeface="Cambria"/>
                <a:ea typeface="Cambria"/>
                <a:cs typeface="Cambria"/>
                <a:sym typeface="Cambria"/>
              </a:rPr>
              <a:t>//i.e. the index of another is</a:t>
            </a:r>
            <a:endParaRPr sz="1800">
              <a:latin typeface="Cambria"/>
              <a:ea typeface="Cambria"/>
              <a:cs typeface="Cambria"/>
              <a:sym typeface="Cambria"/>
            </a:endParaRPr>
          </a:p>
        </p:txBody>
      </p:sp>
      <p:sp>
        <p:nvSpPr>
          <p:cNvPr id="342" name="Google Shape;342;p33"/>
          <p:cNvSpPr txBox="1"/>
          <p:nvPr/>
        </p:nvSpPr>
        <p:spPr>
          <a:xfrm>
            <a:off x="3569334" y="4630292"/>
            <a:ext cx="6002020" cy="139763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800">
                <a:solidFill>
                  <a:srgbClr val="008200"/>
                </a:solidFill>
                <a:latin typeface="Cambria"/>
                <a:ea typeface="Cambria"/>
                <a:cs typeface="Cambria"/>
                <a:sym typeface="Cambria"/>
              </a:rPr>
              <a:t>//passing char value</a:t>
            </a:r>
            <a:endParaRPr sz="1800">
              <a:latin typeface="Cambria"/>
              <a:ea typeface="Cambria"/>
              <a:cs typeface="Cambria"/>
              <a:sym typeface="Cambria"/>
            </a:endParaRPr>
          </a:p>
          <a:p>
            <a:pPr marL="12700" marR="5080" lvl="0" indent="0" algn="l" rtl="0">
              <a:lnSpc>
                <a:spcPct val="100000"/>
              </a:lnSpc>
              <a:spcBef>
                <a:spcPts val="0"/>
              </a:spcBef>
              <a:spcAft>
                <a:spcPts val="0"/>
              </a:spcAft>
              <a:buNone/>
            </a:pPr>
            <a:r>
              <a:rPr lang="en-US" sz="1800" b="1">
                <a:solidFill>
                  <a:srgbClr val="006699"/>
                </a:solidFill>
                <a:latin typeface="Cambria"/>
                <a:ea typeface="Cambria"/>
                <a:cs typeface="Cambria"/>
                <a:sym typeface="Cambria"/>
              </a:rPr>
              <a:t>int </a:t>
            </a:r>
            <a:r>
              <a:rPr lang="en-US" sz="1800">
                <a:latin typeface="Cambria"/>
                <a:ea typeface="Cambria"/>
                <a:cs typeface="Cambria"/>
                <a:sym typeface="Cambria"/>
              </a:rPr>
              <a:t>index4=s1.indexOf(</a:t>
            </a:r>
            <a:r>
              <a:rPr lang="en-US" sz="1800">
                <a:solidFill>
                  <a:srgbClr val="0000FF"/>
                </a:solidFill>
                <a:latin typeface="Cambria"/>
                <a:ea typeface="Cambria"/>
                <a:cs typeface="Cambria"/>
                <a:sym typeface="Cambria"/>
              </a:rPr>
              <a:t>'s'</a:t>
            </a:r>
            <a:r>
              <a:rPr lang="en-US" sz="1800">
                <a:latin typeface="Cambria"/>
                <a:ea typeface="Cambria"/>
                <a:cs typeface="Cambria"/>
                <a:sym typeface="Cambria"/>
              </a:rPr>
              <a:t>);</a:t>
            </a:r>
            <a:r>
              <a:rPr lang="en-US" sz="1800">
                <a:solidFill>
                  <a:srgbClr val="008200"/>
                </a:solidFill>
                <a:latin typeface="Cambria"/>
                <a:ea typeface="Cambria"/>
                <a:cs typeface="Cambria"/>
                <a:sym typeface="Cambria"/>
              </a:rPr>
              <a:t>//returns the index of s char value </a:t>
            </a:r>
            <a:r>
              <a:rPr lang="en-US" sz="1800">
                <a:latin typeface="Cambria"/>
                <a:ea typeface="Cambria"/>
                <a:cs typeface="Cambria"/>
                <a:sym typeface="Cambria"/>
              </a:rPr>
              <a:t>System.out.println(index4);</a:t>
            </a:r>
            <a:endParaRPr sz="1800">
              <a:latin typeface="Cambria"/>
              <a:ea typeface="Cambria"/>
              <a:cs typeface="Cambria"/>
              <a:sym typeface="Cambria"/>
            </a:endParaRPr>
          </a:p>
          <a:p>
            <a:pPr marL="12700" lvl="0" indent="0" algn="l" rtl="0">
              <a:lnSpc>
                <a:spcPct val="100000"/>
              </a:lnSpc>
              <a:spcBef>
                <a:spcPts val="0"/>
              </a:spcBef>
              <a:spcAft>
                <a:spcPts val="0"/>
              </a:spcAft>
              <a:buNone/>
            </a:pPr>
            <a:r>
              <a:rPr lang="en-US" sz="1800">
                <a:latin typeface="Cambria"/>
                <a:ea typeface="Cambria"/>
                <a:cs typeface="Cambria"/>
                <a:sym typeface="Cambria"/>
              </a:rPr>
              <a:t>}</a:t>
            </a:r>
            <a:endParaRPr sz="1800">
              <a:latin typeface="Cambria"/>
              <a:ea typeface="Cambria"/>
              <a:cs typeface="Cambria"/>
              <a:sym typeface="Cambria"/>
            </a:endParaRPr>
          </a:p>
          <a:p>
            <a:pPr marL="12700" lvl="0" indent="0" algn="l" rtl="0">
              <a:lnSpc>
                <a:spcPct val="100000"/>
              </a:lnSpc>
              <a:spcBef>
                <a:spcPts val="0"/>
              </a:spcBef>
              <a:spcAft>
                <a:spcPts val="0"/>
              </a:spcAft>
              <a:buNone/>
            </a:pPr>
            <a:r>
              <a:rPr lang="en-US" sz="1800">
                <a:latin typeface="Cambria"/>
                <a:ea typeface="Cambria"/>
                <a:cs typeface="Cambria"/>
                <a:sym typeface="Cambria"/>
              </a:rPr>
              <a:t>}</a:t>
            </a:r>
            <a:endParaRPr sz="1800">
              <a:latin typeface="Cambria"/>
              <a:ea typeface="Cambria"/>
              <a:cs typeface="Cambria"/>
              <a:sym typeface="Cambria"/>
            </a:endParaRPr>
          </a:p>
        </p:txBody>
      </p:sp>
      <p:sp>
        <p:nvSpPr>
          <p:cNvPr id="343" name="Google Shape;343;p33"/>
          <p:cNvSpPr txBox="1"/>
          <p:nvPr/>
        </p:nvSpPr>
        <p:spPr>
          <a:xfrm>
            <a:off x="332942" y="2830779"/>
            <a:ext cx="2721153" cy="1320597"/>
          </a:xfrm>
          <a:prstGeom prst="rect">
            <a:avLst/>
          </a:prstGeom>
          <a:noFill/>
          <a:ln>
            <a:noFill/>
          </a:ln>
        </p:spPr>
        <p:txBody>
          <a:bodyPr spcFirstLastPara="1" wrap="square" lIns="0" tIns="73650" rIns="0" bIns="0" anchor="t" anchorCtr="0">
            <a:spAutoFit/>
          </a:bodyPr>
          <a:lstStyle/>
          <a:p>
            <a:pPr marL="12700" marR="5080" lvl="0" indent="467359" algn="l" rtl="0">
              <a:lnSpc>
                <a:spcPct val="108333"/>
              </a:lnSpc>
              <a:spcBef>
                <a:spcPts val="0"/>
              </a:spcBef>
              <a:spcAft>
                <a:spcPts val="0"/>
              </a:spcAft>
              <a:buNone/>
            </a:pPr>
            <a:r>
              <a:rPr lang="en-US" sz="3600" b="1" dirty="0">
                <a:solidFill>
                  <a:srgbClr val="FFFFFF"/>
                </a:solidFill>
                <a:latin typeface="Cambria"/>
                <a:ea typeface="Cambria"/>
                <a:cs typeface="Cambria"/>
                <a:sym typeface="Cambria"/>
              </a:rPr>
              <a:t>String Operations</a:t>
            </a:r>
            <a:endParaRPr sz="3600" dirty="0">
              <a:latin typeface="Cambria"/>
              <a:ea typeface="Cambria"/>
              <a:cs typeface="Cambria"/>
              <a:sym typeface="Cambria"/>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34"/>
          <p:cNvSpPr/>
          <p:nvPr/>
        </p:nvSpPr>
        <p:spPr>
          <a:xfrm>
            <a:off x="11817095" y="758951"/>
            <a:ext cx="374650" cy="5330825"/>
          </a:xfrm>
          <a:custGeom>
            <a:avLst/>
            <a:gdLst/>
            <a:ahLst/>
            <a:cxnLst/>
            <a:rect l="l" t="t" r="r" b="b"/>
            <a:pathLst>
              <a:path w="374650" h="5330825" extrusionOk="0">
                <a:moveTo>
                  <a:pt x="374523" y="0"/>
                </a:moveTo>
                <a:lnTo>
                  <a:pt x="0" y="0"/>
                </a:lnTo>
                <a:lnTo>
                  <a:pt x="0" y="5330444"/>
                </a:lnTo>
                <a:lnTo>
                  <a:pt x="374523" y="5330444"/>
                </a:lnTo>
                <a:lnTo>
                  <a:pt x="374523" y="0"/>
                </a:lnTo>
                <a:close/>
              </a:path>
            </a:pathLst>
          </a:custGeom>
          <a:solidFill>
            <a:srgbClr val="C6C6C6">
              <a:alpha val="49411"/>
            </a:srgbClr>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49" name="Google Shape;349;p34"/>
          <p:cNvSpPr txBox="1"/>
          <p:nvPr/>
        </p:nvSpPr>
        <p:spPr>
          <a:xfrm>
            <a:off x="342086" y="2830779"/>
            <a:ext cx="2574849" cy="1270979"/>
          </a:xfrm>
          <a:prstGeom prst="rect">
            <a:avLst/>
          </a:prstGeom>
          <a:noFill/>
          <a:ln>
            <a:noFill/>
          </a:ln>
        </p:spPr>
        <p:txBody>
          <a:bodyPr spcFirstLastPara="1" wrap="square" lIns="0" tIns="73650" rIns="0" bIns="0" anchor="t" anchorCtr="0">
            <a:spAutoFit/>
          </a:bodyPr>
          <a:lstStyle/>
          <a:p>
            <a:pPr marL="12700" marR="5080" lvl="0" indent="467359" algn="l" rtl="0">
              <a:lnSpc>
                <a:spcPct val="108333"/>
              </a:lnSpc>
              <a:spcBef>
                <a:spcPts val="0"/>
              </a:spcBef>
              <a:spcAft>
                <a:spcPts val="0"/>
              </a:spcAft>
              <a:buNone/>
            </a:pPr>
            <a:r>
              <a:rPr lang="en-US" sz="3600" b="1" dirty="0">
                <a:solidFill>
                  <a:srgbClr val="FFFFFF"/>
                </a:solidFill>
                <a:latin typeface="Cambria"/>
                <a:ea typeface="Cambria"/>
                <a:cs typeface="Cambria"/>
                <a:sym typeface="Cambria"/>
              </a:rPr>
              <a:t>String Operations</a:t>
            </a:r>
            <a:endParaRPr sz="3600" dirty="0">
              <a:latin typeface="Cambria"/>
              <a:ea typeface="Cambria"/>
              <a:cs typeface="Cambria"/>
              <a:sym typeface="Cambria"/>
            </a:endParaRPr>
          </a:p>
        </p:txBody>
      </p:sp>
      <p:sp>
        <p:nvSpPr>
          <p:cNvPr id="350" name="Google Shape;350;p34"/>
          <p:cNvSpPr txBox="1"/>
          <p:nvPr/>
        </p:nvSpPr>
        <p:spPr>
          <a:xfrm>
            <a:off x="3962527" y="1295780"/>
            <a:ext cx="7619873" cy="970280"/>
          </a:xfrm>
          <a:prstGeom prst="rect">
            <a:avLst/>
          </a:prstGeom>
          <a:noFill/>
          <a:ln>
            <a:noFill/>
          </a:ln>
        </p:spPr>
        <p:txBody>
          <a:bodyPr spcFirstLastPara="1" wrap="square" lIns="0" tIns="47625" rIns="0" bIns="0" anchor="t" anchorCtr="0">
            <a:spAutoFit/>
          </a:bodyPr>
          <a:lstStyle/>
          <a:p>
            <a:pPr marL="195580" marR="5080" lvl="0" indent="-182880" algn="just" rtl="0">
              <a:lnSpc>
                <a:spcPct val="109090"/>
              </a:lnSpc>
              <a:spcBef>
                <a:spcPts val="0"/>
              </a:spcBef>
              <a:spcAft>
                <a:spcPts val="0"/>
              </a:spcAft>
              <a:buNone/>
            </a:pPr>
            <a:r>
              <a:rPr lang="en-US" sz="2200" b="1">
                <a:solidFill>
                  <a:srgbClr val="575757"/>
                </a:solidFill>
                <a:latin typeface="Cambria"/>
                <a:ea typeface="Cambria"/>
                <a:cs typeface="Cambria"/>
                <a:sym typeface="Cambria"/>
              </a:rPr>
              <a:t>substring() </a:t>
            </a:r>
            <a:r>
              <a:rPr lang="en-US" sz="2200">
                <a:solidFill>
                  <a:srgbClr val="575757"/>
                </a:solidFill>
                <a:latin typeface="Cambria"/>
                <a:ea typeface="Cambria"/>
                <a:cs typeface="Cambria"/>
                <a:sym typeface="Cambria"/>
              </a:rPr>
              <a:t>- Returns a new string that is a substring of this string. The substring begins with the character at the specified index and extends to the end of this string.</a:t>
            </a:r>
            <a:endParaRPr sz="2200">
              <a:latin typeface="Cambria"/>
              <a:ea typeface="Cambria"/>
              <a:cs typeface="Cambria"/>
              <a:sym typeface="Cambria"/>
            </a:endParaRPr>
          </a:p>
        </p:txBody>
      </p:sp>
      <p:sp>
        <p:nvSpPr>
          <p:cNvPr id="351" name="Google Shape;351;p34"/>
          <p:cNvSpPr txBox="1">
            <a:spLocks noGrp="1"/>
          </p:cNvSpPr>
          <p:nvPr>
            <p:ph type="title"/>
          </p:nvPr>
        </p:nvSpPr>
        <p:spPr>
          <a:xfrm>
            <a:off x="3962526" y="2354656"/>
            <a:ext cx="5410073" cy="350737"/>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2200" b="0">
                <a:solidFill>
                  <a:srgbClr val="575757"/>
                </a:solidFill>
                <a:latin typeface="Cambria"/>
                <a:ea typeface="Cambria"/>
                <a:cs typeface="Cambria"/>
                <a:sym typeface="Cambria"/>
              </a:rPr>
              <a:t>public  String  </a:t>
            </a:r>
            <a:r>
              <a:rPr lang="en-US" sz="2200">
                <a:solidFill>
                  <a:srgbClr val="575757"/>
                </a:solidFill>
                <a:latin typeface="Cambria"/>
                <a:ea typeface="Cambria"/>
                <a:cs typeface="Cambria"/>
                <a:sym typeface="Cambria"/>
              </a:rPr>
              <a:t>substring</a:t>
            </a:r>
            <a:r>
              <a:rPr lang="en-US" sz="2200" b="0">
                <a:solidFill>
                  <a:srgbClr val="575757"/>
                </a:solidFill>
                <a:latin typeface="Cambria"/>
                <a:ea typeface="Cambria"/>
                <a:cs typeface="Cambria"/>
                <a:sym typeface="Cambria"/>
              </a:rPr>
              <a:t>(int beginIndex)</a:t>
            </a:r>
            <a:endParaRPr sz="2200">
              <a:latin typeface="Cambria"/>
              <a:ea typeface="Cambria"/>
              <a:cs typeface="Cambria"/>
              <a:sym typeface="Cambria"/>
            </a:endParaRPr>
          </a:p>
        </p:txBody>
      </p:sp>
      <p:sp>
        <p:nvSpPr>
          <p:cNvPr id="352" name="Google Shape;352;p34"/>
          <p:cNvSpPr txBox="1"/>
          <p:nvPr/>
        </p:nvSpPr>
        <p:spPr>
          <a:xfrm>
            <a:off x="4145407" y="3139592"/>
            <a:ext cx="3046095" cy="924560"/>
          </a:xfrm>
          <a:prstGeom prst="rect">
            <a:avLst/>
          </a:prstGeom>
          <a:noFill/>
          <a:ln>
            <a:noFill/>
          </a:ln>
        </p:spPr>
        <p:txBody>
          <a:bodyPr spcFirstLastPara="1" wrap="square" lIns="0" tIns="12700" rIns="0" bIns="0" anchor="t" anchorCtr="0">
            <a:spAutoFit/>
          </a:bodyPr>
          <a:lstStyle/>
          <a:p>
            <a:pPr marL="441959" marR="5080" lvl="0" indent="-429895" algn="l" rtl="0">
              <a:lnSpc>
                <a:spcPct val="134100"/>
              </a:lnSpc>
              <a:spcBef>
                <a:spcPts val="0"/>
              </a:spcBef>
              <a:spcAft>
                <a:spcPts val="0"/>
              </a:spcAft>
              <a:buNone/>
            </a:pPr>
            <a:r>
              <a:rPr lang="en-US" sz="2200">
                <a:solidFill>
                  <a:srgbClr val="575757"/>
                </a:solidFill>
                <a:latin typeface="Cambria"/>
                <a:ea typeface="Cambria"/>
                <a:cs typeface="Cambria"/>
                <a:sym typeface="Cambria"/>
              </a:rPr>
              <a:t>Eg:"unhappy".substring(2) returns"happy"</a:t>
            </a:r>
            <a:endParaRPr sz="2200">
              <a:latin typeface="Cambria"/>
              <a:ea typeface="Cambria"/>
              <a:cs typeface="Cambria"/>
              <a:sym typeface="Cambria"/>
            </a:endParaRPr>
          </a:p>
        </p:txBody>
      </p:sp>
      <p:sp>
        <p:nvSpPr>
          <p:cNvPr id="353" name="Google Shape;353;p34"/>
          <p:cNvSpPr txBox="1"/>
          <p:nvPr/>
        </p:nvSpPr>
        <p:spPr>
          <a:xfrm>
            <a:off x="3962527" y="4644045"/>
            <a:ext cx="7238873" cy="921406"/>
          </a:xfrm>
          <a:prstGeom prst="rect">
            <a:avLst/>
          </a:prstGeom>
          <a:noFill/>
          <a:ln>
            <a:noFill/>
          </a:ln>
        </p:spPr>
        <p:txBody>
          <a:bodyPr spcFirstLastPara="1" wrap="square" lIns="0" tIns="127625" rIns="0" bIns="0" anchor="t" anchorCtr="0">
            <a:spAutoFit/>
          </a:bodyPr>
          <a:lstStyle/>
          <a:p>
            <a:pPr marL="12700" lvl="0" indent="0" algn="l" rtl="0">
              <a:lnSpc>
                <a:spcPct val="100000"/>
              </a:lnSpc>
              <a:spcBef>
                <a:spcPts val="0"/>
              </a:spcBef>
              <a:spcAft>
                <a:spcPts val="0"/>
              </a:spcAft>
              <a:buNone/>
            </a:pPr>
            <a:r>
              <a:rPr lang="en-US" sz="2200">
                <a:solidFill>
                  <a:srgbClr val="575757"/>
                </a:solidFill>
                <a:latin typeface="Cambria"/>
                <a:ea typeface="Cambria"/>
                <a:cs typeface="Cambria"/>
                <a:sym typeface="Cambria"/>
              </a:rPr>
              <a:t>Public  String  </a:t>
            </a:r>
            <a:r>
              <a:rPr lang="en-US" sz="2200" b="1">
                <a:solidFill>
                  <a:srgbClr val="575757"/>
                </a:solidFill>
                <a:latin typeface="Cambria"/>
                <a:ea typeface="Cambria"/>
                <a:cs typeface="Cambria"/>
                <a:sym typeface="Cambria"/>
              </a:rPr>
              <a:t>substring</a:t>
            </a:r>
            <a:r>
              <a:rPr lang="en-US" sz="2200">
                <a:solidFill>
                  <a:srgbClr val="575757"/>
                </a:solidFill>
                <a:latin typeface="Cambria"/>
                <a:ea typeface="Cambria"/>
                <a:cs typeface="Cambria"/>
                <a:sym typeface="Cambria"/>
              </a:rPr>
              <a:t>(int beginIndex,int endIndex)</a:t>
            </a:r>
            <a:endParaRPr sz="2200">
              <a:latin typeface="Cambria"/>
              <a:ea typeface="Cambria"/>
              <a:cs typeface="Cambria"/>
              <a:sym typeface="Cambria"/>
            </a:endParaRPr>
          </a:p>
          <a:p>
            <a:pPr marL="195580" lvl="0" indent="0" algn="l" rtl="0">
              <a:lnSpc>
                <a:spcPct val="100000"/>
              </a:lnSpc>
              <a:spcBef>
                <a:spcPts val="900"/>
              </a:spcBef>
              <a:spcAft>
                <a:spcPts val="0"/>
              </a:spcAft>
              <a:buNone/>
            </a:pPr>
            <a:r>
              <a:rPr lang="en-US" sz="2200">
                <a:solidFill>
                  <a:srgbClr val="575757"/>
                </a:solidFill>
                <a:latin typeface="Cambria"/>
                <a:ea typeface="Cambria"/>
                <a:cs typeface="Cambria"/>
                <a:sym typeface="Cambria"/>
              </a:rPr>
              <a:t>Eg:"smiles".substring(1, 5)	returns“mile”</a:t>
            </a:r>
            <a:endParaRPr sz="2200">
              <a:latin typeface="Cambria"/>
              <a:ea typeface="Cambria"/>
              <a:cs typeface="Cambria"/>
              <a:sym typeface="Cambri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35"/>
          <p:cNvSpPr/>
          <p:nvPr/>
        </p:nvSpPr>
        <p:spPr>
          <a:xfrm>
            <a:off x="11817095" y="758951"/>
            <a:ext cx="374650" cy="5330825"/>
          </a:xfrm>
          <a:custGeom>
            <a:avLst/>
            <a:gdLst/>
            <a:ahLst/>
            <a:cxnLst/>
            <a:rect l="l" t="t" r="r" b="b"/>
            <a:pathLst>
              <a:path w="374650" h="5330825" extrusionOk="0">
                <a:moveTo>
                  <a:pt x="374523" y="0"/>
                </a:moveTo>
                <a:lnTo>
                  <a:pt x="0" y="0"/>
                </a:lnTo>
                <a:lnTo>
                  <a:pt x="0" y="5330444"/>
                </a:lnTo>
                <a:lnTo>
                  <a:pt x="374523" y="5330444"/>
                </a:lnTo>
                <a:lnTo>
                  <a:pt x="374523" y="0"/>
                </a:lnTo>
                <a:close/>
              </a:path>
            </a:pathLst>
          </a:custGeom>
          <a:solidFill>
            <a:srgbClr val="C6C6C6">
              <a:alpha val="49411"/>
            </a:srgbClr>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59" name="Google Shape;359;p35"/>
          <p:cNvSpPr txBox="1"/>
          <p:nvPr/>
        </p:nvSpPr>
        <p:spPr>
          <a:xfrm>
            <a:off x="454558" y="2136800"/>
            <a:ext cx="2206346" cy="1012457"/>
          </a:xfrm>
          <a:prstGeom prst="rect">
            <a:avLst/>
          </a:prstGeom>
          <a:noFill/>
          <a:ln>
            <a:noFill/>
          </a:ln>
        </p:spPr>
        <p:txBody>
          <a:bodyPr spcFirstLastPara="1" wrap="square" lIns="0" tIns="12700" rIns="0" bIns="0" anchor="t" anchorCtr="0">
            <a:spAutoFit/>
          </a:bodyPr>
          <a:lstStyle/>
          <a:p>
            <a:pPr marL="12700" marR="5080" lvl="0" indent="348615" algn="l" rtl="0">
              <a:lnSpc>
                <a:spcPct val="116100"/>
              </a:lnSpc>
              <a:spcBef>
                <a:spcPts val="0"/>
              </a:spcBef>
              <a:spcAft>
                <a:spcPts val="0"/>
              </a:spcAft>
              <a:buNone/>
            </a:pPr>
            <a:r>
              <a:rPr lang="en-US" sz="2800" b="1" dirty="0">
                <a:solidFill>
                  <a:srgbClr val="FFFFFF"/>
                </a:solidFill>
                <a:latin typeface="Cambria"/>
                <a:ea typeface="Cambria"/>
                <a:cs typeface="Cambria"/>
                <a:sym typeface="Cambria"/>
              </a:rPr>
              <a:t>String Operations</a:t>
            </a:r>
            <a:endParaRPr sz="2800" dirty="0">
              <a:latin typeface="Cambria"/>
              <a:ea typeface="Cambria"/>
              <a:cs typeface="Cambria"/>
              <a:sym typeface="Cambria"/>
            </a:endParaRPr>
          </a:p>
        </p:txBody>
      </p:sp>
      <p:sp>
        <p:nvSpPr>
          <p:cNvPr id="360" name="Google Shape;360;p35"/>
          <p:cNvSpPr txBox="1">
            <a:spLocks noGrp="1"/>
          </p:cNvSpPr>
          <p:nvPr>
            <p:ph type="title"/>
          </p:nvPr>
        </p:nvSpPr>
        <p:spPr>
          <a:xfrm>
            <a:off x="3810127" y="907796"/>
            <a:ext cx="7586980" cy="3911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200">
                <a:solidFill>
                  <a:srgbClr val="575757"/>
                </a:solidFill>
                <a:latin typeface="Cambria"/>
                <a:ea typeface="Cambria"/>
                <a:cs typeface="Cambria"/>
                <a:sym typeface="Cambria"/>
              </a:rPr>
              <a:t>concat()</a:t>
            </a:r>
            <a:r>
              <a:rPr lang="en-US" sz="2200" b="0">
                <a:solidFill>
                  <a:srgbClr val="575757"/>
                </a:solidFill>
                <a:latin typeface="Cambria"/>
                <a:ea typeface="Cambria"/>
                <a:cs typeface="Cambria"/>
                <a:sym typeface="Cambria"/>
              </a:rPr>
              <a:t>- Concatenates the specified stringto the end of </a:t>
            </a:r>
            <a:r>
              <a:rPr lang="en-US" sz="2400" b="0">
                <a:solidFill>
                  <a:srgbClr val="000000"/>
                </a:solidFill>
                <a:latin typeface="Cambria"/>
                <a:ea typeface="Cambria"/>
                <a:cs typeface="Cambria"/>
                <a:sym typeface="Cambria"/>
              </a:rPr>
              <a:t>thisstring.</a:t>
            </a:r>
            <a:endParaRPr sz="2400">
              <a:latin typeface="Cambria"/>
              <a:ea typeface="Cambria"/>
              <a:cs typeface="Cambria"/>
              <a:sym typeface="Cambria"/>
            </a:endParaRPr>
          </a:p>
        </p:txBody>
      </p:sp>
      <p:sp>
        <p:nvSpPr>
          <p:cNvPr id="361" name="Google Shape;361;p35"/>
          <p:cNvSpPr txBox="1"/>
          <p:nvPr/>
        </p:nvSpPr>
        <p:spPr>
          <a:xfrm>
            <a:off x="3733927" y="1883763"/>
            <a:ext cx="7663180" cy="736740"/>
          </a:xfrm>
          <a:prstGeom prst="rect">
            <a:avLst/>
          </a:prstGeom>
          <a:noFill/>
          <a:ln>
            <a:noFill/>
          </a:ln>
        </p:spPr>
        <p:txBody>
          <a:bodyPr spcFirstLastPara="1" wrap="square" lIns="0" tIns="33650" rIns="0" bIns="0" anchor="t" anchorCtr="0">
            <a:spAutoFit/>
          </a:bodyPr>
          <a:lstStyle/>
          <a:p>
            <a:pPr marL="12700" lvl="0" indent="0" algn="l" rtl="0">
              <a:lnSpc>
                <a:spcPct val="100000"/>
              </a:lnSpc>
              <a:spcBef>
                <a:spcPts val="0"/>
              </a:spcBef>
              <a:spcAft>
                <a:spcPts val="0"/>
              </a:spcAft>
              <a:buNone/>
            </a:pPr>
            <a:r>
              <a:rPr lang="en-US" sz="2200">
                <a:solidFill>
                  <a:srgbClr val="575757"/>
                </a:solidFill>
                <a:latin typeface="Cambria"/>
                <a:ea typeface="Cambria"/>
                <a:cs typeface="Cambria"/>
                <a:sym typeface="Cambria"/>
              </a:rPr>
              <a:t>If the length of the argument tstring is 0, then this String object is</a:t>
            </a:r>
            <a:endParaRPr sz="2200">
              <a:latin typeface="Cambria"/>
              <a:ea typeface="Cambria"/>
              <a:cs typeface="Cambria"/>
              <a:sym typeface="Cambria"/>
            </a:endParaRPr>
          </a:p>
          <a:p>
            <a:pPr marL="12700" lvl="0" indent="0" algn="l" rtl="0">
              <a:lnSpc>
                <a:spcPct val="100000"/>
              </a:lnSpc>
              <a:spcBef>
                <a:spcPts val="170"/>
              </a:spcBef>
              <a:spcAft>
                <a:spcPts val="0"/>
              </a:spcAft>
              <a:buNone/>
            </a:pPr>
            <a:r>
              <a:rPr lang="en-US" sz="2200">
                <a:solidFill>
                  <a:srgbClr val="575757"/>
                </a:solidFill>
                <a:latin typeface="Cambria"/>
                <a:ea typeface="Cambria"/>
                <a:cs typeface="Cambria"/>
                <a:sym typeface="Cambria"/>
              </a:rPr>
              <a:t>returned.</a:t>
            </a:r>
            <a:endParaRPr sz="2200">
              <a:latin typeface="Cambria"/>
              <a:ea typeface="Cambria"/>
              <a:cs typeface="Cambria"/>
              <a:sym typeface="Cambria"/>
            </a:endParaRPr>
          </a:p>
        </p:txBody>
      </p:sp>
      <p:sp>
        <p:nvSpPr>
          <p:cNvPr id="362" name="Google Shape;362;p35"/>
          <p:cNvSpPr txBox="1"/>
          <p:nvPr/>
        </p:nvSpPr>
        <p:spPr>
          <a:xfrm>
            <a:off x="3733927" y="3048761"/>
            <a:ext cx="7982584" cy="2023110"/>
          </a:xfrm>
          <a:prstGeom prst="rect">
            <a:avLst/>
          </a:prstGeom>
          <a:noFill/>
          <a:ln>
            <a:noFill/>
          </a:ln>
        </p:spPr>
        <p:txBody>
          <a:bodyPr spcFirstLastPara="1" wrap="square" lIns="0" tIns="36175" rIns="0" bIns="0" anchor="t" anchorCtr="0">
            <a:spAutoFit/>
          </a:bodyPr>
          <a:lstStyle/>
          <a:p>
            <a:pPr marL="195580" marR="5080" lvl="0" indent="-182880" algn="l" rtl="0">
              <a:lnSpc>
                <a:spcPct val="114090"/>
              </a:lnSpc>
              <a:spcBef>
                <a:spcPts val="0"/>
              </a:spcBef>
              <a:spcAft>
                <a:spcPts val="0"/>
              </a:spcAft>
              <a:buNone/>
            </a:pPr>
            <a:r>
              <a:rPr lang="en-US" sz="2200">
                <a:solidFill>
                  <a:srgbClr val="575757"/>
                </a:solidFill>
                <a:latin typeface="Cambria"/>
                <a:ea typeface="Cambria"/>
                <a:cs typeface="Cambria"/>
                <a:sym typeface="Cambria"/>
              </a:rPr>
              <a:t>Otherwise,  a new String object is created,  containing the invoking string with the contents of the str appended to it.</a:t>
            </a:r>
            <a:endParaRPr sz="2200">
              <a:latin typeface="Cambria"/>
              <a:ea typeface="Cambria"/>
              <a:cs typeface="Cambria"/>
              <a:sym typeface="Cambria"/>
            </a:endParaRPr>
          </a:p>
          <a:p>
            <a:pPr marL="0" lvl="0" indent="0" algn="l" rtl="0">
              <a:lnSpc>
                <a:spcPct val="100000"/>
              </a:lnSpc>
              <a:spcBef>
                <a:spcPts val="740"/>
              </a:spcBef>
              <a:spcAft>
                <a:spcPts val="0"/>
              </a:spcAft>
              <a:buNone/>
            </a:pPr>
            <a:endParaRPr sz="2200">
              <a:latin typeface="Cambria"/>
              <a:ea typeface="Cambria"/>
              <a:cs typeface="Cambria"/>
              <a:sym typeface="Cambria"/>
            </a:endParaRPr>
          </a:p>
          <a:p>
            <a:pPr marL="88900" marR="2145030" lvl="0" indent="0" algn="l" rtl="0">
              <a:lnSpc>
                <a:spcPct val="136400"/>
              </a:lnSpc>
              <a:spcBef>
                <a:spcPts val="5"/>
              </a:spcBef>
              <a:spcAft>
                <a:spcPts val="0"/>
              </a:spcAft>
              <a:buNone/>
            </a:pPr>
            <a:r>
              <a:rPr lang="en-US" sz="2200">
                <a:solidFill>
                  <a:srgbClr val="575757"/>
                </a:solidFill>
                <a:latin typeface="Cambria"/>
                <a:ea typeface="Cambria"/>
                <a:cs typeface="Cambria"/>
                <a:sym typeface="Cambria"/>
              </a:rPr>
              <a:t>public String </a:t>
            </a:r>
            <a:r>
              <a:rPr lang="en-US" sz="2200" b="1">
                <a:solidFill>
                  <a:srgbClr val="575757"/>
                </a:solidFill>
                <a:latin typeface="Cambria"/>
                <a:ea typeface="Cambria"/>
                <a:cs typeface="Cambria"/>
                <a:sym typeface="Cambria"/>
              </a:rPr>
              <a:t>concat</a:t>
            </a:r>
            <a:r>
              <a:rPr lang="en-US" sz="2200">
                <a:solidFill>
                  <a:srgbClr val="575757"/>
                </a:solidFill>
                <a:latin typeface="Cambria"/>
                <a:ea typeface="Cambria"/>
                <a:cs typeface="Cambria"/>
                <a:sym typeface="Cambria"/>
              </a:rPr>
              <a:t>(String str) "to".concat("get").concat("her") returns"together"</a:t>
            </a:r>
            <a:endParaRPr sz="2200">
              <a:latin typeface="Cambria"/>
              <a:ea typeface="Cambria"/>
              <a:cs typeface="Cambria"/>
              <a:sym typeface="Cambria"/>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36"/>
          <p:cNvSpPr/>
          <p:nvPr/>
        </p:nvSpPr>
        <p:spPr>
          <a:xfrm>
            <a:off x="11817095" y="758951"/>
            <a:ext cx="374650" cy="5330825"/>
          </a:xfrm>
          <a:custGeom>
            <a:avLst/>
            <a:gdLst/>
            <a:ahLst/>
            <a:cxnLst/>
            <a:rect l="l" t="t" r="r" b="b"/>
            <a:pathLst>
              <a:path w="374650" h="5330825" extrusionOk="0">
                <a:moveTo>
                  <a:pt x="374523" y="0"/>
                </a:moveTo>
                <a:lnTo>
                  <a:pt x="0" y="0"/>
                </a:lnTo>
                <a:lnTo>
                  <a:pt x="0" y="5330444"/>
                </a:lnTo>
                <a:lnTo>
                  <a:pt x="374523" y="5330444"/>
                </a:lnTo>
                <a:lnTo>
                  <a:pt x="374523" y="0"/>
                </a:lnTo>
                <a:close/>
              </a:path>
            </a:pathLst>
          </a:custGeom>
          <a:solidFill>
            <a:srgbClr val="C6C6C6">
              <a:alpha val="49411"/>
            </a:srgbClr>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68" name="Google Shape;368;p36"/>
          <p:cNvSpPr txBox="1"/>
          <p:nvPr/>
        </p:nvSpPr>
        <p:spPr>
          <a:xfrm>
            <a:off x="331418" y="2830779"/>
            <a:ext cx="2759253" cy="1270979"/>
          </a:xfrm>
          <a:prstGeom prst="rect">
            <a:avLst/>
          </a:prstGeom>
          <a:noFill/>
          <a:ln>
            <a:noFill/>
          </a:ln>
        </p:spPr>
        <p:txBody>
          <a:bodyPr spcFirstLastPara="1" wrap="square" lIns="0" tIns="73650" rIns="0" bIns="0" anchor="t" anchorCtr="0">
            <a:spAutoFit/>
          </a:bodyPr>
          <a:lstStyle/>
          <a:p>
            <a:pPr marL="12700" marR="5080" lvl="0" indent="0" algn="l" rtl="0">
              <a:lnSpc>
                <a:spcPct val="108333"/>
              </a:lnSpc>
              <a:spcBef>
                <a:spcPts val="0"/>
              </a:spcBef>
              <a:spcAft>
                <a:spcPts val="0"/>
              </a:spcAft>
              <a:buNone/>
            </a:pPr>
            <a:r>
              <a:rPr lang="en-US" sz="3600" b="1" dirty="0" smtClean="0">
                <a:solidFill>
                  <a:srgbClr val="FFFFFF"/>
                </a:solidFill>
                <a:latin typeface="Cambria"/>
                <a:ea typeface="Cambria"/>
                <a:cs typeface="Cambria"/>
                <a:sym typeface="Cambria"/>
              </a:rPr>
              <a:t>      String </a:t>
            </a:r>
            <a:r>
              <a:rPr lang="en-US" sz="3600" b="1" dirty="0">
                <a:solidFill>
                  <a:srgbClr val="FFFFFF"/>
                </a:solidFill>
                <a:latin typeface="Cambria"/>
                <a:ea typeface="Cambria"/>
                <a:cs typeface="Cambria"/>
                <a:sym typeface="Cambria"/>
              </a:rPr>
              <a:t>Operations</a:t>
            </a:r>
            <a:endParaRPr sz="3600" dirty="0">
              <a:latin typeface="Cambria"/>
              <a:ea typeface="Cambria"/>
              <a:cs typeface="Cambria"/>
              <a:sym typeface="Cambria"/>
            </a:endParaRPr>
          </a:p>
        </p:txBody>
      </p:sp>
      <p:sp>
        <p:nvSpPr>
          <p:cNvPr id="369" name="Google Shape;369;p36"/>
          <p:cNvSpPr txBox="1">
            <a:spLocks noGrp="1"/>
          </p:cNvSpPr>
          <p:nvPr>
            <p:ph type="title"/>
          </p:nvPr>
        </p:nvSpPr>
        <p:spPr>
          <a:xfrm>
            <a:off x="3886326" y="586181"/>
            <a:ext cx="7772274" cy="678180"/>
          </a:xfrm>
          <a:prstGeom prst="rect">
            <a:avLst/>
          </a:prstGeom>
          <a:noFill/>
          <a:ln>
            <a:noFill/>
          </a:ln>
        </p:spPr>
        <p:txBody>
          <a:bodyPr spcFirstLastPara="1" wrap="square" lIns="0" tIns="12050" rIns="0" bIns="0" anchor="t" anchorCtr="0">
            <a:spAutoFit/>
          </a:bodyPr>
          <a:lstStyle/>
          <a:p>
            <a:pPr marL="12700" lvl="0" indent="0" algn="l" rtl="0">
              <a:lnSpc>
                <a:spcPct val="116818"/>
              </a:lnSpc>
              <a:spcBef>
                <a:spcPts val="0"/>
              </a:spcBef>
              <a:spcAft>
                <a:spcPts val="0"/>
              </a:spcAft>
              <a:buNone/>
            </a:pPr>
            <a:r>
              <a:rPr lang="en-US" sz="2200">
                <a:solidFill>
                  <a:srgbClr val="575757"/>
                </a:solidFill>
                <a:latin typeface="Cambria"/>
                <a:ea typeface="Cambria"/>
                <a:cs typeface="Cambria"/>
                <a:sym typeface="Cambria"/>
              </a:rPr>
              <a:t>replace()-</a:t>
            </a:r>
            <a:r>
              <a:rPr lang="en-US" sz="2200" b="0">
                <a:solidFill>
                  <a:srgbClr val="575757"/>
                </a:solidFill>
                <a:latin typeface="Cambria"/>
                <a:ea typeface="Cambria"/>
                <a:cs typeface="Cambria"/>
                <a:sym typeface="Cambria"/>
              </a:rPr>
              <a:t>Returns a new string resulting from replacing all Occurrences of old Char in this string with newChar.</a:t>
            </a:r>
            <a:endParaRPr sz="2200">
              <a:latin typeface="Cambria"/>
              <a:ea typeface="Cambria"/>
              <a:cs typeface="Cambria"/>
              <a:sym typeface="Cambria"/>
            </a:endParaRPr>
          </a:p>
        </p:txBody>
      </p:sp>
      <p:sp>
        <p:nvSpPr>
          <p:cNvPr id="370" name="Google Shape;370;p36"/>
          <p:cNvSpPr txBox="1"/>
          <p:nvPr/>
        </p:nvSpPr>
        <p:spPr>
          <a:xfrm>
            <a:off x="3962526" y="1614322"/>
            <a:ext cx="7315073" cy="841962"/>
          </a:xfrm>
          <a:prstGeom prst="rect">
            <a:avLst/>
          </a:prstGeom>
          <a:noFill/>
          <a:ln>
            <a:noFill/>
          </a:ln>
        </p:spPr>
        <p:txBody>
          <a:bodyPr spcFirstLastPara="1" wrap="square" lIns="0" tIns="13325" rIns="0" bIns="0" anchor="t" anchorCtr="0">
            <a:spAutoFit/>
          </a:bodyPr>
          <a:lstStyle/>
          <a:p>
            <a:pPr marL="195580" marR="5080" lvl="0" indent="-182880" algn="l" rtl="0">
              <a:lnSpc>
                <a:spcPct val="128899"/>
              </a:lnSpc>
              <a:spcBef>
                <a:spcPts val="0"/>
              </a:spcBef>
              <a:spcAft>
                <a:spcPts val="0"/>
              </a:spcAft>
              <a:buNone/>
            </a:pPr>
            <a:r>
              <a:rPr lang="en-US" sz="2200">
                <a:solidFill>
                  <a:srgbClr val="575757"/>
                </a:solidFill>
                <a:latin typeface="Cambria"/>
                <a:ea typeface="Cambria"/>
                <a:cs typeface="Cambria"/>
                <a:sym typeface="Cambria"/>
              </a:rPr>
              <a:t>public  String  </a:t>
            </a:r>
            <a:r>
              <a:rPr lang="en-US" sz="2200" b="1">
                <a:solidFill>
                  <a:srgbClr val="575757"/>
                </a:solidFill>
                <a:latin typeface="Cambria"/>
                <a:ea typeface="Cambria"/>
                <a:cs typeface="Cambria"/>
                <a:sym typeface="Cambria"/>
              </a:rPr>
              <a:t>replace</a:t>
            </a:r>
            <a:r>
              <a:rPr lang="en-US" sz="2200">
                <a:solidFill>
                  <a:srgbClr val="575757"/>
                </a:solidFill>
                <a:latin typeface="Cambria"/>
                <a:ea typeface="Cambria"/>
                <a:cs typeface="Cambria"/>
                <a:sym typeface="Cambria"/>
              </a:rPr>
              <a:t>(char oldChar, char newChar) "mesquite in yourcellar".replace('e','o') returns"mosquito in yourcollar"</a:t>
            </a:r>
            <a:endParaRPr sz="2200">
              <a:latin typeface="Cambria"/>
              <a:ea typeface="Cambria"/>
              <a:cs typeface="Cambria"/>
              <a:sym typeface="Cambria"/>
            </a:endParaRPr>
          </a:p>
        </p:txBody>
      </p:sp>
      <p:sp>
        <p:nvSpPr>
          <p:cNvPr id="371" name="Google Shape;371;p36"/>
          <p:cNvSpPr txBox="1"/>
          <p:nvPr/>
        </p:nvSpPr>
        <p:spPr>
          <a:xfrm>
            <a:off x="3810000" y="3424363"/>
            <a:ext cx="8050581" cy="2353850"/>
          </a:xfrm>
          <a:prstGeom prst="rect">
            <a:avLst/>
          </a:prstGeom>
          <a:noFill/>
          <a:ln>
            <a:noFill/>
          </a:ln>
        </p:spPr>
        <p:txBody>
          <a:bodyPr spcFirstLastPara="1" wrap="square" lIns="0" tIns="12050" rIns="0" bIns="0" anchor="t" anchorCtr="0">
            <a:spAutoFit/>
          </a:bodyPr>
          <a:lstStyle/>
          <a:p>
            <a:pPr marL="48895" lvl="0" indent="0" algn="l" rtl="0">
              <a:lnSpc>
                <a:spcPct val="107954"/>
              </a:lnSpc>
              <a:spcBef>
                <a:spcPts val="0"/>
              </a:spcBef>
              <a:spcAft>
                <a:spcPts val="0"/>
              </a:spcAft>
              <a:buNone/>
            </a:pPr>
            <a:r>
              <a:rPr lang="en-US" sz="2200" b="1">
                <a:solidFill>
                  <a:srgbClr val="575757"/>
                </a:solidFill>
                <a:latin typeface="Cambria"/>
                <a:ea typeface="Cambria"/>
                <a:cs typeface="Cambria"/>
                <a:sym typeface="Cambria"/>
              </a:rPr>
              <a:t>trim()- </a:t>
            </a:r>
            <a:r>
              <a:rPr lang="en-US" sz="2200">
                <a:solidFill>
                  <a:srgbClr val="575757"/>
                </a:solidFill>
                <a:latin typeface="Cambria"/>
                <a:ea typeface="Cambria"/>
                <a:cs typeface="Cambria"/>
                <a:sym typeface="Cambria"/>
              </a:rPr>
              <a:t>Returns a copy of the string, with leading  and trailing</a:t>
            </a:r>
            <a:r>
              <a:rPr lang="en-US" sz="2200">
                <a:latin typeface="Cambria"/>
                <a:ea typeface="Cambria"/>
                <a:cs typeface="Cambria"/>
                <a:sym typeface="Cambria"/>
              </a:rPr>
              <a:t> </a:t>
            </a:r>
            <a:r>
              <a:rPr lang="en-US" sz="2200">
                <a:solidFill>
                  <a:srgbClr val="575757"/>
                </a:solidFill>
                <a:latin typeface="Cambria"/>
                <a:ea typeface="Cambria"/>
                <a:cs typeface="Cambria"/>
                <a:sym typeface="Cambria"/>
              </a:rPr>
              <a:t>White space omitted.</a:t>
            </a:r>
            <a:endParaRPr sz="2200">
              <a:latin typeface="Cambria"/>
              <a:ea typeface="Cambria"/>
              <a:cs typeface="Cambria"/>
              <a:sym typeface="Cambria"/>
            </a:endParaRPr>
          </a:p>
          <a:p>
            <a:pPr marL="48895" lvl="0" indent="0" algn="l" rtl="0">
              <a:lnSpc>
                <a:spcPct val="100000"/>
              </a:lnSpc>
              <a:spcBef>
                <a:spcPts val="710"/>
              </a:spcBef>
              <a:spcAft>
                <a:spcPts val="0"/>
              </a:spcAft>
              <a:buNone/>
            </a:pPr>
            <a:r>
              <a:rPr lang="en-US" sz="2200">
                <a:solidFill>
                  <a:srgbClr val="575757"/>
                </a:solidFill>
                <a:latin typeface="Cambria"/>
                <a:ea typeface="Cambria"/>
                <a:cs typeface="Cambria"/>
                <a:sym typeface="Cambria"/>
              </a:rPr>
              <a:t>public String trim()</a:t>
            </a:r>
            <a:endParaRPr sz="2200">
              <a:latin typeface="Cambria"/>
              <a:ea typeface="Cambria"/>
              <a:cs typeface="Cambria"/>
              <a:sym typeface="Cambria"/>
            </a:endParaRPr>
          </a:p>
          <a:p>
            <a:pPr marL="0" lvl="0" indent="0" algn="l" rtl="0">
              <a:lnSpc>
                <a:spcPct val="100000"/>
              </a:lnSpc>
              <a:spcBef>
                <a:spcPts val="1450"/>
              </a:spcBef>
              <a:spcAft>
                <a:spcPts val="0"/>
              </a:spcAft>
              <a:buNone/>
            </a:pPr>
            <a:endParaRPr sz="2200">
              <a:latin typeface="Cambria"/>
              <a:ea typeface="Cambria"/>
              <a:cs typeface="Cambria"/>
              <a:sym typeface="Cambria"/>
            </a:endParaRPr>
          </a:p>
          <a:p>
            <a:pPr marL="12700" lvl="0" indent="0" algn="l" rtl="0">
              <a:lnSpc>
                <a:spcPct val="100000"/>
              </a:lnSpc>
              <a:spcBef>
                <a:spcPts val="5"/>
              </a:spcBef>
              <a:spcAft>
                <a:spcPts val="0"/>
              </a:spcAft>
              <a:buNone/>
            </a:pPr>
            <a:r>
              <a:rPr lang="en-US" sz="2200">
                <a:solidFill>
                  <a:srgbClr val="575757"/>
                </a:solidFill>
                <a:latin typeface="Cambria"/>
                <a:ea typeface="Cambria"/>
                <a:cs typeface="Cambria"/>
                <a:sym typeface="Cambria"/>
              </a:rPr>
              <a:t>String s=“	Hi Mom!	“.trim();</a:t>
            </a:r>
            <a:endParaRPr sz="2200">
              <a:latin typeface="Cambria"/>
              <a:ea typeface="Cambria"/>
              <a:cs typeface="Cambria"/>
              <a:sym typeface="Cambria"/>
            </a:endParaRPr>
          </a:p>
          <a:p>
            <a:pPr marL="12700" lvl="0" indent="0" algn="l" rtl="0">
              <a:lnSpc>
                <a:spcPct val="100000"/>
              </a:lnSpc>
              <a:spcBef>
                <a:spcPts val="710"/>
              </a:spcBef>
              <a:spcAft>
                <a:spcPts val="0"/>
              </a:spcAft>
              <a:buNone/>
            </a:pPr>
            <a:r>
              <a:rPr lang="en-US" sz="2200">
                <a:solidFill>
                  <a:srgbClr val="575757"/>
                </a:solidFill>
                <a:latin typeface="Cambria"/>
                <a:ea typeface="Cambria"/>
                <a:cs typeface="Cambria"/>
                <a:sym typeface="Cambria"/>
              </a:rPr>
              <a:t>returns “HiMom!”</a:t>
            </a:r>
            <a:endParaRPr sz="2200">
              <a:latin typeface="Cambria"/>
              <a:ea typeface="Cambria"/>
              <a:cs typeface="Cambria"/>
              <a:sym typeface="Cambria"/>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37"/>
          <p:cNvSpPr/>
          <p:nvPr/>
        </p:nvSpPr>
        <p:spPr>
          <a:xfrm>
            <a:off x="11817095" y="758951"/>
            <a:ext cx="374650" cy="5330825"/>
          </a:xfrm>
          <a:custGeom>
            <a:avLst/>
            <a:gdLst/>
            <a:ahLst/>
            <a:cxnLst/>
            <a:rect l="l" t="t" r="r" b="b"/>
            <a:pathLst>
              <a:path w="374650" h="5330825" extrusionOk="0">
                <a:moveTo>
                  <a:pt x="374523" y="0"/>
                </a:moveTo>
                <a:lnTo>
                  <a:pt x="0" y="0"/>
                </a:lnTo>
                <a:lnTo>
                  <a:pt x="0" y="5330444"/>
                </a:lnTo>
                <a:lnTo>
                  <a:pt x="374523" y="5330444"/>
                </a:lnTo>
                <a:lnTo>
                  <a:pt x="374523" y="0"/>
                </a:lnTo>
                <a:close/>
              </a:path>
            </a:pathLst>
          </a:custGeom>
          <a:solidFill>
            <a:srgbClr val="C6C6C6">
              <a:alpha val="49411"/>
            </a:srgbClr>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77" name="Google Shape;377;p37"/>
          <p:cNvSpPr txBox="1">
            <a:spLocks noGrp="1"/>
          </p:cNvSpPr>
          <p:nvPr>
            <p:ph type="title"/>
          </p:nvPr>
        </p:nvSpPr>
        <p:spPr>
          <a:xfrm>
            <a:off x="460959" y="3068777"/>
            <a:ext cx="2355393" cy="566822"/>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dirty="0">
                <a:latin typeface="Cambria"/>
                <a:ea typeface="Cambria"/>
                <a:cs typeface="Cambria"/>
                <a:sym typeface="Cambria"/>
              </a:rPr>
              <a:t>Summary</a:t>
            </a:r>
            <a:endParaRPr dirty="0"/>
          </a:p>
        </p:txBody>
      </p:sp>
      <p:graphicFrame>
        <p:nvGraphicFramePr>
          <p:cNvPr id="378" name="Google Shape;378;p37"/>
          <p:cNvGraphicFramePr/>
          <p:nvPr/>
        </p:nvGraphicFramePr>
        <p:xfrm>
          <a:off x="3522089" y="51435"/>
          <a:ext cx="8295000" cy="6762150"/>
        </p:xfrm>
        <a:graphic>
          <a:graphicData uri="http://schemas.openxmlformats.org/drawingml/2006/table">
            <a:tbl>
              <a:tblPr firstRow="1" bandRow="1">
                <a:noFill/>
                <a:tableStyleId>{9017975B-57E6-407A-B2BE-4A32A2008E57}</a:tableStyleId>
              </a:tblPr>
              <a:tblGrid>
                <a:gridCol w="510800">
                  <a:extLst>
                    <a:ext uri="{9D8B030D-6E8A-4147-A177-3AD203B41FA5}">
                      <a16:colId xmlns:a16="http://schemas.microsoft.com/office/drawing/2014/main" val="20000"/>
                    </a:ext>
                  </a:extLst>
                </a:gridCol>
                <a:gridCol w="3358525">
                  <a:extLst>
                    <a:ext uri="{9D8B030D-6E8A-4147-A177-3AD203B41FA5}">
                      <a16:colId xmlns:a16="http://schemas.microsoft.com/office/drawing/2014/main" val="20001"/>
                    </a:ext>
                  </a:extLst>
                </a:gridCol>
                <a:gridCol w="4325350">
                  <a:extLst>
                    <a:ext uri="{9D8B030D-6E8A-4147-A177-3AD203B41FA5}">
                      <a16:colId xmlns:a16="http://schemas.microsoft.com/office/drawing/2014/main" val="20002"/>
                    </a:ext>
                  </a:extLst>
                </a:gridCol>
                <a:gridCol w="100325">
                  <a:extLst>
                    <a:ext uri="{9D8B030D-6E8A-4147-A177-3AD203B41FA5}">
                      <a16:colId xmlns:a16="http://schemas.microsoft.com/office/drawing/2014/main" val="20003"/>
                    </a:ext>
                  </a:extLst>
                </a:gridCol>
              </a:tblGrid>
              <a:tr h="370850">
                <a:tc>
                  <a:txBody>
                    <a:bodyPr/>
                    <a:lstStyle/>
                    <a:p>
                      <a:pPr marL="1270" marR="0" lvl="0" indent="0" algn="ctr" rtl="0">
                        <a:lnSpc>
                          <a:spcPct val="100000"/>
                        </a:lnSpc>
                        <a:spcBef>
                          <a:spcPts val="0"/>
                        </a:spcBef>
                        <a:spcAft>
                          <a:spcPts val="0"/>
                        </a:spcAft>
                        <a:buNone/>
                      </a:pPr>
                      <a:r>
                        <a:rPr lang="en-US" sz="1400" b="1" u="none" strike="noStrike" cap="none">
                          <a:latin typeface="Calibri"/>
                          <a:ea typeface="Calibri"/>
                          <a:cs typeface="Calibri"/>
                          <a:sym typeface="Calibri"/>
                        </a:rPr>
                        <a:t>No.</a:t>
                      </a:r>
                      <a:endParaRPr sz="1400" u="none" strike="noStrike" cap="none">
                        <a:latin typeface="Calibri"/>
                        <a:ea typeface="Calibri"/>
                        <a:cs typeface="Calibri"/>
                        <a:sym typeface="Calibri"/>
                      </a:endParaRPr>
                    </a:p>
                  </a:txBody>
                  <a:tcPr marL="0" marR="0" marT="298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0B8D2"/>
                    </a:solidFill>
                  </a:tcPr>
                </a:tc>
                <a:tc>
                  <a:txBody>
                    <a:bodyPr/>
                    <a:lstStyle/>
                    <a:p>
                      <a:pPr marL="0" marR="0" lvl="0" indent="0" algn="ctr" rtl="0">
                        <a:lnSpc>
                          <a:spcPct val="100000"/>
                        </a:lnSpc>
                        <a:spcBef>
                          <a:spcPts val="0"/>
                        </a:spcBef>
                        <a:spcAft>
                          <a:spcPts val="0"/>
                        </a:spcAft>
                        <a:buNone/>
                      </a:pPr>
                      <a:r>
                        <a:rPr lang="en-US" sz="1400" b="1" u="none" strike="noStrike" cap="none">
                          <a:latin typeface="Calibri"/>
                          <a:ea typeface="Calibri"/>
                          <a:cs typeface="Calibri"/>
                          <a:sym typeface="Calibri"/>
                        </a:rPr>
                        <a:t>Method</a:t>
                      </a:r>
                      <a:endParaRPr sz="1400" u="none" strike="noStrike" cap="none">
                        <a:latin typeface="Calibri"/>
                        <a:ea typeface="Calibri"/>
                        <a:cs typeface="Calibri"/>
                        <a:sym typeface="Calibri"/>
                      </a:endParaRPr>
                    </a:p>
                  </a:txBody>
                  <a:tcPr marL="0" marR="0" marT="298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0B8D2"/>
                    </a:solidFill>
                  </a:tcPr>
                </a:tc>
                <a:tc>
                  <a:txBody>
                    <a:bodyPr/>
                    <a:lstStyle/>
                    <a:p>
                      <a:pPr marL="635" marR="0" lvl="0" indent="0" algn="ctr" rtl="0">
                        <a:lnSpc>
                          <a:spcPct val="100000"/>
                        </a:lnSpc>
                        <a:spcBef>
                          <a:spcPts val="0"/>
                        </a:spcBef>
                        <a:spcAft>
                          <a:spcPts val="0"/>
                        </a:spcAft>
                        <a:buNone/>
                      </a:pPr>
                      <a:r>
                        <a:rPr lang="en-US" sz="1400" b="1" u="none" strike="noStrike" cap="none">
                          <a:latin typeface="Calibri"/>
                          <a:ea typeface="Calibri"/>
                          <a:cs typeface="Calibri"/>
                          <a:sym typeface="Calibri"/>
                        </a:rPr>
                        <a:t>Description</a:t>
                      </a:r>
                      <a:endParaRPr sz="1400" u="none" strike="noStrike" cap="none">
                        <a:latin typeface="Calibri"/>
                        <a:ea typeface="Calibri"/>
                        <a:cs typeface="Calibri"/>
                        <a:sym typeface="Calibri"/>
                      </a:endParaRPr>
                    </a:p>
                  </a:txBody>
                  <a:tcPr marL="0" marR="0" marT="298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0B8D2"/>
                    </a:solidFill>
                  </a:tcPr>
                </a:tc>
                <a:tc rowSpan="16">
                  <a:txBody>
                    <a:bodyPr/>
                    <a:lstStyle/>
                    <a:p>
                      <a:pPr marL="0" marR="0" lvl="0" indent="0" algn="l" rtl="0">
                        <a:lnSpc>
                          <a:spcPct val="100000"/>
                        </a:lnSpc>
                        <a:spcBef>
                          <a:spcPts val="0"/>
                        </a:spcBef>
                        <a:spcAft>
                          <a:spcPts val="0"/>
                        </a:spcAft>
                        <a:buNone/>
                      </a:pPr>
                      <a:endParaRPr sz="1400" u="none" strike="noStrike" cap="none">
                        <a:latin typeface="Calibri"/>
                        <a:ea typeface="Calibri"/>
                        <a:cs typeface="Calibri"/>
                        <a:sym typeface="Calibri"/>
                      </a:endParaRPr>
                    </a:p>
                  </a:txBody>
                  <a:tcPr marL="0" marR="0" marT="0" marB="0">
                    <a:lnL w="12700" cap="flat" cmpd="sng">
                      <a:solidFill>
                        <a:srgbClr val="FFFFFF"/>
                      </a:solidFill>
                      <a:prstDash val="solid"/>
                      <a:round/>
                      <a:headEnd type="none" w="sm" len="sm"/>
                      <a:tailEnd type="none" w="sm" len="sm"/>
                    </a:lnL>
                    <a:solidFill>
                      <a:srgbClr val="C6C6C6">
                        <a:alpha val="49411"/>
                      </a:srgbClr>
                    </a:solidFill>
                  </a:tcPr>
                </a:tc>
                <a:extLst>
                  <a:ext uri="{0D108BD9-81ED-4DB2-BD59-A6C34878D82A}">
                    <a16:rowId xmlns:a16="http://schemas.microsoft.com/office/drawing/2014/main" val="10000"/>
                  </a:ext>
                </a:extLst>
              </a:tr>
              <a:tr h="370200">
                <a:tc>
                  <a:txBody>
                    <a:bodyPr/>
                    <a:lstStyle/>
                    <a:p>
                      <a:pPr marL="0" marR="0" lvl="0" indent="0" algn="ctr" rtl="0">
                        <a:lnSpc>
                          <a:spcPct val="100000"/>
                        </a:lnSpc>
                        <a:spcBef>
                          <a:spcPts val="0"/>
                        </a:spcBef>
                        <a:spcAft>
                          <a:spcPts val="0"/>
                        </a:spcAft>
                        <a:buNone/>
                      </a:pPr>
                      <a:r>
                        <a:rPr lang="en-US" sz="1400" u="none" strike="noStrike" cap="none">
                          <a:latin typeface="Calibri"/>
                          <a:ea typeface="Calibri"/>
                          <a:cs typeface="Calibri"/>
                          <a:sym typeface="Calibri"/>
                        </a:rPr>
                        <a:t>1</a:t>
                      </a:r>
                      <a:endParaRPr sz="1400" u="none" strike="noStrike" cap="none">
                        <a:latin typeface="Calibri"/>
                        <a:ea typeface="Calibri"/>
                        <a:cs typeface="Calibri"/>
                        <a:sym typeface="Calibri"/>
                      </a:endParaRPr>
                    </a:p>
                  </a:txBody>
                  <a:tcPr marL="0" marR="0" marT="298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EE7EC"/>
                    </a:solidFill>
                  </a:tcPr>
                </a:tc>
                <a:tc>
                  <a:txBody>
                    <a:bodyPr/>
                    <a:lstStyle/>
                    <a:p>
                      <a:pPr marL="7620" marR="0" lvl="0" indent="0" algn="l" rtl="0">
                        <a:lnSpc>
                          <a:spcPct val="100000"/>
                        </a:lnSpc>
                        <a:spcBef>
                          <a:spcPts val="0"/>
                        </a:spcBef>
                        <a:spcAft>
                          <a:spcPts val="0"/>
                        </a:spcAft>
                        <a:buNone/>
                      </a:pPr>
                      <a:r>
                        <a:rPr lang="en-US" sz="1400" b="1" u="none" strike="noStrike" cap="none">
                          <a:latin typeface="Calibri"/>
                          <a:ea typeface="Calibri"/>
                          <a:cs typeface="Calibri"/>
                          <a:sym typeface="Calibri"/>
                        </a:rPr>
                        <a:t>char charAt(int index)</a:t>
                      </a:r>
                      <a:endParaRPr sz="1400" u="none" strike="noStrike" cap="none">
                        <a:latin typeface="Calibri"/>
                        <a:ea typeface="Calibri"/>
                        <a:cs typeface="Calibri"/>
                        <a:sym typeface="Calibri"/>
                      </a:endParaRPr>
                    </a:p>
                  </a:txBody>
                  <a:tcPr marL="0" marR="0" marT="298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EE7EC"/>
                    </a:solidFill>
                  </a:tcPr>
                </a:tc>
                <a:tc>
                  <a:txBody>
                    <a:bodyPr/>
                    <a:lstStyle/>
                    <a:p>
                      <a:pPr marL="8255" marR="0" lvl="0" indent="0" algn="l" rtl="0">
                        <a:lnSpc>
                          <a:spcPct val="100000"/>
                        </a:lnSpc>
                        <a:spcBef>
                          <a:spcPts val="0"/>
                        </a:spcBef>
                        <a:spcAft>
                          <a:spcPts val="0"/>
                        </a:spcAft>
                        <a:buNone/>
                      </a:pPr>
                      <a:r>
                        <a:rPr lang="en-US" sz="1400" u="none" strike="noStrike" cap="none">
                          <a:latin typeface="Calibri"/>
                          <a:ea typeface="Calibri"/>
                          <a:cs typeface="Calibri"/>
                          <a:sym typeface="Calibri"/>
                        </a:rPr>
                        <a:t>returns char value for the particular index</a:t>
                      </a:r>
                      <a:endParaRPr sz="1400" u="none" strike="noStrike" cap="none">
                        <a:latin typeface="Calibri"/>
                        <a:ea typeface="Calibri"/>
                        <a:cs typeface="Calibri"/>
                        <a:sym typeface="Calibri"/>
                      </a:endParaRPr>
                    </a:p>
                  </a:txBody>
                  <a:tcPr marL="0" marR="0" marT="298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EE7EC"/>
                    </a:solidFill>
                  </a:tcPr>
                </a:tc>
                <a:tc vMerge="1">
                  <a:txBody>
                    <a:bodyPr/>
                    <a:lstStyle/>
                    <a:p>
                      <a:endParaRPr lang="en-US"/>
                    </a:p>
                  </a:txBody>
                  <a:tcPr/>
                </a:tc>
                <a:extLst>
                  <a:ext uri="{0D108BD9-81ED-4DB2-BD59-A6C34878D82A}">
                    <a16:rowId xmlns:a16="http://schemas.microsoft.com/office/drawing/2014/main" val="10001"/>
                  </a:ext>
                </a:extLst>
              </a:tr>
              <a:tr h="370200">
                <a:tc>
                  <a:txBody>
                    <a:bodyPr/>
                    <a:lstStyle/>
                    <a:p>
                      <a:pPr marL="0" marR="0" lvl="0" indent="0" algn="ctr" rtl="0">
                        <a:lnSpc>
                          <a:spcPct val="100000"/>
                        </a:lnSpc>
                        <a:spcBef>
                          <a:spcPts val="0"/>
                        </a:spcBef>
                        <a:spcAft>
                          <a:spcPts val="0"/>
                        </a:spcAft>
                        <a:buNone/>
                      </a:pPr>
                      <a:r>
                        <a:rPr lang="en-US" sz="1400" u="none" strike="noStrike" cap="none">
                          <a:latin typeface="Calibri"/>
                          <a:ea typeface="Calibri"/>
                          <a:cs typeface="Calibri"/>
                          <a:sym typeface="Calibri"/>
                        </a:rPr>
                        <a:t>2</a:t>
                      </a:r>
                      <a:endParaRPr sz="1400" u="none" strike="noStrike" cap="none">
                        <a:latin typeface="Calibri"/>
                        <a:ea typeface="Calibri"/>
                        <a:cs typeface="Calibri"/>
                        <a:sym typeface="Calibri"/>
                      </a:endParaRPr>
                    </a:p>
                  </a:txBody>
                  <a:tcPr marL="0" marR="0" marT="304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F3F7"/>
                    </a:solidFill>
                  </a:tcPr>
                </a:tc>
                <a:tc>
                  <a:txBody>
                    <a:bodyPr/>
                    <a:lstStyle/>
                    <a:p>
                      <a:pPr marL="7620" marR="0" lvl="0" indent="0" algn="l" rtl="0">
                        <a:lnSpc>
                          <a:spcPct val="100000"/>
                        </a:lnSpc>
                        <a:spcBef>
                          <a:spcPts val="0"/>
                        </a:spcBef>
                        <a:spcAft>
                          <a:spcPts val="0"/>
                        </a:spcAft>
                        <a:buNone/>
                      </a:pPr>
                      <a:r>
                        <a:rPr lang="en-US" sz="1400" b="1" u="none" strike="noStrike" cap="none">
                          <a:latin typeface="Calibri"/>
                          <a:ea typeface="Calibri"/>
                          <a:cs typeface="Calibri"/>
                          <a:sym typeface="Calibri"/>
                        </a:rPr>
                        <a:t>int length()</a:t>
                      </a:r>
                      <a:endParaRPr sz="1400" u="none" strike="noStrike" cap="none">
                        <a:latin typeface="Calibri"/>
                        <a:ea typeface="Calibri"/>
                        <a:cs typeface="Calibri"/>
                        <a:sym typeface="Calibri"/>
                      </a:endParaRPr>
                    </a:p>
                  </a:txBody>
                  <a:tcPr marL="0" marR="0" marT="304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F3F7"/>
                    </a:solidFill>
                  </a:tcPr>
                </a:tc>
                <a:tc>
                  <a:txBody>
                    <a:bodyPr/>
                    <a:lstStyle/>
                    <a:p>
                      <a:pPr marL="8255" marR="0" lvl="0" indent="0" algn="l" rtl="0">
                        <a:lnSpc>
                          <a:spcPct val="100000"/>
                        </a:lnSpc>
                        <a:spcBef>
                          <a:spcPts val="0"/>
                        </a:spcBef>
                        <a:spcAft>
                          <a:spcPts val="0"/>
                        </a:spcAft>
                        <a:buNone/>
                      </a:pPr>
                      <a:r>
                        <a:rPr lang="en-US" sz="1400" u="none" strike="noStrike" cap="none">
                          <a:latin typeface="Calibri"/>
                          <a:ea typeface="Calibri"/>
                          <a:cs typeface="Calibri"/>
                          <a:sym typeface="Calibri"/>
                        </a:rPr>
                        <a:t>returns string length</a:t>
                      </a:r>
                      <a:endParaRPr sz="1400" u="none" strike="noStrike" cap="none">
                        <a:latin typeface="Calibri"/>
                        <a:ea typeface="Calibri"/>
                        <a:cs typeface="Calibri"/>
                        <a:sym typeface="Calibri"/>
                      </a:endParaRPr>
                    </a:p>
                  </a:txBody>
                  <a:tcPr marL="0" marR="0" marT="304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F3F7"/>
                    </a:solidFill>
                  </a:tcPr>
                </a:tc>
                <a:tc vMerge="1">
                  <a:txBody>
                    <a:bodyPr/>
                    <a:lstStyle/>
                    <a:p>
                      <a:endParaRPr lang="en-US"/>
                    </a:p>
                  </a:txBody>
                  <a:tcPr/>
                </a:tc>
                <a:extLst>
                  <a:ext uri="{0D108BD9-81ED-4DB2-BD59-A6C34878D82A}">
                    <a16:rowId xmlns:a16="http://schemas.microsoft.com/office/drawing/2014/main" val="10002"/>
                  </a:ext>
                </a:extLst>
              </a:tr>
              <a:tr h="370850">
                <a:tc>
                  <a:txBody>
                    <a:bodyPr/>
                    <a:lstStyle/>
                    <a:p>
                      <a:pPr marL="0" marR="0" lvl="0" indent="0" algn="ctr" rtl="0">
                        <a:lnSpc>
                          <a:spcPct val="100000"/>
                        </a:lnSpc>
                        <a:spcBef>
                          <a:spcPts val="0"/>
                        </a:spcBef>
                        <a:spcAft>
                          <a:spcPts val="0"/>
                        </a:spcAft>
                        <a:buNone/>
                      </a:pPr>
                      <a:r>
                        <a:rPr lang="en-US" sz="1400" u="none" strike="noStrike" cap="none">
                          <a:latin typeface="Calibri"/>
                          <a:ea typeface="Calibri"/>
                          <a:cs typeface="Calibri"/>
                          <a:sym typeface="Calibri"/>
                        </a:rPr>
                        <a:t>3</a:t>
                      </a:r>
                      <a:endParaRPr sz="1400" u="none" strike="noStrike" cap="none">
                        <a:latin typeface="Calibri"/>
                        <a:ea typeface="Calibri"/>
                        <a:cs typeface="Calibri"/>
                        <a:sym typeface="Calibri"/>
                      </a:endParaRPr>
                    </a:p>
                  </a:txBody>
                  <a:tcPr marL="0" marR="0" marT="304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EE7EC"/>
                    </a:solidFill>
                  </a:tcPr>
                </a:tc>
                <a:tc>
                  <a:txBody>
                    <a:bodyPr/>
                    <a:lstStyle/>
                    <a:p>
                      <a:pPr marL="7620" marR="0" lvl="0" indent="0" algn="l" rtl="0">
                        <a:lnSpc>
                          <a:spcPct val="100000"/>
                        </a:lnSpc>
                        <a:spcBef>
                          <a:spcPts val="0"/>
                        </a:spcBef>
                        <a:spcAft>
                          <a:spcPts val="0"/>
                        </a:spcAft>
                        <a:buNone/>
                      </a:pPr>
                      <a:r>
                        <a:rPr lang="en-US" sz="1400" b="1" u="none" strike="noStrike" cap="none">
                          <a:latin typeface="Calibri"/>
                          <a:ea typeface="Calibri"/>
                          <a:cs typeface="Calibri"/>
                          <a:sym typeface="Calibri"/>
                        </a:rPr>
                        <a:t>String substring(int beginIndex)</a:t>
                      </a:r>
                      <a:endParaRPr sz="1400" u="none" strike="noStrike" cap="none">
                        <a:latin typeface="Calibri"/>
                        <a:ea typeface="Calibri"/>
                        <a:cs typeface="Calibri"/>
                        <a:sym typeface="Calibri"/>
                      </a:endParaRPr>
                    </a:p>
                  </a:txBody>
                  <a:tcPr marL="0" marR="0" marT="304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EE7EC"/>
                    </a:solidFill>
                  </a:tcPr>
                </a:tc>
                <a:tc>
                  <a:txBody>
                    <a:bodyPr/>
                    <a:lstStyle/>
                    <a:p>
                      <a:pPr marL="8255" marR="0" lvl="0" indent="0" algn="l" rtl="0">
                        <a:lnSpc>
                          <a:spcPct val="100000"/>
                        </a:lnSpc>
                        <a:spcBef>
                          <a:spcPts val="0"/>
                        </a:spcBef>
                        <a:spcAft>
                          <a:spcPts val="0"/>
                        </a:spcAft>
                        <a:buNone/>
                      </a:pPr>
                      <a:r>
                        <a:rPr lang="en-US" sz="1400" u="none" strike="noStrike" cap="none">
                          <a:latin typeface="Calibri"/>
                          <a:ea typeface="Calibri"/>
                          <a:cs typeface="Calibri"/>
                          <a:sym typeface="Calibri"/>
                        </a:rPr>
                        <a:t>returns substring for given begin index.</a:t>
                      </a:r>
                      <a:endParaRPr sz="1400" u="none" strike="noStrike" cap="none">
                        <a:latin typeface="Calibri"/>
                        <a:ea typeface="Calibri"/>
                        <a:cs typeface="Calibri"/>
                        <a:sym typeface="Calibri"/>
                      </a:endParaRPr>
                    </a:p>
                  </a:txBody>
                  <a:tcPr marL="0" marR="0" marT="304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EE7EC"/>
                    </a:solidFill>
                  </a:tcPr>
                </a:tc>
                <a:tc vMerge="1">
                  <a:txBody>
                    <a:bodyPr/>
                    <a:lstStyle/>
                    <a:p>
                      <a:endParaRPr lang="en-US"/>
                    </a:p>
                  </a:txBody>
                  <a:tcPr/>
                </a:tc>
                <a:extLst>
                  <a:ext uri="{0D108BD9-81ED-4DB2-BD59-A6C34878D82A}">
                    <a16:rowId xmlns:a16="http://schemas.microsoft.com/office/drawing/2014/main" val="10003"/>
                  </a:ext>
                </a:extLst>
              </a:tr>
              <a:tr h="578475">
                <a:tc>
                  <a:txBody>
                    <a:bodyPr/>
                    <a:lstStyle/>
                    <a:p>
                      <a:pPr marL="0" marR="0" lvl="0" indent="0" algn="ctr" rtl="0">
                        <a:lnSpc>
                          <a:spcPct val="100000"/>
                        </a:lnSpc>
                        <a:spcBef>
                          <a:spcPts val="0"/>
                        </a:spcBef>
                        <a:spcAft>
                          <a:spcPts val="0"/>
                        </a:spcAft>
                        <a:buNone/>
                      </a:pPr>
                      <a:r>
                        <a:rPr lang="en-US" sz="1400" u="none" strike="noStrike" cap="none">
                          <a:latin typeface="Calibri"/>
                          <a:ea typeface="Calibri"/>
                          <a:cs typeface="Calibri"/>
                          <a:sym typeface="Calibri"/>
                        </a:rPr>
                        <a:t>4</a:t>
                      </a:r>
                      <a:endParaRPr sz="1400" u="none" strike="noStrike" cap="none">
                        <a:latin typeface="Calibri"/>
                        <a:ea typeface="Calibri"/>
                        <a:cs typeface="Calibri"/>
                        <a:sym typeface="Calibri"/>
                      </a:endParaRPr>
                    </a:p>
                  </a:txBody>
                  <a:tcPr marL="0" marR="0" marT="311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F3F7"/>
                    </a:solidFill>
                  </a:tcPr>
                </a:tc>
                <a:tc>
                  <a:txBody>
                    <a:bodyPr/>
                    <a:lstStyle/>
                    <a:p>
                      <a:pPr marL="7620" marR="887094" lvl="0" indent="0" algn="l" rtl="0">
                        <a:lnSpc>
                          <a:spcPct val="100000"/>
                        </a:lnSpc>
                        <a:spcBef>
                          <a:spcPts val="0"/>
                        </a:spcBef>
                        <a:spcAft>
                          <a:spcPts val="0"/>
                        </a:spcAft>
                        <a:buNone/>
                      </a:pPr>
                      <a:r>
                        <a:rPr lang="en-US" sz="1400" b="1" u="none" strike="noStrike" cap="none">
                          <a:latin typeface="Calibri"/>
                          <a:ea typeface="Calibri"/>
                          <a:cs typeface="Calibri"/>
                          <a:sym typeface="Calibri"/>
                        </a:rPr>
                        <a:t>String substring(int beginIndex, int endIndex)</a:t>
                      </a:r>
                      <a:endParaRPr sz="1400" u="none" strike="noStrike" cap="none">
                        <a:latin typeface="Calibri"/>
                        <a:ea typeface="Calibri"/>
                        <a:cs typeface="Calibri"/>
                        <a:sym typeface="Calibri"/>
                      </a:endParaRPr>
                    </a:p>
                  </a:txBody>
                  <a:tcPr marL="0" marR="0" marT="279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F3F7"/>
                    </a:solidFill>
                  </a:tcPr>
                </a:tc>
                <a:tc>
                  <a:txBody>
                    <a:bodyPr/>
                    <a:lstStyle/>
                    <a:p>
                      <a:pPr marL="8255" marR="0" lvl="0" indent="0" algn="l" rtl="0">
                        <a:lnSpc>
                          <a:spcPct val="100000"/>
                        </a:lnSpc>
                        <a:spcBef>
                          <a:spcPts val="0"/>
                        </a:spcBef>
                        <a:spcAft>
                          <a:spcPts val="0"/>
                        </a:spcAft>
                        <a:buNone/>
                      </a:pPr>
                      <a:r>
                        <a:rPr lang="en-US" sz="1400" u="none" strike="noStrike" cap="none">
                          <a:latin typeface="Calibri"/>
                          <a:ea typeface="Calibri"/>
                          <a:cs typeface="Calibri"/>
                          <a:sym typeface="Calibri"/>
                        </a:rPr>
                        <a:t>returns substring for given begin index and end index.</a:t>
                      </a:r>
                      <a:endParaRPr sz="1400" u="none" strike="noStrike" cap="none">
                        <a:latin typeface="Calibri"/>
                        <a:ea typeface="Calibri"/>
                        <a:cs typeface="Calibri"/>
                        <a:sym typeface="Calibri"/>
                      </a:endParaRPr>
                    </a:p>
                  </a:txBody>
                  <a:tcPr marL="0" marR="0" marT="311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F3F7"/>
                    </a:solidFill>
                  </a:tcPr>
                </a:tc>
                <a:tc vMerge="1">
                  <a:txBody>
                    <a:bodyPr/>
                    <a:lstStyle/>
                    <a:p>
                      <a:endParaRPr lang="en-US"/>
                    </a:p>
                  </a:txBody>
                  <a:tcPr/>
                </a:tc>
                <a:extLst>
                  <a:ext uri="{0D108BD9-81ED-4DB2-BD59-A6C34878D82A}">
                    <a16:rowId xmlns:a16="http://schemas.microsoft.com/office/drawing/2014/main" val="10004"/>
                  </a:ext>
                </a:extLst>
              </a:tr>
              <a:tr h="579125">
                <a:tc>
                  <a:txBody>
                    <a:bodyPr/>
                    <a:lstStyle/>
                    <a:p>
                      <a:pPr marL="0" marR="0" lvl="0" indent="0" algn="ctr" rtl="0">
                        <a:lnSpc>
                          <a:spcPct val="100000"/>
                        </a:lnSpc>
                        <a:spcBef>
                          <a:spcPts val="0"/>
                        </a:spcBef>
                        <a:spcAft>
                          <a:spcPts val="0"/>
                        </a:spcAft>
                        <a:buNone/>
                      </a:pPr>
                      <a:r>
                        <a:rPr lang="en-US" sz="1400" u="none" strike="noStrike" cap="none">
                          <a:latin typeface="Calibri"/>
                          <a:ea typeface="Calibri"/>
                          <a:cs typeface="Calibri"/>
                          <a:sym typeface="Calibri"/>
                        </a:rPr>
                        <a:t>5</a:t>
                      </a:r>
                      <a:endParaRPr sz="1400" u="none" strike="noStrike" cap="none">
                        <a:latin typeface="Calibri"/>
                        <a:ea typeface="Calibri"/>
                        <a:cs typeface="Calibri"/>
                        <a:sym typeface="Calibri"/>
                      </a:endParaRPr>
                    </a:p>
                  </a:txBody>
                  <a:tcPr marL="0" marR="0" marT="311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EE7EC"/>
                    </a:solidFill>
                  </a:tcPr>
                </a:tc>
                <a:tc>
                  <a:txBody>
                    <a:bodyPr/>
                    <a:lstStyle/>
                    <a:p>
                      <a:pPr marL="7620" marR="0" lvl="0" indent="0" algn="l" rtl="0">
                        <a:lnSpc>
                          <a:spcPct val="100000"/>
                        </a:lnSpc>
                        <a:spcBef>
                          <a:spcPts val="0"/>
                        </a:spcBef>
                        <a:spcAft>
                          <a:spcPts val="0"/>
                        </a:spcAft>
                        <a:buNone/>
                      </a:pPr>
                      <a:r>
                        <a:rPr lang="en-US" sz="1400" b="1" u="none" strike="noStrike" cap="none">
                          <a:latin typeface="Calibri"/>
                          <a:ea typeface="Calibri"/>
                          <a:cs typeface="Calibri"/>
                          <a:sym typeface="Calibri"/>
                        </a:rPr>
                        <a:t>boolean contains(CharSequences)</a:t>
                      </a:r>
                      <a:endParaRPr sz="1400" u="none" strike="noStrike" cap="none">
                        <a:latin typeface="Calibri"/>
                        <a:ea typeface="Calibri"/>
                        <a:cs typeface="Calibri"/>
                        <a:sym typeface="Calibri"/>
                      </a:endParaRPr>
                    </a:p>
                  </a:txBody>
                  <a:tcPr marL="0" marR="0" marT="311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EE7EC"/>
                    </a:solidFill>
                  </a:tcPr>
                </a:tc>
                <a:tc>
                  <a:txBody>
                    <a:bodyPr/>
                    <a:lstStyle/>
                    <a:p>
                      <a:pPr marL="8255" marR="0" lvl="0" indent="0" algn="l" rtl="0">
                        <a:lnSpc>
                          <a:spcPct val="100000"/>
                        </a:lnSpc>
                        <a:spcBef>
                          <a:spcPts val="0"/>
                        </a:spcBef>
                        <a:spcAft>
                          <a:spcPts val="0"/>
                        </a:spcAft>
                        <a:buNone/>
                      </a:pPr>
                      <a:r>
                        <a:rPr lang="en-US" sz="1400" u="none" strike="noStrike" cap="none">
                          <a:latin typeface="Calibri"/>
                          <a:ea typeface="Calibri"/>
                          <a:cs typeface="Calibri"/>
                          <a:sym typeface="Calibri"/>
                        </a:rPr>
                        <a:t>returns true or false after matching the sequence of char value.</a:t>
                      </a:r>
                      <a:endParaRPr sz="1400" u="none" strike="noStrike" cap="none">
                        <a:latin typeface="Calibri"/>
                        <a:ea typeface="Calibri"/>
                        <a:cs typeface="Calibri"/>
                        <a:sym typeface="Calibri"/>
                      </a:endParaRPr>
                    </a:p>
                  </a:txBody>
                  <a:tcPr marL="0" marR="0" marT="158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EE7EC"/>
                    </a:solidFill>
                  </a:tcPr>
                </a:tc>
                <a:tc vMerge="1">
                  <a:txBody>
                    <a:bodyPr/>
                    <a:lstStyle/>
                    <a:p>
                      <a:endParaRPr lang="en-US"/>
                    </a:p>
                  </a:txBody>
                  <a:tcPr/>
                </a:tc>
                <a:extLst>
                  <a:ext uri="{0D108BD9-81ED-4DB2-BD59-A6C34878D82A}">
                    <a16:rowId xmlns:a16="http://schemas.microsoft.com/office/drawing/2014/main" val="10005"/>
                  </a:ext>
                </a:extLst>
              </a:tr>
              <a:tr h="578475">
                <a:tc>
                  <a:txBody>
                    <a:bodyPr/>
                    <a:lstStyle/>
                    <a:p>
                      <a:pPr marL="0" marR="0" lvl="0" indent="0" algn="ctr" rtl="0">
                        <a:lnSpc>
                          <a:spcPct val="100000"/>
                        </a:lnSpc>
                        <a:spcBef>
                          <a:spcPts val="0"/>
                        </a:spcBef>
                        <a:spcAft>
                          <a:spcPts val="0"/>
                        </a:spcAft>
                        <a:buNone/>
                      </a:pPr>
                      <a:r>
                        <a:rPr lang="en-US" sz="1400" u="none" strike="noStrike" cap="none">
                          <a:latin typeface="Calibri"/>
                          <a:ea typeface="Calibri"/>
                          <a:cs typeface="Calibri"/>
                          <a:sym typeface="Calibri"/>
                        </a:rPr>
                        <a:t>6</a:t>
                      </a:r>
                      <a:endParaRPr sz="1400" u="none" strike="noStrike" cap="none">
                        <a:latin typeface="Calibri"/>
                        <a:ea typeface="Calibri"/>
                        <a:cs typeface="Calibri"/>
                        <a:sym typeface="Calibri"/>
                      </a:endParaRPr>
                    </a:p>
                  </a:txBody>
                  <a:tcPr marL="0" marR="0" marT="317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F3F7"/>
                    </a:solidFill>
                  </a:tcPr>
                </a:tc>
                <a:tc>
                  <a:txBody>
                    <a:bodyPr/>
                    <a:lstStyle/>
                    <a:p>
                      <a:pPr marL="7620" marR="382270" lvl="0" indent="0" algn="l" rtl="0">
                        <a:lnSpc>
                          <a:spcPct val="100800"/>
                        </a:lnSpc>
                        <a:spcBef>
                          <a:spcPts val="0"/>
                        </a:spcBef>
                        <a:spcAft>
                          <a:spcPts val="0"/>
                        </a:spcAft>
                        <a:buNone/>
                      </a:pPr>
                      <a:r>
                        <a:rPr lang="en-US" sz="1400" b="1" u="none" strike="noStrike" cap="none">
                          <a:latin typeface="Calibri"/>
                          <a:ea typeface="Calibri"/>
                          <a:cs typeface="Calibri"/>
                          <a:sym typeface="Calibri"/>
                        </a:rPr>
                        <a:t>static String join(CharSequence delimiter, CharSequence... elements)</a:t>
                      </a:r>
                      <a:endParaRPr sz="1400" u="none" strike="noStrike" cap="none">
                        <a:latin typeface="Calibri"/>
                        <a:ea typeface="Calibri"/>
                        <a:cs typeface="Calibri"/>
                        <a:sym typeface="Calibri"/>
                      </a:endParaRPr>
                    </a:p>
                  </a:txBody>
                  <a:tcPr marL="0" marR="0" marT="152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F3F7"/>
                    </a:solidFill>
                  </a:tcPr>
                </a:tc>
                <a:tc>
                  <a:txBody>
                    <a:bodyPr/>
                    <a:lstStyle/>
                    <a:p>
                      <a:pPr marL="8255" marR="0" lvl="0" indent="0" algn="l" rtl="0">
                        <a:lnSpc>
                          <a:spcPct val="100000"/>
                        </a:lnSpc>
                        <a:spcBef>
                          <a:spcPts val="0"/>
                        </a:spcBef>
                        <a:spcAft>
                          <a:spcPts val="0"/>
                        </a:spcAft>
                        <a:buNone/>
                      </a:pPr>
                      <a:r>
                        <a:rPr lang="en-US" sz="1400" u="none" strike="noStrike" cap="none">
                          <a:latin typeface="Calibri"/>
                          <a:ea typeface="Calibri"/>
                          <a:cs typeface="Calibri"/>
                          <a:sym typeface="Calibri"/>
                        </a:rPr>
                        <a:t>returns a joined string.</a:t>
                      </a:r>
                      <a:endParaRPr sz="1400" u="none" strike="noStrike" cap="none">
                        <a:latin typeface="Calibri"/>
                        <a:ea typeface="Calibri"/>
                        <a:cs typeface="Calibri"/>
                        <a:sym typeface="Calibri"/>
                      </a:endParaRPr>
                    </a:p>
                  </a:txBody>
                  <a:tcPr marL="0" marR="0" marT="317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F3F7"/>
                    </a:solidFill>
                  </a:tcPr>
                </a:tc>
                <a:tc vMerge="1">
                  <a:txBody>
                    <a:bodyPr/>
                    <a:lstStyle/>
                    <a:p>
                      <a:endParaRPr lang="en-US"/>
                    </a:p>
                  </a:txBody>
                  <a:tcPr/>
                </a:tc>
                <a:extLst>
                  <a:ext uri="{0D108BD9-81ED-4DB2-BD59-A6C34878D82A}">
                    <a16:rowId xmlns:a16="http://schemas.microsoft.com/office/drawing/2014/main" val="10006"/>
                  </a:ext>
                </a:extLst>
              </a:tr>
              <a:tr h="370850">
                <a:tc>
                  <a:txBody>
                    <a:bodyPr/>
                    <a:lstStyle/>
                    <a:p>
                      <a:pPr marL="0" marR="0" lvl="0" indent="0" algn="ctr" rtl="0">
                        <a:lnSpc>
                          <a:spcPct val="100000"/>
                        </a:lnSpc>
                        <a:spcBef>
                          <a:spcPts val="0"/>
                        </a:spcBef>
                        <a:spcAft>
                          <a:spcPts val="0"/>
                        </a:spcAft>
                        <a:buNone/>
                      </a:pPr>
                      <a:r>
                        <a:rPr lang="en-US" sz="1400" u="none" strike="noStrike" cap="none">
                          <a:latin typeface="Calibri"/>
                          <a:ea typeface="Calibri"/>
                          <a:cs typeface="Calibri"/>
                          <a:sym typeface="Calibri"/>
                        </a:rPr>
                        <a:t>7</a:t>
                      </a:r>
                      <a:endParaRPr sz="1400" u="none" strike="noStrike" cap="none">
                        <a:latin typeface="Calibri"/>
                        <a:ea typeface="Calibri"/>
                        <a:cs typeface="Calibri"/>
                        <a:sym typeface="Calibri"/>
                      </a:endParaRPr>
                    </a:p>
                  </a:txBody>
                  <a:tcPr marL="0" marR="0" marT="317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EE7EC"/>
                    </a:solidFill>
                  </a:tcPr>
                </a:tc>
                <a:tc>
                  <a:txBody>
                    <a:bodyPr/>
                    <a:lstStyle/>
                    <a:p>
                      <a:pPr marL="7620" marR="0" lvl="0" indent="0" algn="l" rtl="0">
                        <a:lnSpc>
                          <a:spcPct val="100000"/>
                        </a:lnSpc>
                        <a:spcBef>
                          <a:spcPts val="0"/>
                        </a:spcBef>
                        <a:spcAft>
                          <a:spcPts val="0"/>
                        </a:spcAft>
                        <a:buNone/>
                      </a:pPr>
                      <a:r>
                        <a:rPr lang="en-US" sz="1400" b="1" u="none" strike="noStrike" cap="none">
                          <a:latin typeface="Calibri"/>
                          <a:ea typeface="Calibri"/>
                          <a:cs typeface="Calibri"/>
                          <a:sym typeface="Calibri"/>
                        </a:rPr>
                        <a:t>boolean equals(Object another)</a:t>
                      </a:r>
                      <a:endParaRPr sz="1400" u="none" strike="noStrike" cap="none">
                        <a:latin typeface="Calibri"/>
                        <a:ea typeface="Calibri"/>
                        <a:cs typeface="Calibri"/>
                        <a:sym typeface="Calibri"/>
                      </a:endParaRPr>
                    </a:p>
                  </a:txBody>
                  <a:tcPr marL="0" marR="0" marT="317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EE7EC"/>
                    </a:solidFill>
                  </a:tcPr>
                </a:tc>
                <a:tc>
                  <a:txBody>
                    <a:bodyPr/>
                    <a:lstStyle/>
                    <a:p>
                      <a:pPr marL="8255" marR="0" lvl="0" indent="0" algn="l" rtl="0">
                        <a:lnSpc>
                          <a:spcPct val="100000"/>
                        </a:lnSpc>
                        <a:spcBef>
                          <a:spcPts val="0"/>
                        </a:spcBef>
                        <a:spcAft>
                          <a:spcPts val="0"/>
                        </a:spcAft>
                        <a:buNone/>
                      </a:pPr>
                      <a:r>
                        <a:rPr lang="en-US" sz="1400" u="none" strike="noStrike" cap="none">
                          <a:latin typeface="Calibri"/>
                          <a:ea typeface="Calibri"/>
                          <a:cs typeface="Calibri"/>
                          <a:sym typeface="Calibri"/>
                        </a:rPr>
                        <a:t>checks the equality of string with the given object.</a:t>
                      </a:r>
                      <a:endParaRPr sz="1400" u="none" strike="noStrike" cap="none">
                        <a:latin typeface="Calibri"/>
                        <a:ea typeface="Calibri"/>
                        <a:cs typeface="Calibri"/>
                        <a:sym typeface="Calibri"/>
                      </a:endParaRPr>
                    </a:p>
                  </a:txBody>
                  <a:tcPr marL="0" marR="0" marT="317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EE7EC"/>
                    </a:solidFill>
                  </a:tcPr>
                </a:tc>
                <a:tc vMerge="1">
                  <a:txBody>
                    <a:bodyPr/>
                    <a:lstStyle/>
                    <a:p>
                      <a:endParaRPr lang="en-US"/>
                    </a:p>
                  </a:txBody>
                  <a:tcPr/>
                </a:tc>
                <a:extLst>
                  <a:ext uri="{0D108BD9-81ED-4DB2-BD59-A6C34878D82A}">
                    <a16:rowId xmlns:a16="http://schemas.microsoft.com/office/drawing/2014/main" val="10007"/>
                  </a:ext>
                </a:extLst>
              </a:tr>
              <a:tr h="370850">
                <a:tc>
                  <a:txBody>
                    <a:bodyPr/>
                    <a:lstStyle/>
                    <a:p>
                      <a:pPr marL="0" marR="0" lvl="0" indent="0" algn="ctr" rtl="0">
                        <a:lnSpc>
                          <a:spcPct val="100000"/>
                        </a:lnSpc>
                        <a:spcBef>
                          <a:spcPts val="0"/>
                        </a:spcBef>
                        <a:spcAft>
                          <a:spcPts val="0"/>
                        </a:spcAft>
                        <a:buNone/>
                      </a:pPr>
                      <a:r>
                        <a:rPr lang="en-US" sz="1400" u="none" strike="noStrike" cap="none">
                          <a:latin typeface="Calibri"/>
                          <a:ea typeface="Calibri"/>
                          <a:cs typeface="Calibri"/>
                          <a:sym typeface="Calibri"/>
                        </a:rPr>
                        <a:t>8</a:t>
                      </a:r>
                      <a:endParaRPr sz="1400" u="none" strike="noStrike" cap="none">
                        <a:latin typeface="Calibri"/>
                        <a:ea typeface="Calibri"/>
                        <a:cs typeface="Calibri"/>
                        <a:sym typeface="Calibri"/>
                      </a:endParaRPr>
                    </a:p>
                  </a:txBody>
                  <a:tcPr marL="0" marR="0" marT="323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F3F7"/>
                    </a:solidFill>
                  </a:tcPr>
                </a:tc>
                <a:tc>
                  <a:txBody>
                    <a:bodyPr/>
                    <a:lstStyle/>
                    <a:p>
                      <a:pPr marL="7620" marR="0" lvl="0" indent="0" algn="l" rtl="0">
                        <a:lnSpc>
                          <a:spcPct val="100000"/>
                        </a:lnSpc>
                        <a:spcBef>
                          <a:spcPts val="0"/>
                        </a:spcBef>
                        <a:spcAft>
                          <a:spcPts val="0"/>
                        </a:spcAft>
                        <a:buNone/>
                      </a:pPr>
                      <a:r>
                        <a:rPr lang="en-US" sz="1400" b="1" u="none" strike="noStrike" cap="none">
                          <a:latin typeface="Calibri"/>
                          <a:ea typeface="Calibri"/>
                          <a:cs typeface="Calibri"/>
                          <a:sym typeface="Calibri"/>
                        </a:rPr>
                        <a:t>boolean isEmpty()</a:t>
                      </a:r>
                      <a:endParaRPr sz="1400" u="none" strike="noStrike" cap="none">
                        <a:latin typeface="Calibri"/>
                        <a:ea typeface="Calibri"/>
                        <a:cs typeface="Calibri"/>
                        <a:sym typeface="Calibri"/>
                      </a:endParaRPr>
                    </a:p>
                  </a:txBody>
                  <a:tcPr marL="0" marR="0" marT="323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F3F7"/>
                    </a:solidFill>
                  </a:tcPr>
                </a:tc>
                <a:tc>
                  <a:txBody>
                    <a:bodyPr/>
                    <a:lstStyle/>
                    <a:p>
                      <a:pPr marL="8255" marR="0" lvl="0" indent="0" algn="l" rtl="0">
                        <a:lnSpc>
                          <a:spcPct val="100000"/>
                        </a:lnSpc>
                        <a:spcBef>
                          <a:spcPts val="0"/>
                        </a:spcBef>
                        <a:spcAft>
                          <a:spcPts val="0"/>
                        </a:spcAft>
                        <a:buNone/>
                      </a:pPr>
                      <a:r>
                        <a:rPr lang="en-US" sz="1400" u="none" strike="noStrike" cap="none">
                          <a:latin typeface="Calibri"/>
                          <a:ea typeface="Calibri"/>
                          <a:cs typeface="Calibri"/>
                          <a:sym typeface="Calibri"/>
                        </a:rPr>
                        <a:t>checks if string is empty.</a:t>
                      </a:r>
                      <a:endParaRPr sz="1400" u="none" strike="noStrike" cap="none">
                        <a:latin typeface="Calibri"/>
                        <a:ea typeface="Calibri"/>
                        <a:cs typeface="Calibri"/>
                        <a:sym typeface="Calibri"/>
                      </a:endParaRPr>
                    </a:p>
                  </a:txBody>
                  <a:tcPr marL="0" marR="0" marT="323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F3F7"/>
                    </a:solidFill>
                  </a:tcPr>
                </a:tc>
                <a:tc vMerge="1">
                  <a:txBody>
                    <a:bodyPr/>
                    <a:lstStyle/>
                    <a:p>
                      <a:endParaRPr lang="en-US"/>
                    </a:p>
                  </a:txBody>
                  <a:tcPr/>
                </a:tc>
                <a:extLst>
                  <a:ext uri="{0D108BD9-81ED-4DB2-BD59-A6C34878D82A}">
                    <a16:rowId xmlns:a16="http://schemas.microsoft.com/office/drawing/2014/main" val="10008"/>
                  </a:ext>
                </a:extLst>
              </a:tr>
              <a:tr h="370200">
                <a:tc>
                  <a:txBody>
                    <a:bodyPr/>
                    <a:lstStyle/>
                    <a:p>
                      <a:pPr marL="0" marR="0" lvl="0" indent="0" algn="ctr" rtl="0">
                        <a:lnSpc>
                          <a:spcPct val="100000"/>
                        </a:lnSpc>
                        <a:spcBef>
                          <a:spcPts val="0"/>
                        </a:spcBef>
                        <a:spcAft>
                          <a:spcPts val="0"/>
                        </a:spcAft>
                        <a:buNone/>
                      </a:pPr>
                      <a:r>
                        <a:rPr lang="en-US" sz="1400" u="none" strike="noStrike" cap="none">
                          <a:latin typeface="Calibri"/>
                          <a:ea typeface="Calibri"/>
                          <a:cs typeface="Calibri"/>
                          <a:sym typeface="Calibri"/>
                        </a:rPr>
                        <a:t>9</a:t>
                      </a:r>
                      <a:endParaRPr sz="1400" u="none" strike="noStrike" cap="none">
                        <a:latin typeface="Calibri"/>
                        <a:ea typeface="Calibri"/>
                        <a:cs typeface="Calibri"/>
                        <a:sym typeface="Calibri"/>
                      </a:endParaRPr>
                    </a:p>
                  </a:txBody>
                  <a:tcPr marL="0" marR="0" marT="323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EE7EC"/>
                    </a:solidFill>
                  </a:tcPr>
                </a:tc>
                <a:tc>
                  <a:txBody>
                    <a:bodyPr/>
                    <a:lstStyle/>
                    <a:p>
                      <a:pPr marL="7620" marR="0" lvl="0" indent="0" algn="l" rtl="0">
                        <a:lnSpc>
                          <a:spcPct val="100000"/>
                        </a:lnSpc>
                        <a:spcBef>
                          <a:spcPts val="0"/>
                        </a:spcBef>
                        <a:spcAft>
                          <a:spcPts val="0"/>
                        </a:spcAft>
                        <a:buNone/>
                      </a:pPr>
                      <a:r>
                        <a:rPr lang="en-US" sz="1400" b="1" u="none" strike="noStrike" cap="none">
                          <a:latin typeface="Calibri"/>
                          <a:ea typeface="Calibri"/>
                          <a:cs typeface="Calibri"/>
                          <a:sym typeface="Calibri"/>
                        </a:rPr>
                        <a:t>String concat(String str)</a:t>
                      </a:r>
                      <a:endParaRPr sz="1400" u="none" strike="noStrike" cap="none">
                        <a:latin typeface="Calibri"/>
                        <a:ea typeface="Calibri"/>
                        <a:cs typeface="Calibri"/>
                        <a:sym typeface="Calibri"/>
                      </a:endParaRPr>
                    </a:p>
                  </a:txBody>
                  <a:tcPr marL="0" marR="0" marT="323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EE7EC"/>
                    </a:solidFill>
                  </a:tcPr>
                </a:tc>
                <a:tc>
                  <a:txBody>
                    <a:bodyPr/>
                    <a:lstStyle/>
                    <a:p>
                      <a:pPr marL="8255" marR="0" lvl="0" indent="0" algn="l" rtl="0">
                        <a:lnSpc>
                          <a:spcPct val="100000"/>
                        </a:lnSpc>
                        <a:spcBef>
                          <a:spcPts val="0"/>
                        </a:spcBef>
                        <a:spcAft>
                          <a:spcPts val="0"/>
                        </a:spcAft>
                        <a:buNone/>
                      </a:pPr>
                      <a:r>
                        <a:rPr lang="en-US" sz="1400" u="none" strike="noStrike" cap="none">
                          <a:latin typeface="Calibri"/>
                          <a:ea typeface="Calibri"/>
                          <a:cs typeface="Calibri"/>
                          <a:sym typeface="Calibri"/>
                        </a:rPr>
                        <a:t>concatenates the specified string.</a:t>
                      </a:r>
                      <a:endParaRPr sz="1400" u="none" strike="noStrike" cap="none">
                        <a:latin typeface="Calibri"/>
                        <a:ea typeface="Calibri"/>
                        <a:cs typeface="Calibri"/>
                        <a:sym typeface="Calibri"/>
                      </a:endParaRPr>
                    </a:p>
                  </a:txBody>
                  <a:tcPr marL="0" marR="0" marT="323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EE7EC"/>
                    </a:solidFill>
                  </a:tcPr>
                </a:tc>
                <a:tc vMerge="1">
                  <a:txBody>
                    <a:bodyPr/>
                    <a:lstStyle/>
                    <a:p>
                      <a:endParaRPr lang="en-US"/>
                    </a:p>
                  </a:txBody>
                  <a:tcPr/>
                </a:tc>
                <a:extLst>
                  <a:ext uri="{0D108BD9-81ED-4DB2-BD59-A6C34878D82A}">
                    <a16:rowId xmlns:a16="http://schemas.microsoft.com/office/drawing/2014/main" val="10009"/>
                  </a:ext>
                </a:extLst>
              </a:tr>
              <a:tr h="578475">
                <a:tc>
                  <a:txBody>
                    <a:bodyPr/>
                    <a:lstStyle/>
                    <a:p>
                      <a:pPr marL="635" marR="0" lvl="0" indent="0" algn="ctr" rtl="0">
                        <a:lnSpc>
                          <a:spcPct val="100000"/>
                        </a:lnSpc>
                        <a:spcBef>
                          <a:spcPts val="0"/>
                        </a:spcBef>
                        <a:spcAft>
                          <a:spcPts val="0"/>
                        </a:spcAft>
                        <a:buNone/>
                      </a:pPr>
                      <a:r>
                        <a:rPr lang="en-US" sz="1400" u="none" strike="noStrike" cap="none">
                          <a:latin typeface="Calibri"/>
                          <a:ea typeface="Calibri"/>
                          <a:cs typeface="Calibri"/>
                          <a:sym typeface="Calibri"/>
                        </a:rPr>
                        <a:t>10</a:t>
                      </a:r>
                      <a:endParaRPr sz="1400" u="none" strike="noStrike" cap="none">
                        <a:latin typeface="Calibri"/>
                        <a:ea typeface="Calibri"/>
                        <a:cs typeface="Calibri"/>
                        <a:sym typeface="Calibri"/>
                      </a:endParaRPr>
                    </a:p>
                  </a:txBody>
                  <a:tcPr marL="0" marR="0" marT="323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F3F7"/>
                    </a:solidFill>
                  </a:tcPr>
                </a:tc>
                <a:tc>
                  <a:txBody>
                    <a:bodyPr/>
                    <a:lstStyle/>
                    <a:p>
                      <a:pPr marL="7620" marR="736600" lvl="0" indent="0" algn="l" rtl="0">
                        <a:lnSpc>
                          <a:spcPct val="100000"/>
                        </a:lnSpc>
                        <a:spcBef>
                          <a:spcPts val="0"/>
                        </a:spcBef>
                        <a:spcAft>
                          <a:spcPts val="0"/>
                        </a:spcAft>
                        <a:buNone/>
                      </a:pPr>
                      <a:r>
                        <a:rPr lang="en-US" sz="1400" b="1" u="none" strike="noStrike" cap="none">
                          <a:latin typeface="Calibri"/>
                          <a:ea typeface="Calibri"/>
                          <a:cs typeface="Calibri"/>
                          <a:sym typeface="Calibri"/>
                        </a:rPr>
                        <a:t>static String equalsIgnoreCase(String another)</a:t>
                      </a:r>
                      <a:endParaRPr sz="1400" u="none" strike="noStrike" cap="none">
                        <a:latin typeface="Calibri"/>
                        <a:ea typeface="Calibri"/>
                        <a:cs typeface="Calibri"/>
                        <a:sym typeface="Calibri"/>
                      </a:endParaRPr>
                    </a:p>
                  </a:txBody>
                  <a:tcPr marL="0" marR="0" marT="298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F3F7"/>
                    </a:solidFill>
                  </a:tcPr>
                </a:tc>
                <a:tc>
                  <a:txBody>
                    <a:bodyPr/>
                    <a:lstStyle/>
                    <a:p>
                      <a:pPr marL="8255" marR="0" lvl="0" indent="0" algn="l" rtl="0">
                        <a:lnSpc>
                          <a:spcPct val="100000"/>
                        </a:lnSpc>
                        <a:spcBef>
                          <a:spcPts val="0"/>
                        </a:spcBef>
                        <a:spcAft>
                          <a:spcPts val="0"/>
                        </a:spcAft>
                        <a:buNone/>
                      </a:pPr>
                      <a:r>
                        <a:rPr lang="en-US" sz="1400" u="none" strike="noStrike" cap="none">
                          <a:latin typeface="Calibri"/>
                          <a:ea typeface="Calibri"/>
                          <a:cs typeface="Calibri"/>
                          <a:sym typeface="Calibri"/>
                        </a:rPr>
                        <a:t>compares another string. It doesn't check case.</a:t>
                      </a:r>
                      <a:endParaRPr sz="1400" u="none" strike="noStrike" cap="none">
                        <a:latin typeface="Calibri"/>
                        <a:ea typeface="Calibri"/>
                        <a:cs typeface="Calibri"/>
                        <a:sym typeface="Calibri"/>
                      </a:endParaRPr>
                    </a:p>
                  </a:txBody>
                  <a:tcPr marL="0" marR="0" marT="323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F3F7"/>
                    </a:solidFill>
                  </a:tcPr>
                </a:tc>
                <a:tc vMerge="1">
                  <a:txBody>
                    <a:bodyPr/>
                    <a:lstStyle/>
                    <a:p>
                      <a:endParaRPr lang="en-US"/>
                    </a:p>
                  </a:txBody>
                  <a:tcPr/>
                </a:tc>
                <a:extLst>
                  <a:ext uri="{0D108BD9-81ED-4DB2-BD59-A6C34878D82A}">
                    <a16:rowId xmlns:a16="http://schemas.microsoft.com/office/drawing/2014/main" val="10010"/>
                  </a:ext>
                </a:extLst>
              </a:tr>
              <a:tr h="370850">
                <a:tc>
                  <a:txBody>
                    <a:bodyPr/>
                    <a:lstStyle/>
                    <a:p>
                      <a:pPr marL="635" marR="0" lvl="0" indent="0" algn="ctr" rtl="0">
                        <a:lnSpc>
                          <a:spcPct val="100000"/>
                        </a:lnSpc>
                        <a:spcBef>
                          <a:spcPts val="0"/>
                        </a:spcBef>
                        <a:spcAft>
                          <a:spcPts val="0"/>
                        </a:spcAft>
                        <a:buNone/>
                      </a:pPr>
                      <a:r>
                        <a:rPr lang="en-US" sz="1400" u="none" strike="noStrike" cap="none">
                          <a:latin typeface="Calibri"/>
                          <a:ea typeface="Calibri"/>
                          <a:cs typeface="Calibri"/>
                          <a:sym typeface="Calibri"/>
                        </a:rPr>
                        <a:t>11</a:t>
                      </a:r>
                      <a:endParaRPr sz="1400" u="none" strike="noStrike" cap="none">
                        <a:latin typeface="Calibri"/>
                        <a:ea typeface="Calibri"/>
                        <a:cs typeface="Calibri"/>
                        <a:sym typeface="Calibri"/>
                      </a:endParaRPr>
                    </a:p>
                  </a:txBody>
                  <a:tcPr marL="0" marR="0" marT="330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EE7EC"/>
                    </a:solidFill>
                  </a:tcPr>
                </a:tc>
                <a:tc>
                  <a:txBody>
                    <a:bodyPr/>
                    <a:lstStyle/>
                    <a:p>
                      <a:pPr marL="7620" marR="0" lvl="0" indent="0" algn="l" rtl="0">
                        <a:lnSpc>
                          <a:spcPct val="100000"/>
                        </a:lnSpc>
                        <a:spcBef>
                          <a:spcPts val="0"/>
                        </a:spcBef>
                        <a:spcAft>
                          <a:spcPts val="0"/>
                        </a:spcAft>
                        <a:buNone/>
                      </a:pPr>
                      <a:r>
                        <a:rPr lang="en-US" sz="1400" b="1" u="none" strike="noStrike" cap="none">
                          <a:latin typeface="Calibri"/>
                          <a:ea typeface="Calibri"/>
                          <a:cs typeface="Calibri"/>
                          <a:sym typeface="Calibri"/>
                        </a:rPr>
                        <a:t>String[] split(String regex)</a:t>
                      </a:r>
                      <a:endParaRPr sz="1400" u="none" strike="noStrike" cap="none">
                        <a:latin typeface="Calibri"/>
                        <a:ea typeface="Calibri"/>
                        <a:cs typeface="Calibri"/>
                        <a:sym typeface="Calibri"/>
                      </a:endParaRPr>
                    </a:p>
                  </a:txBody>
                  <a:tcPr marL="0" marR="0" marT="330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EE7EC"/>
                    </a:solidFill>
                  </a:tcPr>
                </a:tc>
                <a:tc>
                  <a:txBody>
                    <a:bodyPr/>
                    <a:lstStyle/>
                    <a:p>
                      <a:pPr marL="8255" marR="0" lvl="0" indent="0" algn="l" rtl="0">
                        <a:lnSpc>
                          <a:spcPct val="100000"/>
                        </a:lnSpc>
                        <a:spcBef>
                          <a:spcPts val="0"/>
                        </a:spcBef>
                        <a:spcAft>
                          <a:spcPts val="0"/>
                        </a:spcAft>
                        <a:buNone/>
                      </a:pPr>
                      <a:r>
                        <a:rPr lang="en-US" sz="1400" u="none" strike="noStrike" cap="none">
                          <a:latin typeface="Calibri"/>
                          <a:ea typeface="Calibri"/>
                          <a:cs typeface="Calibri"/>
                          <a:sym typeface="Calibri"/>
                        </a:rPr>
                        <a:t>returns a split string matching regex.</a:t>
                      </a:r>
                      <a:endParaRPr sz="1400" u="none" strike="noStrike" cap="none">
                        <a:latin typeface="Calibri"/>
                        <a:ea typeface="Calibri"/>
                        <a:cs typeface="Calibri"/>
                        <a:sym typeface="Calibri"/>
                      </a:endParaRPr>
                    </a:p>
                  </a:txBody>
                  <a:tcPr marL="0" marR="0" marT="330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EE7EC"/>
                    </a:solidFill>
                  </a:tcPr>
                </a:tc>
                <a:tc vMerge="1">
                  <a:txBody>
                    <a:bodyPr/>
                    <a:lstStyle/>
                    <a:p>
                      <a:endParaRPr lang="en-US"/>
                    </a:p>
                  </a:txBody>
                  <a:tcPr/>
                </a:tc>
                <a:extLst>
                  <a:ext uri="{0D108BD9-81ED-4DB2-BD59-A6C34878D82A}">
                    <a16:rowId xmlns:a16="http://schemas.microsoft.com/office/drawing/2014/main" val="10011"/>
                  </a:ext>
                </a:extLst>
              </a:tr>
              <a:tr h="370850">
                <a:tc>
                  <a:txBody>
                    <a:bodyPr/>
                    <a:lstStyle/>
                    <a:p>
                      <a:pPr marL="635" marR="0" lvl="0" indent="0" algn="ctr" rtl="0">
                        <a:lnSpc>
                          <a:spcPct val="100000"/>
                        </a:lnSpc>
                        <a:spcBef>
                          <a:spcPts val="0"/>
                        </a:spcBef>
                        <a:spcAft>
                          <a:spcPts val="0"/>
                        </a:spcAft>
                        <a:buNone/>
                      </a:pPr>
                      <a:r>
                        <a:rPr lang="en-US" sz="1400" u="none" strike="noStrike" cap="none">
                          <a:latin typeface="Calibri"/>
                          <a:ea typeface="Calibri"/>
                          <a:cs typeface="Calibri"/>
                          <a:sym typeface="Calibri"/>
                        </a:rPr>
                        <a:t>12</a:t>
                      </a:r>
                      <a:endParaRPr sz="1400" u="none" strike="noStrike" cap="none">
                        <a:latin typeface="Calibri"/>
                        <a:ea typeface="Calibri"/>
                        <a:cs typeface="Calibri"/>
                        <a:sym typeface="Calibri"/>
                      </a:endParaRPr>
                    </a:p>
                  </a:txBody>
                  <a:tcPr marL="0" marR="0" marT="330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F3F7"/>
                    </a:solidFill>
                  </a:tcPr>
                </a:tc>
                <a:tc>
                  <a:txBody>
                    <a:bodyPr/>
                    <a:lstStyle/>
                    <a:p>
                      <a:pPr marL="7620" marR="0" lvl="0" indent="0" algn="l" rtl="0">
                        <a:lnSpc>
                          <a:spcPct val="100000"/>
                        </a:lnSpc>
                        <a:spcBef>
                          <a:spcPts val="0"/>
                        </a:spcBef>
                        <a:spcAft>
                          <a:spcPts val="0"/>
                        </a:spcAft>
                        <a:buNone/>
                      </a:pPr>
                      <a:r>
                        <a:rPr lang="en-US" sz="1400" b="1" u="none" strike="noStrike" cap="none">
                          <a:latin typeface="Calibri"/>
                          <a:ea typeface="Calibri"/>
                          <a:cs typeface="Calibri"/>
                          <a:sym typeface="Calibri"/>
                        </a:rPr>
                        <a:t>int indexOf(int ch)</a:t>
                      </a:r>
                      <a:endParaRPr sz="1400" u="none" strike="noStrike" cap="none">
                        <a:latin typeface="Calibri"/>
                        <a:ea typeface="Calibri"/>
                        <a:cs typeface="Calibri"/>
                        <a:sym typeface="Calibri"/>
                      </a:endParaRPr>
                    </a:p>
                  </a:txBody>
                  <a:tcPr marL="0" marR="0" marT="330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F3F7"/>
                    </a:solidFill>
                  </a:tcPr>
                </a:tc>
                <a:tc>
                  <a:txBody>
                    <a:bodyPr/>
                    <a:lstStyle/>
                    <a:p>
                      <a:pPr marL="8255" marR="0" lvl="0" indent="0" algn="l" rtl="0">
                        <a:lnSpc>
                          <a:spcPct val="100000"/>
                        </a:lnSpc>
                        <a:spcBef>
                          <a:spcPts val="0"/>
                        </a:spcBef>
                        <a:spcAft>
                          <a:spcPts val="0"/>
                        </a:spcAft>
                        <a:buNone/>
                      </a:pPr>
                      <a:r>
                        <a:rPr lang="en-US" sz="1400" u="none" strike="noStrike" cap="none">
                          <a:latin typeface="Calibri"/>
                          <a:ea typeface="Calibri"/>
                          <a:cs typeface="Calibri"/>
                          <a:sym typeface="Calibri"/>
                        </a:rPr>
                        <a:t>returns the specified char value index.</a:t>
                      </a:r>
                      <a:endParaRPr sz="1400" u="none" strike="noStrike" cap="none">
                        <a:latin typeface="Calibri"/>
                        <a:ea typeface="Calibri"/>
                        <a:cs typeface="Calibri"/>
                        <a:sym typeface="Calibri"/>
                      </a:endParaRPr>
                    </a:p>
                  </a:txBody>
                  <a:tcPr marL="0" marR="0" marT="330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F3F7"/>
                    </a:solidFill>
                  </a:tcPr>
                </a:tc>
                <a:tc vMerge="1">
                  <a:txBody>
                    <a:bodyPr/>
                    <a:lstStyle/>
                    <a:p>
                      <a:endParaRPr lang="en-US"/>
                    </a:p>
                  </a:txBody>
                  <a:tcPr/>
                </a:tc>
                <a:extLst>
                  <a:ext uri="{0D108BD9-81ED-4DB2-BD59-A6C34878D82A}">
                    <a16:rowId xmlns:a16="http://schemas.microsoft.com/office/drawing/2014/main" val="10012"/>
                  </a:ext>
                </a:extLst>
              </a:tr>
              <a:tr h="370850">
                <a:tc>
                  <a:txBody>
                    <a:bodyPr/>
                    <a:lstStyle/>
                    <a:p>
                      <a:pPr marL="635" marR="0" lvl="0" indent="0" algn="ctr" rtl="0">
                        <a:lnSpc>
                          <a:spcPct val="100000"/>
                        </a:lnSpc>
                        <a:spcBef>
                          <a:spcPts val="0"/>
                        </a:spcBef>
                        <a:spcAft>
                          <a:spcPts val="0"/>
                        </a:spcAft>
                        <a:buNone/>
                      </a:pPr>
                      <a:r>
                        <a:rPr lang="en-US" sz="1400" u="none" strike="noStrike" cap="none">
                          <a:latin typeface="Calibri"/>
                          <a:ea typeface="Calibri"/>
                          <a:cs typeface="Calibri"/>
                          <a:sym typeface="Calibri"/>
                        </a:rPr>
                        <a:t>13</a:t>
                      </a:r>
                      <a:endParaRPr sz="1400" u="none" strike="noStrike" cap="none">
                        <a:latin typeface="Calibri"/>
                        <a:ea typeface="Calibri"/>
                        <a:cs typeface="Calibri"/>
                        <a:sym typeface="Calibri"/>
                      </a:endParaRPr>
                    </a:p>
                  </a:txBody>
                  <a:tcPr marL="0" marR="0" marT="330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EE7EC"/>
                    </a:solidFill>
                  </a:tcPr>
                </a:tc>
                <a:tc>
                  <a:txBody>
                    <a:bodyPr/>
                    <a:lstStyle/>
                    <a:p>
                      <a:pPr marL="7620" marR="0" lvl="0" indent="0" algn="l" rtl="0">
                        <a:lnSpc>
                          <a:spcPct val="100000"/>
                        </a:lnSpc>
                        <a:spcBef>
                          <a:spcPts val="0"/>
                        </a:spcBef>
                        <a:spcAft>
                          <a:spcPts val="0"/>
                        </a:spcAft>
                        <a:buNone/>
                      </a:pPr>
                      <a:r>
                        <a:rPr lang="en-US" sz="1400" b="1" u="none" strike="noStrike" cap="none">
                          <a:latin typeface="Calibri"/>
                          <a:ea typeface="Calibri"/>
                          <a:cs typeface="Calibri"/>
                          <a:sym typeface="Calibri"/>
                        </a:rPr>
                        <a:t>int indexOf(String substring)</a:t>
                      </a:r>
                      <a:endParaRPr sz="1400" u="none" strike="noStrike" cap="none">
                        <a:latin typeface="Calibri"/>
                        <a:ea typeface="Calibri"/>
                        <a:cs typeface="Calibri"/>
                        <a:sym typeface="Calibri"/>
                      </a:endParaRPr>
                    </a:p>
                  </a:txBody>
                  <a:tcPr marL="0" marR="0" marT="330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EE7EC"/>
                    </a:solidFill>
                  </a:tcPr>
                </a:tc>
                <a:tc>
                  <a:txBody>
                    <a:bodyPr/>
                    <a:lstStyle/>
                    <a:p>
                      <a:pPr marL="8255" marR="0" lvl="0" indent="0" algn="l" rtl="0">
                        <a:lnSpc>
                          <a:spcPct val="100000"/>
                        </a:lnSpc>
                        <a:spcBef>
                          <a:spcPts val="0"/>
                        </a:spcBef>
                        <a:spcAft>
                          <a:spcPts val="0"/>
                        </a:spcAft>
                        <a:buNone/>
                      </a:pPr>
                      <a:r>
                        <a:rPr lang="en-US" sz="1400" u="none" strike="noStrike" cap="none">
                          <a:latin typeface="Calibri"/>
                          <a:ea typeface="Calibri"/>
                          <a:cs typeface="Calibri"/>
                          <a:sym typeface="Calibri"/>
                        </a:rPr>
                        <a:t>returns the specified substring index.</a:t>
                      </a:r>
                      <a:endParaRPr sz="1400" u="none" strike="noStrike" cap="none">
                        <a:latin typeface="Calibri"/>
                        <a:ea typeface="Calibri"/>
                        <a:cs typeface="Calibri"/>
                        <a:sym typeface="Calibri"/>
                      </a:endParaRPr>
                    </a:p>
                  </a:txBody>
                  <a:tcPr marL="0" marR="0" marT="330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EE7EC"/>
                    </a:solidFill>
                  </a:tcPr>
                </a:tc>
                <a:tc vMerge="1">
                  <a:txBody>
                    <a:bodyPr/>
                    <a:lstStyle/>
                    <a:p>
                      <a:endParaRPr lang="en-US"/>
                    </a:p>
                  </a:txBody>
                  <a:tcPr/>
                </a:tc>
                <a:extLst>
                  <a:ext uri="{0D108BD9-81ED-4DB2-BD59-A6C34878D82A}">
                    <a16:rowId xmlns:a16="http://schemas.microsoft.com/office/drawing/2014/main" val="10013"/>
                  </a:ext>
                </a:extLst>
              </a:tr>
              <a:tr h="370200">
                <a:tc>
                  <a:txBody>
                    <a:bodyPr/>
                    <a:lstStyle/>
                    <a:p>
                      <a:pPr marL="635" marR="0" lvl="0" indent="0" algn="ctr" rtl="0">
                        <a:lnSpc>
                          <a:spcPct val="100000"/>
                        </a:lnSpc>
                        <a:spcBef>
                          <a:spcPts val="0"/>
                        </a:spcBef>
                        <a:spcAft>
                          <a:spcPts val="0"/>
                        </a:spcAft>
                        <a:buNone/>
                      </a:pPr>
                      <a:r>
                        <a:rPr lang="en-US" sz="1400" u="none" strike="noStrike" cap="none">
                          <a:latin typeface="Calibri"/>
                          <a:ea typeface="Calibri"/>
                          <a:cs typeface="Calibri"/>
                          <a:sym typeface="Calibri"/>
                        </a:rPr>
                        <a:t>14</a:t>
                      </a:r>
                      <a:endParaRPr sz="1400" u="none" strike="noStrike" cap="none">
                        <a:latin typeface="Calibri"/>
                        <a:ea typeface="Calibri"/>
                        <a:cs typeface="Calibri"/>
                        <a:sym typeface="Calibri"/>
                      </a:endParaRPr>
                    </a:p>
                  </a:txBody>
                  <a:tcPr marL="0" marR="0" marT="33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F3F7"/>
                    </a:solidFill>
                  </a:tcPr>
                </a:tc>
                <a:tc>
                  <a:txBody>
                    <a:bodyPr/>
                    <a:lstStyle/>
                    <a:p>
                      <a:pPr marL="7620" marR="0" lvl="0" indent="0" algn="l" rtl="0">
                        <a:lnSpc>
                          <a:spcPct val="100000"/>
                        </a:lnSpc>
                        <a:spcBef>
                          <a:spcPts val="0"/>
                        </a:spcBef>
                        <a:spcAft>
                          <a:spcPts val="0"/>
                        </a:spcAft>
                        <a:buNone/>
                      </a:pPr>
                      <a:r>
                        <a:rPr lang="en-US" sz="1400" b="1" u="none" strike="noStrike" cap="none">
                          <a:latin typeface="Calibri"/>
                          <a:ea typeface="Calibri"/>
                          <a:cs typeface="Calibri"/>
                          <a:sym typeface="Calibri"/>
                        </a:rPr>
                        <a:t>String toLowerCase()</a:t>
                      </a:r>
                      <a:endParaRPr sz="1400" u="none" strike="noStrike" cap="none">
                        <a:latin typeface="Calibri"/>
                        <a:ea typeface="Calibri"/>
                        <a:cs typeface="Calibri"/>
                        <a:sym typeface="Calibri"/>
                      </a:endParaRPr>
                    </a:p>
                  </a:txBody>
                  <a:tcPr marL="0" marR="0" marT="33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F3F7"/>
                    </a:solidFill>
                  </a:tcPr>
                </a:tc>
                <a:tc>
                  <a:txBody>
                    <a:bodyPr/>
                    <a:lstStyle/>
                    <a:p>
                      <a:pPr marL="8255" marR="0" lvl="0" indent="0" algn="l" rtl="0">
                        <a:lnSpc>
                          <a:spcPct val="100000"/>
                        </a:lnSpc>
                        <a:spcBef>
                          <a:spcPts val="0"/>
                        </a:spcBef>
                        <a:spcAft>
                          <a:spcPts val="0"/>
                        </a:spcAft>
                        <a:buNone/>
                      </a:pPr>
                      <a:r>
                        <a:rPr lang="en-US" sz="1400" u="none" strike="noStrike" cap="none">
                          <a:latin typeface="Calibri"/>
                          <a:ea typeface="Calibri"/>
                          <a:cs typeface="Calibri"/>
                          <a:sym typeface="Calibri"/>
                        </a:rPr>
                        <a:t>returns a string in lowercase.</a:t>
                      </a:r>
                      <a:endParaRPr sz="1400" u="none" strike="noStrike" cap="none">
                        <a:latin typeface="Calibri"/>
                        <a:ea typeface="Calibri"/>
                        <a:cs typeface="Calibri"/>
                        <a:sym typeface="Calibri"/>
                      </a:endParaRPr>
                    </a:p>
                  </a:txBody>
                  <a:tcPr marL="0" marR="0" marT="33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F3F7"/>
                    </a:solidFill>
                  </a:tcPr>
                </a:tc>
                <a:tc vMerge="1">
                  <a:txBody>
                    <a:bodyPr/>
                    <a:lstStyle/>
                    <a:p>
                      <a:endParaRPr lang="en-US"/>
                    </a:p>
                  </a:txBody>
                  <a:tcPr/>
                </a:tc>
                <a:extLst>
                  <a:ext uri="{0D108BD9-81ED-4DB2-BD59-A6C34878D82A}">
                    <a16:rowId xmlns:a16="http://schemas.microsoft.com/office/drawing/2014/main" val="10014"/>
                  </a:ext>
                </a:extLst>
              </a:tr>
              <a:tr h="370850">
                <a:tc>
                  <a:txBody>
                    <a:bodyPr/>
                    <a:lstStyle/>
                    <a:p>
                      <a:pPr marL="635" marR="0" lvl="0" indent="0" algn="ctr" rtl="0">
                        <a:lnSpc>
                          <a:spcPct val="100000"/>
                        </a:lnSpc>
                        <a:spcBef>
                          <a:spcPts val="0"/>
                        </a:spcBef>
                        <a:spcAft>
                          <a:spcPts val="0"/>
                        </a:spcAft>
                        <a:buNone/>
                      </a:pPr>
                      <a:r>
                        <a:rPr lang="en-US" sz="1400" u="none" strike="noStrike" cap="none">
                          <a:latin typeface="Calibri"/>
                          <a:ea typeface="Calibri"/>
                          <a:cs typeface="Calibri"/>
                          <a:sym typeface="Calibri"/>
                        </a:rPr>
                        <a:t>15</a:t>
                      </a:r>
                      <a:endParaRPr sz="1400" u="none" strike="noStrike" cap="none">
                        <a:latin typeface="Calibri"/>
                        <a:ea typeface="Calibri"/>
                        <a:cs typeface="Calibri"/>
                        <a:sym typeface="Calibri"/>
                      </a:endParaRPr>
                    </a:p>
                  </a:txBody>
                  <a:tcPr marL="0" marR="0" marT="343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EE7EC"/>
                    </a:solidFill>
                  </a:tcPr>
                </a:tc>
                <a:tc>
                  <a:txBody>
                    <a:bodyPr/>
                    <a:lstStyle/>
                    <a:p>
                      <a:pPr marL="7620" marR="0" lvl="0" indent="0" algn="l" rtl="0">
                        <a:lnSpc>
                          <a:spcPct val="100000"/>
                        </a:lnSpc>
                        <a:spcBef>
                          <a:spcPts val="0"/>
                        </a:spcBef>
                        <a:spcAft>
                          <a:spcPts val="0"/>
                        </a:spcAft>
                        <a:buNone/>
                      </a:pPr>
                      <a:r>
                        <a:rPr lang="en-US" sz="1400" b="1" u="none" strike="noStrike" cap="none">
                          <a:latin typeface="Calibri"/>
                          <a:ea typeface="Calibri"/>
                          <a:cs typeface="Calibri"/>
                          <a:sym typeface="Calibri"/>
                        </a:rPr>
                        <a:t>String toUpperCase()</a:t>
                      </a:r>
                      <a:endParaRPr sz="1400" u="none" strike="noStrike" cap="none">
                        <a:latin typeface="Calibri"/>
                        <a:ea typeface="Calibri"/>
                        <a:cs typeface="Calibri"/>
                        <a:sym typeface="Calibri"/>
                      </a:endParaRPr>
                    </a:p>
                  </a:txBody>
                  <a:tcPr marL="0" marR="0" marT="343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EE7EC"/>
                    </a:solidFill>
                  </a:tcPr>
                </a:tc>
                <a:tc>
                  <a:txBody>
                    <a:bodyPr/>
                    <a:lstStyle/>
                    <a:p>
                      <a:pPr marL="8255" marR="0" lvl="0" indent="0" algn="l" rtl="0">
                        <a:lnSpc>
                          <a:spcPct val="100000"/>
                        </a:lnSpc>
                        <a:spcBef>
                          <a:spcPts val="0"/>
                        </a:spcBef>
                        <a:spcAft>
                          <a:spcPts val="0"/>
                        </a:spcAft>
                        <a:buNone/>
                      </a:pPr>
                      <a:r>
                        <a:rPr lang="en-US" sz="1400" u="none" strike="noStrike" cap="none">
                          <a:latin typeface="Calibri"/>
                          <a:ea typeface="Calibri"/>
                          <a:cs typeface="Calibri"/>
                          <a:sym typeface="Calibri"/>
                        </a:rPr>
                        <a:t>returns a string in uppercase.</a:t>
                      </a:r>
                      <a:endParaRPr sz="1400" u="none" strike="noStrike" cap="none">
                        <a:latin typeface="Calibri"/>
                        <a:ea typeface="Calibri"/>
                        <a:cs typeface="Calibri"/>
                        <a:sym typeface="Calibri"/>
                      </a:endParaRPr>
                    </a:p>
                  </a:txBody>
                  <a:tcPr marL="0" marR="0" marT="343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EE7EC"/>
                    </a:solidFill>
                  </a:tcPr>
                </a:tc>
                <a:tc vMerge="1">
                  <a:txBody>
                    <a:bodyPr/>
                    <a:lstStyle/>
                    <a:p>
                      <a:endParaRPr lang="en-US"/>
                    </a:p>
                  </a:txBody>
                  <a:tcPr/>
                </a:tc>
                <a:extLst>
                  <a:ext uri="{0D108BD9-81ED-4DB2-BD59-A6C34878D82A}">
                    <a16:rowId xmlns:a16="http://schemas.microsoft.com/office/drawing/2014/main" val="10015"/>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38"/>
          <p:cNvSpPr txBox="1"/>
          <p:nvPr/>
        </p:nvSpPr>
        <p:spPr>
          <a:xfrm>
            <a:off x="228600" y="1441196"/>
            <a:ext cx="10871149" cy="1868460"/>
          </a:xfrm>
          <a:prstGeom prst="rect">
            <a:avLst/>
          </a:prstGeom>
          <a:noFill/>
          <a:ln>
            <a:noFill/>
          </a:ln>
        </p:spPr>
        <p:txBody>
          <a:bodyPr spcFirstLastPara="1" wrap="square" lIns="0" tIns="49525" rIns="0" bIns="0" anchor="t" anchorCtr="0">
            <a:spAutoFit/>
          </a:bodyPr>
          <a:lstStyle/>
          <a:p>
            <a:pPr marL="3826509" marR="5080" lvl="0" indent="-182879" algn="just" rtl="0">
              <a:lnSpc>
                <a:spcPct val="108181"/>
              </a:lnSpc>
              <a:spcBef>
                <a:spcPts val="0"/>
              </a:spcBef>
              <a:spcAft>
                <a:spcPts val="0"/>
              </a:spcAft>
              <a:buNone/>
            </a:pPr>
            <a:r>
              <a:rPr lang="en-US" sz="2200">
                <a:solidFill>
                  <a:srgbClr val="575757"/>
                </a:solidFill>
                <a:latin typeface="Cambria"/>
                <a:ea typeface="Cambria"/>
                <a:cs typeface="Cambria"/>
                <a:sym typeface="Cambria"/>
              </a:rPr>
              <a:t>   Random method :This method generates a random double value greater than or equal to 0.0 and less  than 1.0  (0 &lt;= Math.random()&lt;1.0)</a:t>
            </a:r>
            <a:endParaRPr sz="2200">
              <a:latin typeface="Cambria"/>
              <a:ea typeface="Cambria"/>
              <a:cs typeface="Cambria"/>
              <a:sym typeface="Cambria"/>
            </a:endParaRPr>
          </a:p>
          <a:p>
            <a:pPr marL="0" lvl="0" indent="0" algn="l" rtl="0">
              <a:lnSpc>
                <a:spcPct val="100000"/>
              </a:lnSpc>
              <a:spcBef>
                <a:spcPts val="475"/>
              </a:spcBef>
              <a:spcAft>
                <a:spcPts val="0"/>
              </a:spcAft>
              <a:buNone/>
            </a:pPr>
            <a:endParaRPr sz="2200">
              <a:latin typeface="Cambria"/>
              <a:ea typeface="Cambria"/>
              <a:cs typeface="Cambria"/>
              <a:sym typeface="Cambria"/>
            </a:endParaRPr>
          </a:p>
          <a:p>
            <a:pPr marL="12700" lvl="0" indent="0" algn="l" rtl="0">
              <a:lnSpc>
                <a:spcPct val="100000"/>
              </a:lnSpc>
              <a:spcBef>
                <a:spcPts val="0"/>
              </a:spcBef>
              <a:spcAft>
                <a:spcPts val="0"/>
              </a:spcAft>
              <a:buNone/>
            </a:pPr>
            <a:r>
              <a:rPr lang="en-US" sz="3200" b="1">
                <a:solidFill>
                  <a:srgbClr val="FFFFFF"/>
                </a:solidFill>
                <a:latin typeface="Cambria"/>
                <a:ea typeface="Cambria"/>
                <a:cs typeface="Cambria"/>
                <a:sym typeface="Cambria"/>
              </a:rPr>
              <a:t>Math.random()</a:t>
            </a:r>
            <a:endParaRPr sz="3200">
              <a:latin typeface="Cambria"/>
              <a:ea typeface="Cambria"/>
              <a:cs typeface="Cambria"/>
              <a:sym typeface="Cambria"/>
            </a:endParaRPr>
          </a:p>
        </p:txBody>
      </p:sp>
      <p:sp>
        <p:nvSpPr>
          <p:cNvPr id="384" name="Google Shape;384;p38"/>
          <p:cNvSpPr txBox="1"/>
          <p:nvPr/>
        </p:nvSpPr>
        <p:spPr>
          <a:xfrm>
            <a:off x="3581400" y="3430904"/>
            <a:ext cx="8153401" cy="2051203"/>
          </a:xfrm>
          <a:prstGeom prst="rect">
            <a:avLst/>
          </a:prstGeom>
          <a:noFill/>
          <a:ln>
            <a:noFill/>
          </a:ln>
        </p:spPr>
        <p:txBody>
          <a:bodyPr spcFirstLastPara="1" wrap="square" lIns="0" tIns="12050" rIns="0" bIns="0" anchor="t" anchorCtr="0">
            <a:spAutoFit/>
          </a:bodyPr>
          <a:lstStyle/>
          <a:p>
            <a:pPr marL="195580" lvl="0" indent="-182880" algn="l" rtl="0">
              <a:lnSpc>
                <a:spcPct val="117045"/>
              </a:lnSpc>
              <a:spcBef>
                <a:spcPts val="0"/>
              </a:spcBef>
              <a:spcAft>
                <a:spcPts val="0"/>
              </a:spcAft>
              <a:buClr>
                <a:srgbClr val="40B8D2"/>
              </a:buClr>
              <a:buSzPts val="2200"/>
              <a:buFont typeface="Arial"/>
              <a:buChar char="•"/>
            </a:pPr>
            <a:r>
              <a:rPr lang="en-US" sz="2200">
                <a:solidFill>
                  <a:srgbClr val="575757"/>
                </a:solidFill>
                <a:latin typeface="Cambria"/>
                <a:ea typeface="Cambria"/>
                <a:cs typeface="Cambria"/>
                <a:sym typeface="Cambria"/>
              </a:rPr>
              <a:t>Ex.(int)(Math.random() * 10)- - &gt;Returns a random Integer between 0 and 9.</a:t>
            </a:r>
            <a:endParaRPr sz="2200">
              <a:latin typeface="Cambria"/>
              <a:ea typeface="Cambria"/>
              <a:cs typeface="Cambria"/>
              <a:sym typeface="Cambria"/>
            </a:endParaRPr>
          </a:p>
          <a:p>
            <a:pPr marL="195580" marR="5080" lvl="0" indent="-182880" algn="l" rtl="0">
              <a:lnSpc>
                <a:spcPct val="113636"/>
              </a:lnSpc>
              <a:spcBef>
                <a:spcPts val="359"/>
              </a:spcBef>
              <a:spcAft>
                <a:spcPts val="0"/>
              </a:spcAft>
              <a:buClr>
                <a:srgbClr val="40B8D2"/>
              </a:buClr>
              <a:buSzPts val="2200"/>
              <a:buFont typeface="Arial"/>
              <a:buChar char="•"/>
            </a:pPr>
            <a:r>
              <a:rPr lang="en-US" sz="2200">
                <a:solidFill>
                  <a:srgbClr val="575757"/>
                </a:solidFill>
                <a:latin typeface="Cambria"/>
                <a:ea typeface="Cambria"/>
                <a:cs typeface="Cambria"/>
                <a:sym typeface="Cambria"/>
              </a:rPr>
              <a:t>a+Math.random()* b- - &gt;Returns a random number between a and a+b, excluding a+b.</a:t>
            </a:r>
            <a:endParaRPr sz="2200">
              <a:latin typeface="Cambria"/>
              <a:ea typeface="Cambria"/>
              <a:cs typeface="Cambria"/>
              <a:sym typeface="Cambria"/>
            </a:endParaRPr>
          </a:p>
          <a:p>
            <a:pPr marL="195580" lvl="0" indent="-182880" algn="l" rtl="0">
              <a:lnSpc>
                <a:spcPct val="116818"/>
              </a:lnSpc>
              <a:spcBef>
                <a:spcPts val="100"/>
              </a:spcBef>
              <a:spcAft>
                <a:spcPts val="0"/>
              </a:spcAft>
              <a:buClr>
                <a:srgbClr val="40B8D2"/>
              </a:buClr>
              <a:buSzPts val="2200"/>
              <a:buFont typeface="Arial"/>
              <a:buChar char="•"/>
            </a:pPr>
            <a:r>
              <a:rPr lang="en-US" sz="2200">
                <a:solidFill>
                  <a:srgbClr val="575757"/>
                </a:solidFill>
                <a:latin typeface="Cambria"/>
                <a:ea typeface="Cambria"/>
                <a:cs typeface="Cambria"/>
                <a:sym typeface="Cambria"/>
              </a:rPr>
              <a:t>Ex. 50+(int)(Math.random() * 100) - - &gt;Returns a Random integer between 50 and 99.</a:t>
            </a:r>
            <a:endParaRPr sz="2200">
              <a:latin typeface="Cambria"/>
              <a:ea typeface="Cambria"/>
              <a:cs typeface="Cambria"/>
              <a:sym typeface="Cambria"/>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sp>
        <p:nvSpPr>
          <p:cNvPr id="389" name="Google Shape;389;p39"/>
          <p:cNvSpPr txBox="1"/>
          <p:nvPr/>
        </p:nvSpPr>
        <p:spPr>
          <a:xfrm>
            <a:off x="331419" y="3067253"/>
            <a:ext cx="2558085" cy="11208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3600" b="1" dirty="0">
                <a:solidFill>
                  <a:srgbClr val="FFFFFF"/>
                </a:solidFill>
                <a:latin typeface="Trebuchet MS"/>
                <a:ea typeface="Trebuchet MS"/>
                <a:cs typeface="Trebuchet MS"/>
                <a:sym typeface="Trebuchet MS"/>
              </a:rPr>
              <a:t>String Buffer</a:t>
            </a:r>
            <a:endParaRPr sz="3600" dirty="0">
              <a:latin typeface="Trebuchet MS"/>
              <a:ea typeface="Trebuchet MS"/>
              <a:cs typeface="Trebuchet MS"/>
              <a:sym typeface="Trebuchet MS"/>
            </a:endParaRPr>
          </a:p>
        </p:txBody>
      </p:sp>
      <p:sp>
        <p:nvSpPr>
          <p:cNvPr id="390" name="Google Shape;390;p39"/>
          <p:cNvSpPr txBox="1"/>
          <p:nvPr/>
        </p:nvSpPr>
        <p:spPr>
          <a:xfrm>
            <a:off x="3949065" y="703021"/>
            <a:ext cx="7709535" cy="1898597"/>
          </a:xfrm>
          <a:prstGeom prst="rect">
            <a:avLst/>
          </a:prstGeom>
          <a:noFill/>
          <a:ln>
            <a:noFill/>
          </a:ln>
        </p:spPr>
        <p:txBody>
          <a:bodyPr spcFirstLastPara="1" wrap="square" lIns="0" tIns="13325" rIns="0" bIns="0" anchor="t" anchorCtr="0">
            <a:spAutoFit/>
          </a:bodyPr>
          <a:lstStyle/>
          <a:p>
            <a:pPr marL="193675" lvl="0" indent="-180975" algn="l" rtl="0">
              <a:lnSpc>
                <a:spcPct val="100000"/>
              </a:lnSpc>
              <a:spcBef>
                <a:spcPts val="0"/>
              </a:spcBef>
              <a:spcAft>
                <a:spcPts val="0"/>
              </a:spcAft>
              <a:buClr>
                <a:srgbClr val="40B8D2"/>
              </a:buClr>
              <a:buSzPts val="2200"/>
              <a:buFont typeface="Arial"/>
              <a:buChar char="•"/>
            </a:pPr>
            <a:r>
              <a:rPr lang="en-US" sz="2000">
                <a:solidFill>
                  <a:srgbClr val="575757"/>
                </a:solidFill>
                <a:latin typeface="Calibri"/>
                <a:ea typeface="Calibri"/>
                <a:cs typeface="Calibri"/>
                <a:sym typeface="Calibri"/>
              </a:rPr>
              <a:t>A StringBuffer  is like a String,  but can be modified.</a:t>
            </a:r>
            <a:endParaRPr sz="2000">
              <a:latin typeface="Calibri"/>
              <a:ea typeface="Calibri"/>
              <a:cs typeface="Calibri"/>
              <a:sym typeface="Calibri"/>
            </a:endParaRPr>
          </a:p>
          <a:p>
            <a:pPr marL="0" lvl="0" indent="0" algn="l" rtl="0">
              <a:lnSpc>
                <a:spcPct val="100000"/>
              </a:lnSpc>
              <a:spcBef>
                <a:spcPts val="340"/>
              </a:spcBef>
              <a:spcAft>
                <a:spcPts val="0"/>
              </a:spcAft>
              <a:buNone/>
            </a:pPr>
            <a:endParaRPr sz="2000">
              <a:latin typeface="Calibri"/>
              <a:ea typeface="Calibri"/>
              <a:cs typeface="Calibri"/>
              <a:sym typeface="Calibri"/>
            </a:endParaRPr>
          </a:p>
          <a:p>
            <a:pPr marL="12700" marR="5080" lvl="0" indent="0" algn="just" rtl="0">
              <a:lnSpc>
                <a:spcPct val="100000"/>
              </a:lnSpc>
              <a:spcBef>
                <a:spcPts val="0"/>
              </a:spcBef>
              <a:spcAft>
                <a:spcPts val="0"/>
              </a:spcAft>
              <a:buNone/>
            </a:pPr>
            <a:r>
              <a:rPr lang="en-US" sz="2000">
                <a:solidFill>
                  <a:srgbClr val="444444"/>
                </a:solidFill>
                <a:latin typeface="Calibri"/>
                <a:ea typeface="Calibri"/>
                <a:cs typeface="Calibri"/>
                <a:sym typeface="Calibri"/>
              </a:rPr>
              <a:t>StringBuffer is a peer class of String that provides much of the functionality of strings. String represents fixed-length, immutable character sequences while StringBuffer represents growable and writable character sequences.</a:t>
            </a:r>
            <a:endParaRPr sz="2000">
              <a:latin typeface="Calibri"/>
              <a:ea typeface="Calibri"/>
              <a:cs typeface="Calibri"/>
              <a:sym typeface="Calibri"/>
            </a:endParaRPr>
          </a:p>
        </p:txBody>
      </p:sp>
      <p:sp>
        <p:nvSpPr>
          <p:cNvPr id="391" name="Google Shape;391;p39"/>
          <p:cNvSpPr txBox="1"/>
          <p:nvPr/>
        </p:nvSpPr>
        <p:spPr>
          <a:xfrm>
            <a:off x="3950334" y="4377690"/>
            <a:ext cx="5727066" cy="157607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dirty="0" err="1">
                <a:solidFill>
                  <a:srgbClr val="575757"/>
                </a:solidFill>
                <a:latin typeface="Times New Roman"/>
                <a:ea typeface="Times New Roman"/>
                <a:cs typeface="Times New Roman"/>
                <a:sym typeface="Times New Roman"/>
              </a:rPr>
              <a:t>StringBuffer</a:t>
            </a:r>
            <a:r>
              <a:rPr lang="en-US" sz="2000" dirty="0">
                <a:solidFill>
                  <a:srgbClr val="575757"/>
                </a:solidFill>
                <a:latin typeface="Times New Roman"/>
                <a:ea typeface="Times New Roman"/>
                <a:cs typeface="Times New Roman"/>
                <a:sym typeface="Times New Roman"/>
              </a:rPr>
              <a:t> defines three constructors:</a:t>
            </a:r>
            <a:endParaRPr sz="2000" dirty="0">
              <a:latin typeface="Times New Roman"/>
              <a:ea typeface="Times New Roman"/>
              <a:cs typeface="Times New Roman"/>
              <a:sym typeface="Times New Roman"/>
            </a:endParaRPr>
          </a:p>
          <a:p>
            <a:pPr marL="434975" lvl="0" indent="-181609" algn="l" rtl="0">
              <a:lnSpc>
                <a:spcPct val="100000"/>
              </a:lnSpc>
              <a:spcBef>
                <a:spcPts val="1800"/>
              </a:spcBef>
              <a:spcAft>
                <a:spcPts val="0"/>
              </a:spcAft>
              <a:buClr>
                <a:srgbClr val="40B8D2"/>
              </a:buClr>
              <a:buSzPts val="2000"/>
              <a:buFont typeface="Arial"/>
              <a:buChar char="•"/>
            </a:pPr>
            <a:r>
              <a:rPr lang="en-US" sz="2000" dirty="0" err="1">
                <a:solidFill>
                  <a:srgbClr val="575757"/>
                </a:solidFill>
                <a:latin typeface="Times New Roman"/>
                <a:ea typeface="Times New Roman"/>
                <a:cs typeface="Times New Roman"/>
                <a:sym typeface="Times New Roman"/>
              </a:rPr>
              <a:t>StringBuffer</a:t>
            </a:r>
            <a:r>
              <a:rPr lang="en-US" sz="2000" dirty="0">
                <a:solidFill>
                  <a:srgbClr val="575757"/>
                </a:solidFill>
                <a:latin typeface="Times New Roman"/>
                <a:ea typeface="Times New Roman"/>
                <a:cs typeface="Times New Roman"/>
                <a:sym typeface="Times New Roman"/>
              </a:rPr>
              <a:t>()</a:t>
            </a:r>
            <a:endParaRPr sz="2000" dirty="0">
              <a:latin typeface="Times New Roman"/>
              <a:ea typeface="Times New Roman"/>
              <a:cs typeface="Times New Roman"/>
              <a:sym typeface="Times New Roman"/>
            </a:endParaRPr>
          </a:p>
          <a:p>
            <a:pPr marL="434975" lvl="0" indent="-181609" algn="l" rtl="0">
              <a:lnSpc>
                <a:spcPct val="100000"/>
              </a:lnSpc>
              <a:spcBef>
                <a:spcPts val="395"/>
              </a:spcBef>
              <a:spcAft>
                <a:spcPts val="0"/>
              </a:spcAft>
              <a:buClr>
                <a:srgbClr val="40B8D2"/>
              </a:buClr>
              <a:buSzPts val="2000"/>
              <a:buFont typeface="Arial"/>
              <a:buChar char="•"/>
            </a:pPr>
            <a:r>
              <a:rPr lang="en-US" sz="2000" dirty="0" err="1">
                <a:solidFill>
                  <a:srgbClr val="575757"/>
                </a:solidFill>
                <a:latin typeface="Times New Roman"/>
                <a:ea typeface="Times New Roman"/>
                <a:cs typeface="Times New Roman"/>
                <a:sym typeface="Times New Roman"/>
              </a:rPr>
              <a:t>StringBuffer</a:t>
            </a:r>
            <a:r>
              <a:rPr lang="en-US" sz="2000" dirty="0">
                <a:solidFill>
                  <a:srgbClr val="575757"/>
                </a:solidFill>
                <a:latin typeface="Times New Roman"/>
                <a:ea typeface="Times New Roman"/>
                <a:cs typeface="Times New Roman"/>
                <a:sym typeface="Times New Roman"/>
              </a:rPr>
              <a:t>(</a:t>
            </a:r>
            <a:r>
              <a:rPr lang="en-US" sz="2000" dirty="0" err="1">
                <a:solidFill>
                  <a:srgbClr val="575757"/>
                </a:solidFill>
                <a:latin typeface="Times New Roman"/>
                <a:ea typeface="Times New Roman"/>
                <a:cs typeface="Times New Roman"/>
                <a:sym typeface="Times New Roman"/>
              </a:rPr>
              <a:t>int</a:t>
            </a:r>
            <a:r>
              <a:rPr lang="en-US" sz="2000" dirty="0">
                <a:solidFill>
                  <a:srgbClr val="575757"/>
                </a:solidFill>
                <a:latin typeface="Times New Roman"/>
                <a:ea typeface="Times New Roman"/>
                <a:cs typeface="Times New Roman"/>
                <a:sym typeface="Times New Roman"/>
              </a:rPr>
              <a:t> size)</a:t>
            </a:r>
            <a:endParaRPr sz="2000" dirty="0">
              <a:latin typeface="Times New Roman"/>
              <a:ea typeface="Times New Roman"/>
              <a:cs typeface="Times New Roman"/>
              <a:sym typeface="Times New Roman"/>
            </a:endParaRPr>
          </a:p>
          <a:p>
            <a:pPr marL="434975" lvl="0" indent="-181609" algn="l" rtl="0">
              <a:lnSpc>
                <a:spcPct val="100000"/>
              </a:lnSpc>
              <a:spcBef>
                <a:spcPts val="409"/>
              </a:spcBef>
              <a:spcAft>
                <a:spcPts val="0"/>
              </a:spcAft>
              <a:buClr>
                <a:srgbClr val="40B8D2"/>
              </a:buClr>
              <a:buSzPts val="2000"/>
              <a:buFont typeface="Arial"/>
              <a:buChar char="•"/>
            </a:pPr>
            <a:r>
              <a:rPr lang="en-US" sz="2000" dirty="0" err="1">
                <a:solidFill>
                  <a:srgbClr val="575757"/>
                </a:solidFill>
                <a:latin typeface="Times New Roman"/>
                <a:ea typeface="Times New Roman"/>
                <a:cs typeface="Times New Roman"/>
                <a:sym typeface="Times New Roman"/>
              </a:rPr>
              <a:t>StringBuffer</a:t>
            </a:r>
            <a:r>
              <a:rPr lang="en-US" sz="2000" dirty="0">
                <a:solidFill>
                  <a:srgbClr val="575757"/>
                </a:solidFill>
                <a:latin typeface="Times New Roman"/>
                <a:ea typeface="Times New Roman"/>
                <a:cs typeface="Times New Roman"/>
                <a:sym typeface="Times New Roman"/>
              </a:rPr>
              <a:t>(</a:t>
            </a:r>
            <a:r>
              <a:rPr lang="en-US" sz="2000" dirty="0" err="1">
                <a:solidFill>
                  <a:srgbClr val="575757"/>
                </a:solidFill>
                <a:latin typeface="Times New Roman"/>
                <a:ea typeface="Times New Roman"/>
                <a:cs typeface="Times New Roman"/>
                <a:sym typeface="Times New Roman"/>
              </a:rPr>
              <a:t>Stringstr</a:t>
            </a:r>
            <a:r>
              <a:rPr lang="en-US" sz="2000" dirty="0">
                <a:solidFill>
                  <a:srgbClr val="575757"/>
                </a:solidFill>
                <a:latin typeface="Times New Roman"/>
                <a:ea typeface="Times New Roman"/>
                <a:cs typeface="Times New Roman"/>
                <a:sym typeface="Times New Roman"/>
              </a:rPr>
              <a:t>)</a:t>
            </a:r>
            <a:endParaRPr sz="2000" dirty="0">
              <a:latin typeface="Times New Roman"/>
              <a:ea typeface="Times New Roman"/>
              <a:cs typeface="Times New Roman"/>
              <a:sym typeface="Times New Roman"/>
            </a:endParaRPr>
          </a:p>
        </p:txBody>
      </p:sp>
      <p:sp>
        <p:nvSpPr>
          <p:cNvPr id="392" name="Google Shape;392;p39"/>
          <p:cNvSpPr txBox="1"/>
          <p:nvPr/>
        </p:nvSpPr>
        <p:spPr>
          <a:xfrm>
            <a:off x="3962527" y="2888361"/>
            <a:ext cx="7709535" cy="635635"/>
          </a:xfrm>
          <a:prstGeom prst="rect">
            <a:avLst/>
          </a:prstGeom>
          <a:noFill/>
          <a:ln>
            <a:noFill/>
          </a:ln>
        </p:spPr>
        <p:txBody>
          <a:bodyPr spcFirstLastPara="1" wrap="square" lIns="0" tIns="13325" rIns="0" bIns="0" anchor="t" anchorCtr="0">
            <a:spAutoFit/>
          </a:bodyPr>
          <a:lstStyle/>
          <a:p>
            <a:pPr marL="12700" marR="5080" lvl="0" indent="0" algn="l" rtl="0">
              <a:lnSpc>
                <a:spcPct val="100000"/>
              </a:lnSpc>
              <a:spcBef>
                <a:spcPts val="0"/>
              </a:spcBef>
              <a:spcAft>
                <a:spcPts val="0"/>
              </a:spcAft>
              <a:buNone/>
            </a:pPr>
            <a:r>
              <a:rPr lang="en-US" sz="2000">
                <a:solidFill>
                  <a:srgbClr val="444444"/>
                </a:solidFill>
                <a:latin typeface="Times New Roman"/>
                <a:ea typeface="Times New Roman"/>
                <a:cs typeface="Times New Roman"/>
                <a:sym typeface="Times New Roman"/>
              </a:rPr>
              <a:t>The length and content of the StringBuffer sequence can be changed through certain method calls.</a:t>
            </a:r>
            <a:endParaRPr sz="2000">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397" name="Google Shape;397;p40"/>
          <p:cNvSpPr/>
          <p:nvPr/>
        </p:nvSpPr>
        <p:spPr>
          <a:xfrm>
            <a:off x="11817095" y="758951"/>
            <a:ext cx="374650" cy="5330825"/>
          </a:xfrm>
          <a:custGeom>
            <a:avLst/>
            <a:gdLst/>
            <a:ahLst/>
            <a:cxnLst/>
            <a:rect l="l" t="t" r="r" b="b"/>
            <a:pathLst>
              <a:path w="374650" h="5330825" extrusionOk="0">
                <a:moveTo>
                  <a:pt x="374523" y="0"/>
                </a:moveTo>
                <a:lnTo>
                  <a:pt x="0" y="0"/>
                </a:lnTo>
                <a:lnTo>
                  <a:pt x="0" y="5330444"/>
                </a:lnTo>
                <a:lnTo>
                  <a:pt x="374523" y="5330444"/>
                </a:lnTo>
                <a:lnTo>
                  <a:pt x="374523" y="0"/>
                </a:lnTo>
                <a:close/>
              </a:path>
            </a:pathLst>
          </a:custGeom>
          <a:solidFill>
            <a:srgbClr val="C6C6C6">
              <a:alpha val="49411"/>
            </a:srgbClr>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98" name="Google Shape;398;p40"/>
          <p:cNvSpPr txBox="1"/>
          <p:nvPr/>
        </p:nvSpPr>
        <p:spPr>
          <a:xfrm>
            <a:off x="511860" y="3068777"/>
            <a:ext cx="2143125" cy="51435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None/>
            </a:pPr>
            <a:r>
              <a:rPr lang="en-US" sz="3200" b="1">
                <a:solidFill>
                  <a:srgbClr val="FFFFFF"/>
                </a:solidFill>
                <a:latin typeface="Cambria"/>
                <a:ea typeface="Cambria"/>
                <a:cs typeface="Cambria"/>
                <a:sym typeface="Cambria"/>
              </a:rPr>
              <a:t>StringBuffer</a:t>
            </a:r>
            <a:endParaRPr sz="3200">
              <a:latin typeface="Cambria"/>
              <a:ea typeface="Cambria"/>
              <a:cs typeface="Cambria"/>
              <a:sym typeface="Cambria"/>
            </a:endParaRPr>
          </a:p>
        </p:txBody>
      </p:sp>
      <p:sp>
        <p:nvSpPr>
          <p:cNvPr id="399" name="Google Shape;399;p40"/>
          <p:cNvSpPr txBox="1">
            <a:spLocks noGrp="1"/>
          </p:cNvSpPr>
          <p:nvPr>
            <p:ph type="title"/>
          </p:nvPr>
        </p:nvSpPr>
        <p:spPr>
          <a:xfrm>
            <a:off x="3733927" y="831596"/>
            <a:ext cx="7720965" cy="662305"/>
          </a:xfrm>
          <a:prstGeom prst="rect">
            <a:avLst/>
          </a:prstGeom>
          <a:noFill/>
          <a:ln>
            <a:noFill/>
          </a:ln>
        </p:spPr>
        <p:txBody>
          <a:bodyPr spcFirstLastPara="1" wrap="square" lIns="0" tIns="49525" rIns="0" bIns="0" anchor="t" anchorCtr="0">
            <a:spAutoFit/>
          </a:bodyPr>
          <a:lstStyle/>
          <a:p>
            <a:pPr marL="195580" marR="5080" lvl="0" indent="-182880" algn="l" rtl="0">
              <a:lnSpc>
                <a:spcPct val="108181"/>
              </a:lnSpc>
              <a:spcBef>
                <a:spcPts val="0"/>
              </a:spcBef>
              <a:spcAft>
                <a:spcPts val="0"/>
              </a:spcAft>
              <a:buNone/>
            </a:pPr>
            <a:r>
              <a:rPr lang="en-US" sz="2200" b="0">
                <a:solidFill>
                  <a:srgbClr val="575757"/>
                </a:solidFill>
                <a:latin typeface="Cambria"/>
                <a:ea typeface="Cambria"/>
                <a:cs typeface="Cambria"/>
                <a:sym typeface="Cambria"/>
              </a:rPr>
              <a:t>The principal operations on a StringBuffer are the append and insert methods, which are overloaded  so also accept data of any type.</a:t>
            </a:r>
            <a:endParaRPr sz="2200">
              <a:latin typeface="Cambria"/>
              <a:ea typeface="Cambria"/>
              <a:cs typeface="Cambria"/>
              <a:sym typeface="Cambria"/>
            </a:endParaRPr>
          </a:p>
        </p:txBody>
      </p:sp>
      <p:sp>
        <p:nvSpPr>
          <p:cNvPr id="400" name="Google Shape;400;p40"/>
          <p:cNvSpPr txBox="1"/>
          <p:nvPr/>
        </p:nvSpPr>
        <p:spPr>
          <a:xfrm>
            <a:off x="3810126" y="1746885"/>
            <a:ext cx="3886074" cy="963930"/>
          </a:xfrm>
          <a:prstGeom prst="rect">
            <a:avLst/>
          </a:prstGeom>
          <a:noFill/>
          <a:ln>
            <a:noFill/>
          </a:ln>
        </p:spPr>
        <p:txBody>
          <a:bodyPr spcFirstLastPara="1" wrap="square" lIns="0" tIns="49525" rIns="0" bIns="0" anchor="t" anchorCtr="0">
            <a:spAutoFit/>
          </a:bodyPr>
          <a:lstStyle/>
          <a:p>
            <a:pPr marL="195580" marR="5080" lvl="0" indent="-182880" algn="just" rtl="0">
              <a:lnSpc>
                <a:spcPct val="108181"/>
              </a:lnSpc>
              <a:spcBef>
                <a:spcPts val="0"/>
              </a:spcBef>
              <a:spcAft>
                <a:spcPts val="0"/>
              </a:spcAft>
              <a:buNone/>
            </a:pPr>
            <a:r>
              <a:rPr lang="en-US" sz="2200">
                <a:solidFill>
                  <a:srgbClr val="575757"/>
                </a:solidFill>
                <a:latin typeface="Cambria"/>
                <a:ea typeface="Cambria"/>
                <a:cs typeface="Cambria"/>
                <a:sym typeface="Cambria"/>
              </a:rPr>
              <a:t>Here are few append methods: StringBuffer append(String str) StringBuffer append(int num)</a:t>
            </a:r>
            <a:endParaRPr sz="2200">
              <a:latin typeface="Cambria"/>
              <a:ea typeface="Cambria"/>
              <a:cs typeface="Cambria"/>
              <a:sym typeface="Cambria"/>
            </a:endParaRPr>
          </a:p>
        </p:txBody>
      </p:sp>
      <p:sp>
        <p:nvSpPr>
          <p:cNvPr id="401" name="Google Shape;401;p40"/>
          <p:cNvSpPr txBox="1"/>
          <p:nvPr/>
        </p:nvSpPr>
        <p:spPr>
          <a:xfrm>
            <a:off x="3733927" y="3024886"/>
            <a:ext cx="8011795" cy="689291"/>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2200">
                <a:solidFill>
                  <a:srgbClr val="575757"/>
                </a:solidFill>
                <a:latin typeface="Cambria"/>
                <a:ea typeface="Cambria"/>
                <a:cs typeface="Cambria"/>
                <a:sym typeface="Cambria"/>
              </a:rPr>
              <a:t>The append method always adds these characters  at the end of the buffer.</a:t>
            </a:r>
            <a:endParaRPr sz="2200">
              <a:latin typeface="Cambria"/>
              <a:ea typeface="Cambria"/>
              <a:cs typeface="Cambria"/>
              <a:sym typeface="Cambria"/>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07" name="Google Shape;407;p41"/>
          <p:cNvSpPr txBox="1"/>
          <p:nvPr/>
        </p:nvSpPr>
        <p:spPr>
          <a:xfrm>
            <a:off x="331419" y="3068777"/>
            <a:ext cx="2440305" cy="57467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3600" b="1">
                <a:solidFill>
                  <a:srgbClr val="FFFFFF"/>
                </a:solidFill>
                <a:latin typeface="Cambria"/>
                <a:ea typeface="Cambria"/>
                <a:cs typeface="Cambria"/>
                <a:sym typeface="Cambria"/>
              </a:rPr>
              <a:t>StringBuffer</a:t>
            </a:r>
            <a:endParaRPr sz="3600">
              <a:latin typeface="Cambria"/>
              <a:ea typeface="Cambria"/>
              <a:cs typeface="Cambria"/>
              <a:sym typeface="Cambria"/>
            </a:endParaRPr>
          </a:p>
        </p:txBody>
      </p:sp>
      <p:sp>
        <p:nvSpPr>
          <p:cNvPr id="408" name="Google Shape;408;p41"/>
          <p:cNvSpPr txBox="1"/>
          <p:nvPr/>
        </p:nvSpPr>
        <p:spPr>
          <a:xfrm>
            <a:off x="3949065" y="2147697"/>
            <a:ext cx="7328535" cy="350737"/>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2200">
                <a:solidFill>
                  <a:srgbClr val="575757"/>
                </a:solidFill>
                <a:latin typeface="Cambria"/>
                <a:ea typeface="Cambria"/>
                <a:cs typeface="Cambria"/>
                <a:sym typeface="Cambria"/>
              </a:rPr>
              <a:t>The insert method adds  the characters  at a specified point.</a:t>
            </a:r>
            <a:endParaRPr sz="2200">
              <a:latin typeface="Cambria"/>
              <a:ea typeface="Cambria"/>
              <a:cs typeface="Cambria"/>
              <a:sym typeface="Cambria"/>
            </a:endParaRPr>
          </a:p>
        </p:txBody>
      </p:sp>
      <p:sp>
        <p:nvSpPr>
          <p:cNvPr id="409" name="Google Shape;409;p41"/>
          <p:cNvSpPr txBox="1"/>
          <p:nvPr/>
        </p:nvSpPr>
        <p:spPr>
          <a:xfrm>
            <a:off x="3949064" y="2758567"/>
            <a:ext cx="7709536" cy="1022716"/>
          </a:xfrm>
          <a:prstGeom prst="rect">
            <a:avLst/>
          </a:prstGeom>
          <a:noFill/>
          <a:ln>
            <a:noFill/>
          </a:ln>
        </p:spPr>
        <p:txBody>
          <a:bodyPr spcFirstLastPara="1" wrap="square" lIns="0" tIns="47625" rIns="0" bIns="0" anchor="t" anchorCtr="0">
            <a:spAutoFit/>
          </a:bodyPr>
          <a:lstStyle/>
          <a:p>
            <a:pPr marL="195580" marR="5080" lvl="0" indent="-182880" algn="l" rtl="0">
              <a:lnSpc>
                <a:spcPct val="109090"/>
              </a:lnSpc>
              <a:spcBef>
                <a:spcPts val="0"/>
              </a:spcBef>
              <a:spcAft>
                <a:spcPts val="0"/>
              </a:spcAft>
              <a:buNone/>
            </a:pPr>
            <a:r>
              <a:rPr lang="en-US" sz="2200">
                <a:solidFill>
                  <a:srgbClr val="575757"/>
                </a:solidFill>
                <a:latin typeface="Cambria"/>
                <a:ea typeface="Cambria"/>
                <a:cs typeface="Cambria"/>
                <a:sym typeface="Cambria"/>
              </a:rPr>
              <a:t>Here are few insert methods: StringBufferinsert(int index, String str) </a:t>
            </a:r>
            <a:endParaRPr sz="2200">
              <a:solidFill>
                <a:srgbClr val="575757"/>
              </a:solidFill>
              <a:latin typeface="Cambria"/>
              <a:ea typeface="Cambria"/>
              <a:cs typeface="Cambria"/>
              <a:sym typeface="Cambria"/>
            </a:endParaRPr>
          </a:p>
          <a:p>
            <a:pPr marL="195580" marR="5080" lvl="0" indent="-182880" algn="l" rtl="0">
              <a:lnSpc>
                <a:spcPct val="109090"/>
              </a:lnSpc>
              <a:spcBef>
                <a:spcPts val="375"/>
              </a:spcBef>
              <a:spcAft>
                <a:spcPts val="0"/>
              </a:spcAft>
              <a:buNone/>
            </a:pPr>
            <a:r>
              <a:rPr lang="en-US" sz="2200">
                <a:solidFill>
                  <a:srgbClr val="575757"/>
                </a:solidFill>
                <a:latin typeface="Cambria"/>
                <a:ea typeface="Cambria"/>
                <a:cs typeface="Cambria"/>
                <a:sym typeface="Cambria"/>
              </a:rPr>
              <a:t>String Buffer insert(int index, char ch)</a:t>
            </a:r>
            <a:endParaRPr sz="2200">
              <a:latin typeface="Cambria"/>
              <a:ea typeface="Cambria"/>
              <a:cs typeface="Cambria"/>
              <a:sym typeface="Cambria"/>
            </a:endParaRPr>
          </a:p>
        </p:txBody>
      </p:sp>
      <p:sp>
        <p:nvSpPr>
          <p:cNvPr id="410" name="Google Shape;410;p41"/>
          <p:cNvSpPr txBox="1"/>
          <p:nvPr/>
        </p:nvSpPr>
        <p:spPr>
          <a:xfrm>
            <a:off x="3949064" y="3942715"/>
            <a:ext cx="7861935" cy="677545"/>
          </a:xfrm>
          <a:prstGeom prst="rect">
            <a:avLst/>
          </a:prstGeom>
          <a:noFill/>
          <a:ln>
            <a:noFill/>
          </a:ln>
        </p:spPr>
        <p:txBody>
          <a:bodyPr spcFirstLastPara="1" wrap="square" lIns="0" tIns="37450" rIns="0" bIns="0" anchor="t" anchorCtr="0">
            <a:spAutoFit/>
          </a:bodyPr>
          <a:lstStyle/>
          <a:p>
            <a:pPr marL="12700" marR="5080" lvl="0" indent="0" algn="just" rtl="0">
              <a:lnSpc>
                <a:spcPct val="113636"/>
              </a:lnSpc>
              <a:spcBef>
                <a:spcPts val="0"/>
              </a:spcBef>
              <a:spcAft>
                <a:spcPts val="0"/>
              </a:spcAft>
              <a:buNone/>
            </a:pPr>
            <a:r>
              <a:rPr lang="en-US" sz="2200">
                <a:solidFill>
                  <a:srgbClr val="575757"/>
                </a:solidFill>
                <a:latin typeface="Cambria"/>
                <a:ea typeface="Cambria"/>
                <a:cs typeface="Cambria"/>
                <a:sym typeface="Cambria"/>
              </a:rPr>
              <a:t>Index specifies  at which point the string will be inserted  into the invoking  String Buffer object.</a:t>
            </a:r>
            <a:endParaRPr sz="2200">
              <a:latin typeface="Cambria"/>
              <a:ea typeface="Cambria"/>
              <a:cs typeface="Cambria"/>
              <a:sym typeface="Cambria"/>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5" name="Google Shape;415;p42"/>
          <p:cNvSpPr txBox="1"/>
          <p:nvPr/>
        </p:nvSpPr>
        <p:spPr>
          <a:xfrm>
            <a:off x="331419" y="3068777"/>
            <a:ext cx="2440305" cy="57467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3600" b="1">
                <a:solidFill>
                  <a:srgbClr val="FFFFFF"/>
                </a:solidFill>
                <a:latin typeface="Cambria"/>
                <a:ea typeface="Cambria"/>
                <a:cs typeface="Cambria"/>
                <a:sym typeface="Cambria"/>
              </a:rPr>
              <a:t>StringBuffer</a:t>
            </a:r>
            <a:endParaRPr sz="3600">
              <a:latin typeface="Cambria"/>
              <a:ea typeface="Cambria"/>
              <a:cs typeface="Cambria"/>
              <a:sym typeface="Cambria"/>
            </a:endParaRPr>
          </a:p>
        </p:txBody>
      </p:sp>
      <p:sp>
        <p:nvSpPr>
          <p:cNvPr id="416" name="Google Shape;416;p42"/>
          <p:cNvSpPr txBox="1"/>
          <p:nvPr/>
        </p:nvSpPr>
        <p:spPr>
          <a:xfrm>
            <a:off x="3962400" y="914400"/>
            <a:ext cx="7544434" cy="5790047"/>
          </a:xfrm>
          <a:prstGeom prst="rect">
            <a:avLst/>
          </a:prstGeom>
          <a:noFill/>
          <a:ln>
            <a:noFill/>
          </a:ln>
        </p:spPr>
        <p:txBody>
          <a:bodyPr spcFirstLastPara="1" wrap="square" lIns="0" tIns="47625" rIns="0" bIns="0" anchor="t" anchorCtr="0">
            <a:spAutoFit/>
          </a:bodyPr>
          <a:lstStyle/>
          <a:p>
            <a:pPr marL="13334" marR="5080" lvl="0" indent="0" algn="just" rtl="0">
              <a:lnSpc>
                <a:spcPct val="91000"/>
              </a:lnSpc>
              <a:spcBef>
                <a:spcPts val="0"/>
              </a:spcBef>
              <a:spcAft>
                <a:spcPts val="0"/>
              </a:spcAft>
              <a:buNone/>
            </a:pPr>
            <a:r>
              <a:rPr lang="en-US" sz="2200" b="1">
                <a:solidFill>
                  <a:srgbClr val="575757"/>
                </a:solidFill>
                <a:latin typeface="Cambria"/>
                <a:ea typeface="Cambria"/>
                <a:cs typeface="Cambria"/>
                <a:sym typeface="Cambria"/>
              </a:rPr>
              <a:t>delete() – </a:t>
            </a:r>
            <a:r>
              <a:rPr lang="en-US" sz="2200">
                <a:solidFill>
                  <a:srgbClr val="575757"/>
                </a:solidFill>
                <a:latin typeface="Cambria"/>
                <a:ea typeface="Cambria"/>
                <a:cs typeface="Cambria"/>
                <a:sym typeface="Cambria"/>
              </a:rPr>
              <a:t>Removes the characters in a substring of this StringBuffer.</a:t>
            </a:r>
            <a:endParaRPr sz="2200">
              <a:solidFill>
                <a:srgbClr val="575757"/>
              </a:solidFill>
              <a:latin typeface="Cambria"/>
              <a:ea typeface="Cambria"/>
              <a:cs typeface="Cambria"/>
              <a:sym typeface="Cambria"/>
            </a:endParaRPr>
          </a:p>
          <a:p>
            <a:pPr marL="13334" marR="5080" lvl="0" indent="0" algn="just" rtl="0">
              <a:lnSpc>
                <a:spcPct val="91000"/>
              </a:lnSpc>
              <a:spcBef>
                <a:spcPts val="335"/>
              </a:spcBef>
              <a:spcAft>
                <a:spcPts val="0"/>
              </a:spcAft>
              <a:buNone/>
            </a:pPr>
            <a:r>
              <a:rPr lang="en-US" sz="2200">
                <a:solidFill>
                  <a:srgbClr val="575757"/>
                </a:solidFill>
                <a:latin typeface="Cambria"/>
                <a:ea typeface="Cambria"/>
                <a:cs typeface="Cambria"/>
                <a:sym typeface="Cambria"/>
              </a:rPr>
              <a:t>The substring begins at the specified start and extends to the character at index end – 1 or to the end of the StringBuffer if no such character exists. If start is equal to  end, no changes are made.</a:t>
            </a:r>
            <a:endParaRPr sz="2200">
              <a:latin typeface="Cambria"/>
              <a:ea typeface="Cambria"/>
              <a:cs typeface="Cambria"/>
              <a:sym typeface="Cambria"/>
            </a:endParaRPr>
          </a:p>
          <a:p>
            <a:pPr marL="12700" lvl="0" indent="0" algn="just" rtl="0">
              <a:lnSpc>
                <a:spcPct val="100000"/>
              </a:lnSpc>
              <a:spcBef>
                <a:spcPts val="1970"/>
              </a:spcBef>
              <a:spcAft>
                <a:spcPts val="0"/>
              </a:spcAft>
              <a:buNone/>
            </a:pPr>
            <a:r>
              <a:rPr lang="en-US" sz="2200">
                <a:solidFill>
                  <a:srgbClr val="575757"/>
                </a:solidFill>
                <a:latin typeface="Cambria"/>
                <a:ea typeface="Cambria"/>
                <a:cs typeface="Cambria"/>
                <a:sym typeface="Cambria"/>
              </a:rPr>
              <a:t>public  StringBuffer </a:t>
            </a:r>
            <a:r>
              <a:rPr lang="en-US" sz="2200" b="1">
                <a:solidFill>
                  <a:srgbClr val="575757"/>
                </a:solidFill>
                <a:latin typeface="Cambria"/>
                <a:ea typeface="Cambria"/>
                <a:cs typeface="Cambria"/>
                <a:sym typeface="Cambria"/>
              </a:rPr>
              <a:t>delete</a:t>
            </a:r>
            <a:r>
              <a:rPr lang="en-US" sz="2200">
                <a:solidFill>
                  <a:srgbClr val="575757"/>
                </a:solidFill>
                <a:latin typeface="Cambria"/>
                <a:ea typeface="Cambria"/>
                <a:cs typeface="Cambria"/>
                <a:sym typeface="Cambria"/>
              </a:rPr>
              <a:t>(int start, int end)</a:t>
            </a:r>
            <a:endParaRPr/>
          </a:p>
          <a:p>
            <a:pPr marL="12700" lvl="0" indent="0" algn="just" rtl="0">
              <a:lnSpc>
                <a:spcPct val="100000"/>
              </a:lnSpc>
              <a:spcBef>
                <a:spcPts val="1970"/>
              </a:spcBef>
              <a:spcAft>
                <a:spcPts val="0"/>
              </a:spcAft>
              <a:buNone/>
            </a:pPr>
            <a:endParaRPr sz="2200">
              <a:solidFill>
                <a:srgbClr val="575757"/>
              </a:solidFill>
              <a:latin typeface="Cambria"/>
              <a:ea typeface="Cambria"/>
              <a:cs typeface="Cambria"/>
              <a:sym typeface="Cambria"/>
            </a:endParaRPr>
          </a:p>
          <a:p>
            <a:pPr marL="12700" lvl="0" indent="0" algn="l" rtl="0">
              <a:lnSpc>
                <a:spcPct val="100000"/>
              </a:lnSpc>
              <a:spcBef>
                <a:spcPts val="95"/>
              </a:spcBef>
              <a:spcAft>
                <a:spcPts val="0"/>
              </a:spcAft>
              <a:buNone/>
            </a:pPr>
            <a:r>
              <a:rPr lang="en-US" sz="2200" b="1">
                <a:solidFill>
                  <a:srgbClr val="575757"/>
                </a:solidFill>
                <a:latin typeface="Cambria"/>
                <a:ea typeface="Cambria"/>
                <a:cs typeface="Cambria"/>
                <a:sym typeface="Cambria"/>
              </a:rPr>
              <a:t>reverse()-</a:t>
            </a:r>
            <a:r>
              <a:rPr lang="en-US" sz="2200">
                <a:solidFill>
                  <a:srgbClr val="575757"/>
                </a:solidFill>
                <a:latin typeface="Cambria"/>
                <a:ea typeface="Cambria"/>
                <a:cs typeface="Cambria"/>
                <a:sym typeface="Cambria"/>
              </a:rPr>
              <a:t>The  character sequence  contained in this string </a:t>
            </a:r>
            <a:r>
              <a:rPr lang="en-US" sz="2200" b="0">
                <a:solidFill>
                  <a:srgbClr val="575757"/>
                </a:solidFill>
                <a:latin typeface="Cambria"/>
                <a:ea typeface="Cambria"/>
                <a:cs typeface="Cambria"/>
                <a:sym typeface="Cambria"/>
              </a:rPr>
              <a:t>buffer is replaced  by the  reverse of the sequence.</a:t>
            </a:r>
            <a:endParaRPr/>
          </a:p>
          <a:p>
            <a:pPr marL="12700" lvl="0" indent="0" algn="l" rtl="0">
              <a:lnSpc>
                <a:spcPct val="100000"/>
              </a:lnSpc>
              <a:spcBef>
                <a:spcPts val="95"/>
              </a:spcBef>
              <a:spcAft>
                <a:spcPts val="0"/>
              </a:spcAft>
              <a:buNone/>
            </a:pPr>
            <a:endParaRPr sz="2200">
              <a:solidFill>
                <a:srgbClr val="575757"/>
              </a:solidFill>
              <a:latin typeface="Cambria"/>
              <a:ea typeface="Cambria"/>
              <a:cs typeface="Cambria"/>
              <a:sym typeface="Cambria"/>
            </a:endParaRPr>
          </a:p>
          <a:p>
            <a:pPr marL="12700" lvl="0" indent="0" algn="l" rtl="0">
              <a:spcBef>
                <a:spcPts val="95"/>
              </a:spcBef>
              <a:spcAft>
                <a:spcPts val="0"/>
              </a:spcAft>
              <a:buNone/>
            </a:pPr>
            <a:r>
              <a:rPr lang="en-US" sz="2200">
                <a:solidFill>
                  <a:srgbClr val="575757"/>
                </a:solidFill>
                <a:latin typeface="Cambria"/>
                <a:ea typeface="Cambria"/>
                <a:cs typeface="Cambria"/>
                <a:sym typeface="Cambria"/>
              </a:rPr>
              <a:t>public StringBuffer </a:t>
            </a:r>
            <a:r>
              <a:rPr lang="en-US" sz="2200" b="1">
                <a:solidFill>
                  <a:srgbClr val="575757"/>
                </a:solidFill>
                <a:latin typeface="Cambria"/>
                <a:ea typeface="Cambria"/>
                <a:cs typeface="Cambria"/>
                <a:sym typeface="Cambria"/>
              </a:rPr>
              <a:t>reverse</a:t>
            </a:r>
            <a:r>
              <a:rPr lang="en-US" sz="2200">
                <a:solidFill>
                  <a:srgbClr val="575757"/>
                </a:solidFill>
                <a:latin typeface="Cambria"/>
                <a:ea typeface="Cambria"/>
                <a:cs typeface="Cambria"/>
                <a:sym typeface="Cambria"/>
              </a:rPr>
              <a:t>()</a:t>
            </a:r>
            <a:endParaRPr sz="2200">
              <a:latin typeface="Cambria"/>
              <a:ea typeface="Cambria"/>
              <a:cs typeface="Cambria"/>
              <a:sym typeface="Cambria"/>
            </a:endParaRPr>
          </a:p>
          <a:p>
            <a:pPr marL="12700" lvl="0" indent="0" algn="l" rtl="0">
              <a:lnSpc>
                <a:spcPct val="100000"/>
              </a:lnSpc>
              <a:spcBef>
                <a:spcPts val="95"/>
              </a:spcBef>
              <a:spcAft>
                <a:spcPts val="0"/>
              </a:spcAft>
              <a:buNone/>
            </a:pPr>
            <a:endParaRPr sz="2200">
              <a:latin typeface="Cambria"/>
              <a:ea typeface="Cambria"/>
              <a:cs typeface="Cambria"/>
              <a:sym typeface="Cambria"/>
            </a:endParaRPr>
          </a:p>
          <a:p>
            <a:pPr marL="12700" lvl="0" indent="0" algn="l" rtl="0">
              <a:lnSpc>
                <a:spcPct val="100000"/>
              </a:lnSpc>
              <a:spcBef>
                <a:spcPts val="95"/>
              </a:spcBef>
              <a:spcAft>
                <a:spcPts val="0"/>
              </a:spcAft>
              <a:buNone/>
            </a:pPr>
            <a:r>
              <a:rPr lang="en-US" sz="2200" b="1">
                <a:solidFill>
                  <a:srgbClr val="575757"/>
                </a:solidFill>
                <a:latin typeface="Cambria"/>
                <a:ea typeface="Cambria"/>
                <a:cs typeface="Cambria"/>
                <a:sym typeface="Cambria"/>
              </a:rPr>
              <a:t>length()- </a:t>
            </a:r>
            <a:r>
              <a:rPr lang="en-US" sz="2200">
                <a:solidFill>
                  <a:srgbClr val="575757"/>
                </a:solidFill>
                <a:latin typeface="Cambria"/>
                <a:ea typeface="Cambria"/>
                <a:cs typeface="Cambria"/>
                <a:sym typeface="Cambria"/>
              </a:rPr>
              <a:t>Returns the length of this stringbuffer.</a:t>
            </a:r>
            <a:endParaRPr sz="2200">
              <a:latin typeface="Cambria"/>
              <a:ea typeface="Cambria"/>
              <a:cs typeface="Cambria"/>
              <a:sym typeface="Cambria"/>
            </a:endParaRPr>
          </a:p>
          <a:p>
            <a:pPr marL="195580" lvl="0" indent="0" algn="l" rtl="0">
              <a:lnSpc>
                <a:spcPct val="100000"/>
              </a:lnSpc>
              <a:spcBef>
                <a:spcPts val="1805"/>
              </a:spcBef>
              <a:spcAft>
                <a:spcPts val="0"/>
              </a:spcAft>
              <a:buNone/>
            </a:pPr>
            <a:r>
              <a:rPr lang="en-US" sz="2200">
                <a:solidFill>
                  <a:srgbClr val="575757"/>
                </a:solidFill>
                <a:latin typeface="Cambria"/>
                <a:ea typeface="Cambria"/>
                <a:cs typeface="Cambria"/>
                <a:sym typeface="Cambria"/>
              </a:rPr>
              <a:t>public int </a:t>
            </a:r>
            <a:r>
              <a:rPr lang="en-US" sz="2200" b="1">
                <a:solidFill>
                  <a:srgbClr val="575757"/>
                </a:solidFill>
                <a:latin typeface="Cambria"/>
                <a:ea typeface="Cambria"/>
                <a:cs typeface="Cambria"/>
                <a:sym typeface="Cambria"/>
              </a:rPr>
              <a:t>length</a:t>
            </a:r>
            <a:r>
              <a:rPr lang="en-US" sz="2200">
                <a:solidFill>
                  <a:srgbClr val="575757"/>
                </a:solidFill>
                <a:latin typeface="Cambria"/>
                <a:ea typeface="Cambria"/>
                <a:cs typeface="Cambria"/>
                <a:sym typeface="Cambria"/>
              </a:rPr>
              <a:t>()</a:t>
            </a:r>
            <a:endParaRPr sz="2200">
              <a:latin typeface="Cambria"/>
              <a:ea typeface="Cambria"/>
              <a:cs typeface="Cambria"/>
              <a:sym typeface="Cambria"/>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sp>
        <p:nvSpPr>
          <p:cNvPr id="421" name="Google Shape;421;p43"/>
          <p:cNvSpPr/>
          <p:nvPr/>
        </p:nvSpPr>
        <p:spPr>
          <a:xfrm>
            <a:off x="11817095" y="758951"/>
            <a:ext cx="374650" cy="5330825"/>
          </a:xfrm>
          <a:custGeom>
            <a:avLst/>
            <a:gdLst/>
            <a:ahLst/>
            <a:cxnLst/>
            <a:rect l="l" t="t" r="r" b="b"/>
            <a:pathLst>
              <a:path w="374650" h="5330825" extrusionOk="0">
                <a:moveTo>
                  <a:pt x="374523" y="0"/>
                </a:moveTo>
                <a:lnTo>
                  <a:pt x="0" y="0"/>
                </a:lnTo>
                <a:lnTo>
                  <a:pt x="0" y="5330444"/>
                </a:lnTo>
                <a:lnTo>
                  <a:pt x="374523" y="5330444"/>
                </a:lnTo>
                <a:lnTo>
                  <a:pt x="374523" y="0"/>
                </a:lnTo>
                <a:close/>
              </a:path>
            </a:pathLst>
          </a:custGeom>
          <a:solidFill>
            <a:srgbClr val="C6C6C6">
              <a:alpha val="49411"/>
            </a:srgbClr>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422" name="Google Shape;422;p43"/>
          <p:cNvSpPr txBox="1"/>
          <p:nvPr/>
        </p:nvSpPr>
        <p:spPr>
          <a:xfrm>
            <a:off x="331419" y="3068777"/>
            <a:ext cx="2440305" cy="57467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3600" b="1">
                <a:solidFill>
                  <a:srgbClr val="FFFFFF"/>
                </a:solidFill>
                <a:latin typeface="Cambria"/>
                <a:ea typeface="Cambria"/>
                <a:cs typeface="Cambria"/>
                <a:sym typeface="Cambria"/>
              </a:rPr>
              <a:t>StringBuffer</a:t>
            </a:r>
            <a:endParaRPr sz="3600">
              <a:latin typeface="Cambria"/>
              <a:ea typeface="Cambria"/>
              <a:cs typeface="Cambria"/>
              <a:sym typeface="Cambria"/>
            </a:endParaRPr>
          </a:p>
        </p:txBody>
      </p:sp>
      <p:sp>
        <p:nvSpPr>
          <p:cNvPr id="423" name="Google Shape;423;p43"/>
          <p:cNvSpPr txBox="1">
            <a:spLocks noGrp="1"/>
          </p:cNvSpPr>
          <p:nvPr>
            <p:ph type="title"/>
          </p:nvPr>
        </p:nvSpPr>
        <p:spPr>
          <a:xfrm>
            <a:off x="3733800" y="838200"/>
            <a:ext cx="7848600" cy="4358886"/>
          </a:xfrm>
          <a:prstGeom prst="rect">
            <a:avLst/>
          </a:prstGeom>
          <a:noFill/>
          <a:ln>
            <a:noFill/>
          </a:ln>
        </p:spPr>
        <p:txBody>
          <a:bodyPr spcFirstLastPara="1" wrap="square" lIns="0" tIns="49525" rIns="0" bIns="0" anchor="t" anchorCtr="0">
            <a:spAutoFit/>
          </a:bodyPr>
          <a:lstStyle/>
          <a:p>
            <a:pPr marL="195580" marR="5080" lvl="0" indent="-117475" algn="l" rtl="0">
              <a:lnSpc>
                <a:spcPct val="108181"/>
              </a:lnSpc>
              <a:spcBef>
                <a:spcPts val="0"/>
              </a:spcBef>
              <a:spcAft>
                <a:spcPts val="0"/>
              </a:spcAft>
              <a:buNone/>
            </a:pPr>
            <a:r>
              <a:rPr lang="en-US" sz="2200">
                <a:solidFill>
                  <a:srgbClr val="575757"/>
                </a:solidFill>
                <a:latin typeface="Cambria"/>
                <a:ea typeface="Cambria"/>
                <a:cs typeface="Cambria"/>
                <a:sym typeface="Cambria"/>
              </a:rPr>
              <a:t>   replace()- </a:t>
            </a:r>
            <a:r>
              <a:rPr lang="en-US" sz="2200" b="0">
                <a:solidFill>
                  <a:srgbClr val="575757"/>
                </a:solidFill>
                <a:latin typeface="Cambria"/>
                <a:ea typeface="Cambria"/>
                <a:cs typeface="Cambria"/>
                <a:sym typeface="Cambria"/>
              </a:rPr>
              <a:t>Replaces the characters in a substring of this StringBuffer with characters in the specified String.</a:t>
            </a:r>
            <a:br>
              <a:rPr lang="en-US" sz="2200" b="0">
                <a:solidFill>
                  <a:srgbClr val="575757"/>
                </a:solidFill>
                <a:latin typeface="Cambria"/>
                <a:ea typeface="Cambria"/>
                <a:cs typeface="Cambria"/>
                <a:sym typeface="Cambria"/>
              </a:rPr>
            </a:br>
            <a:r>
              <a:rPr lang="en-US" sz="2200" b="0">
                <a:solidFill>
                  <a:srgbClr val="575757"/>
                </a:solidFill>
                <a:latin typeface="Cambria"/>
                <a:ea typeface="Cambria"/>
                <a:cs typeface="Cambria"/>
                <a:sym typeface="Cambria"/>
              </a:rPr>
              <a:t/>
            </a:r>
            <a:br>
              <a:rPr lang="en-US" sz="2200" b="0">
                <a:solidFill>
                  <a:srgbClr val="575757"/>
                </a:solidFill>
                <a:latin typeface="Cambria"/>
                <a:ea typeface="Cambria"/>
                <a:cs typeface="Cambria"/>
                <a:sym typeface="Cambria"/>
              </a:rPr>
            </a:br>
            <a:r>
              <a:rPr lang="en-US" sz="2200">
                <a:solidFill>
                  <a:srgbClr val="575757"/>
                </a:solidFill>
                <a:latin typeface="Cambria"/>
                <a:ea typeface="Cambria"/>
                <a:cs typeface="Cambria"/>
                <a:sym typeface="Cambria"/>
              </a:rPr>
              <a:t>public StringBuffer replace(int start, int end, Stringstr)</a:t>
            </a:r>
            <a:br>
              <a:rPr lang="en-US" sz="2200">
                <a:solidFill>
                  <a:srgbClr val="575757"/>
                </a:solidFill>
                <a:latin typeface="Cambria"/>
                <a:ea typeface="Cambria"/>
                <a:cs typeface="Cambria"/>
                <a:sym typeface="Cambria"/>
              </a:rPr>
            </a:br>
            <a:r>
              <a:rPr lang="en-US" sz="2200">
                <a:solidFill>
                  <a:srgbClr val="575757"/>
                </a:solidFill>
                <a:latin typeface="Cambria"/>
                <a:ea typeface="Cambria"/>
                <a:cs typeface="Cambria"/>
                <a:sym typeface="Cambria"/>
              </a:rPr>
              <a:t/>
            </a:r>
            <a:br>
              <a:rPr lang="en-US" sz="2200">
                <a:solidFill>
                  <a:srgbClr val="575757"/>
                </a:solidFill>
                <a:latin typeface="Cambria"/>
                <a:ea typeface="Cambria"/>
                <a:cs typeface="Cambria"/>
                <a:sym typeface="Cambria"/>
              </a:rPr>
            </a:br>
            <a:r>
              <a:rPr lang="en-US" sz="2200" b="0">
                <a:solidFill>
                  <a:srgbClr val="575757"/>
                </a:solidFill>
                <a:latin typeface="Cambria"/>
                <a:ea typeface="Cambria"/>
                <a:cs typeface="Cambria"/>
                <a:sym typeface="Cambria"/>
              </a:rPr>
              <a:t>substring() - Returns  a new String that contains a sub sequence of characters currently contained in this StringBuffer. </a:t>
            </a:r>
            <a:br>
              <a:rPr lang="en-US" sz="2200" b="0">
                <a:solidFill>
                  <a:srgbClr val="575757"/>
                </a:solidFill>
                <a:latin typeface="Cambria"/>
                <a:ea typeface="Cambria"/>
                <a:cs typeface="Cambria"/>
                <a:sym typeface="Cambria"/>
              </a:rPr>
            </a:br>
            <a:r>
              <a:rPr lang="en-US" sz="2200" b="0">
                <a:solidFill>
                  <a:srgbClr val="575757"/>
                </a:solidFill>
                <a:latin typeface="Cambria"/>
                <a:ea typeface="Cambria"/>
                <a:cs typeface="Cambria"/>
                <a:sym typeface="Cambria"/>
              </a:rPr>
              <a:t> </a:t>
            </a:r>
            <a:br>
              <a:rPr lang="en-US" sz="2200" b="0">
                <a:solidFill>
                  <a:srgbClr val="575757"/>
                </a:solidFill>
                <a:latin typeface="Cambria"/>
                <a:ea typeface="Cambria"/>
                <a:cs typeface="Cambria"/>
                <a:sym typeface="Cambria"/>
              </a:rPr>
            </a:br>
            <a:r>
              <a:rPr lang="en-US" sz="2200" b="0">
                <a:solidFill>
                  <a:srgbClr val="575757"/>
                </a:solidFill>
                <a:latin typeface="Cambria"/>
                <a:ea typeface="Cambria"/>
                <a:cs typeface="Cambria"/>
                <a:sym typeface="Cambria"/>
              </a:rPr>
              <a:t>The  substring begins at the specified index and extends to the end of the StringBuffer.</a:t>
            </a:r>
            <a:r>
              <a:rPr lang="en-US" sz="2200" b="0">
                <a:latin typeface="Cambria"/>
                <a:ea typeface="Cambria"/>
                <a:cs typeface="Cambria"/>
                <a:sym typeface="Cambria"/>
              </a:rPr>
              <a:t/>
            </a:r>
            <a:br>
              <a:rPr lang="en-US" sz="2200" b="0">
                <a:latin typeface="Cambria"/>
                <a:ea typeface="Cambria"/>
                <a:cs typeface="Cambria"/>
                <a:sym typeface="Cambria"/>
              </a:rPr>
            </a:br>
            <a:r>
              <a:rPr lang="en-US" sz="2200" b="0">
                <a:latin typeface="Cambria"/>
                <a:ea typeface="Cambria"/>
                <a:cs typeface="Cambria"/>
                <a:sym typeface="Cambria"/>
              </a:rPr>
              <a:t/>
            </a:r>
            <a:br>
              <a:rPr lang="en-US" sz="2200" b="0">
                <a:latin typeface="Cambria"/>
                <a:ea typeface="Cambria"/>
                <a:cs typeface="Cambria"/>
                <a:sym typeface="Cambria"/>
              </a:rPr>
            </a:br>
            <a:r>
              <a:rPr lang="en-US" sz="2200" b="0">
                <a:solidFill>
                  <a:srgbClr val="575757"/>
                </a:solidFill>
                <a:latin typeface="Cambria"/>
                <a:ea typeface="Cambria"/>
                <a:cs typeface="Cambria"/>
                <a:sym typeface="Cambria"/>
              </a:rPr>
              <a:t>Public String substring(int start)</a:t>
            </a:r>
            <a:r>
              <a:rPr lang="en-US" sz="2200" b="0">
                <a:latin typeface="Cambria"/>
                <a:ea typeface="Cambria"/>
                <a:cs typeface="Cambria"/>
                <a:sym typeface="Cambria"/>
              </a:rPr>
              <a:t/>
            </a:r>
            <a:br>
              <a:rPr lang="en-US" sz="2200" b="0">
                <a:latin typeface="Cambria"/>
                <a:ea typeface="Cambria"/>
                <a:cs typeface="Cambria"/>
                <a:sym typeface="Cambria"/>
              </a:rPr>
            </a:br>
            <a:r>
              <a:rPr lang="en-US" sz="2200" b="0">
                <a:latin typeface="Cambria"/>
                <a:ea typeface="Cambria"/>
                <a:cs typeface="Cambria"/>
                <a:sym typeface="Cambria"/>
              </a:rPr>
              <a:t/>
            </a:r>
            <a:br>
              <a:rPr lang="en-US" sz="2200" b="0">
                <a:latin typeface="Cambria"/>
                <a:ea typeface="Cambria"/>
                <a:cs typeface="Cambria"/>
                <a:sym typeface="Cambria"/>
              </a:rPr>
            </a:br>
            <a:endParaRPr sz="2200" b="0">
              <a:latin typeface="Cambria"/>
              <a:ea typeface="Cambria"/>
              <a:cs typeface="Cambria"/>
              <a:sym typeface="Cambria"/>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27"/>
        <p:cNvGrpSpPr/>
        <p:nvPr/>
      </p:nvGrpSpPr>
      <p:grpSpPr>
        <a:xfrm>
          <a:off x="0" y="0"/>
          <a:ext cx="0" cy="0"/>
          <a:chOff x="0" y="0"/>
          <a:chExt cx="0" cy="0"/>
        </a:xfrm>
      </p:grpSpPr>
      <p:sp>
        <p:nvSpPr>
          <p:cNvPr id="428" name="Google Shape;428;p44"/>
          <p:cNvSpPr/>
          <p:nvPr/>
        </p:nvSpPr>
        <p:spPr>
          <a:xfrm>
            <a:off x="11817095" y="758951"/>
            <a:ext cx="374650" cy="5330825"/>
          </a:xfrm>
          <a:custGeom>
            <a:avLst/>
            <a:gdLst/>
            <a:ahLst/>
            <a:cxnLst/>
            <a:rect l="l" t="t" r="r" b="b"/>
            <a:pathLst>
              <a:path w="374650" h="5330825" extrusionOk="0">
                <a:moveTo>
                  <a:pt x="374523" y="0"/>
                </a:moveTo>
                <a:lnTo>
                  <a:pt x="0" y="0"/>
                </a:lnTo>
                <a:lnTo>
                  <a:pt x="0" y="5330444"/>
                </a:lnTo>
                <a:lnTo>
                  <a:pt x="374523" y="5330444"/>
                </a:lnTo>
                <a:lnTo>
                  <a:pt x="374523" y="0"/>
                </a:lnTo>
                <a:close/>
              </a:path>
            </a:pathLst>
          </a:custGeom>
          <a:solidFill>
            <a:srgbClr val="C6C6C6">
              <a:alpha val="49411"/>
            </a:srgbClr>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429" name="Google Shape;429;p44"/>
          <p:cNvSpPr txBox="1"/>
          <p:nvPr/>
        </p:nvSpPr>
        <p:spPr>
          <a:xfrm>
            <a:off x="331419" y="3068777"/>
            <a:ext cx="2440305" cy="57467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3600" b="1">
                <a:solidFill>
                  <a:srgbClr val="FFFFFF"/>
                </a:solidFill>
                <a:latin typeface="Cambria"/>
                <a:ea typeface="Cambria"/>
                <a:cs typeface="Cambria"/>
                <a:sym typeface="Cambria"/>
              </a:rPr>
              <a:t>StringBuffer</a:t>
            </a:r>
            <a:endParaRPr sz="3600">
              <a:latin typeface="Cambria"/>
              <a:ea typeface="Cambria"/>
              <a:cs typeface="Cambria"/>
              <a:sym typeface="Cambria"/>
            </a:endParaRPr>
          </a:p>
        </p:txBody>
      </p:sp>
      <p:sp>
        <p:nvSpPr>
          <p:cNvPr id="430" name="Google Shape;430;p44"/>
          <p:cNvSpPr txBox="1">
            <a:spLocks noGrp="1"/>
          </p:cNvSpPr>
          <p:nvPr>
            <p:ph type="title"/>
          </p:nvPr>
        </p:nvSpPr>
        <p:spPr>
          <a:xfrm>
            <a:off x="4131944" y="1237234"/>
            <a:ext cx="7450455" cy="962660"/>
          </a:xfrm>
          <a:prstGeom prst="rect">
            <a:avLst/>
          </a:prstGeom>
          <a:noFill/>
          <a:ln>
            <a:noFill/>
          </a:ln>
        </p:spPr>
        <p:txBody>
          <a:bodyPr spcFirstLastPara="1" wrap="square" lIns="0" tIns="46350" rIns="0" bIns="0" anchor="t" anchorCtr="0">
            <a:spAutoFit/>
          </a:bodyPr>
          <a:lstStyle/>
          <a:p>
            <a:pPr marL="12700" marR="5080" lvl="0" indent="16510" algn="just" rtl="0">
              <a:lnSpc>
                <a:spcPct val="89800"/>
              </a:lnSpc>
              <a:spcBef>
                <a:spcPts val="0"/>
              </a:spcBef>
              <a:spcAft>
                <a:spcPts val="0"/>
              </a:spcAft>
              <a:buNone/>
            </a:pPr>
            <a:r>
              <a:rPr lang="en-US" sz="2200">
                <a:solidFill>
                  <a:srgbClr val="575757"/>
                </a:solidFill>
                <a:latin typeface="Cambria"/>
                <a:ea typeface="Cambria"/>
                <a:cs typeface="Cambria"/>
                <a:sym typeface="Cambria"/>
              </a:rPr>
              <a:t>capacity()- </a:t>
            </a:r>
            <a:r>
              <a:rPr lang="en-US" sz="2200" b="0">
                <a:solidFill>
                  <a:srgbClr val="575757"/>
                </a:solidFill>
                <a:latin typeface="Cambria"/>
                <a:ea typeface="Cambria"/>
                <a:cs typeface="Cambria"/>
                <a:sym typeface="Cambria"/>
              </a:rPr>
              <a:t>Returns the current capacity of the Stringbuffer. The capacity is the amount of storage available for newly inserted characters.</a:t>
            </a:r>
            <a:endParaRPr sz="2200">
              <a:latin typeface="Cambria"/>
              <a:ea typeface="Cambria"/>
              <a:cs typeface="Cambria"/>
              <a:sym typeface="Cambria"/>
            </a:endParaRPr>
          </a:p>
        </p:txBody>
      </p:sp>
      <p:sp>
        <p:nvSpPr>
          <p:cNvPr id="431" name="Google Shape;431;p44"/>
          <p:cNvSpPr txBox="1"/>
          <p:nvPr/>
        </p:nvSpPr>
        <p:spPr>
          <a:xfrm>
            <a:off x="4131944" y="2769234"/>
            <a:ext cx="3030855" cy="350737"/>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2200">
                <a:solidFill>
                  <a:srgbClr val="575757"/>
                </a:solidFill>
                <a:latin typeface="Cambria"/>
                <a:ea typeface="Cambria"/>
                <a:cs typeface="Cambria"/>
                <a:sym typeface="Cambria"/>
              </a:rPr>
              <a:t>public int  </a:t>
            </a:r>
            <a:r>
              <a:rPr lang="en-US" sz="2200" b="1">
                <a:solidFill>
                  <a:srgbClr val="575757"/>
                </a:solidFill>
                <a:latin typeface="Cambria"/>
                <a:ea typeface="Cambria"/>
                <a:cs typeface="Cambria"/>
                <a:sym typeface="Cambria"/>
              </a:rPr>
              <a:t>capacity</a:t>
            </a:r>
            <a:r>
              <a:rPr lang="en-US" sz="2200">
                <a:solidFill>
                  <a:srgbClr val="575757"/>
                </a:solidFill>
                <a:latin typeface="Cambria"/>
                <a:ea typeface="Cambria"/>
                <a:cs typeface="Cambria"/>
                <a:sym typeface="Cambria"/>
              </a:rPr>
              <a:t>()</a:t>
            </a:r>
            <a:endParaRPr sz="2200">
              <a:latin typeface="Cambria"/>
              <a:ea typeface="Cambria"/>
              <a:cs typeface="Cambria"/>
              <a:sym typeface="Cambria"/>
            </a:endParaRPr>
          </a:p>
        </p:txBody>
      </p:sp>
      <p:sp>
        <p:nvSpPr>
          <p:cNvPr id="432" name="Google Shape;432;p44"/>
          <p:cNvSpPr txBox="1"/>
          <p:nvPr/>
        </p:nvSpPr>
        <p:spPr>
          <a:xfrm>
            <a:off x="4131945" y="3658870"/>
            <a:ext cx="7450454" cy="1919756"/>
          </a:xfrm>
          <a:prstGeom prst="rect">
            <a:avLst/>
          </a:prstGeom>
          <a:noFill/>
          <a:ln>
            <a:noFill/>
          </a:ln>
        </p:spPr>
        <p:txBody>
          <a:bodyPr spcFirstLastPara="1" wrap="square" lIns="0" tIns="49525" rIns="0" bIns="0" anchor="t" anchorCtr="0">
            <a:spAutoFit/>
          </a:bodyPr>
          <a:lstStyle/>
          <a:p>
            <a:pPr marL="12700" marR="5080" lvl="0" indent="17780" algn="just" rtl="0">
              <a:lnSpc>
                <a:spcPct val="108181"/>
              </a:lnSpc>
              <a:spcBef>
                <a:spcPts val="0"/>
              </a:spcBef>
              <a:spcAft>
                <a:spcPts val="0"/>
              </a:spcAft>
              <a:buNone/>
            </a:pPr>
            <a:r>
              <a:rPr lang="en-US" sz="2200" b="1">
                <a:solidFill>
                  <a:srgbClr val="575757"/>
                </a:solidFill>
                <a:latin typeface="Cambria"/>
                <a:ea typeface="Cambria"/>
                <a:cs typeface="Cambria"/>
                <a:sym typeface="Cambria"/>
              </a:rPr>
              <a:t>charAt()- </a:t>
            </a:r>
            <a:r>
              <a:rPr lang="en-US" sz="2200">
                <a:solidFill>
                  <a:srgbClr val="575757"/>
                </a:solidFill>
                <a:latin typeface="Cambria"/>
                <a:ea typeface="Cambria"/>
                <a:cs typeface="Cambria"/>
                <a:sym typeface="Cambria"/>
              </a:rPr>
              <a:t>The specified character of the sequencecurrently represented by the string buffer, as indicated by the index argument, is returned.</a:t>
            </a:r>
            <a:endParaRPr sz="2200">
              <a:latin typeface="Cambria"/>
              <a:ea typeface="Cambria"/>
              <a:cs typeface="Cambria"/>
              <a:sym typeface="Cambria"/>
            </a:endParaRPr>
          </a:p>
          <a:p>
            <a:pPr marL="0" lvl="0" indent="0" algn="l" rtl="0">
              <a:lnSpc>
                <a:spcPct val="100000"/>
              </a:lnSpc>
              <a:spcBef>
                <a:spcPts val="2060"/>
              </a:spcBef>
              <a:spcAft>
                <a:spcPts val="0"/>
              </a:spcAft>
              <a:buNone/>
            </a:pPr>
            <a:endParaRPr sz="2200">
              <a:latin typeface="Cambria"/>
              <a:ea typeface="Cambria"/>
              <a:cs typeface="Cambria"/>
              <a:sym typeface="Cambria"/>
            </a:endParaRPr>
          </a:p>
          <a:p>
            <a:pPr marL="12700" lvl="0" indent="0" algn="just" rtl="0">
              <a:lnSpc>
                <a:spcPct val="100000"/>
              </a:lnSpc>
              <a:spcBef>
                <a:spcPts val="0"/>
              </a:spcBef>
              <a:spcAft>
                <a:spcPts val="0"/>
              </a:spcAft>
              <a:buNone/>
            </a:pPr>
            <a:r>
              <a:rPr lang="en-US" sz="2200">
                <a:solidFill>
                  <a:srgbClr val="575757"/>
                </a:solidFill>
                <a:latin typeface="Cambria"/>
                <a:ea typeface="Cambria"/>
                <a:cs typeface="Cambria"/>
                <a:sym typeface="Cambria"/>
              </a:rPr>
              <a:t>public  char  </a:t>
            </a:r>
            <a:r>
              <a:rPr lang="en-US" sz="2200" b="1">
                <a:solidFill>
                  <a:srgbClr val="575757"/>
                </a:solidFill>
                <a:latin typeface="Cambria"/>
                <a:ea typeface="Cambria"/>
                <a:cs typeface="Cambria"/>
                <a:sym typeface="Cambria"/>
              </a:rPr>
              <a:t>charAt</a:t>
            </a:r>
            <a:r>
              <a:rPr lang="en-US" sz="2200">
                <a:solidFill>
                  <a:srgbClr val="575757"/>
                </a:solidFill>
                <a:latin typeface="Cambria"/>
                <a:ea typeface="Cambria"/>
                <a:cs typeface="Cambria"/>
                <a:sym typeface="Cambria"/>
              </a:rPr>
              <a:t>(int index)</a:t>
            </a:r>
            <a:endParaRPr sz="2200">
              <a:latin typeface="Cambria"/>
              <a:ea typeface="Cambria"/>
              <a:cs typeface="Cambria"/>
              <a:sym typeface="Cambria"/>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36"/>
        <p:cNvGrpSpPr/>
        <p:nvPr/>
      </p:nvGrpSpPr>
      <p:grpSpPr>
        <a:xfrm>
          <a:off x="0" y="0"/>
          <a:ext cx="0" cy="0"/>
          <a:chOff x="0" y="0"/>
          <a:chExt cx="0" cy="0"/>
        </a:xfrm>
      </p:grpSpPr>
      <p:sp>
        <p:nvSpPr>
          <p:cNvPr id="437" name="Google Shape;437;p45"/>
          <p:cNvSpPr/>
          <p:nvPr/>
        </p:nvSpPr>
        <p:spPr>
          <a:xfrm>
            <a:off x="11817095" y="758951"/>
            <a:ext cx="374650" cy="5330825"/>
          </a:xfrm>
          <a:custGeom>
            <a:avLst/>
            <a:gdLst/>
            <a:ahLst/>
            <a:cxnLst/>
            <a:rect l="l" t="t" r="r" b="b"/>
            <a:pathLst>
              <a:path w="374650" h="5330825" extrusionOk="0">
                <a:moveTo>
                  <a:pt x="374523" y="0"/>
                </a:moveTo>
                <a:lnTo>
                  <a:pt x="0" y="0"/>
                </a:lnTo>
                <a:lnTo>
                  <a:pt x="0" y="5330444"/>
                </a:lnTo>
                <a:lnTo>
                  <a:pt x="374523" y="5330444"/>
                </a:lnTo>
                <a:lnTo>
                  <a:pt x="374523" y="0"/>
                </a:lnTo>
                <a:close/>
              </a:path>
            </a:pathLst>
          </a:custGeom>
          <a:solidFill>
            <a:srgbClr val="C6C6C6">
              <a:alpha val="49411"/>
            </a:srgbClr>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438" name="Google Shape;438;p45"/>
          <p:cNvSpPr txBox="1"/>
          <p:nvPr/>
        </p:nvSpPr>
        <p:spPr>
          <a:xfrm>
            <a:off x="331419" y="3068777"/>
            <a:ext cx="2440305" cy="57467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3600" b="1">
                <a:solidFill>
                  <a:srgbClr val="FFFFFF"/>
                </a:solidFill>
                <a:latin typeface="Cambria"/>
                <a:ea typeface="Cambria"/>
                <a:cs typeface="Cambria"/>
                <a:sym typeface="Cambria"/>
              </a:rPr>
              <a:t>StringBuffer</a:t>
            </a:r>
            <a:endParaRPr sz="3600">
              <a:latin typeface="Cambria"/>
              <a:ea typeface="Cambria"/>
              <a:cs typeface="Cambria"/>
              <a:sym typeface="Cambria"/>
            </a:endParaRPr>
          </a:p>
        </p:txBody>
      </p:sp>
      <p:sp>
        <p:nvSpPr>
          <p:cNvPr id="439" name="Google Shape;439;p45"/>
          <p:cNvSpPr txBox="1"/>
          <p:nvPr/>
        </p:nvSpPr>
        <p:spPr>
          <a:xfrm>
            <a:off x="3949065" y="1691767"/>
            <a:ext cx="7709535" cy="1281120"/>
          </a:xfrm>
          <a:prstGeom prst="rect">
            <a:avLst/>
          </a:prstGeom>
          <a:noFill/>
          <a:ln>
            <a:noFill/>
          </a:ln>
        </p:spPr>
        <p:txBody>
          <a:bodyPr spcFirstLastPara="1" wrap="square" lIns="0" tIns="49525" rIns="0" bIns="0" anchor="t" anchorCtr="0">
            <a:spAutoFit/>
          </a:bodyPr>
          <a:lstStyle/>
          <a:p>
            <a:pPr marL="195580" marR="5080" lvl="0" indent="-182880" algn="just" rtl="0">
              <a:lnSpc>
                <a:spcPct val="108181"/>
              </a:lnSpc>
              <a:spcBef>
                <a:spcPts val="0"/>
              </a:spcBef>
              <a:spcAft>
                <a:spcPts val="0"/>
              </a:spcAft>
              <a:buNone/>
            </a:pPr>
            <a:r>
              <a:rPr lang="en-US" sz="2200" b="1">
                <a:solidFill>
                  <a:srgbClr val="575757"/>
                </a:solidFill>
                <a:latin typeface="Cambria"/>
                <a:ea typeface="Cambria"/>
                <a:cs typeface="Cambria"/>
                <a:sym typeface="Cambria"/>
              </a:rPr>
              <a:t>getChars() - </a:t>
            </a:r>
            <a:r>
              <a:rPr lang="en-US" sz="2200">
                <a:solidFill>
                  <a:srgbClr val="575757"/>
                </a:solidFill>
                <a:latin typeface="Cambria"/>
                <a:ea typeface="Cambria"/>
                <a:cs typeface="Cambria"/>
                <a:sym typeface="Cambria"/>
              </a:rPr>
              <a:t>Characters are copied from this string buffer into the destination character array dst. The first character to be copied is at index srcBegin; the last character to be copied is at index srcEnd-1.</a:t>
            </a:r>
            <a:endParaRPr sz="2200">
              <a:latin typeface="Cambria"/>
              <a:ea typeface="Cambria"/>
              <a:cs typeface="Cambria"/>
              <a:sym typeface="Cambria"/>
            </a:endParaRPr>
          </a:p>
        </p:txBody>
      </p:sp>
      <p:sp>
        <p:nvSpPr>
          <p:cNvPr id="440" name="Google Shape;440;p45"/>
          <p:cNvSpPr txBox="1">
            <a:spLocks noGrp="1"/>
          </p:cNvSpPr>
          <p:nvPr>
            <p:ph type="title"/>
          </p:nvPr>
        </p:nvSpPr>
        <p:spPr>
          <a:xfrm>
            <a:off x="3949065" y="3034995"/>
            <a:ext cx="7709536" cy="679032"/>
          </a:xfrm>
          <a:prstGeom prst="rect">
            <a:avLst/>
          </a:prstGeom>
          <a:noFill/>
          <a:ln>
            <a:noFill/>
          </a:ln>
        </p:spPr>
        <p:txBody>
          <a:bodyPr spcFirstLastPara="1" wrap="square" lIns="0" tIns="12050" rIns="0" bIns="0" anchor="t" anchorCtr="0">
            <a:spAutoFit/>
          </a:bodyPr>
          <a:lstStyle/>
          <a:p>
            <a:pPr marL="12700" lvl="0" indent="0" algn="l" rtl="0">
              <a:lnSpc>
                <a:spcPct val="116818"/>
              </a:lnSpc>
              <a:spcBef>
                <a:spcPts val="0"/>
              </a:spcBef>
              <a:spcAft>
                <a:spcPts val="0"/>
              </a:spcAft>
              <a:buNone/>
            </a:pPr>
            <a:r>
              <a:rPr lang="en-US" sz="2200" b="0">
                <a:solidFill>
                  <a:srgbClr val="575757"/>
                </a:solidFill>
                <a:latin typeface="Cambria"/>
                <a:ea typeface="Cambria"/>
                <a:cs typeface="Cambria"/>
                <a:sym typeface="Cambria"/>
              </a:rPr>
              <a:t>Public void  </a:t>
            </a:r>
            <a:r>
              <a:rPr lang="en-US" sz="2200">
                <a:solidFill>
                  <a:srgbClr val="575757"/>
                </a:solidFill>
                <a:latin typeface="Cambria"/>
                <a:ea typeface="Cambria"/>
                <a:cs typeface="Cambria"/>
                <a:sym typeface="Cambria"/>
              </a:rPr>
              <a:t>getChars</a:t>
            </a:r>
            <a:r>
              <a:rPr lang="en-US" sz="2200" b="0">
                <a:solidFill>
                  <a:srgbClr val="575757"/>
                </a:solidFill>
                <a:latin typeface="Cambria"/>
                <a:ea typeface="Cambria"/>
                <a:cs typeface="Cambria"/>
                <a:sym typeface="Cambria"/>
              </a:rPr>
              <a:t>(int srcBegin, int srcEnd, char[] dst, int dstBegin)</a:t>
            </a:r>
            <a:endParaRPr sz="2200">
              <a:latin typeface="Cambria"/>
              <a:ea typeface="Cambria"/>
              <a:cs typeface="Cambria"/>
              <a:sym typeface="Cambria"/>
            </a:endParaRPr>
          </a:p>
        </p:txBody>
      </p:sp>
      <p:sp>
        <p:nvSpPr>
          <p:cNvPr id="441" name="Google Shape;441;p45"/>
          <p:cNvSpPr txBox="1"/>
          <p:nvPr/>
        </p:nvSpPr>
        <p:spPr>
          <a:xfrm>
            <a:off x="3949064" y="4092149"/>
            <a:ext cx="7480936" cy="939800"/>
          </a:xfrm>
          <a:prstGeom prst="rect">
            <a:avLst/>
          </a:prstGeom>
          <a:noFill/>
          <a:ln>
            <a:noFill/>
          </a:ln>
        </p:spPr>
        <p:txBody>
          <a:bodyPr spcFirstLastPara="1" wrap="square" lIns="0" tIns="133975" rIns="0" bIns="0" anchor="t" anchorCtr="0">
            <a:spAutoFit/>
          </a:bodyPr>
          <a:lstStyle/>
          <a:p>
            <a:pPr marL="12700" lvl="0" indent="0" algn="l" rtl="0">
              <a:lnSpc>
                <a:spcPct val="100000"/>
              </a:lnSpc>
              <a:spcBef>
                <a:spcPts val="0"/>
              </a:spcBef>
              <a:spcAft>
                <a:spcPts val="0"/>
              </a:spcAft>
              <a:buNone/>
            </a:pPr>
            <a:r>
              <a:rPr lang="en-US" sz="2200" b="1">
                <a:solidFill>
                  <a:srgbClr val="575757"/>
                </a:solidFill>
                <a:latin typeface="Cambria"/>
                <a:ea typeface="Cambria"/>
                <a:cs typeface="Cambria"/>
                <a:sym typeface="Cambria"/>
              </a:rPr>
              <a:t>setLength</a:t>
            </a:r>
            <a:r>
              <a:rPr lang="en-US" sz="2200">
                <a:solidFill>
                  <a:srgbClr val="575757"/>
                </a:solidFill>
                <a:latin typeface="Cambria"/>
                <a:ea typeface="Cambria"/>
                <a:cs typeface="Cambria"/>
                <a:sym typeface="Cambria"/>
              </a:rPr>
              <a:t>() </a:t>
            </a:r>
            <a:r>
              <a:rPr lang="en-US" sz="2200" b="1">
                <a:solidFill>
                  <a:srgbClr val="575757"/>
                </a:solidFill>
                <a:latin typeface="Cambria"/>
                <a:ea typeface="Cambria"/>
                <a:cs typeface="Cambria"/>
                <a:sym typeface="Cambria"/>
              </a:rPr>
              <a:t>– </a:t>
            </a:r>
            <a:r>
              <a:rPr lang="en-US" sz="2200">
                <a:solidFill>
                  <a:srgbClr val="575757"/>
                </a:solidFill>
                <a:latin typeface="Cambria"/>
                <a:ea typeface="Cambria"/>
                <a:cs typeface="Cambria"/>
                <a:sym typeface="Cambria"/>
              </a:rPr>
              <a:t>Sets the length of the StringBuffer.</a:t>
            </a:r>
            <a:endParaRPr sz="2200">
              <a:latin typeface="Cambria"/>
              <a:ea typeface="Cambria"/>
              <a:cs typeface="Cambria"/>
              <a:sym typeface="Cambria"/>
            </a:endParaRPr>
          </a:p>
          <a:p>
            <a:pPr marL="195580" lvl="0" indent="0" algn="l" rtl="0">
              <a:lnSpc>
                <a:spcPct val="100000"/>
              </a:lnSpc>
              <a:spcBef>
                <a:spcPts val="960"/>
              </a:spcBef>
              <a:spcAft>
                <a:spcPts val="0"/>
              </a:spcAft>
              <a:buNone/>
            </a:pPr>
            <a:r>
              <a:rPr lang="en-US" sz="2200">
                <a:solidFill>
                  <a:srgbClr val="575757"/>
                </a:solidFill>
                <a:latin typeface="Cambria"/>
                <a:ea typeface="Cambria"/>
                <a:cs typeface="Cambria"/>
                <a:sym typeface="Cambria"/>
              </a:rPr>
              <a:t>Public void  </a:t>
            </a:r>
            <a:r>
              <a:rPr lang="en-US" sz="2200" b="1">
                <a:solidFill>
                  <a:srgbClr val="575757"/>
                </a:solidFill>
                <a:latin typeface="Cambria"/>
                <a:ea typeface="Cambria"/>
                <a:cs typeface="Cambria"/>
                <a:sym typeface="Cambria"/>
              </a:rPr>
              <a:t>setLength</a:t>
            </a:r>
            <a:r>
              <a:rPr lang="en-US" sz="2200">
                <a:solidFill>
                  <a:srgbClr val="575757"/>
                </a:solidFill>
                <a:latin typeface="Cambria"/>
                <a:ea typeface="Cambria"/>
                <a:cs typeface="Cambria"/>
                <a:sym typeface="Cambria"/>
              </a:rPr>
              <a:t>(int newLength)</a:t>
            </a:r>
            <a:endParaRPr sz="2200">
              <a:latin typeface="Cambria"/>
              <a:ea typeface="Cambria"/>
              <a:cs typeface="Cambria"/>
              <a:sym typeface="Cambria"/>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Shape 445"/>
        <p:cNvGrpSpPr/>
        <p:nvPr/>
      </p:nvGrpSpPr>
      <p:grpSpPr>
        <a:xfrm>
          <a:off x="0" y="0"/>
          <a:ext cx="0" cy="0"/>
          <a:chOff x="0" y="0"/>
          <a:chExt cx="0" cy="0"/>
        </a:xfrm>
      </p:grpSpPr>
      <p:sp>
        <p:nvSpPr>
          <p:cNvPr id="446" name="Google Shape;446;p46"/>
          <p:cNvSpPr/>
          <p:nvPr/>
        </p:nvSpPr>
        <p:spPr>
          <a:xfrm>
            <a:off x="11817095" y="758951"/>
            <a:ext cx="374650" cy="5330825"/>
          </a:xfrm>
          <a:custGeom>
            <a:avLst/>
            <a:gdLst/>
            <a:ahLst/>
            <a:cxnLst/>
            <a:rect l="l" t="t" r="r" b="b"/>
            <a:pathLst>
              <a:path w="374650" h="5330825" extrusionOk="0">
                <a:moveTo>
                  <a:pt x="374523" y="0"/>
                </a:moveTo>
                <a:lnTo>
                  <a:pt x="0" y="0"/>
                </a:lnTo>
                <a:lnTo>
                  <a:pt x="0" y="5330444"/>
                </a:lnTo>
                <a:lnTo>
                  <a:pt x="374523" y="5330444"/>
                </a:lnTo>
                <a:lnTo>
                  <a:pt x="374523" y="0"/>
                </a:lnTo>
                <a:close/>
              </a:path>
            </a:pathLst>
          </a:custGeom>
          <a:solidFill>
            <a:srgbClr val="C6C6C6">
              <a:alpha val="49411"/>
            </a:srgbClr>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aphicFrame>
        <p:nvGraphicFramePr>
          <p:cNvPr id="447" name="Google Shape;447;p46"/>
          <p:cNvGraphicFramePr/>
          <p:nvPr/>
        </p:nvGraphicFramePr>
        <p:xfrm>
          <a:off x="176439" y="523365"/>
          <a:ext cx="11817075" cy="6322228"/>
        </p:xfrm>
        <a:graphic>
          <a:graphicData uri="http://schemas.openxmlformats.org/drawingml/2006/table">
            <a:tbl>
              <a:tblPr firstRow="1" bandRow="1">
                <a:noFill/>
                <a:tableStyleId>{9017975B-57E6-407A-B2BE-4A32A2008E57}</a:tableStyleId>
              </a:tblPr>
              <a:tblGrid>
                <a:gridCol w="393835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5059325">
                  <a:extLst>
                    <a:ext uri="{9D8B030D-6E8A-4147-A177-3AD203B41FA5}">
                      <a16:colId xmlns:a16="http://schemas.microsoft.com/office/drawing/2014/main" val="20003"/>
                    </a:ext>
                  </a:extLst>
                </a:gridCol>
              </a:tblGrid>
              <a:tr h="249050">
                <a:tc>
                  <a:txBody>
                    <a:bodyPr/>
                    <a:lstStyle/>
                    <a:p>
                      <a:pPr marL="0" marR="0" lvl="0" indent="0" algn="l" rtl="0">
                        <a:lnSpc>
                          <a:spcPct val="100000"/>
                        </a:lnSpc>
                        <a:spcBef>
                          <a:spcPts val="0"/>
                        </a:spcBef>
                        <a:spcAft>
                          <a:spcPts val="0"/>
                        </a:spcAft>
                        <a:buNone/>
                      </a:pPr>
                      <a:endParaRPr sz="1600" u="none" strike="noStrike" cap="none">
                        <a:latin typeface="Times New Roman"/>
                        <a:ea typeface="Times New Roman"/>
                        <a:cs typeface="Times New Roman"/>
                        <a:sym typeface="Times New Roman"/>
                      </a:endParaRPr>
                    </a:p>
                  </a:txBody>
                  <a:tcPr marL="0" marR="0" marT="0" marB="0">
                    <a:lnR w="12700" cap="flat" cmpd="sng">
                      <a:solidFill>
                        <a:srgbClr val="FFFFFF"/>
                      </a:solidFill>
                      <a:prstDash val="solid"/>
                      <a:round/>
                      <a:headEnd type="none" w="sm" len="sm"/>
                      <a:tailEnd type="none" w="sm" len="sm"/>
                    </a:lnR>
                  </a:tcPr>
                </a:tc>
                <a:tc>
                  <a:txBody>
                    <a:bodyPr/>
                    <a:lstStyle/>
                    <a:p>
                      <a:pPr marL="0" marR="0" lvl="0" indent="0" algn="ctr" rtl="0">
                        <a:lnSpc>
                          <a:spcPct val="100000"/>
                        </a:lnSpc>
                        <a:spcBef>
                          <a:spcPts val="0"/>
                        </a:spcBef>
                        <a:spcAft>
                          <a:spcPts val="0"/>
                        </a:spcAft>
                        <a:buNone/>
                      </a:pPr>
                      <a:r>
                        <a:rPr lang="en-US" sz="1600" b="1" u="none" strike="noStrike" cap="none">
                          <a:latin typeface="Arial"/>
                          <a:ea typeface="Arial"/>
                          <a:cs typeface="Arial"/>
                          <a:sym typeface="Arial"/>
                        </a:rPr>
                        <a:t>No.</a:t>
                      </a:r>
                      <a:endParaRPr sz="1600" u="none" strike="noStrike" cap="none">
                        <a:latin typeface="Arial"/>
                        <a:ea typeface="Arial"/>
                        <a:cs typeface="Arial"/>
                        <a:sym typeface="Arial"/>
                      </a:endParaRPr>
                    </a:p>
                  </a:txBody>
                  <a:tcPr marL="0" marR="0" marT="298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solidFill>
                      <a:srgbClr val="40B8D2"/>
                    </a:solidFill>
                  </a:tcPr>
                </a:tc>
                <a:tc>
                  <a:txBody>
                    <a:bodyPr/>
                    <a:lstStyle/>
                    <a:p>
                      <a:pPr marL="0" marR="0" lvl="0" indent="0" algn="ctr" rtl="0">
                        <a:lnSpc>
                          <a:spcPct val="100000"/>
                        </a:lnSpc>
                        <a:spcBef>
                          <a:spcPts val="0"/>
                        </a:spcBef>
                        <a:spcAft>
                          <a:spcPts val="0"/>
                        </a:spcAft>
                        <a:buNone/>
                      </a:pPr>
                      <a:r>
                        <a:rPr lang="en-US" sz="1600" b="1" u="none" strike="noStrike" cap="none">
                          <a:latin typeface="Arial"/>
                          <a:ea typeface="Arial"/>
                          <a:cs typeface="Arial"/>
                          <a:sym typeface="Arial"/>
                        </a:rPr>
                        <a:t>Method</a:t>
                      </a:r>
                      <a:endParaRPr sz="1600" u="none" strike="noStrike" cap="none">
                        <a:latin typeface="Arial"/>
                        <a:ea typeface="Arial"/>
                        <a:cs typeface="Arial"/>
                        <a:sym typeface="Arial"/>
                      </a:endParaRPr>
                    </a:p>
                  </a:txBody>
                  <a:tcPr marL="0" marR="0" marT="298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solidFill>
                      <a:srgbClr val="40B8D2"/>
                    </a:solidFill>
                  </a:tcPr>
                </a:tc>
                <a:tc>
                  <a:txBody>
                    <a:bodyPr/>
                    <a:lstStyle/>
                    <a:p>
                      <a:pPr marL="5080" marR="0" lvl="0" indent="0" algn="ctr" rtl="0">
                        <a:lnSpc>
                          <a:spcPct val="100000"/>
                        </a:lnSpc>
                        <a:spcBef>
                          <a:spcPts val="0"/>
                        </a:spcBef>
                        <a:spcAft>
                          <a:spcPts val="0"/>
                        </a:spcAft>
                        <a:buNone/>
                      </a:pPr>
                      <a:r>
                        <a:rPr lang="en-US" sz="1600" b="1" u="none" strike="noStrike" cap="none">
                          <a:latin typeface="Arial"/>
                          <a:ea typeface="Arial"/>
                          <a:cs typeface="Arial"/>
                          <a:sym typeface="Arial"/>
                        </a:rPr>
                        <a:t>Description</a:t>
                      </a:r>
                      <a:endParaRPr sz="1600" u="none" strike="noStrike" cap="none">
                        <a:latin typeface="Arial"/>
                        <a:ea typeface="Arial"/>
                        <a:cs typeface="Arial"/>
                        <a:sym typeface="Arial"/>
                      </a:endParaRPr>
                    </a:p>
                  </a:txBody>
                  <a:tcPr marL="0" marR="0" marT="298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solidFill>
                      <a:srgbClr val="40B8D2"/>
                    </a:solidFill>
                  </a:tcPr>
                </a:tc>
                <a:extLst>
                  <a:ext uri="{0D108BD9-81ED-4DB2-BD59-A6C34878D82A}">
                    <a16:rowId xmlns:a16="http://schemas.microsoft.com/office/drawing/2014/main" val="10000"/>
                  </a:ext>
                </a:extLst>
              </a:tr>
              <a:tr h="57850">
                <a:tc>
                  <a:txBody>
                    <a:bodyPr/>
                    <a:lstStyle/>
                    <a:p>
                      <a:pPr marL="0" marR="0" lvl="0" indent="0" algn="l" rtl="0">
                        <a:lnSpc>
                          <a:spcPct val="100000"/>
                        </a:lnSpc>
                        <a:spcBef>
                          <a:spcPts val="0"/>
                        </a:spcBef>
                        <a:spcAft>
                          <a:spcPts val="0"/>
                        </a:spcAft>
                        <a:buNone/>
                      </a:pPr>
                      <a:endParaRPr sz="200" u="none" strike="noStrike" cap="none">
                        <a:latin typeface="Times New Roman"/>
                        <a:ea typeface="Times New Roman"/>
                        <a:cs typeface="Times New Roman"/>
                        <a:sym typeface="Times New Roman"/>
                      </a:endParaRPr>
                    </a:p>
                  </a:txBody>
                  <a:tcPr marL="0" marR="0" marT="0" marB="0">
                    <a:lnR w="12700" cap="flat" cmpd="sng">
                      <a:solidFill>
                        <a:srgbClr val="FFFFFF"/>
                      </a:solidFill>
                      <a:prstDash val="solid"/>
                      <a:round/>
                      <a:headEnd type="none" w="sm" len="sm"/>
                      <a:tailEnd type="none" w="sm" len="sm"/>
                    </a:lnR>
                    <a:solidFill>
                      <a:srgbClr val="40B8D2"/>
                    </a:solidFill>
                  </a:tcPr>
                </a:tc>
                <a:tc>
                  <a:txBody>
                    <a:bodyPr/>
                    <a:lstStyle/>
                    <a:p>
                      <a:pPr marL="0" marR="0" lvl="0" indent="0" algn="l" rtl="0">
                        <a:lnSpc>
                          <a:spcPct val="100000"/>
                        </a:lnSpc>
                        <a:spcBef>
                          <a:spcPts val="0"/>
                        </a:spcBef>
                        <a:spcAft>
                          <a:spcPts val="0"/>
                        </a:spcAft>
                        <a:buNone/>
                      </a:pPr>
                      <a:endParaRPr sz="2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B w="38100" cap="flat" cmpd="sng">
                      <a:solidFill>
                        <a:srgbClr val="FFFFFF"/>
                      </a:solidFill>
                      <a:prstDash val="solid"/>
                      <a:round/>
                      <a:headEnd type="none" w="sm" len="sm"/>
                      <a:tailEnd type="none" w="sm" len="sm"/>
                    </a:lnB>
                    <a:solidFill>
                      <a:srgbClr val="40B8D2"/>
                    </a:solidFill>
                  </a:tcPr>
                </a:tc>
                <a:tc>
                  <a:txBody>
                    <a:bodyPr/>
                    <a:lstStyle/>
                    <a:p>
                      <a:pPr marL="0" marR="0" lvl="0" indent="0" algn="l" rtl="0">
                        <a:lnSpc>
                          <a:spcPct val="100000"/>
                        </a:lnSpc>
                        <a:spcBef>
                          <a:spcPts val="0"/>
                        </a:spcBef>
                        <a:spcAft>
                          <a:spcPts val="0"/>
                        </a:spcAft>
                        <a:buNone/>
                      </a:pPr>
                      <a:endParaRPr sz="2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B w="38100" cap="flat" cmpd="sng">
                      <a:solidFill>
                        <a:srgbClr val="FFFFFF"/>
                      </a:solidFill>
                      <a:prstDash val="solid"/>
                      <a:round/>
                      <a:headEnd type="none" w="sm" len="sm"/>
                      <a:tailEnd type="none" w="sm" len="sm"/>
                    </a:lnB>
                    <a:solidFill>
                      <a:srgbClr val="40B8D2"/>
                    </a:solidFill>
                  </a:tcPr>
                </a:tc>
                <a:tc>
                  <a:txBody>
                    <a:bodyPr/>
                    <a:lstStyle/>
                    <a:p>
                      <a:pPr marL="0" marR="0" lvl="0" indent="0" algn="l" rtl="0">
                        <a:lnSpc>
                          <a:spcPct val="100000"/>
                        </a:lnSpc>
                        <a:spcBef>
                          <a:spcPts val="0"/>
                        </a:spcBef>
                        <a:spcAft>
                          <a:spcPts val="0"/>
                        </a:spcAft>
                        <a:buNone/>
                      </a:pPr>
                      <a:endParaRPr sz="2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B w="38100" cap="flat" cmpd="sng">
                      <a:solidFill>
                        <a:srgbClr val="FFFFFF"/>
                      </a:solidFill>
                      <a:prstDash val="solid"/>
                      <a:round/>
                      <a:headEnd type="none" w="sm" len="sm"/>
                      <a:tailEnd type="none" w="sm" len="sm"/>
                    </a:lnB>
                  </a:tcPr>
                </a:tc>
                <a:extLst>
                  <a:ext uri="{0D108BD9-81ED-4DB2-BD59-A6C34878D82A}">
                    <a16:rowId xmlns:a16="http://schemas.microsoft.com/office/drawing/2014/main" val="10001"/>
                  </a:ext>
                </a:extLst>
              </a:tr>
              <a:tr h="488450">
                <a:tc>
                  <a:txBody>
                    <a:bodyPr/>
                    <a:lstStyle/>
                    <a:p>
                      <a:pPr marL="0" marR="0" lvl="0" indent="0" algn="l" rtl="0">
                        <a:lnSpc>
                          <a:spcPct val="100000"/>
                        </a:lnSpc>
                        <a:spcBef>
                          <a:spcPts val="0"/>
                        </a:spcBef>
                        <a:spcAft>
                          <a:spcPts val="0"/>
                        </a:spcAft>
                        <a:buNone/>
                      </a:pPr>
                      <a:endParaRPr sz="1600" u="none" strike="noStrike" cap="none">
                        <a:latin typeface="Times New Roman"/>
                        <a:ea typeface="Times New Roman"/>
                        <a:cs typeface="Times New Roman"/>
                        <a:sym typeface="Times New Roman"/>
                      </a:endParaRPr>
                    </a:p>
                  </a:txBody>
                  <a:tcPr marL="0" marR="0" marT="0" marB="0">
                    <a:lnR w="12700" cap="flat" cmpd="sng">
                      <a:solidFill>
                        <a:srgbClr val="FFFFFF"/>
                      </a:solidFill>
                      <a:prstDash val="solid"/>
                      <a:round/>
                      <a:headEnd type="none" w="sm" len="sm"/>
                      <a:tailEnd type="none" w="sm" len="sm"/>
                    </a:lnR>
                    <a:solidFill>
                      <a:srgbClr val="40B8D2"/>
                    </a:solidFill>
                  </a:tcPr>
                </a:tc>
                <a:tc>
                  <a:txBody>
                    <a:bodyPr/>
                    <a:lstStyle/>
                    <a:p>
                      <a:pPr marL="0" marR="0" lvl="0" indent="0" algn="ctr" rtl="0">
                        <a:lnSpc>
                          <a:spcPct val="100000"/>
                        </a:lnSpc>
                        <a:spcBef>
                          <a:spcPts val="0"/>
                        </a:spcBef>
                        <a:spcAft>
                          <a:spcPts val="0"/>
                        </a:spcAft>
                        <a:buNone/>
                      </a:pPr>
                      <a:r>
                        <a:rPr lang="en-US" sz="1600" u="none" strike="noStrike" cap="none">
                          <a:latin typeface="Arial"/>
                          <a:ea typeface="Arial"/>
                          <a:cs typeface="Arial"/>
                          <a:sym typeface="Arial"/>
                        </a:rPr>
                        <a:t>1</a:t>
                      </a:r>
                      <a:endParaRPr sz="1600" u="none" strike="noStrike" cap="none">
                        <a:latin typeface="Arial"/>
                        <a:ea typeface="Arial"/>
                        <a:cs typeface="Arial"/>
                        <a:sym typeface="Arial"/>
                      </a:endParaRPr>
                    </a:p>
                  </a:txBody>
                  <a:tcPr marL="0" marR="0" marT="298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EE7EC"/>
                    </a:solidFill>
                  </a:tcPr>
                </a:tc>
                <a:tc>
                  <a:txBody>
                    <a:bodyPr/>
                    <a:lstStyle/>
                    <a:p>
                      <a:pPr marL="7620" marR="0" lvl="0" indent="0" algn="l" rtl="0">
                        <a:lnSpc>
                          <a:spcPct val="100000"/>
                        </a:lnSpc>
                        <a:spcBef>
                          <a:spcPts val="0"/>
                        </a:spcBef>
                        <a:spcAft>
                          <a:spcPts val="0"/>
                        </a:spcAft>
                        <a:buNone/>
                      </a:pPr>
                      <a:r>
                        <a:rPr lang="en-US" sz="1600" b="1" u="none" strike="noStrike" cap="none">
                          <a:latin typeface="Arial"/>
                          <a:ea typeface="Arial"/>
                          <a:cs typeface="Arial"/>
                          <a:sym typeface="Arial"/>
                        </a:rPr>
                        <a:t>length()</a:t>
                      </a:r>
                      <a:endParaRPr sz="1600" u="none" strike="noStrike" cap="none">
                        <a:latin typeface="Arial"/>
                        <a:ea typeface="Arial"/>
                        <a:cs typeface="Arial"/>
                        <a:sym typeface="Arial"/>
                      </a:endParaRPr>
                    </a:p>
                  </a:txBody>
                  <a:tcPr marL="0" marR="0" marT="298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EE7EC"/>
                    </a:solidFill>
                  </a:tcPr>
                </a:tc>
                <a:tc>
                  <a:txBody>
                    <a:bodyPr/>
                    <a:lstStyle/>
                    <a:p>
                      <a:pPr marL="8255" marR="1054100" lvl="0" indent="0" algn="l" rtl="0">
                        <a:lnSpc>
                          <a:spcPct val="100000"/>
                        </a:lnSpc>
                        <a:spcBef>
                          <a:spcPts val="0"/>
                        </a:spcBef>
                        <a:spcAft>
                          <a:spcPts val="0"/>
                        </a:spcAft>
                        <a:buNone/>
                      </a:pPr>
                      <a:r>
                        <a:rPr lang="en-US" sz="1600" u="none" strike="noStrike" cap="none">
                          <a:latin typeface="Arial"/>
                          <a:ea typeface="Arial"/>
                          <a:cs typeface="Arial"/>
                          <a:sym typeface="Arial"/>
                        </a:rPr>
                        <a:t>The length of a StringBuffer can be found by the length( ) method</a:t>
                      </a:r>
                      <a:endParaRPr sz="1600" u="none" strike="noStrike" cap="none">
                        <a:latin typeface="Arial"/>
                        <a:ea typeface="Arial"/>
                        <a:cs typeface="Arial"/>
                        <a:sym typeface="Arial"/>
                      </a:endParaRPr>
                    </a:p>
                  </a:txBody>
                  <a:tcPr marL="0" marR="0" marT="266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extLst>
                  <a:ext uri="{0D108BD9-81ED-4DB2-BD59-A6C34878D82A}">
                    <a16:rowId xmlns:a16="http://schemas.microsoft.com/office/drawing/2014/main" val="10002"/>
                  </a:ext>
                </a:extLst>
              </a:tr>
              <a:tr h="487925">
                <a:tc>
                  <a:txBody>
                    <a:bodyPr/>
                    <a:lstStyle/>
                    <a:p>
                      <a:pPr marL="0" marR="0" lvl="0" indent="0" algn="l" rtl="0">
                        <a:lnSpc>
                          <a:spcPct val="100000"/>
                        </a:lnSpc>
                        <a:spcBef>
                          <a:spcPts val="0"/>
                        </a:spcBef>
                        <a:spcAft>
                          <a:spcPts val="0"/>
                        </a:spcAft>
                        <a:buNone/>
                      </a:pPr>
                      <a:endParaRPr sz="1600" u="none" strike="noStrike" cap="none">
                        <a:latin typeface="Times New Roman"/>
                        <a:ea typeface="Times New Roman"/>
                        <a:cs typeface="Times New Roman"/>
                        <a:sym typeface="Times New Roman"/>
                      </a:endParaRPr>
                    </a:p>
                  </a:txBody>
                  <a:tcPr marL="0" marR="0" marT="0" marB="0">
                    <a:lnR w="12700" cap="flat" cmpd="sng">
                      <a:solidFill>
                        <a:srgbClr val="FFFFFF"/>
                      </a:solidFill>
                      <a:prstDash val="solid"/>
                      <a:round/>
                      <a:headEnd type="none" w="sm" len="sm"/>
                      <a:tailEnd type="none" w="sm" len="sm"/>
                    </a:lnR>
                    <a:solidFill>
                      <a:srgbClr val="40B8D2"/>
                    </a:solidFill>
                  </a:tcPr>
                </a:tc>
                <a:tc>
                  <a:txBody>
                    <a:bodyPr/>
                    <a:lstStyle/>
                    <a:p>
                      <a:pPr marL="0" marR="0" lvl="0" indent="0" algn="ctr" rtl="0">
                        <a:lnSpc>
                          <a:spcPct val="100000"/>
                        </a:lnSpc>
                        <a:spcBef>
                          <a:spcPts val="0"/>
                        </a:spcBef>
                        <a:spcAft>
                          <a:spcPts val="0"/>
                        </a:spcAft>
                        <a:buNone/>
                      </a:pPr>
                      <a:r>
                        <a:rPr lang="en-US" sz="1600" u="none" strike="noStrike" cap="none">
                          <a:latin typeface="Arial"/>
                          <a:ea typeface="Arial"/>
                          <a:cs typeface="Arial"/>
                          <a:sym typeface="Arial"/>
                        </a:rPr>
                        <a:t>2</a:t>
                      </a:r>
                      <a:endParaRPr sz="1600" u="none" strike="noStrike" cap="none">
                        <a:latin typeface="Arial"/>
                        <a:ea typeface="Arial"/>
                        <a:cs typeface="Arial"/>
                        <a:sym typeface="Arial"/>
                      </a:endParaRPr>
                    </a:p>
                  </a:txBody>
                  <a:tcPr marL="0" marR="0" marT="298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F3F7"/>
                    </a:solidFill>
                  </a:tcPr>
                </a:tc>
                <a:tc>
                  <a:txBody>
                    <a:bodyPr/>
                    <a:lstStyle/>
                    <a:p>
                      <a:pPr marL="7620" marR="0" lvl="0" indent="0" algn="l" rtl="0">
                        <a:lnSpc>
                          <a:spcPct val="100000"/>
                        </a:lnSpc>
                        <a:spcBef>
                          <a:spcPts val="0"/>
                        </a:spcBef>
                        <a:spcAft>
                          <a:spcPts val="0"/>
                        </a:spcAft>
                        <a:buNone/>
                      </a:pPr>
                      <a:r>
                        <a:rPr lang="en-US" sz="1600" b="1" u="none" strike="noStrike" cap="none">
                          <a:latin typeface="Arial"/>
                          <a:ea typeface="Arial"/>
                          <a:cs typeface="Arial"/>
                          <a:sym typeface="Arial"/>
                        </a:rPr>
                        <a:t>capacity()</a:t>
                      </a:r>
                      <a:endParaRPr sz="1600" u="none" strike="noStrike" cap="none">
                        <a:latin typeface="Arial"/>
                        <a:ea typeface="Arial"/>
                        <a:cs typeface="Arial"/>
                        <a:sym typeface="Arial"/>
                      </a:endParaRPr>
                    </a:p>
                  </a:txBody>
                  <a:tcPr marL="0" marR="0" marT="298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F3F7"/>
                    </a:solidFill>
                  </a:tcPr>
                </a:tc>
                <a:tc>
                  <a:txBody>
                    <a:bodyPr/>
                    <a:lstStyle/>
                    <a:p>
                      <a:pPr marL="8255" marR="1144270" lvl="0" indent="0" algn="l" rtl="0">
                        <a:lnSpc>
                          <a:spcPct val="100000"/>
                        </a:lnSpc>
                        <a:spcBef>
                          <a:spcPts val="0"/>
                        </a:spcBef>
                        <a:spcAft>
                          <a:spcPts val="0"/>
                        </a:spcAft>
                        <a:buNone/>
                      </a:pPr>
                      <a:r>
                        <a:rPr lang="en-US" sz="1600" u="none" strike="noStrike" cap="none">
                          <a:latin typeface="Arial"/>
                          <a:ea typeface="Arial"/>
                          <a:cs typeface="Arial"/>
                          <a:sym typeface="Arial"/>
                        </a:rPr>
                        <a:t>the total allocated capacity can be found by the capacity( ) method.</a:t>
                      </a:r>
                      <a:endParaRPr sz="1600" u="none" strike="noStrike" cap="none">
                        <a:latin typeface="Arial"/>
                        <a:ea typeface="Arial"/>
                        <a:cs typeface="Arial"/>
                        <a:sym typeface="Arial"/>
                      </a:endParaRPr>
                    </a:p>
                  </a:txBody>
                  <a:tcPr marL="0" marR="0" marT="273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extLst>
                  <a:ext uri="{0D108BD9-81ED-4DB2-BD59-A6C34878D82A}">
                    <a16:rowId xmlns:a16="http://schemas.microsoft.com/office/drawing/2014/main" val="10003"/>
                  </a:ext>
                </a:extLst>
              </a:tr>
              <a:tr h="312775">
                <a:tc>
                  <a:txBody>
                    <a:bodyPr/>
                    <a:lstStyle/>
                    <a:p>
                      <a:pPr marL="0" marR="0" lvl="0" indent="0" algn="l" rtl="0">
                        <a:lnSpc>
                          <a:spcPct val="100000"/>
                        </a:lnSpc>
                        <a:spcBef>
                          <a:spcPts val="0"/>
                        </a:spcBef>
                        <a:spcAft>
                          <a:spcPts val="0"/>
                        </a:spcAft>
                        <a:buNone/>
                      </a:pPr>
                      <a:endParaRPr sz="1600" u="none" strike="noStrike" cap="none">
                        <a:latin typeface="Times New Roman"/>
                        <a:ea typeface="Times New Roman"/>
                        <a:cs typeface="Times New Roman"/>
                        <a:sym typeface="Times New Roman"/>
                      </a:endParaRPr>
                    </a:p>
                  </a:txBody>
                  <a:tcPr marL="0" marR="0" marT="0" marB="0">
                    <a:lnR w="12700" cap="flat" cmpd="sng">
                      <a:solidFill>
                        <a:srgbClr val="FFFFFF"/>
                      </a:solidFill>
                      <a:prstDash val="solid"/>
                      <a:round/>
                      <a:headEnd type="none" w="sm" len="sm"/>
                      <a:tailEnd type="none" w="sm" len="sm"/>
                    </a:lnR>
                    <a:solidFill>
                      <a:srgbClr val="40B8D2"/>
                    </a:solidFill>
                  </a:tcPr>
                </a:tc>
                <a:tc>
                  <a:txBody>
                    <a:bodyPr/>
                    <a:lstStyle/>
                    <a:p>
                      <a:pPr marL="0" marR="0" lvl="0" indent="0" algn="ctr" rtl="0">
                        <a:lnSpc>
                          <a:spcPct val="100000"/>
                        </a:lnSpc>
                        <a:spcBef>
                          <a:spcPts val="0"/>
                        </a:spcBef>
                        <a:spcAft>
                          <a:spcPts val="0"/>
                        </a:spcAft>
                        <a:buNone/>
                      </a:pPr>
                      <a:r>
                        <a:rPr lang="en-US" sz="1600" u="none" strike="noStrike" cap="none">
                          <a:latin typeface="Arial"/>
                          <a:ea typeface="Arial"/>
                          <a:cs typeface="Arial"/>
                          <a:sym typeface="Arial"/>
                        </a:rPr>
                        <a:t>3</a:t>
                      </a:r>
                      <a:endParaRPr sz="1600" u="none" strike="noStrike" cap="none">
                        <a:latin typeface="Arial"/>
                        <a:ea typeface="Arial"/>
                        <a:cs typeface="Arial"/>
                        <a:sym typeface="Arial"/>
                      </a:endParaRPr>
                    </a:p>
                  </a:txBody>
                  <a:tcPr marL="0" marR="0" marT="304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EE7EC"/>
                    </a:solidFill>
                  </a:tcPr>
                </a:tc>
                <a:tc>
                  <a:txBody>
                    <a:bodyPr/>
                    <a:lstStyle/>
                    <a:p>
                      <a:pPr marL="7620" marR="0" lvl="0" indent="0" algn="l" rtl="0">
                        <a:lnSpc>
                          <a:spcPct val="100000"/>
                        </a:lnSpc>
                        <a:spcBef>
                          <a:spcPts val="0"/>
                        </a:spcBef>
                        <a:spcAft>
                          <a:spcPts val="0"/>
                        </a:spcAft>
                        <a:buNone/>
                      </a:pPr>
                      <a:r>
                        <a:rPr lang="en-US" sz="1600" b="1" u="none" strike="noStrike" cap="none">
                          <a:latin typeface="Arial"/>
                          <a:ea typeface="Arial"/>
                          <a:cs typeface="Arial"/>
                          <a:sym typeface="Arial"/>
                        </a:rPr>
                        <a:t>append()</a:t>
                      </a:r>
                      <a:endParaRPr sz="1600" u="none" strike="noStrike" cap="none">
                        <a:latin typeface="Arial"/>
                        <a:ea typeface="Arial"/>
                        <a:cs typeface="Arial"/>
                        <a:sym typeface="Arial"/>
                      </a:endParaRPr>
                    </a:p>
                  </a:txBody>
                  <a:tcPr marL="0" marR="0" marT="304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EE7EC"/>
                    </a:solidFill>
                  </a:tcPr>
                </a:tc>
                <a:tc>
                  <a:txBody>
                    <a:bodyPr/>
                    <a:lstStyle/>
                    <a:p>
                      <a:pPr marL="8255" marR="0" lvl="0" indent="0" algn="l" rtl="0">
                        <a:lnSpc>
                          <a:spcPct val="100000"/>
                        </a:lnSpc>
                        <a:spcBef>
                          <a:spcPts val="0"/>
                        </a:spcBef>
                        <a:spcAft>
                          <a:spcPts val="0"/>
                        </a:spcAft>
                        <a:buNone/>
                      </a:pPr>
                      <a:r>
                        <a:rPr lang="en-US" sz="1600" u="none" strike="noStrike" cap="none">
                          <a:latin typeface="Arial"/>
                          <a:ea typeface="Arial"/>
                          <a:cs typeface="Arial"/>
                          <a:sym typeface="Arial"/>
                        </a:rPr>
                        <a:t>It is used to add text at the end of the existence text</a:t>
                      </a:r>
                      <a:endParaRPr sz="1600" u="none" strike="noStrike" cap="none">
                        <a:latin typeface="Arial"/>
                        <a:ea typeface="Arial"/>
                        <a:cs typeface="Arial"/>
                        <a:sym typeface="Arial"/>
                      </a:endParaRPr>
                    </a:p>
                  </a:txBody>
                  <a:tcPr marL="0" marR="0" marT="304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extLst>
                  <a:ext uri="{0D108BD9-81ED-4DB2-BD59-A6C34878D82A}">
                    <a16:rowId xmlns:a16="http://schemas.microsoft.com/office/drawing/2014/main" val="10004"/>
                  </a:ext>
                </a:extLst>
              </a:tr>
              <a:tr h="312250">
                <a:tc>
                  <a:txBody>
                    <a:bodyPr/>
                    <a:lstStyle/>
                    <a:p>
                      <a:pPr marL="0" marR="0" lvl="0" indent="0" algn="l" rtl="0">
                        <a:lnSpc>
                          <a:spcPct val="100000"/>
                        </a:lnSpc>
                        <a:spcBef>
                          <a:spcPts val="0"/>
                        </a:spcBef>
                        <a:spcAft>
                          <a:spcPts val="0"/>
                        </a:spcAft>
                        <a:buNone/>
                      </a:pPr>
                      <a:endParaRPr sz="1600" u="none" strike="noStrike" cap="none">
                        <a:latin typeface="Times New Roman"/>
                        <a:ea typeface="Times New Roman"/>
                        <a:cs typeface="Times New Roman"/>
                        <a:sym typeface="Times New Roman"/>
                      </a:endParaRPr>
                    </a:p>
                  </a:txBody>
                  <a:tcPr marL="0" marR="0" marT="0" marB="0">
                    <a:lnR w="12700" cap="flat" cmpd="sng">
                      <a:solidFill>
                        <a:srgbClr val="FFFFFF"/>
                      </a:solidFill>
                      <a:prstDash val="solid"/>
                      <a:round/>
                      <a:headEnd type="none" w="sm" len="sm"/>
                      <a:tailEnd type="none" w="sm" len="sm"/>
                    </a:lnR>
                    <a:solidFill>
                      <a:srgbClr val="40B8D2"/>
                    </a:solidFill>
                  </a:tcPr>
                </a:tc>
                <a:tc>
                  <a:txBody>
                    <a:bodyPr/>
                    <a:lstStyle/>
                    <a:p>
                      <a:pPr marL="0" marR="0" lvl="0" indent="0" algn="ctr" rtl="0">
                        <a:lnSpc>
                          <a:spcPct val="100000"/>
                        </a:lnSpc>
                        <a:spcBef>
                          <a:spcPts val="0"/>
                        </a:spcBef>
                        <a:spcAft>
                          <a:spcPts val="0"/>
                        </a:spcAft>
                        <a:buNone/>
                      </a:pPr>
                      <a:r>
                        <a:rPr lang="en-US" sz="1600" u="none" strike="noStrike" cap="none">
                          <a:latin typeface="Arial"/>
                          <a:ea typeface="Arial"/>
                          <a:cs typeface="Arial"/>
                          <a:sym typeface="Arial"/>
                        </a:rPr>
                        <a:t>4</a:t>
                      </a:r>
                      <a:endParaRPr sz="1600" u="none" strike="noStrike" cap="none">
                        <a:latin typeface="Arial"/>
                        <a:ea typeface="Arial"/>
                        <a:cs typeface="Arial"/>
                        <a:sym typeface="Arial"/>
                      </a:endParaRPr>
                    </a:p>
                  </a:txBody>
                  <a:tcPr marL="0" marR="0" marT="311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F3F7"/>
                    </a:solidFill>
                  </a:tcPr>
                </a:tc>
                <a:tc>
                  <a:txBody>
                    <a:bodyPr/>
                    <a:lstStyle/>
                    <a:p>
                      <a:pPr marL="7620" marR="0" lvl="0" indent="0" algn="l" rtl="0">
                        <a:lnSpc>
                          <a:spcPct val="100000"/>
                        </a:lnSpc>
                        <a:spcBef>
                          <a:spcPts val="0"/>
                        </a:spcBef>
                        <a:spcAft>
                          <a:spcPts val="0"/>
                        </a:spcAft>
                        <a:buNone/>
                      </a:pPr>
                      <a:r>
                        <a:rPr lang="en-US" sz="1600" b="1" u="none" strike="noStrike" cap="none">
                          <a:latin typeface="Arial"/>
                          <a:ea typeface="Arial"/>
                          <a:cs typeface="Arial"/>
                          <a:sym typeface="Arial"/>
                        </a:rPr>
                        <a:t>insert()</a:t>
                      </a:r>
                      <a:endParaRPr sz="1600" u="none" strike="noStrike" cap="none">
                        <a:latin typeface="Arial"/>
                        <a:ea typeface="Arial"/>
                        <a:cs typeface="Arial"/>
                        <a:sym typeface="Arial"/>
                      </a:endParaRPr>
                    </a:p>
                  </a:txBody>
                  <a:tcPr marL="0" marR="0" marT="311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F3F7"/>
                    </a:solidFill>
                  </a:tcPr>
                </a:tc>
                <a:tc>
                  <a:txBody>
                    <a:bodyPr/>
                    <a:lstStyle/>
                    <a:p>
                      <a:pPr marL="8255" marR="0" lvl="0" indent="0" algn="l" rtl="0">
                        <a:lnSpc>
                          <a:spcPct val="100000"/>
                        </a:lnSpc>
                        <a:spcBef>
                          <a:spcPts val="0"/>
                        </a:spcBef>
                        <a:spcAft>
                          <a:spcPts val="0"/>
                        </a:spcAft>
                        <a:buNone/>
                      </a:pPr>
                      <a:r>
                        <a:rPr lang="en-US" sz="1600" u="none" strike="noStrike" cap="none">
                          <a:latin typeface="Arial"/>
                          <a:ea typeface="Arial"/>
                          <a:cs typeface="Arial"/>
                          <a:sym typeface="Arial"/>
                        </a:rPr>
                        <a:t>It is used to insert text at the specified index position.</a:t>
                      </a:r>
                      <a:endParaRPr sz="1600" u="none" strike="noStrike" cap="none">
                        <a:latin typeface="Arial"/>
                        <a:ea typeface="Arial"/>
                        <a:cs typeface="Arial"/>
                        <a:sym typeface="Arial"/>
                      </a:endParaRPr>
                    </a:p>
                  </a:txBody>
                  <a:tcPr marL="0" marR="0" marT="311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extLst>
                  <a:ext uri="{0D108BD9-81ED-4DB2-BD59-A6C34878D82A}">
                    <a16:rowId xmlns:a16="http://schemas.microsoft.com/office/drawing/2014/main" val="10005"/>
                  </a:ext>
                </a:extLst>
              </a:tr>
              <a:tr h="487925">
                <a:tc>
                  <a:txBody>
                    <a:bodyPr/>
                    <a:lstStyle/>
                    <a:p>
                      <a:pPr marL="448944" marR="0" lvl="0" indent="0" algn="l" rtl="0">
                        <a:lnSpc>
                          <a:spcPct val="117916"/>
                        </a:lnSpc>
                        <a:spcBef>
                          <a:spcPts val="0"/>
                        </a:spcBef>
                        <a:spcAft>
                          <a:spcPts val="0"/>
                        </a:spcAft>
                        <a:buNone/>
                      </a:pPr>
                      <a:r>
                        <a:rPr lang="en-US" sz="3600" b="1" u="none" strike="noStrike" cap="none">
                          <a:solidFill>
                            <a:srgbClr val="FFFFFF"/>
                          </a:solidFill>
                          <a:latin typeface="Cambria"/>
                          <a:ea typeface="Cambria"/>
                          <a:cs typeface="Cambria"/>
                          <a:sym typeface="Cambria"/>
                        </a:rPr>
                        <a:t>Summary</a:t>
                      </a:r>
                      <a:endParaRPr sz="3600" u="none" strike="noStrike" cap="none">
                        <a:latin typeface="Cambria"/>
                        <a:ea typeface="Cambria"/>
                        <a:cs typeface="Cambria"/>
                        <a:sym typeface="Cambria"/>
                      </a:endParaRPr>
                    </a:p>
                  </a:txBody>
                  <a:tcPr marL="0" marR="0" marT="27300" marB="0">
                    <a:lnR w="12700" cap="flat" cmpd="sng">
                      <a:solidFill>
                        <a:srgbClr val="FFFFFF"/>
                      </a:solidFill>
                      <a:prstDash val="solid"/>
                      <a:round/>
                      <a:headEnd type="none" w="sm" len="sm"/>
                      <a:tailEnd type="none" w="sm" len="sm"/>
                    </a:lnR>
                    <a:solidFill>
                      <a:srgbClr val="40B8D2"/>
                    </a:solidFill>
                  </a:tcPr>
                </a:tc>
                <a:tc>
                  <a:txBody>
                    <a:bodyPr/>
                    <a:lstStyle/>
                    <a:p>
                      <a:pPr marL="0" marR="0" lvl="0" indent="0" algn="ctr" rtl="0">
                        <a:lnSpc>
                          <a:spcPct val="100000"/>
                        </a:lnSpc>
                        <a:spcBef>
                          <a:spcPts val="0"/>
                        </a:spcBef>
                        <a:spcAft>
                          <a:spcPts val="0"/>
                        </a:spcAft>
                        <a:buNone/>
                      </a:pPr>
                      <a:r>
                        <a:rPr lang="en-US" sz="1600" u="none" strike="noStrike" cap="none">
                          <a:latin typeface="Arial"/>
                          <a:ea typeface="Arial"/>
                          <a:cs typeface="Arial"/>
                          <a:sym typeface="Arial"/>
                        </a:rPr>
                        <a:t>5</a:t>
                      </a:r>
                      <a:endParaRPr sz="1600" u="none" strike="noStrike" cap="none">
                        <a:latin typeface="Arial"/>
                        <a:ea typeface="Arial"/>
                        <a:cs typeface="Arial"/>
                        <a:sym typeface="Arial"/>
                      </a:endParaRPr>
                    </a:p>
                  </a:txBody>
                  <a:tcPr marL="0" marR="0" marT="311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EE7EC"/>
                    </a:solidFill>
                  </a:tcPr>
                </a:tc>
                <a:tc>
                  <a:txBody>
                    <a:bodyPr/>
                    <a:lstStyle/>
                    <a:p>
                      <a:pPr marL="7620" marR="0" lvl="0" indent="0" algn="l" rtl="0">
                        <a:lnSpc>
                          <a:spcPct val="100000"/>
                        </a:lnSpc>
                        <a:spcBef>
                          <a:spcPts val="0"/>
                        </a:spcBef>
                        <a:spcAft>
                          <a:spcPts val="0"/>
                        </a:spcAft>
                        <a:buNone/>
                      </a:pPr>
                      <a:r>
                        <a:rPr lang="en-US" sz="1600" b="1" u="none" strike="noStrike" cap="none">
                          <a:latin typeface="Arial"/>
                          <a:ea typeface="Arial"/>
                          <a:cs typeface="Arial"/>
                          <a:sym typeface="Arial"/>
                        </a:rPr>
                        <a:t>reverse()</a:t>
                      </a:r>
                      <a:endParaRPr sz="1600" u="none" strike="noStrike" cap="none">
                        <a:latin typeface="Arial"/>
                        <a:ea typeface="Arial"/>
                        <a:cs typeface="Arial"/>
                        <a:sym typeface="Arial"/>
                      </a:endParaRPr>
                    </a:p>
                  </a:txBody>
                  <a:tcPr marL="0" marR="0" marT="311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EE7EC"/>
                    </a:solidFill>
                  </a:tcPr>
                </a:tc>
                <a:tc>
                  <a:txBody>
                    <a:bodyPr/>
                    <a:lstStyle/>
                    <a:p>
                      <a:pPr marL="8255" marR="935989" lvl="0" indent="0" algn="l" rtl="0">
                        <a:lnSpc>
                          <a:spcPct val="100000"/>
                        </a:lnSpc>
                        <a:spcBef>
                          <a:spcPts val="0"/>
                        </a:spcBef>
                        <a:spcAft>
                          <a:spcPts val="0"/>
                        </a:spcAft>
                        <a:buNone/>
                      </a:pPr>
                      <a:r>
                        <a:rPr lang="en-US" sz="1600" u="none" strike="noStrike" cap="none">
                          <a:latin typeface="Arial"/>
                          <a:ea typeface="Arial"/>
                          <a:cs typeface="Arial"/>
                          <a:sym typeface="Arial"/>
                        </a:rPr>
                        <a:t>It can reverse the characters within a StringBuffer object</a:t>
                      </a:r>
                      <a:endParaRPr sz="1600" u="none" strike="noStrike" cap="none">
                        <a:latin typeface="Arial"/>
                        <a:ea typeface="Arial"/>
                        <a:cs typeface="Arial"/>
                        <a:sym typeface="Arial"/>
                      </a:endParaRPr>
                    </a:p>
                  </a:txBody>
                  <a:tcPr marL="0" marR="0" marT="273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extLst>
                  <a:ext uri="{0D108BD9-81ED-4DB2-BD59-A6C34878D82A}">
                    <a16:rowId xmlns:a16="http://schemas.microsoft.com/office/drawing/2014/main" val="10006"/>
                  </a:ext>
                </a:extLst>
              </a:tr>
              <a:tr h="1258100">
                <a:tc>
                  <a:txBody>
                    <a:bodyPr/>
                    <a:lstStyle/>
                    <a:p>
                      <a:pPr marL="0" marR="0" lvl="0" indent="0" algn="l" rtl="0">
                        <a:lnSpc>
                          <a:spcPct val="100000"/>
                        </a:lnSpc>
                        <a:spcBef>
                          <a:spcPts val="0"/>
                        </a:spcBef>
                        <a:spcAft>
                          <a:spcPts val="0"/>
                        </a:spcAft>
                        <a:buNone/>
                      </a:pPr>
                      <a:endParaRPr sz="1600" u="none" strike="noStrike" cap="none">
                        <a:latin typeface="Times New Roman"/>
                        <a:ea typeface="Times New Roman"/>
                        <a:cs typeface="Times New Roman"/>
                        <a:sym typeface="Times New Roman"/>
                      </a:endParaRPr>
                    </a:p>
                  </a:txBody>
                  <a:tcPr marL="0" marR="0" marT="0" marB="0">
                    <a:lnR w="12700" cap="flat" cmpd="sng">
                      <a:solidFill>
                        <a:srgbClr val="FFFFFF"/>
                      </a:solidFill>
                      <a:prstDash val="solid"/>
                      <a:round/>
                      <a:headEnd type="none" w="sm" len="sm"/>
                      <a:tailEnd type="none" w="sm" len="sm"/>
                    </a:lnR>
                    <a:solidFill>
                      <a:srgbClr val="40B8D2"/>
                    </a:solidFill>
                  </a:tcPr>
                </a:tc>
                <a:tc>
                  <a:txBody>
                    <a:bodyPr/>
                    <a:lstStyle/>
                    <a:p>
                      <a:pPr marL="0" marR="0" lvl="0" indent="0" algn="ctr" rtl="0">
                        <a:lnSpc>
                          <a:spcPct val="100000"/>
                        </a:lnSpc>
                        <a:spcBef>
                          <a:spcPts val="0"/>
                        </a:spcBef>
                        <a:spcAft>
                          <a:spcPts val="0"/>
                        </a:spcAft>
                        <a:buNone/>
                      </a:pPr>
                      <a:r>
                        <a:rPr lang="en-US" sz="1600" u="none" strike="noStrike" cap="none">
                          <a:latin typeface="Arial"/>
                          <a:ea typeface="Arial"/>
                          <a:cs typeface="Arial"/>
                          <a:sym typeface="Arial"/>
                        </a:rPr>
                        <a:t>6</a:t>
                      </a:r>
                      <a:endParaRPr sz="1600" u="none" strike="noStrike" cap="none">
                        <a:latin typeface="Arial"/>
                        <a:ea typeface="Arial"/>
                        <a:cs typeface="Arial"/>
                        <a:sym typeface="Arial"/>
                      </a:endParaRPr>
                    </a:p>
                  </a:txBody>
                  <a:tcPr marL="0" marR="0" marT="317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F3F7"/>
                    </a:solidFill>
                  </a:tcPr>
                </a:tc>
                <a:tc>
                  <a:txBody>
                    <a:bodyPr/>
                    <a:lstStyle/>
                    <a:p>
                      <a:pPr marL="7620" marR="1445895" lvl="0" indent="0" algn="l" rtl="0">
                        <a:lnSpc>
                          <a:spcPct val="100000"/>
                        </a:lnSpc>
                        <a:spcBef>
                          <a:spcPts val="0"/>
                        </a:spcBef>
                        <a:spcAft>
                          <a:spcPts val="0"/>
                        </a:spcAft>
                        <a:buNone/>
                      </a:pPr>
                      <a:r>
                        <a:rPr lang="en-US" sz="1600" b="1" u="none" strike="noStrike" cap="none">
                          <a:latin typeface="Arial"/>
                          <a:ea typeface="Arial"/>
                          <a:cs typeface="Arial"/>
                          <a:sym typeface="Arial"/>
                        </a:rPr>
                        <a:t>delete(int startIndex, int endIndex)</a:t>
                      </a:r>
                      <a:endParaRPr sz="1600" u="none" strike="noStrike" cap="none">
                        <a:latin typeface="Arial"/>
                        <a:ea typeface="Arial"/>
                        <a:cs typeface="Arial"/>
                        <a:sym typeface="Arial"/>
                      </a:endParaRPr>
                    </a:p>
                  </a:txBody>
                  <a:tcPr marL="0" marR="0" marT="285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F3F7"/>
                    </a:solidFill>
                  </a:tcPr>
                </a:tc>
                <a:tc>
                  <a:txBody>
                    <a:bodyPr/>
                    <a:lstStyle/>
                    <a:p>
                      <a:pPr marL="8255" marR="580390" lvl="0" indent="0" algn="l" rtl="0">
                        <a:lnSpc>
                          <a:spcPct val="100000"/>
                        </a:lnSpc>
                        <a:spcBef>
                          <a:spcPts val="0"/>
                        </a:spcBef>
                        <a:spcAft>
                          <a:spcPts val="0"/>
                        </a:spcAft>
                        <a:buNone/>
                      </a:pPr>
                      <a:r>
                        <a:rPr lang="en-US" sz="1600" u="none" strike="noStrike" cap="none">
                          <a:latin typeface="Arial"/>
                          <a:ea typeface="Arial"/>
                          <a:cs typeface="Arial"/>
                          <a:sym typeface="Arial"/>
                        </a:rPr>
                        <a:t>It can delete characters within a StringBuffer by using the methods </a:t>
                      </a:r>
                      <a:r>
                        <a:rPr lang="en-US" sz="1600" b="1" u="none" strike="noStrike" cap="none">
                          <a:latin typeface="Arial"/>
                          <a:ea typeface="Arial"/>
                          <a:cs typeface="Arial"/>
                          <a:sym typeface="Arial"/>
                        </a:rPr>
                        <a:t>delete( )</a:t>
                      </a:r>
                      <a:endParaRPr sz="1600" u="none" strike="noStrike" cap="none">
                        <a:latin typeface="Arial"/>
                        <a:ea typeface="Arial"/>
                        <a:cs typeface="Arial"/>
                        <a:sym typeface="Arial"/>
                      </a:endParaRPr>
                    </a:p>
                  </a:txBody>
                  <a:tcPr marL="0" marR="0" marT="285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extLst>
                  <a:ext uri="{0D108BD9-81ED-4DB2-BD59-A6C34878D82A}">
                    <a16:rowId xmlns:a16="http://schemas.microsoft.com/office/drawing/2014/main" val="10007"/>
                  </a:ext>
                </a:extLst>
              </a:tr>
              <a:tr h="312250">
                <a:tc>
                  <a:txBody>
                    <a:bodyPr/>
                    <a:lstStyle/>
                    <a:p>
                      <a:pPr marL="0" marR="0" lvl="0" indent="0" algn="l" rtl="0">
                        <a:lnSpc>
                          <a:spcPct val="100000"/>
                        </a:lnSpc>
                        <a:spcBef>
                          <a:spcPts val="0"/>
                        </a:spcBef>
                        <a:spcAft>
                          <a:spcPts val="0"/>
                        </a:spcAft>
                        <a:buNone/>
                      </a:pPr>
                      <a:endParaRPr sz="1600" u="none" strike="noStrike" cap="none">
                        <a:latin typeface="Times New Roman"/>
                        <a:ea typeface="Times New Roman"/>
                        <a:cs typeface="Times New Roman"/>
                        <a:sym typeface="Times New Roman"/>
                      </a:endParaRPr>
                    </a:p>
                  </a:txBody>
                  <a:tcPr marL="0" marR="0" marT="0" marB="0">
                    <a:lnR w="12700" cap="flat" cmpd="sng">
                      <a:solidFill>
                        <a:srgbClr val="FFFFFF"/>
                      </a:solidFill>
                      <a:prstDash val="solid"/>
                      <a:round/>
                      <a:headEnd type="none" w="sm" len="sm"/>
                      <a:tailEnd type="none" w="sm" len="sm"/>
                    </a:lnR>
                    <a:solidFill>
                      <a:srgbClr val="40B8D2"/>
                    </a:solidFill>
                  </a:tcPr>
                </a:tc>
                <a:tc>
                  <a:txBody>
                    <a:bodyPr/>
                    <a:lstStyle/>
                    <a:p>
                      <a:pPr marL="0" marR="0" lvl="0" indent="0" algn="ctr" rtl="0">
                        <a:lnSpc>
                          <a:spcPct val="100000"/>
                        </a:lnSpc>
                        <a:spcBef>
                          <a:spcPts val="0"/>
                        </a:spcBef>
                        <a:spcAft>
                          <a:spcPts val="0"/>
                        </a:spcAft>
                        <a:buNone/>
                      </a:pPr>
                      <a:r>
                        <a:rPr lang="en-US" sz="1600" u="none" strike="noStrike" cap="none">
                          <a:latin typeface="Arial"/>
                          <a:ea typeface="Arial"/>
                          <a:cs typeface="Arial"/>
                          <a:sym typeface="Arial"/>
                        </a:rPr>
                        <a:t>7</a:t>
                      </a:r>
                      <a:endParaRPr sz="1600" u="none" strike="noStrike" cap="none">
                        <a:latin typeface="Arial"/>
                        <a:ea typeface="Arial"/>
                        <a:cs typeface="Arial"/>
                        <a:sym typeface="Arial"/>
                      </a:endParaRPr>
                    </a:p>
                  </a:txBody>
                  <a:tcPr marL="0" marR="0" marT="317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EE7EC"/>
                    </a:solidFill>
                  </a:tcPr>
                </a:tc>
                <a:tc>
                  <a:txBody>
                    <a:bodyPr/>
                    <a:lstStyle/>
                    <a:p>
                      <a:pPr marL="7620" marR="0" lvl="0" indent="0" algn="l" rtl="0">
                        <a:lnSpc>
                          <a:spcPct val="100000"/>
                        </a:lnSpc>
                        <a:spcBef>
                          <a:spcPts val="0"/>
                        </a:spcBef>
                        <a:spcAft>
                          <a:spcPts val="0"/>
                        </a:spcAft>
                        <a:buNone/>
                      </a:pPr>
                      <a:r>
                        <a:rPr lang="en-US" sz="1600" b="1" u="none" strike="noStrike" cap="none">
                          <a:latin typeface="Arial"/>
                          <a:ea typeface="Arial"/>
                          <a:cs typeface="Arial"/>
                          <a:sym typeface="Arial"/>
                        </a:rPr>
                        <a:t>replace()</a:t>
                      </a:r>
                      <a:endParaRPr sz="1600" u="none" strike="noStrike" cap="none">
                        <a:latin typeface="Arial"/>
                        <a:ea typeface="Arial"/>
                        <a:cs typeface="Arial"/>
                        <a:sym typeface="Arial"/>
                      </a:endParaRPr>
                    </a:p>
                  </a:txBody>
                  <a:tcPr marL="0" marR="0" marT="317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EE7EC"/>
                    </a:solidFill>
                  </a:tcPr>
                </a:tc>
                <a:tc>
                  <a:txBody>
                    <a:bodyPr/>
                    <a:lstStyle/>
                    <a:p>
                      <a:pPr marL="8255" marR="0" lvl="0" indent="0" algn="l" rtl="0">
                        <a:lnSpc>
                          <a:spcPct val="100000"/>
                        </a:lnSpc>
                        <a:spcBef>
                          <a:spcPts val="0"/>
                        </a:spcBef>
                        <a:spcAft>
                          <a:spcPts val="0"/>
                        </a:spcAft>
                        <a:buNone/>
                      </a:pPr>
                      <a:r>
                        <a:rPr lang="en-US" sz="1600" u="none" strike="noStrike" cap="none">
                          <a:latin typeface="Arial"/>
                          <a:ea typeface="Arial"/>
                          <a:cs typeface="Arial"/>
                          <a:sym typeface="Arial"/>
                        </a:rPr>
                        <a:t>It can replace one set of characters with another set</a:t>
                      </a:r>
                      <a:endParaRPr sz="1600" u="none" strike="noStrike" cap="none">
                        <a:latin typeface="Arial"/>
                        <a:ea typeface="Arial"/>
                        <a:cs typeface="Arial"/>
                        <a:sym typeface="Arial"/>
                      </a:endParaRPr>
                    </a:p>
                  </a:txBody>
                  <a:tcPr marL="0" marR="0" marT="317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extLst>
                  <a:ext uri="{0D108BD9-81ED-4DB2-BD59-A6C34878D82A}">
                    <a16:rowId xmlns:a16="http://schemas.microsoft.com/office/drawing/2014/main" val="10008"/>
                  </a:ext>
                </a:extLst>
              </a:tr>
              <a:tr h="626625">
                <a:tc>
                  <a:txBody>
                    <a:bodyPr/>
                    <a:lstStyle/>
                    <a:p>
                      <a:pPr marL="0" marR="0" lvl="0" indent="0" algn="l" rtl="0">
                        <a:lnSpc>
                          <a:spcPct val="100000"/>
                        </a:lnSpc>
                        <a:spcBef>
                          <a:spcPts val="0"/>
                        </a:spcBef>
                        <a:spcAft>
                          <a:spcPts val="0"/>
                        </a:spcAft>
                        <a:buNone/>
                      </a:pPr>
                      <a:endParaRPr sz="1600" u="none" strike="noStrike" cap="none">
                        <a:latin typeface="Times New Roman"/>
                        <a:ea typeface="Times New Roman"/>
                        <a:cs typeface="Times New Roman"/>
                        <a:sym typeface="Times New Roman"/>
                      </a:endParaRPr>
                    </a:p>
                  </a:txBody>
                  <a:tcPr marL="0" marR="0" marT="0" marB="0">
                    <a:lnR w="12700" cap="flat" cmpd="sng">
                      <a:solidFill>
                        <a:srgbClr val="FFFFFF"/>
                      </a:solidFill>
                      <a:prstDash val="solid"/>
                      <a:round/>
                      <a:headEnd type="none" w="sm" len="sm"/>
                      <a:tailEnd type="none" w="sm" len="sm"/>
                    </a:lnR>
                    <a:solidFill>
                      <a:srgbClr val="40B8D2"/>
                    </a:solidFill>
                  </a:tcPr>
                </a:tc>
                <a:tc>
                  <a:txBody>
                    <a:bodyPr/>
                    <a:lstStyle/>
                    <a:p>
                      <a:pPr marL="0" marR="0" lvl="0" indent="0" algn="ctr" rtl="0">
                        <a:lnSpc>
                          <a:spcPct val="100000"/>
                        </a:lnSpc>
                        <a:spcBef>
                          <a:spcPts val="0"/>
                        </a:spcBef>
                        <a:spcAft>
                          <a:spcPts val="0"/>
                        </a:spcAft>
                        <a:buNone/>
                      </a:pPr>
                      <a:r>
                        <a:rPr lang="en-US" sz="1600" u="none" strike="noStrike" cap="none">
                          <a:latin typeface="Arial"/>
                          <a:ea typeface="Arial"/>
                          <a:cs typeface="Arial"/>
                          <a:sym typeface="Arial"/>
                        </a:rPr>
                        <a:t>8</a:t>
                      </a:r>
                      <a:endParaRPr sz="1600" u="none" strike="noStrike" cap="none">
                        <a:latin typeface="Arial"/>
                        <a:ea typeface="Arial"/>
                        <a:cs typeface="Arial"/>
                        <a:sym typeface="Arial"/>
                      </a:endParaRPr>
                    </a:p>
                  </a:txBody>
                  <a:tcPr marL="0" marR="0" marT="317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F3F7"/>
                    </a:solidFill>
                  </a:tcPr>
                </a:tc>
                <a:tc>
                  <a:txBody>
                    <a:bodyPr/>
                    <a:lstStyle/>
                    <a:p>
                      <a:pPr marL="7620" marR="0" lvl="0" indent="0" algn="l" rtl="0">
                        <a:lnSpc>
                          <a:spcPct val="100000"/>
                        </a:lnSpc>
                        <a:spcBef>
                          <a:spcPts val="0"/>
                        </a:spcBef>
                        <a:spcAft>
                          <a:spcPts val="0"/>
                        </a:spcAft>
                        <a:buNone/>
                      </a:pPr>
                      <a:r>
                        <a:rPr lang="en-US" sz="1600" b="1" u="none" strike="noStrike" cap="none">
                          <a:latin typeface="Arial"/>
                          <a:ea typeface="Arial"/>
                          <a:cs typeface="Arial"/>
                          <a:sym typeface="Arial"/>
                        </a:rPr>
                        <a:t>indexOf(String str)</a:t>
                      </a:r>
                      <a:endParaRPr sz="1600" u="none" strike="noStrike" cap="none">
                        <a:latin typeface="Arial"/>
                        <a:ea typeface="Arial"/>
                        <a:cs typeface="Arial"/>
                        <a:sym typeface="Arial"/>
                      </a:endParaRPr>
                    </a:p>
                  </a:txBody>
                  <a:tcPr marL="0" marR="0" marT="317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F3F7"/>
                    </a:solidFill>
                  </a:tcPr>
                </a:tc>
                <a:tc>
                  <a:txBody>
                    <a:bodyPr/>
                    <a:lstStyle/>
                    <a:p>
                      <a:pPr marL="8255" marR="0" lvl="0" indent="0" algn="l" rtl="0">
                        <a:lnSpc>
                          <a:spcPct val="100000"/>
                        </a:lnSpc>
                        <a:spcBef>
                          <a:spcPts val="0"/>
                        </a:spcBef>
                        <a:spcAft>
                          <a:spcPts val="0"/>
                        </a:spcAft>
                        <a:buNone/>
                      </a:pPr>
                      <a:r>
                        <a:rPr lang="en-US" sz="1600" u="none" strike="noStrike" cap="none">
                          <a:latin typeface="Arial"/>
                          <a:ea typeface="Arial"/>
                          <a:cs typeface="Arial"/>
                          <a:sym typeface="Arial"/>
                        </a:rPr>
                        <a:t>This method returns the index within this string of the first</a:t>
                      </a:r>
                      <a:endParaRPr sz="1600" u="none" strike="noStrike" cap="none">
                        <a:latin typeface="Arial"/>
                        <a:ea typeface="Arial"/>
                        <a:cs typeface="Arial"/>
                        <a:sym typeface="Arial"/>
                      </a:endParaRPr>
                    </a:p>
                    <a:p>
                      <a:pPr marL="8255" marR="0" lvl="0" indent="0" algn="l" rtl="0">
                        <a:lnSpc>
                          <a:spcPct val="100000"/>
                        </a:lnSpc>
                        <a:spcBef>
                          <a:spcPts val="25"/>
                        </a:spcBef>
                        <a:spcAft>
                          <a:spcPts val="0"/>
                        </a:spcAft>
                        <a:buNone/>
                      </a:pPr>
                      <a:r>
                        <a:rPr lang="en-US" sz="1600" u="none" strike="noStrike" cap="none">
                          <a:latin typeface="Arial"/>
                          <a:ea typeface="Arial"/>
                          <a:cs typeface="Arial"/>
                          <a:sym typeface="Arial"/>
                        </a:rPr>
                        <a:t>occurrence of the specified substring.</a:t>
                      </a:r>
                      <a:endParaRPr sz="1600" u="none" strike="noStrike" cap="none">
                        <a:latin typeface="Arial"/>
                        <a:ea typeface="Arial"/>
                        <a:cs typeface="Arial"/>
                        <a:sym typeface="Arial"/>
                      </a:endParaRPr>
                    </a:p>
                  </a:txBody>
                  <a:tcPr marL="0" marR="0" marT="114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extLst>
                  <a:ext uri="{0D108BD9-81ED-4DB2-BD59-A6C34878D82A}">
                    <a16:rowId xmlns:a16="http://schemas.microsoft.com/office/drawing/2014/main" val="10009"/>
                  </a:ext>
                </a:extLst>
              </a:tr>
              <a:tr h="487925">
                <a:tc>
                  <a:txBody>
                    <a:bodyPr/>
                    <a:lstStyle/>
                    <a:p>
                      <a:pPr marL="0" marR="0" lvl="0" indent="0" algn="l" rtl="0">
                        <a:lnSpc>
                          <a:spcPct val="100000"/>
                        </a:lnSpc>
                        <a:spcBef>
                          <a:spcPts val="0"/>
                        </a:spcBef>
                        <a:spcAft>
                          <a:spcPts val="0"/>
                        </a:spcAft>
                        <a:buNone/>
                      </a:pPr>
                      <a:endParaRPr sz="1600" u="none" strike="noStrike" cap="none">
                        <a:latin typeface="Times New Roman"/>
                        <a:ea typeface="Times New Roman"/>
                        <a:cs typeface="Times New Roman"/>
                        <a:sym typeface="Times New Roman"/>
                      </a:endParaRPr>
                    </a:p>
                  </a:txBody>
                  <a:tcPr marL="0" marR="0" marT="0" marB="0">
                    <a:lnR w="12700" cap="flat" cmpd="sng">
                      <a:solidFill>
                        <a:srgbClr val="FFFFFF"/>
                      </a:solidFill>
                      <a:prstDash val="solid"/>
                      <a:round/>
                      <a:headEnd type="none" w="sm" len="sm"/>
                      <a:tailEnd type="none" w="sm" len="sm"/>
                    </a:lnR>
                    <a:solidFill>
                      <a:srgbClr val="40B8D2"/>
                    </a:solidFill>
                  </a:tcPr>
                </a:tc>
                <a:tc>
                  <a:txBody>
                    <a:bodyPr/>
                    <a:lstStyle/>
                    <a:p>
                      <a:pPr marL="0" marR="0" lvl="0" indent="0" algn="ctr" rtl="0">
                        <a:lnSpc>
                          <a:spcPct val="100000"/>
                        </a:lnSpc>
                        <a:spcBef>
                          <a:spcPts val="0"/>
                        </a:spcBef>
                        <a:spcAft>
                          <a:spcPts val="0"/>
                        </a:spcAft>
                        <a:buNone/>
                      </a:pPr>
                      <a:r>
                        <a:rPr lang="en-US" sz="1600" u="none" strike="noStrike" cap="none">
                          <a:latin typeface="Arial"/>
                          <a:ea typeface="Arial"/>
                          <a:cs typeface="Arial"/>
                          <a:sym typeface="Arial"/>
                        </a:rPr>
                        <a:t>9</a:t>
                      </a:r>
                      <a:endParaRPr sz="1600" u="none" strike="noStrike" cap="none">
                        <a:latin typeface="Arial"/>
                        <a:ea typeface="Arial"/>
                        <a:cs typeface="Arial"/>
                        <a:sym typeface="Arial"/>
                      </a:endParaRPr>
                    </a:p>
                  </a:txBody>
                  <a:tcPr marL="0" marR="0" marT="323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EE7EC"/>
                    </a:solidFill>
                  </a:tcPr>
                </a:tc>
                <a:tc>
                  <a:txBody>
                    <a:bodyPr/>
                    <a:lstStyle/>
                    <a:p>
                      <a:pPr marL="7620" marR="0" lvl="0" indent="0" algn="l" rtl="0">
                        <a:lnSpc>
                          <a:spcPct val="100000"/>
                        </a:lnSpc>
                        <a:spcBef>
                          <a:spcPts val="0"/>
                        </a:spcBef>
                        <a:spcAft>
                          <a:spcPts val="0"/>
                        </a:spcAft>
                        <a:buNone/>
                      </a:pPr>
                      <a:r>
                        <a:rPr lang="en-US" sz="1600" b="1" u="none" strike="noStrike" cap="none">
                          <a:latin typeface="Arial"/>
                          <a:ea typeface="Arial"/>
                          <a:cs typeface="Arial"/>
                          <a:sym typeface="Arial"/>
                        </a:rPr>
                        <a:t>lastIndexOf(String str)</a:t>
                      </a:r>
                      <a:endParaRPr sz="1600" u="none" strike="noStrike" cap="none">
                        <a:latin typeface="Arial"/>
                        <a:ea typeface="Arial"/>
                        <a:cs typeface="Arial"/>
                        <a:sym typeface="Arial"/>
                      </a:endParaRPr>
                    </a:p>
                  </a:txBody>
                  <a:tcPr marL="0" marR="0" marT="323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EE7EC"/>
                    </a:solidFill>
                  </a:tcPr>
                </a:tc>
                <a:tc>
                  <a:txBody>
                    <a:bodyPr/>
                    <a:lstStyle/>
                    <a:p>
                      <a:pPr marL="8255" marR="624205" lvl="0" indent="0" algn="l" rtl="0">
                        <a:lnSpc>
                          <a:spcPct val="100000"/>
                        </a:lnSpc>
                        <a:spcBef>
                          <a:spcPts val="0"/>
                        </a:spcBef>
                        <a:spcAft>
                          <a:spcPts val="0"/>
                        </a:spcAft>
                        <a:buNone/>
                      </a:pPr>
                      <a:r>
                        <a:rPr lang="en-US" sz="1600" u="none" strike="noStrike" cap="none">
                          <a:latin typeface="Arial"/>
                          <a:ea typeface="Arial"/>
                          <a:cs typeface="Arial"/>
                          <a:sym typeface="Arial"/>
                        </a:rPr>
                        <a:t>This method returns the index within this string of the last occurrence of the specified substring.</a:t>
                      </a:r>
                      <a:endParaRPr sz="1600" u="none" strike="noStrike" cap="none">
                        <a:latin typeface="Arial"/>
                        <a:ea typeface="Arial"/>
                        <a:cs typeface="Arial"/>
                        <a:sym typeface="Arial"/>
                      </a:endParaRPr>
                    </a:p>
                  </a:txBody>
                  <a:tcPr marL="0" marR="0" marT="292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extLst>
                  <a:ext uri="{0D108BD9-81ED-4DB2-BD59-A6C34878D82A}">
                    <a16:rowId xmlns:a16="http://schemas.microsoft.com/office/drawing/2014/main" val="10010"/>
                  </a:ext>
                </a:extLst>
              </a:tr>
              <a:tr h="487925">
                <a:tc>
                  <a:txBody>
                    <a:bodyPr/>
                    <a:lstStyle/>
                    <a:p>
                      <a:pPr marL="0" marR="0" lvl="0" indent="0" algn="l" rtl="0">
                        <a:lnSpc>
                          <a:spcPct val="100000"/>
                        </a:lnSpc>
                        <a:spcBef>
                          <a:spcPts val="0"/>
                        </a:spcBef>
                        <a:spcAft>
                          <a:spcPts val="0"/>
                        </a:spcAft>
                        <a:buNone/>
                      </a:pPr>
                      <a:endParaRPr sz="1600" u="none" strike="noStrike" cap="none">
                        <a:latin typeface="Times New Roman"/>
                        <a:ea typeface="Times New Roman"/>
                        <a:cs typeface="Times New Roman"/>
                        <a:sym typeface="Times New Roman"/>
                      </a:endParaRPr>
                    </a:p>
                  </a:txBody>
                  <a:tcPr marL="0" marR="0" marT="0" marB="0">
                    <a:lnR w="12700" cap="flat" cmpd="sng">
                      <a:solidFill>
                        <a:srgbClr val="FFFFFF"/>
                      </a:solidFill>
                      <a:prstDash val="solid"/>
                      <a:round/>
                      <a:headEnd type="none" w="sm" len="sm"/>
                      <a:tailEnd type="none" w="sm" len="sm"/>
                    </a:lnR>
                    <a:solidFill>
                      <a:srgbClr val="40B8D2"/>
                    </a:solidFill>
                  </a:tcPr>
                </a:tc>
                <a:tc>
                  <a:txBody>
                    <a:bodyPr/>
                    <a:lstStyle/>
                    <a:p>
                      <a:pPr marL="0" marR="0" lvl="0" indent="0" algn="ctr" rtl="0">
                        <a:lnSpc>
                          <a:spcPct val="100000"/>
                        </a:lnSpc>
                        <a:spcBef>
                          <a:spcPts val="0"/>
                        </a:spcBef>
                        <a:spcAft>
                          <a:spcPts val="0"/>
                        </a:spcAft>
                        <a:buNone/>
                      </a:pPr>
                      <a:r>
                        <a:rPr lang="en-US" sz="1600" u="none" strike="noStrike" cap="none">
                          <a:latin typeface="Arial"/>
                          <a:ea typeface="Arial"/>
                          <a:cs typeface="Arial"/>
                          <a:sym typeface="Arial"/>
                        </a:rPr>
                        <a:t>10</a:t>
                      </a:r>
                      <a:endParaRPr sz="1600" u="none" strike="noStrike" cap="none">
                        <a:latin typeface="Arial"/>
                        <a:ea typeface="Arial"/>
                        <a:cs typeface="Arial"/>
                        <a:sym typeface="Arial"/>
                      </a:endParaRPr>
                    </a:p>
                  </a:txBody>
                  <a:tcPr marL="0" marR="0" marT="323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F3F7"/>
                    </a:solidFill>
                  </a:tcPr>
                </a:tc>
                <a:tc>
                  <a:txBody>
                    <a:bodyPr/>
                    <a:lstStyle/>
                    <a:p>
                      <a:pPr marL="7620" marR="0" lvl="0" indent="0" algn="l" rtl="0">
                        <a:lnSpc>
                          <a:spcPct val="100000"/>
                        </a:lnSpc>
                        <a:spcBef>
                          <a:spcPts val="0"/>
                        </a:spcBef>
                        <a:spcAft>
                          <a:spcPts val="0"/>
                        </a:spcAft>
                        <a:buNone/>
                      </a:pPr>
                      <a:r>
                        <a:rPr lang="en-US" sz="1600" b="1" u="none" strike="noStrike" cap="none">
                          <a:latin typeface="Arial"/>
                          <a:ea typeface="Arial"/>
                          <a:cs typeface="Arial"/>
                          <a:sym typeface="Arial"/>
                        </a:rPr>
                        <a:t>substring(int start)</a:t>
                      </a:r>
                      <a:endParaRPr sz="1600" u="none" strike="noStrike" cap="none">
                        <a:latin typeface="Arial"/>
                        <a:ea typeface="Arial"/>
                        <a:cs typeface="Arial"/>
                        <a:sym typeface="Arial"/>
                      </a:endParaRPr>
                    </a:p>
                  </a:txBody>
                  <a:tcPr marL="0" marR="0" marT="323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F3F7"/>
                    </a:solidFill>
                  </a:tcPr>
                </a:tc>
                <a:tc>
                  <a:txBody>
                    <a:bodyPr/>
                    <a:lstStyle/>
                    <a:p>
                      <a:pPr marL="8255" marR="1005205" lvl="0" indent="0" algn="l" rtl="0">
                        <a:lnSpc>
                          <a:spcPct val="100000"/>
                        </a:lnSpc>
                        <a:spcBef>
                          <a:spcPts val="0"/>
                        </a:spcBef>
                        <a:spcAft>
                          <a:spcPts val="0"/>
                        </a:spcAft>
                        <a:buNone/>
                      </a:pPr>
                      <a:r>
                        <a:rPr lang="en-US" sz="1600" u="none" strike="noStrike" cap="none">
                          <a:latin typeface="Arial"/>
                          <a:ea typeface="Arial"/>
                          <a:cs typeface="Arial"/>
                          <a:sym typeface="Arial"/>
                        </a:rPr>
                        <a:t>This method returns a new String that contains a subsequence of characters</a:t>
                      </a:r>
                      <a:endParaRPr sz="1600" u="none" strike="noStrike" cap="none">
                        <a:latin typeface="Arial"/>
                        <a:ea typeface="Arial"/>
                        <a:cs typeface="Arial"/>
                        <a:sym typeface="Arial"/>
                      </a:endParaRPr>
                    </a:p>
                  </a:txBody>
                  <a:tcPr marL="0" marR="0" marT="304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extLst>
                  <a:ext uri="{0D108BD9-81ED-4DB2-BD59-A6C34878D82A}">
                    <a16:rowId xmlns:a16="http://schemas.microsoft.com/office/drawing/2014/main" val="10011"/>
                  </a:ext>
                </a:extLst>
              </a:tr>
              <a:tr h="79800">
                <a:tc>
                  <a:txBody>
                    <a:bodyPr/>
                    <a:lstStyle/>
                    <a:p>
                      <a:pPr marL="0" marR="0" lvl="0" indent="0" algn="l" rtl="0">
                        <a:lnSpc>
                          <a:spcPct val="100000"/>
                        </a:lnSpc>
                        <a:spcBef>
                          <a:spcPts val="0"/>
                        </a:spcBef>
                        <a:spcAft>
                          <a:spcPts val="0"/>
                        </a:spcAft>
                        <a:buNone/>
                      </a:pPr>
                      <a:endParaRPr sz="400" u="none" strike="noStrike" cap="none">
                        <a:latin typeface="Times New Roman"/>
                        <a:ea typeface="Times New Roman"/>
                        <a:cs typeface="Times New Roman"/>
                        <a:sym typeface="Times New Roman"/>
                      </a:endParaRPr>
                    </a:p>
                  </a:txBody>
                  <a:tcPr marL="0" marR="0" marT="0" marB="0">
                    <a:solidFill>
                      <a:srgbClr val="40B8D2"/>
                    </a:solidFill>
                  </a:tcPr>
                </a:tc>
                <a:tc>
                  <a:txBody>
                    <a:bodyPr/>
                    <a:lstStyle/>
                    <a:p>
                      <a:pPr marL="0" marR="0" lvl="0" indent="0" algn="l" rtl="0">
                        <a:lnSpc>
                          <a:spcPct val="100000"/>
                        </a:lnSpc>
                        <a:spcBef>
                          <a:spcPts val="0"/>
                        </a:spcBef>
                        <a:spcAft>
                          <a:spcPts val="0"/>
                        </a:spcAft>
                        <a:buNone/>
                      </a:pPr>
                      <a:endParaRPr sz="400" u="none" strike="noStrike" cap="none">
                        <a:latin typeface="Times New Roman"/>
                        <a:ea typeface="Times New Roman"/>
                        <a:cs typeface="Times New Roman"/>
                        <a:sym typeface="Times New Roman"/>
                      </a:endParaRPr>
                    </a:p>
                  </a:txBody>
                  <a:tcPr marL="0" marR="0" marT="0" marB="0">
                    <a:lnT w="12700" cap="flat" cmpd="sng">
                      <a:solidFill>
                        <a:srgbClr val="FFFFFF"/>
                      </a:solidFill>
                      <a:prstDash val="solid"/>
                      <a:round/>
                      <a:headEnd type="none" w="sm" len="sm"/>
                      <a:tailEnd type="none" w="sm" len="sm"/>
                    </a:lnT>
                    <a:solidFill>
                      <a:srgbClr val="40B8D2"/>
                    </a:solidFill>
                  </a:tcPr>
                </a:tc>
                <a:tc>
                  <a:txBody>
                    <a:bodyPr/>
                    <a:lstStyle/>
                    <a:p>
                      <a:pPr marL="0" marR="0" lvl="0" indent="0" algn="l" rtl="0">
                        <a:lnSpc>
                          <a:spcPct val="100000"/>
                        </a:lnSpc>
                        <a:spcBef>
                          <a:spcPts val="0"/>
                        </a:spcBef>
                        <a:spcAft>
                          <a:spcPts val="0"/>
                        </a:spcAft>
                        <a:buNone/>
                      </a:pPr>
                      <a:endParaRPr sz="400" u="none" strike="noStrike" cap="none">
                        <a:latin typeface="Times New Roman"/>
                        <a:ea typeface="Times New Roman"/>
                        <a:cs typeface="Times New Roman"/>
                        <a:sym typeface="Times New Roman"/>
                      </a:endParaRPr>
                    </a:p>
                  </a:txBody>
                  <a:tcPr marL="0" marR="0" marT="0" marB="0">
                    <a:lnT w="12700" cap="flat" cmpd="sng">
                      <a:solidFill>
                        <a:srgbClr val="FFFFFF"/>
                      </a:solidFill>
                      <a:prstDash val="solid"/>
                      <a:round/>
                      <a:headEnd type="none" w="sm" len="sm"/>
                      <a:tailEnd type="none" w="sm" len="sm"/>
                    </a:lnT>
                  </a:tcPr>
                </a:tc>
                <a:tc>
                  <a:txBody>
                    <a:bodyPr/>
                    <a:lstStyle/>
                    <a:p>
                      <a:pPr marL="0" marR="0" lvl="0" indent="0" algn="l" rtl="0">
                        <a:lnSpc>
                          <a:spcPct val="100000"/>
                        </a:lnSpc>
                        <a:spcBef>
                          <a:spcPts val="0"/>
                        </a:spcBef>
                        <a:spcAft>
                          <a:spcPts val="0"/>
                        </a:spcAft>
                        <a:buNone/>
                      </a:pPr>
                      <a:endParaRPr sz="400" u="none" strike="noStrike" cap="none">
                        <a:latin typeface="Times New Roman"/>
                        <a:ea typeface="Times New Roman"/>
                        <a:cs typeface="Times New Roman"/>
                        <a:sym typeface="Times New Roman"/>
                      </a:endParaRPr>
                    </a:p>
                  </a:txBody>
                  <a:tcPr marL="0" marR="0" marT="0" marB="0">
                    <a:lnT w="12700" cap="flat" cmpd="sng">
                      <a:solidFill>
                        <a:srgbClr val="FFFFFF"/>
                      </a:solidFill>
                      <a:prstDash val="solid"/>
                      <a:round/>
                      <a:headEnd type="none" w="sm" len="sm"/>
                      <a:tailEnd type="none" w="sm" len="sm"/>
                    </a:lnT>
                  </a:tcPr>
                </a:tc>
                <a:extLst>
                  <a:ext uri="{0D108BD9-81ED-4DB2-BD59-A6C34878D82A}">
                    <a16:rowId xmlns:a16="http://schemas.microsoft.com/office/drawing/2014/main" val="10012"/>
                  </a:ext>
                </a:extLst>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51"/>
        <p:cNvGrpSpPr/>
        <p:nvPr/>
      </p:nvGrpSpPr>
      <p:grpSpPr>
        <a:xfrm>
          <a:off x="0" y="0"/>
          <a:ext cx="0" cy="0"/>
          <a:chOff x="0" y="0"/>
          <a:chExt cx="0" cy="0"/>
        </a:xfrm>
      </p:grpSpPr>
      <p:sp>
        <p:nvSpPr>
          <p:cNvPr id="452" name="Google Shape;452;p47"/>
          <p:cNvSpPr txBox="1"/>
          <p:nvPr/>
        </p:nvSpPr>
        <p:spPr>
          <a:xfrm>
            <a:off x="4026534" y="970534"/>
            <a:ext cx="7412355" cy="3378835"/>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2200">
                <a:latin typeface="Cambria"/>
                <a:ea typeface="Cambria"/>
                <a:cs typeface="Cambria"/>
                <a:sym typeface="Cambria"/>
              </a:rPr>
              <a:t>public class buffer {</a:t>
            </a:r>
            <a:endParaRPr sz="2200">
              <a:latin typeface="Cambria"/>
              <a:ea typeface="Cambria"/>
              <a:cs typeface="Cambria"/>
              <a:sym typeface="Cambria"/>
            </a:endParaRPr>
          </a:p>
          <a:p>
            <a:pPr marL="445134" lvl="0" indent="0" algn="l" rtl="0">
              <a:lnSpc>
                <a:spcPct val="100000"/>
              </a:lnSpc>
              <a:spcBef>
                <a:spcPts val="0"/>
              </a:spcBef>
              <a:spcAft>
                <a:spcPts val="0"/>
              </a:spcAft>
              <a:buNone/>
            </a:pPr>
            <a:r>
              <a:rPr lang="en-US" sz="2200">
                <a:latin typeface="Cambria"/>
                <a:ea typeface="Cambria"/>
                <a:cs typeface="Cambria"/>
                <a:sym typeface="Cambria"/>
              </a:rPr>
              <a:t>public static void main(String[] args)</a:t>
            </a:r>
            <a:endParaRPr sz="2200">
              <a:latin typeface="Cambria"/>
              <a:ea typeface="Cambria"/>
              <a:cs typeface="Cambria"/>
              <a:sym typeface="Cambria"/>
            </a:endParaRPr>
          </a:p>
          <a:p>
            <a:pPr marL="445134" lvl="0" indent="0" algn="l" rtl="0">
              <a:lnSpc>
                <a:spcPct val="100000"/>
              </a:lnSpc>
              <a:spcBef>
                <a:spcPts val="0"/>
              </a:spcBef>
              <a:spcAft>
                <a:spcPts val="0"/>
              </a:spcAft>
              <a:buNone/>
            </a:pPr>
            <a:r>
              <a:rPr lang="en-US" sz="2200">
                <a:latin typeface="Cambria"/>
                <a:ea typeface="Cambria"/>
                <a:cs typeface="Cambria"/>
                <a:sym typeface="Cambria"/>
              </a:rPr>
              <a:t>{</a:t>
            </a:r>
            <a:endParaRPr sz="2200">
              <a:latin typeface="Cambria"/>
              <a:ea typeface="Cambria"/>
              <a:cs typeface="Cambria"/>
              <a:sym typeface="Cambria"/>
            </a:endParaRPr>
          </a:p>
          <a:p>
            <a:pPr marL="1498600" lvl="0" indent="0" algn="l" rtl="0">
              <a:lnSpc>
                <a:spcPct val="100000"/>
              </a:lnSpc>
              <a:spcBef>
                <a:spcPts val="0"/>
              </a:spcBef>
              <a:spcAft>
                <a:spcPts val="0"/>
              </a:spcAft>
              <a:buNone/>
            </a:pPr>
            <a:r>
              <a:rPr lang="en-US" sz="2200">
                <a:latin typeface="Cambria"/>
                <a:ea typeface="Cambria"/>
                <a:cs typeface="Cambria"/>
                <a:sym typeface="Cambria"/>
              </a:rPr>
              <a:t>StringBuffer a = new StringBuffer(“stringbuffer”);</a:t>
            </a:r>
            <a:endParaRPr sz="2200">
              <a:latin typeface="Cambria"/>
              <a:ea typeface="Cambria"/>
              <a:cs typeface="Cambria"/>
              <a:sym typeface="Cambria"/>
            </a:endParaRPr>
          </a:p>
          <a:p>
            <a:pPr marL="1498600" marR="3277870" lvl="0" indent="0" algn="l" rtl="0">
              <a:lnSpc>
                <a:spcPct val="100000"/>
              </a:lnSpc>
              <a:spcBef>
                <a:spcPts val="5"/>
              </a:spcBef>
              <a:spcAft>
                <a:spcPts val="0"/>
              </a:spcAft>
              <a:buNone/>
            </a:pPr>
            <a:r>
              <a:rPr lang="en-US" sz="2200">
                <a:latin typeface="Cambria"/>
                <a:ea typeface="Cambria"/>
                <a:cs typeface="Cambria"/>
                <a:sym typeface="Cambria"/>
              </a:rPr>
              <a:t>a.append(“in Java”); System.out.println(a); a.append(0); System.out.println(a);</a:t>
            </a:r>
            <a:endParaRPr sz="2200">
              <a:latin typeface="Cambria"/>
              <a:ea typeface="Cambria"/>
              <a:cs typeface="Cambria"/>
              <a:sym typeface="Cambria"/>
            </a:endParaRPr>
          </a:p>
          <a:p>
            <a:pPr marL="445134" lvl="0" indent="0" algn="l" rtl="0">
              <a:lnSpc>
                <a:spcPct val="100000"/>
              </a:lnSpc>
              <a:spcBef>
                <a:spcPts val="0"/>
              </a:spcBef>
              <a:spcAft>
                <a:spcPts val="0"/>
              </a:spcAft>
              <a:buNone/>
            </a:pPr>
            <a:r>
              <a:rPr lang="en-US" sz="2200">
                <a:latin typeface="Cambria"/>
                <a:ea typeface="Cambria"/>
                <a:cs typeface="Cambria"/>
                <a:sym typeface="Cambria"/>
              </a:rPr>
              <a:t>}</a:t>
            </a:r>
            <a:endParaRPr sz="2200">
              <a:latin typeface="Cambria"/>
              <a:ea typeface="Cambria"/>
              <a:cs typeface="Cambria"/>
              <a:sym typeface="Cambria"/>
            </a:endParaRPr>
          </a:p>
          <a:p>
            <a:pPr marL="12700" lvl="0" indent="0" algn="l" rtl="0">
              <a:lnSpc>
                <a:spcPct val="100000"/>
              </a:lnSpc>
              <a:spcBef>
                <a:spcPts val="0"/>
              </a:spcBef>
              <a:spcAft>
                <a:spcPts val="0"/>
              </a:spcAft>
              <a:buNone/>
            </a:pPr>
            <a:r>
              <a:rPr lang="en-US" sz="2200">
                <a:latin typeface="Cambria"/>
                <a:ea typeface="Cambria"/>
                <a:cs typeface="Cambria"/>
                <a:sym typeface="Cambria"/>
              </a:rPr>
              <a:t>}</a:t>
            </a:r>
            <a:endParaRPr sz="2200">
              <a:latin typeface="Cambria"/>
              <a:ea typeface="Cambria"/>
              <a:cs typeface="Cambria"/>
              <a:sym typeface="Cambria"/>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7" name="Google Shape;457;p48"/>
          <p:cNvSpPr txBox="1"/>
          <p:nvPr/>
        </p:nvSpPr>
        <p:spPr>
          <a:xfrm>
            <a:off x="3950334" y="284175"/>
            <a:ext cx="6719570" cy="612394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None/>
            </a:pPr>
            <a:r>
              <a:rPr lang="en-US" sz="2000">
                <a:latin typeface="Cambria"/>
                <a:ea typeface="Cambria"/>
                <a:cs typeface="Cambria"/>
                <a:sym typeface="Cambria"/>
              </a:rPr>
              <a:t>import java.io.*;</a:t>
            </a:r>
            <a:endParaRPr sz="2000">
              <a:latin typeface="Cambria"/>
              <a:ea typeface="Cambria"/>
              <a:cs typeface="Cambria"/>
              <a:sym typeface="Cambria"/>
            </a:endParaRPr>
          </a:p>
          <a:p>
            <a:pPr marL="12700" lvl="0" indent="0" algn="l" rtl="0">
              <a:lnSpc>
                <a:spcPct val="100000"/>
              </a:lnSpc>
              <a:spcBef>
                <a:spcPts val="0"/>
              </a:spcBef>
              <a:spcAft>
                <a:spcPts val="0"/>
              </a:spcAft>
              <a:buNone/>
            </a:pPr>
            <a:r>
              <a:rPr lang="en-US" sz="2000">
                <a:latin typeface="Cambria"/>
                <a:ea typeface="Cambria"/>
                <a:cs typeface="Cambria"/>
                <a:sym typeface="Cambria"/>
              </a:rPr>
              <a:t>public class buffer {</a:t>
            </a:r>
            <a:endParaRPr sz="2000">
              <a:latin typeface="Cambria"/>
              <a:ea typeface="Cambria"/>
              <a:cs typeface="Cambria"/>
              <a:sym typeface="Cambria"/>
            </a:endParaRPr>
          </a:p>
          <a:p>
            <a:pPr marL="400685" lvl="0" indent="0" algn="l" rtl="0">
              <a:lnSpc>
                <a:spcPct val="100000"/>
              </a:lnSpc>
              <a:spcBef>
                <a:spcPts val="0"/>
              </a:spcBef>
              <a:spcAft>
                <a:spcPts val="0"/>
              </a:spcAft>
              <a:buNone/>
            </a:pPr>
            <a:r>
              <a:rPr lang="en-US" sz="2000">
                <a:latin typeface="Cambria"/>
                <a:ea typeface="Cambria"/>
                <a:cs typeface="Cambria"/>
                <a:sym typeface="Cambria"/>
              </a:rPr>
              <a:t>public static void main(String[] args)</a:t>
            </a:r>
            <a:endParaRPr sz="2000">
              <a:latin typeface="Cambria"/>
              <a:ea typeface="Cambria"/>
              <a:cs typeface="Cambria"/>
              <a:sym typeface="Cambria"/>
            </a:endParaRPr>
          </a:p>
          <a:p>
            <a:pPr marL="400685" lvl="0" indent="0" algn="l" rtl="0">
              <a:lnSpc>
                <a:spcPct val="100000"/>
              </a:lnSpc>
              <a:spcBef>
                <a:spcPts val="0"/>
              </a:spcBef>
              <a:spcAft>
                <a:spcPts val="0"/>
              </a:spcAft>
              <a:buNone/>
            </a:pPr>
            <a:r>
              <a:rPr lang="en-US" sz="2000">
                <a:latin typeface="Cambria"/>
                <a:ea typeface="Cambria"/>
                <a:cs typeface="Cambria"/>
                <a:sym typeface="Cambria"/>
              </a:rPr>
              <a:t>{</a:t>
            </a:r>
            <a:endParaRPr sz="2000">
              <a:latin typeface="Cambria"/>
              <a:ea typeface="Cambria"/>
              <a:cs typeface="Cambria"/>
              <a:sym typeface="Cambria"/>
            </a:endParaRPr>
          </a:p>
          <a:p>
            <a:pPr marL="1347470" lvl="0" indent="0" algn="l" rtl="0">
              <a:lnSpc>
                <a:spcPct val="100000"/>
              </a:lnSpc>
              <a:spcBef>
                <a:spcPts val="0"/>
              </a:spcBef>
              <a:spcAft>
                <a:spcPts val="0"/>
              </a:spcAft>
              <a:buNone/>
            </a:pPr>
            <a:r>
              <a:rPr lang="en-US" sz="2000">
                <a:latin typeface="Cambria"/>
                <a:ea typeface="Cambria"/>
                <a:cs typeface="Cambria"/>
                <a:sym typeface="Cambria"/>
              </a:rPr>
              <a:t>StringBuffer a = new StringBuffer(“stringbuffer”);</a:t>
            </a:r>
            <a:endParaRPr sz="2000">
              <a:latin typeface="Cambria"/>
              <a:ea typeface="Cambria"/>
              <a:cs typeface="Cambria"/>
              <a:sym typeface="Cambria"/>
            </a:endParaRPr>
          </a:p>
          <a:p>
            <a:pPr marL="1347470" marR="2477770" lvl="0" indent="0" algn="l" rtl="0">
              <a:lnSpc>
                <a:spcPct val="100000"/>
              </a:lnSpc>
              <a:spcBef>
                <a:spcPts val="0"/>
              </a:spcBef>
              <a:spcAft>
                <a:spcPts val="0"/>
              </a:spcAft>
              <a:buNone/>
            </a:pPr>
            <a:r>
              <a:rPr lang="en-US" sz="2000">
                <a:latin typeface="Cambria"/>
                <a:ea typeface="Cambria"/>
                <a:cs typeface="Cambria"/>
                <a:sym typeface="Cambria"/>
              </a:rPr>
              <a:t>a.insert(5, “for”); System.out.println(a); a.insert(0, 5); System.out.println(a); a.insert(3, false); System.out.println(a); a.insert(5, 41.55d); System.out.println(a); a.insert(8, 41.55f); System.out.println(a); char arr[] = { ‘j’, ‘a’, ‘v’, ‘a’ }; a.insert(2, arr); System.out.println(a);</a:t>
            </a:r>
            <a:endParaRPr sz="2000">
              <a:latin typeface="Cambria"/>
              <a:ea typeface="Cambria"/>
              <a:cs typeface="Cambria"/>
              <a:sym typeface="Cambria"/>
            </a:endParaRPr>
          </a:p>
          <a:p>
            <a:pPr marL="12700" lvl="0" indent="0" algn="l" rtl="0">
              <a:lnSpc>
                <a:spcPct val="100000"/>
              </a:lnSpc>
              <a:spcBef>
                <a:spcPts val="10"/>
              </a:spcBef>
              <a:spcAft>
                <a:spcPts val="0"/>
              </a:spcAft>
              <a:buNone/>
            </a:pPr>
            <a:r>
              <a:rPr lang="en-US" sz="2000">
                <a:latin typeface="Cambria"/>
                <a:ea typeface="Cambria"/>
                <a:cs typeface="Cambria"/>
                <a:sym typeface="Cambria"/>
              </a:rPr>
              <a:t>}</a:t>
            </a:r>
            <a:endParaRPr sz="2000">
              <a:latin typeface="Cambria"/>
              <a:ea typeface="Cambria"/>
              <a:cs typeface="Cambria"/>
              <a:sym typeface="Cambria"/>
            </a:endParaRPr>
          </a:p>
          <a:p>
            <a:pPr marL="67310" lvl="0" indent="0" algn="l" rtl="0">
              <a:lnSpc>
                <a:spcPct val="100000"/>
              </a:lnSpc>
              <a:spcBef>
                <a:spcPts val="0"/>
              </a:spcBef>
              <a:spcAft>
                <a:spcPts val="0"/>
              </a:spcAft>
              <a:buNone/>
            </a:pPr>
            <a:r>
              <a:rPr lang="en-US" sz="2000">
                <a:latin typeface="Cambria"/>
                <a:ea typeface="Cambria"/>
                <a:cs typeface="Cambria"/>
                <a:sym typeface="Cambria"/>
              </a:rPr>
              <a:t>}</a:t>
            </a:r>
            <a:endParaRPr sz="2000">
              <a:latin typeface="Cambria"/>
              <a:ea typeface="Cambria"/>
              <a:cs typeface="Cambria"/>
              <a:sym typeface="Cambria"/>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sp>
        <p:nvSpPr>
          <p:cNvPr id="462" name="Google Shape;462;p49"/>
          <p:cNvSpPr txBox="1"/>
          <p:nvPr/>
        </p:nvSpPr>
        <p:spPr>
          <a:xfrm>
            <a:off x="3950334" y="741933"/>
            <a:ext cx="6832600" cy="2769870"/>
          </a:xfrm>
          <a:prstGeom prst="rect">
            <a:avLst/>
          </a:prstGeom>
          <a:noFill/>
          <a:ln>
            <a:noFill/>
          </a:ln>
        </p:spPr>
        <p:txBody>
          <a:bodyPr spcFirstLastPara="1" wrap="square" lIns="0" tIns="13325" rIns="0" bIns="0" anchor="t" anchorCtr="0">
            <a:spAutoFit/>
          </a:bodyPr>
          <a:lstStyle/>
          <a:p>
            <a:pPr marL="12700" marR="4690745" lvl="0" indent="0" algn="l" rtl="0">
              <a:lnSpc>
                <a:spcPct val="100000"/>
              </a:lnSpc>
              <a:spcBef>
                <a:spcPts val="0"/>
              </a:spcBef>
              <a:spcAft>
                <a:spcPts val="0"/>
              </a:spcAft>
              <a:buNone/>
            </a:pPr>
            <a:r>
              <a:rPr lang="en-US" sz="2000">
                <a:latin typeface="Cambria"/>
                <a:ea typeface="Cambria"/>
                <a:cs typeface="Cambria"/>
                <a:sym typeface="Cambria"/>
              </a:rPr>
              <a:t>import java.io.*; public class buffer {</a:t>
            </a:r>
            <a:endParaRPr sz="2000">
              <a:latin typeface="Cambria"/>
              <a:ea typeface="Cambria"/>
              <a:cs typeface="Cambria"/>
              <a:sym typeface="Cambria"/>
            </a:endParaRPr>
          </a:p>
          <a:p>
            <a:pPr marL="623570" lvl="0" indent="0" algn="l" rtl="0">
              <a:lnSpc>
                <a:spcPct val="100000"/>
              </a:lnSpc>
              <a:spcBef>
                <a:spcPts val="0"/>
              </a:spcBef>
              <a:spcAft>
                <a:spcPts val="0"/>
              </a:spcAft>
              <a:buNone/>
            </a:pPr>
            <a:r>
              <a:rPr lang="en-US" sz="2000">
                <a:latin typeface="Cambria"/>
                <a:ea typeface="Cambria"/>
                <a:cs typeface="Cambria"/>
                <a:sym typeface="Cambria"/>
              </a:rPr>
              <a:t>public static void main(String[] args)</a:t>
            </a:r>
            <a:endParaRPr sz="2000">
              <a:latin typeface="Cambria"/>
              <a:ea typeface="Cambria"/>
              <a:cs typeface="Cambria"/>
              <a:sym typeface="Cambria"/>
            </a:endParaRPr>
          </a:p>
          <a:p>
            <a:pPr marL="623570" lvl="0" indent="0" algn="l" rtl="0">
              <a:lnSpc>
                <a:spcPct val="100000"/>
              </a:lnSpc>
              <a:spcBef>
                <a:spcPts val="0"/>
              </a:spcBef>
              <a:spcAft>
                <a:spcPts val="0"/>
              </a:spcAft>
              <a:buNone/>
            </a:pPr>
            <a:r>
              <a:rPr lang="en-US" sz="2000">
                <a:latin typeface="Cambria"/>
                <a:ea typeface="Cambria"/>
                <a:cs typeface="Cambria"/>
                <a:sym typeface="Cambria"/>
              </a:rPr>
              <a:t>{</a:t>
            </a:r>
            <a:endParaRPr sz="2000">
              <a:latin typeface="Cambria"/>
              <a:ea typeface="Cambria"/>
              <a:cs typeface="Cambria"/>
              <a:sym typeface="Cambria"/>
            </a:endParaRPr>
          </a:p>
          <a:p>
            <a:pPr marL="1457325" lvl="0" indent="0" algn="l" rtl="0">
              <a:lnSpc>
                <a:spcPct val="100000"/>
              </a:lnSpc>
              <a:spcBef>
                <a:spcPts val="0"/>
              </a:spcBef>
              <a:spcAft>
                <a:spcPts val="0"/>
              </a:spcAft>
              <a:buNone/>
            </a:pPr>
            <a:r>
              <a:rPr lang="en-US" sz="2000">
                <a:latin typeface="Cambria"/>
                <a:ea typeface="Cambria"/>
                <a:cs typeface="Cambria"/>
                <a:sym typeface="Cambria"/>
              </a:rPr>
              <a:t>StringBuffer a = new StringBuffer(“stringbuffer”);</a:t>
            </a:r>
            <a:endParaRPr sz="2000">
              <a:latin typeface="Cambria"/>
              <a:ea typeface="Cambria"/>
              <a:cs typeface="Cambria"/>
              <a:sym typeface="Cambria"/>
            </a:endParaRPr>
          </a:p>
          <a:p>
            <a:pPr marL="1457325" marR="2974975" lvl="0" indent="0" algn="l" rtl="0">
              <a:lnSpc>
                <a:spcPct val="100000"/>
              </a:lnSpc>
              <a:spcBef>
                <a:spcPts val="0"/>
              </a:spcBef>
              <a:spcAft>
                <a:spcPts val="0"/>
              </a:spcAft>
              <a:buNone/>
            </a:pPr>
            <a:r>
              <a:rPr lang="en-US" sz="2000">
                <a:latin typeface="Cambria"/>
                <a:ea typeface="Cambria"/>
                <a:cs typeface="Cambria"/>
                <a:sym typeface="Cambria"/>
              </a:rPr>
              <a:t>a.replace(5, 8, “are”); System.out.println(a);</a:t>
            </a:r>
            <a:endParaRPr sz="2000">
              <a:latin typeface="Cambria"/>
              <a:ea typeface="Cambria"/>
              <a:cs typeface="Cambria"/>
              <a:sym typeface="Cambria"/>
            </a:endParaRPr>
          </a:p>
          <a:p>
            <a:pPr marL="791210" lvl="0" indent="0" algn="l" rtl="0">
              <a:lnSpc>
                <a:spcPct val="100000"/>
              </a:lnSpc>
              <a:spcBef>
                <a:spcPts val="0"/>
              </a:spcBef>
              <a:spcAft>
                <a:spcPts val="0"/>
              </a:spcAft>
              <a:buNone/>
            </a:pPr>
            <a:r>
              <a:rPr lang="en-US" sz="2000">
                <a:latin typeface="Cambria"/>
                <a:ea typeface="Cambria"/>
                <a:cs typeface="Cambria"/>
                <a:sym typeface="Cambria"/>
              </a:rPr>
              <a:t>}</a:t>
            </a:r>
            <a:endParaRPr sz="2000">
              <a:latin typeface="Cambria"/>
              <a:ea typeface="Cambria"/>
              <a:cs typeface="Cambria"/>
              <a:sym typeface="Cambria"/>
            </a:endParaRPr>
          </a:p>
          <a:p>
            <a:pPr marL="12700" lvl="0" indent="0" algn="l" rtl="0">
              <a:lnSpc>
                <a:spcPct val="100000"/>
              </a:lnSpc>
              <a:spcBef>
                <a:spcPts val="0"/>
              </a:spcBef>
              <a:spcAft>
                <a:spcPts val="0"/>
              </a:spcAft>
              <a:buNone/>
            </a:pPr>
            <a:r>
              <a:rPr lang="en-US" sz="2000">
                <a:latin typeface="Cambria"/>
                <a:ea typeface="Cambria"/>
                <a:cs typeface="Cambria"/>
                <a:sym typeface="Cambria"/>
              </a:rPr>
              <a:t>}</a:t>
            </a:r>
            <a:endParaRPr sz="2000">
              <a:latin typeface="Cambria"/>
              <a:ea typeface="Cambria"/>
              <a:cs typeface="Cambria"/>
              <a:sym typeface="Cambria"/>
            </a:endParaRPr>
          </a:p>
        </p:txBody>
      </p:sp>
      <p:sp>
        <p:nvSpPr>
          <p:cNvPr id="463" name="Google Shape;463;p49"/>
          <p:cNvSpPr txBox="1"/>
          <p:nvPr/>
        </p:nvSpPr>
        <p:spPr>
          <a:xfrm>
            <a:off x="3965575" y="4520565"/>
            <a:ext cx="1686560" cy="81915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600" b="1">
                <a:latin typeface="Cambria"/>
                <a:ea typeface="Cambria"/>
                <a:cs typeface="Cambria"/>
                <a:sym typeface="Cambria"/>
              </a:rPr>
              <a:t>output</a:t>
            </a:r>
            <a:endParaRPr sz="2600">
              <a:latin typeface="Cambria"/>
              <a:ea typeface="Cambria"/>
              <a:cs typeface="Cambria"/>
              <a:sym typeface="Cambria"/>
            </a:endParaRPr>
          </a:p>
          <a:p>
            <a:pPr marL="12700" lvl="0" indent="0" algn="l" rtl="0">
              <a:lnSpc>
                <a:spcPct val="100000"/>
              </a:lnSpc>
              <a:spcBef>
                <a:spcPts val="0"/>
              </a:spcBef>
              <a:spcAft>
                <a:spcPts val="0"/>
              </a:spcAft>
              <a:buNone/>
            </a:pPr>
            <a:r>
              <a:rPr lang="en-US" sz="2600">
                <a:latin typeface="Cambria"/>
                <a:ea typeface="Cambria"/>
                <a:cs typeface="Cambria"/>
                <a:sym typeface="Cambria"/>
              </a:rPr>
              <a:t>strin</a:t>
            </a:r>
            <a:r>
              <a:rPr lang="en-US" sz="2600" b="1" u="sng">
                <a:solidFill>
                  <a:srgbClr val="FF0000"/>
                </a:solidFill>
                <a:latin typeface="Cambria"/>
                <a:ea typeface="Cambria"/>
                <a:cs typeface="Cambria"/>
                <a:sym typeface="Cambria"/>
              </a:rPr>
              <a:t>are</a:t>
            </a:r>
            <a:r>
              <a:rPr lang="en-US" sz="2600">
                <a:latin typeface="Cambria"/>
                <a:ea typeface="Cambria"/>
                <a:cs typeface="Cambria"/>
                <a:sym typeface="Cambria"/>
              </a:rPr>
              <a:t>ffer</a:t>
            </a:r>
            <a:endParaRPr sz="2600">
              <a:latin typeface="Cambria"/>
              <a:ea typeface="Cambria"/>
              <a:cs typeface="Cambria"/>
              <a:sym typeface="Cambria"/>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67"/>
        <p:cNvGrpSpPr/>
        <p:nvPr/>
      </p:nvGrpSpPr>
      <p:grpSpPr>
        <a:xfrm>
          <a:off x="0" y="0"/>
          <a:ext cx="0" cy="0"/>
          <a:chOff x="0" y="0"/>
          <a:chExt cx="0" cy="0"/>
        </a:xfrm>
      </p:grpSpPr>
      <p:sp>
        <p:nvSpPr>
          <p:cNvPr id="468" name="Google Shape;468;p50"/>
          <p:cNvSpPr txBox="1"/>
          <p:nvPr/>
        </p:nvSpPr>
        <p:spPr>
          <a:xfrm>
            <a:off x="476199" y="2861259"/>
            <a:ext cx="2129155" cy="1504950"/>
          </a:xfrm>
          <a:prstGeom prst="rect">
            <a:avLst/>
          </a:prstGeom>
          <a:noFill/>
          <a:ln>
            <a:noFill/>
          </a:ln>
        </p:spPr>
        <p:txBody>
          <a:bodyPr spcFirstLastPara="1" wrap="square" lIns="0" tIns="5700" rIns="0" bIns="0" anchor="t" anchorCtr="0">
            <a:spAutoFit/>
          </a:bodyPr>
          <a:lstStyle/>
          <a:p>
            <a:pPr marL="522605" marR="535305" lvl="0" indent="0" algn="ctr" rtl="0">
              <a:lnSpc>
                <a:spcPct val="101600"/>
              </a:lnSpc>
              <a:spcBef>
                <a:spcPts val="0"/>
              </a:spcBef>
              <a:spcAft>
                <a:spcPts val="0"/>
              </a:spcAft>
              <a:buNone/>
            </a:pPr>
            <a:r>
              <a:rPr lang="en-US" sz="3200" b="1">
                <a:solidFill>
                  <a:srgbClr val="FFFFFF"/>
                </a:solidFill>
                <a:latin typeface="Cambria"/>
                <a:ea typeface="Cambria"/>
                <a:cs typeface="Cambria"/>
                <a:sym typeface="Cambria"/>
              </a:rPr>
              <a:t>String Vs.</a:t>
            </a:r>
            <a:endParaRPr sz="3200">
              <a:latin typeface="Cambria"/>
              <a:ea typeface="Cambria"/>
              <a:cs typeface="Cambria"/>
              <a:sym typeface="Cambria"/>
            </a:endParaRPr>
          </a:p>
          <a:p>
            <a:pPr marL="0" lvl="0" indent="0" algn="ctr" rtl="0">
              <a:lnSpc>
                <a:spcPct val="100000"/>
              </a:lnSpc>
              <a:spcBef>
                <a:spcPts val="60"/>
              </a:spcBef>
              <a:spcAft>
                <a:spcPts val="0"/>
              </a:spcAft>
              <a:buNone/>
            </a:pPr>
            <a:r>
              <a:rPr lang="en-US" sz="3200" b="1">
                <a:solidFill>
                  <a:srgbClr val="FFFFFF"/>
                </a:solidFill>
                <a:latin typeface="Cambria"/>
                <a:ea typeface="Cambria"/>
                <a:cs typeface="Cambria"/>
                <a:sym typeface="Cambria"/>
              </a:rPr>
              <a:t>StringBuffer</a:t>
            </a:r>
            <a:endParaRPr sz="3200">
              <a:latin typeface="Cambria"/>
              <a:ea typeface="Cambria"/>
              <a:cs typeface="Cambria"/>
              <a:sym typeface="Cambria"/>
            </a:endParaRPr>
          </a:p>
        </p:txBody>
      </p:sp>
      <p:pic>
        <p:nvPicPr>
          <p:cNvPr id="469" name="Google Shape;469;p50"/>
          <p:cNvPicPr preferRelativeResize="0"/>
          <p:nvPr/>
        </p:nvPicPr>
        <p:blipFill rotWithShape="1">
          <a:blip r:embed="rId3">
            <a:alphaModFix/>
          </a:blip>
          <a:srcRect/>
          <a:stretch/>
        </p:blipFill>
        <p:spPr>
          <a:xfrm>
            <a:off x="4366259" y="1112519"/>
            <a:ext cx="6595871" cy="4814316"/>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73"/>
        <p:cNvGrpSpPr/>
        <p:nvPr/>
      </p:nvGrpSpPr>
      <p:grpSpPr>
        <a:xfrm>
          <a:off x="0" y="0"/>
          <a:ext cx="0" cy="0"/>
          <a:chOff x="0" y="0"/>
          <a:chExt cx="0" cy="0"/>
        </a:xfrm>
      </p:grpSpPr>
      <p:sp>
        <p:nvSpPr>
          <p:cNvPr id="474" name="Google Shape;474;p51"/>
          <p:cNvSpPr/>
          <p:nvPr/>
        </p:nvSpPr>
        <p:spPr>
          <a:xfrm>
            <a:off x="11817095" y="758951"/>
            <a:ext cx="374650" cy="5330825"/>
          </a:xfrm>
          <a:custGeom>
            <a:avLst/>
            <a:gdLst/>
            <a:ahLst/>
            <a:cxnLst/>
            <a:rect l="l" t="t" r="r" b="b"/>
            <a:pathLst>
              <a:path w="374650" h="5330825" extrusionOk="0">
                <a:moveTo>
                  <a:pt x="374523" y="0"/>
                </a:moveTo>
                <a:lnTo>
                  <a:pt x="0" y="0"/>
                </a:lnTo>
                <a:lnTo>
                  <a:pt x="0" y="5330444"/>
                </a:lnTo>
                <a:lnTo>
                  <a:pt x="374523" y="5330444"/>
                </a:lnTo>
                <a:lnTo>
                  <a:pt x="374523" y="0"/>
                </a:lnTo>
                <a:close/>
              </a:path>
            </a:pathLst>
          </a:custGeom>
          <a:solidFill>
            <a:srgbClr val="C6C6C6">
              <a:alpha val="49411"/>
            </a:srgbClr>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475" name="Google Shape;475;p51"/>
          <p:cNvSpPr txBox="1">
            <a:spLocks noGrp="1"/>
          </p:cNvSpPr>
          <p:nvPr>
            <p:ph type="title"/>
          </p:nvPr>
        </p:nvSpPr>
        <p:spPr>
          <a:xfrm>
            <a:off x="3569334" y="1491487"/>
            <a:ext cx="7875905" cy="695960"/>
          </a:xfrm>
          <a:prstGeom prst="rect">
            <a:avLst/>
          </a:prstGeom>
          <a:noFill/>
          <a:ln>
            <a:noFill/>
          </a:ln>
        </p:spPr>
        <p:txBody>
          <a:bodyPr spcFirstLastPara="1" wrap="square" lIns="0" tIns="12050" rIns="0" bIns="0" anchor="t" anchorCtr="0">
            <a:spAutoFit/>
          </a:bodyPr>
          <a:lstStyle/>
          <a:p>
            <a:pPr marL="74930" marR="5080" lvl="0" indent="-62865" algn="l" rtl="0">
              <a:lnSpc>
                <a:spcPct val="100000"/>
              </a:lnSpc>
              <a:spcBef>
                <a:spcPts val="0"/>
              </a:spcBef>
              <a:spcAft>
                <a:spcPts val="0"/>
              </a:spcAft>
              <a:buNone/>
            </a:pPr>
            <a:r>
              <a:rPr lang="en-US" sz="2200" b="0">
                <a:solidFill>
                  <a:srgbClr val="000000"/>
                </a:solidFill>
                <a:latin typeface="Cambria"/>
                <a:ea typeface="Cambria"/>
                <a:cs typeface="Cambria"/>
                <a:sym typeface="Cambria"/>
              </a:rPr>
              <a:t>The wrapper class in Java provides the mechanism to convert primitive into object and object into primitive.</a:t>
            </a:r>
            <a:endParaRPr sz="2200">
              <a:latin typeface="Cambria"/>
              <a:ea typeface="Cambria"/>
              <a:cs typeface="Cambria"/>
              <a:sym typeface="Cambria"/>
            </a:endParaRPr>
          </a:p>
        </p:txBody>
      </p:sp>
      <p:sp>
        <p:nvSpPr>
          <p:cNvPr id="476" name="Google Shape;476;p51"/>
          <p:cNvSpPr txBox="1"/>
          <p:nvPr/>
        </p:nvSpPr>
        <p:spPr>
          <a:xfrm>
            <a:off x="3569334" y="2497581"/>
            <a:ext cx="7875905" cy="1366520"/>
          </a:xfrm>
          <a:prstGeom prst="rect">
            <a:avLst/>
          </a:prstGeom>
          <a:noFill/>
          <a:ln>
            <a:noFill/>
          </a:ln>
        </p:spPr>
        <p:txBody>
          <a:bodyPr spcFirstLastPara="1" wrap="square" lIns="0" tIns="12050" rIns="0" bIns="0" anchor="t" anchorCtr="0">
            <a:spAutoFit/>
          </a:bodyPr>
          <a:lstStyle/>
          <a:p>
            <a:pPr marL="12700" marR="5080" lvl="0" indent="0" algn="just" rtl="0">
              <a:lnSpc>
                <a:spcPct val="100000"/>
              </a:lnSpc>
              <a:spcBef>
                <a:spcPts val="0"/>
              </a:spcBef>
              <a:spcAft>
                <a:spcPts val="0"/>
              </a:spcAft>
              <a:buNone/>
            </a:pPr>
            <a:r>
              <a:rPr lang="en-US" sz="2200">
                <a:latin typeface="Cambria"/>
                <a:ea typeface="Cambria"/>
                <a:cs typeface="Cambria"/>
                <a:sym typeface="Cambria"/>
              </a:rPr>
              <a:t>Since  J2SE  5.0,  auto boxing  and  unboxing  feature  convert primitives into objects and objects into primitives automatically. The automatic conversion of primitive into an object is known as autoboxing and vice-versa unboxing.</a:t>
            </a:r>
            <a:endParaRPr sz="2200">
              <a:latin typeface="Cambria"/>
              <a:ea typeface="Cambria"/>
              <a:cs typeface="Cambria"/>
              <a:sym typeface="Cambria"/>
            </a:endParaRPr>
          </a:p>
        </p:txBody>
      </p:sp>
      <p:sp>
        <p:nvSpPr>
          <p:cNvPr id="477" name="Google Shape;477;p51"/>
          <p:cNvSpPr txBox="1"/>
          <p:nvPr/>
        </p:nvSpPr>
        <p:spPr>
          <a:xfrm>
            <a:off x="245465" y="2982595"/>
            <a:ext cx="2687955" cy="513715"/>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None/>
            </a:pPr>
            <a:r>
              <a:rPr lang="en-US" sz="3200" b="1">
                <a:solidFill>
                  <a:srgbClr val="FFFFFF"/>
                </a:solidFill>
                <a:latin typeface="Cambria"/>
                <a:ea typeface="Cambria"/>
                <a:cs typeface="Cambria"/>
                <a:sym typeface="Cambria"/>
              </a:rPr>
              <a:t>Wrapper class</a:t>
            </a:r>
            <a:endParaRPr sz="3200">
              <a:latin typeface="Cambria"/>
              <a:ea typeface="Cambria"/>
              <a:cs typeface="Cambria"/>
              <a:sym typeface="Cambria"/>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52"/>
          <p:cNvSpPr txBox="1"/>
          <p:nvPr/>
        </p:nvSpPr>
        <p:spPr>
          <a:xfrm>
            <a:off x="3645534" y="894333"/>
            <a:ext cx="7875905" cy="940435"/>
          </a:xfrm>
          <a:prstGeom prst="rect">
            <a:avLst/>
          </a:prstGeom>
          <a:noFill/>
          <a:ln>
            <a:noFill/>
          </a:ln>
        </p:spPr>
        <p:txBody>
          <a:bodyPr spcFirstLastPara="1" wrap="square" lIns="0" tIns="13325" rIns="0" bIns="0" anchor="t" anchorCtr="0">
            <a:spAutoFit/>
          </a:bodyPr>
          <a:lstStyle/>
          <a:p>
            <a:pPr marL="12700" marR="5080" lvl="0" indent="0" algn="just" rtl="0">
              <a:lnSpc>
                <a:spcPct val="100000"/>
              </a:lnSpc>
              <a:spcBef>
                <a:spcPts val="0"/>
              </a:spcBef>
              <a:spcAft>
                <a:spcPts val="0"/>
              </a:spcAft>
              <a:buNone/>
            </a:pPr>
            <a:r>
              <a:rPr lang="en-US" sz="2000" b="1">
                <a:solidFill>
                  <a:srgbClr val="575757"/>
                </a:solidFill>
                <a:latin typeface="Cambria"/>
                <a:ea typeface="Cambria"/>
                <a:cs typeface="Cambria"/>
                <a:sym typeface="Cambria"/>
              </a:rPr>
              <a:t>Change the value in Method: </a:t>
            </a:r>
            <a:r>
              <a:rPr lang="en-US" sz="2000">
                <a:solidFill>
                  <a:srgbClr val="575757"/>
                </a:solidFill>
                <a:latin typeface="Cambria"/>
                <a:ea typeface="Cambria"/>
                <a:cs typeface="Cambria"/>
                <a:sym typeface="Cambria"/>
              </a:rPr>
              <a:t>Java supports only call by value. So, if we pass a primitive value, it will not change the original value. But, if we convert the primitive value in an object, it will change the original value.</a:t>
            </a:r>
            <a:endParaRPr sz="2000">
              <a:latin typeface="Cambria"/>
              <a:ea typeface="Cambria"/>
              <a:cs typeface="Cambria"/>
              <a:sym typeface="Cambria"/>
            </a:endParaRPr>
          </a:p>
        </p:txBody>
      </p:sp>
      <p:sp>
        <p:nvSpPr>
          <p:cNvPr id="483" name="Google Shape;483;p52"/>
          <p:cNvSpPr txBox="1"/>
          <p:nvPr/>
        </p:nvSpPr>
        <p:spPr>
          <a:xfrm>
            <a:off x="3645534" y="2113914"/>
            <a:ext cx="7876540" cy="1855470"/>
          </a:xfrm>
          <a:prstGeom prst="rect">
            <a:avLst/>
          </a:prstGeom>
          <a:noFill/>
          <a:ln>
            <a:noFill/>
          </a:ln>
        </p:spPr>
        <p:txBody>
          <a:bodyPr spcFirstLastPara="1" wrap="square" lIns="0" tIns="13325" rIns="0" bIns="0" anchor="t" anchorCtr="0">
            <a:spAutoFit/>
          </a:bodyPr>
          <a:lstStyle/>
          <a:p>
            <a:pPr marL="12700" marR="5080" lvl="0" indent="0" algn="just" rtl="0">
              <a:lnSpc>
                <a:spcPct val="100000"/>
              </a:lnSpc>
              <a:spcBef>
                <a:spcPts val="0"/>
              </a:spcBef>
              <a:spcAft>
                <a:spcPts val="0"/>
              </a:spcAft>
              <a:buNone/>
            </a:pPr>
            <a:r>
              <a:rPr lang="en-US" sz="2000" b="1">
                <a:solidFill>
                  <a:srgbClr val="575757"/>
                </a:solidFill>
                <a:latin typeface="Cambria"/>
                <a:ea typeface="Cambria"/>
                <a:cs typeface="Cambria"/>
                <a:sym typeface="Cambria"/>
              </a:rPr>
              <a:t>Serialization: </a:t>
            </a:r>
            <a:r>
              <a:rPr lang="en-US" sz="2000">
                <a:solidFill>
                  <a:srgbClr val="575757"/>
                </a:solidFill>
                <a:latin typeface="Cambria"/>
                <a:ea typeface="Cambria"/>
                <a:cs typeface="Cambria"/>
                <a:sym typeface="Cambria"/>
              </a:rPr>
              <a:t>We need to convert the objects into streams to perform the serialization. If we have a primitive value, we can convert it in objects through the wrapper classes.</a:t>
            </a:r>
            <a:endParaRPr sz="2000">
              <a:latin typeface="Cambria"/>
              <a:ea typeface="Cambria"/>
              <a:cs typeface="Cambria"/>
              <a:sym typeface="Cambria"/>
            </a:endParaRPr>
          </a:p>
          <a:p>
            <a:pPr marL="0" lvl="0" indent="0" algn="l" rtl="0">
              <a:lnSpc>
                <a:spcPct val="100000"/>
              </a:lnSpc>
              <a:spcBef>
                <a:spcPts val="50"/>
              </a:spcBef>
              <a:spcAft>
                <a:spcPts val="0"/>
              </a:spcAft>
              <a:buNone/>
            </a:pPr>
            <a:endParaRPr sz="2000">
              <a:latin typeface="Cambria"/>
              <a:ea typeface="Cambria"/>
              <a:cs typeface="Cambria"/>
              <a:sym typeface="Cambria"/>
            </a:endParaRPr>
          </a:p>
          <a:p>
            <a:pPr marL="12700" lvl="0" indent="0" algn="l" rtl="0">
              <a:lnSpc>
                <a:spcPct val="100000"/>
              </a:lnSpc>
              <a:spcBef>
                <a:spcPts val="5"/>
              </a:spcBef>
              <a:spcAft>
                <a:spcPts val="0"/>
              </a:spcAft>
              <a:buNone/>
            </a:pPr>
            <a:r>
              <a:rPr lang="en-US" sz="2000" b="1">
                <a:solidFill>
                  <a:srgbClr val="575757"/>
                </a:solidFill>
                <a:latin typeface="Cambria"/>
                <a:ea typeface="Cambria"/>
                <a:cs typeface="Cambria"/>
                <a:sym typeface="Cambria"/>
              </a:rPr>
              <a:t>Synchronization:	</a:t>
            </a:r>
            <a:r>
              <a:rPr lang="en-US" sz="2000">
                <a:solidFill>
                  <a:srgbClr val="575757"/>
                </a:solidFill>
                <a:latin typeface="Cambria"/>
                <a:ea typeface="Cambria"/>
                <a:cs typeface="Cambria"/>
                <a:sym typeface="Cambria"/>
              </a:rPr>
              <a:t>Java	synchronization	works	with	objects	in</a:t>
            </a:r>
            <a:endParaRPr sz="2000">
              <a:latin typeface="Cambria"/>
              <a:ea typeface="Cambria"/>
              <a:cs typeface="Cambria"/>
              <a:sym typeface="Cambria"/>
            </a:endParaRPr>
          </a:p>
          <a:p>
            <a:pPr marL="12700" lvl="0" indent="0" algn="l" rtl="0">
              <a:lnSpc>
                <a:spcPct val="100000"/>
              </a:lnSpc>
              <a:spcBef>
                <a:spcPts val="0"/>
              </a:spcBef>
              <a:spcAft>
                <a:spcPts val="0"/>
              </a:spcAft>
              <a:buNone/>
            </a:pPr>
            <a:r>
              <a:rPr lang="en-US" sz="2000">
                <a:solidFill>
                  <a:srgbClr val="575757"/>
                </a:solidFill>
                <a:latin typeface="Cambria"/>
                <a:ea typeface="Cambria"/>
                <a:cs typeface="Cambria"/>
                <a:sym typeface="Cambria"/>
              </a:rPr>
              <a:t>Multithreading.</a:t>
            </a:r>
            <a:endParaRPr sz="2000">
              <a:latin typeface="Cambria"/>
              <a:ea typeface="Cambria"/>
              <a:cs typeface="Cambria"/>
              <a:sym typeface="Cambria"/>
            </a:endParaRPr>
          </a:p>
        </p:txBody>
      </p:sp>
      <p:sp>
        <p:nvSpPr>
          <p:cNvPr id="484" name="Google Shape;484;p52"/>
          <p:cNvSpPr txBox="1"/>
          <p:nvPr/>
        </p:nvSpPr>
        <p:spPr>
          <a:xfrm>
            <a:off x="3645534" y="4247769"/>
            <a:ext cx="7877175" cy="2160270"/>
          </a:xfrm>
          <a:prstGeom prst="rect">
            <a:avLst/>
          </a:prstGeom>
          <a:noFill/>
          <a:ln>
            <a:noFill/>
          </a:ln>
        </p:spPr>
        <p:txBody>
          <a:bodyPr spcFirstLastPara="1" wrap="square" lIns="0" tIns="12700" rIns="0" bIns="0" anchor="t" anchorCtr="0">
            <a:spAutoFit/>
          </a:bodyPr>
          <a:lstStyle/>
          <a:p>
            <a:pPr marL="12700" marR="5080" lvl="0" indent="0" algn="just" rtl="0">
              <a:lnSpc>
                <a:spcPct val="100000"/>
              </a:lnSpc>
              <a:spcBef>
                <a:spcPts val="0"/>
              </a:spcBef>
              <a:spcAft>
                <a:spcPts val="0"/>
              </a:spcAft>
              <a:buNone/>
            </a:pPr>
            <a:r>
              <a:rPr lang="en-US" sz="2000" b="1">
                <a:solidFill>
                  <a:srgbClr val="575757"/>
                </a:solidFill>
                <a:latin typeface="Cambria"/>
                <a:ea typeface="Cambria"/>
                <a:cs typeface="Cambria"/>
                <a:sym typeface="Cambria"/>
              </a:rPr>
              <a:t>java.util package: </a:t>
            </a:r>
            <a:r>
              <a:rPr lang="en-US" sz="2000">
                <a:solidFill>
                  <a:srgbClr val="575757"/>
                </a:solidFill>
                <a:latin typeface="Cambria"/>
                <a:ea typeface="Cambria"/>
                <a:cs typeface="Cambria"/>
                <a:sym typeface="Cambria"/>
              </a:rPr>
              <a:t>The java.util package provides the utility classes to deal with objects.</a:t>
            </a:r>
            <a:endParaRPr sz="2000">
              <a:latin typeface="Cambria"/>
              <a:ea typeface="Cambria"/>
              <a:cs typeface="Cambria"/>
              <a:sym typeface="Cambria"/>
            </a:endParaRPr>
          </a:p>
          <a:p>
            <a:pPr marL="0" lvl="0" indent="0" algn="l" rtl="0">
              <a:lnSpc>
                <a:spcPct val="100000"/>
              </a:lnSpc>
              <a:spcBef>
                <a:spcPts val="60"/>
              </a:spcBef>
              <a:spcAft>
                <a:spcPts val="0"/>
              </a:spcAft>
              <a:buNone/>
            </a:pPr>
            <a:endParaRPr sz="2000">
              <a:latin typeface="Cambria"/>
              <a:ea typeface="Cambria"/>
              <a:cs typeface="Cambria"/>
              <a:sym typeface="Cambria"/>
            </a:endParaRPr>
          </a:p>
          <a:p>
            <a:pPr marL="12700" marR="6350" lvl="0" indent="0" algn="just" rtl="0">
              <a:lnSpc>
                <a:spcPct val="100000"/>
              </a:lnSpc>
              <a:spcBef>
                <a:spcPts val="0"/>
              </a:spcBef>
              <a:spcAft>
                <a:spcPts val="0"/>
              </a:spcAft>
              <a:buNone/>
            </a:pPr>
            <a:r>
              <a:rPr lang="en-US" sz="2000" b="1">
                <a:solidFill>
                  <a:srgbClr val="575757"/>
                </a:solidFill>
                <a:latin typeface="Cambria"/>
                <a:ea typeface="Cambria"/>
                <a:cs typeface="Cambria"/>
                <a:sym typeface="Cambria"/>
              </a:rPr>
              <a:t>Collection Framework: </a:t>
            </a:r>
            <a:r>
              <a:rPr lang="en-US" sz="2000">
                <a:solidFill>
                  <a:srgbClr val="575757"/>
                </a:solidFill>
                <a:latin typeface="Cambria"/>
                <a:ea typeface="Cambria"/>
                <a:cs typeface="Cambria"/>
                <a:sym typeface="Cambria"/>
              </a:rPr>
              <a:t>Java collection framework works with objects only.  All  classes  of  the  collection  framework  (ArrayList,  LinkedList, Vector, HashSet, LinkedHashSet, TreeSet, PriorityQueue, ArrayDeque, etc.) deal with objects only.</a:t>
            </a:r>
            <a:endParaRPr sz="2000">
              <a:latin typeface="Cambria"/>
              <a:ea typeface="Cambria"/>
              <a:cs typeface="Cambria"/>
              <a:sym typeface="Cambria"/>
            </a:endParaRPr>
          </a:p>
        </p:txBody>
      </p:sp>
      <p:sp>
        <p:nvSpPr>
          <p:cNvPr id="485" name="Google Shape;485;p52"/>
          <p:cNvSpPr txBox="1"/>
          <p:nvPr/>
        </p:nvSpPr>
        <p:spPr>
          <a:xfrm>
            <a:off x="246379" y="2993263"/>
            <a:ext cx="3106421" cy="1010533"/>
          </a:xfrm>
          <a:prstGeom prst="rect">
            <a:avLst/>
          </a:prstGeom>
          <a:noFill/>
          <a:ln>
            <a:noFill/>
          </a:ln>
        </p:spPr>
        <p:txBody>
          <a:bodyPr spcFirstLastPara="1" wrap="square" lIns="0" tIns="35550" rIns="0" bIns="0" anchor="t" anchorCtr="0">
            <a:spAutoFit/>
          </a:bodyPr>
          <a:lstStyle/>
          <a:p>
            <a:pPr marL="1002030" marR="5080" lvl="0" indent="-989965" algn="l" rtl="0">
              <a:lnSpc>
                <a:spcPct val="117499"/>
              </a:lnSpc>
              <a:spcBef>
                <a:spcPts val="0"/>
              </a:spcBef>
              <a:spcAft>
                <a:spcPts val="0"/>
              </a:spcAft>
              <a:buNone/>
            </a:pPr>
            <a:r>
              <a:rPr lang="en-US" sz="3200" b="1">
                <a:solidFill>
                  <a:srgbClr val="FFFFFF"/>
                </a:solidFill>
                <a:latin typeface="Cambria"/>
                <a:ea typeface="Cambria"/>
                <a:cs typeface="Cambria"/>
                <a:sym typeface="Cambria"/>
              </a:rPr>
              <a:t>Use of  Wrapper class</a:t>
            </a:r>
            <a:endParaRPr sz="3200">
              <a:latin typeface="Cambria"/>
              <a:ea typeface="Cambria"/>
              <a:cs typeface="Cambria"/>
              <a:sym typeface="Cambria"/>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sp>
        <p:nvSpPr>
          <p:cNvPr id="490" name="Google Shape;490;p53"/>
          <p:cNvSpPr/>
          <p:nvPr/>
        </p:nvSpPr>
        <p:spPr>
          <a:xfrm>
            <a:off x="11817095" y="758951"/>
            <a:ext cx="374650" cy="5330825"/>
          </a:xfrm>
          <a:custGeom>
            <a:avLst/>
            <a:gdLst/>
            <a:ahLst/>
            <a:cxnLst/>
            <a:rect l="l" t="t" r="r" b="b"/>
            <a:pathLst>
              <a:path w="374650" h="5330825" extrusionOk="0">
                <a:moveTo>
                  <a:pt x="374523" y="0"/>
                </a:moveTo>
                <a:lnTo>
                  <a:pt x="0" y="0"/>
                </a:lnTo>
                <a:lnTo>
                  <a:pt x="0" y="5330444"/>
                </a:lnTo>
                <a:lnTo>
                  <a:pt x="374523" y="5330444"/>
                </a:lnTo>
                <a:lnTo>
                  <a:pt x="374523" y="0"/>
                </a:lnTo>
                <a:close/>
              </a:path>
            </a:pathLst>
          </a:custGeom>
          <a:solidFill>
            <a:srgbClr val="C6C6C6">
              <a:alpha val="49411"/>
            </a:srgbClr>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491" name="Google Shape;491;p53"/>
          <p:cNvSpPr txBox="1"/>
          <p:nvPr/>
        </p:nvSpPr>
        <p:spPr>
          <a:xfrm>
            <a:off x="331419" y="3068777"/>
            <a:ext cx="2738120" cy="11208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3600" b="1">
                <a:solidFill>
                  <a:srgbClr val="FFFFFF"/>
                </a:solidFill>
                <a:latin typeface="Cambria"/>
                <a:ea typeface="Cambria"/>
                <a:cs typeface="Cambria"/>
                <a:sym typeface="Cambria"/>
              </a:rPr>
              <a:t>Wrapper Class</a:t>
            </a:r>
            <a:endParaRPr sz="3600">
              <a:latin typeface="Cambria"/>
              <a:ea typeface="Cambria"/>
              <a:cs typeface="Cambria"/>
              <a:sym typeface="Cambria"/>
            </a:endParaRPr>
          </a:p>
        </p:txBody>
      </p:sp>
      <p:sp>
        <p:nvSpPr>
          <p:cNvPr id="492" name="Google Shape;492;p53"/>
          <p:cNvSpPr txBox="1"/>
          <p:nvPr/>
        </p:nvSpPr>
        <p:spPr>
          <a:xfrm>
            <a:off x="3949064" y="1717674"/>
            <a:ext cx="7785735" cy="689291"/>
          </a:xfrm>
          <a:prstGeom prst="rect">
            <a:avLst/>
          </a:prstGeom>
          <a:noFill/>
          <a:ln>
            <a:noFill/>
          </a:ln>
        </p:spPr>
        <p:txBody>
          <a:bodyPr spcFirstLastPara="1" wrap="square" lIns="0" tIns="12050" rIns="0" bIns="0" anchor="t" anchorCtr="0">
            <a:spAutoFit/>
          </a:bodyPr>
          <a:lstStyle/>
          <a:p>
            <a:pPr marL="195580" lvl="0" indent="-182880" algn="l" rtl="0">
              <a:lnSpc>
                <a:spcPct val="100000"/>
              </a:lnSpc>
              <a:spcBef>
                <a:spcPts val="0"/>
              </a:spcBef>
              <a:spcAft>
                <a:spcPts val="0"/>
              </a:spcAft>
              <a:buClr>
                <a:srgbClr val="40B8D2"/>
              </a:buClr>
              <a:buSzPts val="2200"/>
              <a:buFont typeface="Arial"/>
              <a:buChar char="•"/>
            </a:pPr>
            <a:r>
              <a:rPr lang="en-US" sz="2200">
                <a:solidFill>
                  <a:srgbClr val="575757"/>
                </a:solidFill>
                <a:latin typeface="Cambria"/>
                <a:ea typeface="Cambria"/>
                <a:cs typeface="Cambria"/>
                <a:sym typeface="Cambria"/>
              </a:rPr>
              <a:t>Each wrapper class implements methods specific to each </a:t>
            </a:r>
            <a:r>
              <a:rPr lang="en-US" sz="2200" b="0">
                <a:solidFill>
                  <a:srgbClr val="575757"/>
                </a:solidFill>
                <a:latin typeface="Cambria"/>
                <a:ea typeface="Cambria"/>
                <a:cs typeface="Cambria"/>
                <a:sym typeface="Cambria"/>
              </a:rPr>
              <a:t>data type except void class.</a:t>
            </a:r>
            <a:endParaRPr sz="2200">
              <a:latin typeface="Cambria"/>
              <a:ea typeface="Cambria"/>
              <a:cs typeface="Cambria"/>
              <a:sym typeface="Cambria"/>
            </a:endParaRPr>
          </a:p>
        </p:txBody>
      </p:sp>
      <p:sp>
        <p:nvSpPr>
          <p:cNvPr id="493" name="Google Shape;493;p53"/>
          <p:cNvSpPr txBox="1"/>
          <p:nvPr/>
        </p:nvSpPr>
        <p:spPr>
          <a:xfrm>
            <a:off x="3949065" y="2472308"/>
            <a:ext cx="7099935" cy="2382062"/>
          </a:xfrm>
          <a:prstGeom prst="rect">
            <a:avLst/>
          </a:prstGeom>
          <a:noFill/>
          <a:ln>
            <a:noFill/>
          </a:ln>
        </p:spPr>
        <p:txBody>
          <a:bodyPr spcFirstLastPara="1" wrap="square" lIns="0" tIns="12050" rIns="0" bIns="0" anchor="t" anchorCtr="0">
            <a:spAutoFit/>
          </a:bodyPr>
          <a:lstStyle/>
          <a:p>
            <a:pPr marL="195580" lvl="0" indent="-182880" algn="l" rtl="0">
              <a:lnSpc>
                <a:spcPct val="100000"/>
              </a:lnSpc>
              <a:spcBef>
                <a:spcPts val="0"/>
              </a:spcBef>
              <a:spcAft>
                <a:spcPts val="0"/>
              </a:spcAft>
              <a:buClr>
                <a:srgbClr val="40B8D2"/>
              </a:buClr>
              <a:buSzPts val="2200"/>
              <a:buFont typeface="Arial"/>
              <a:buChar char="•"/>
            </a:pPr>
            <a:r>
              <a:rPr lang="en-US" sz="2200">
                <a:solidFill>
                  <a:srgbClr val="575757"/>
                </a:solidFill>
                <a:latin typeface="Cambria"/>
                <a:ea typeface="Cambria"/>
                <a:cs typeface="Cambria"/>
                <a:sym typeface="Cambria"/>
              </a:rPr>
              <a:t>Common methods implemented in all wrapper class:</a:t>
            </a:r>
            <a:endParaRPr sz="2200">
              <a:latin typeface="Cambria"/>
              <a:ea typeface="Cambria"/>
              <a:cs typeface="Cambria"/>
              <a:sym typeface="Cambria"/>
            </a:endParaRPr>
          </a:p>
          <a:p>
            <a:pPr marL="781685" lvl="1" indent="-266065" algn="l" rtl="0">
              <a:lnSpc>
                <a:spcPct val="100000"/>
              </a:lnSpc>
              <a:spcBef>
                <a:spcPts val="0"/>
              </a:spcBef>
              <a:spcAft>
                <a:spcPts val="0"/>
              </a:spcAft>
              <a:buClr>
                <a:srgbClr val="40B8D2"/>
              </a:buClr>
              <a:buSzPts val="2200"/>
              <a:buFont typeface="Noto Sans Symbols"/>
              <a:buChar char="✔"/>
            </a:pPr>
            <a:r>
              <a:rPr lang="en-US" sz="2200">
                <a:solidFill>
                  <a:srgbClr val="575757"/>
                </a:solidFill>
                <a:latin typeface="Cambria"/>
                <a:ea typeface="Cambria"/>
                <a:cs typeface="Cambria"/>
                <a:sym typeface="Cambria"/>
              </a:rPr>
              <a:t>Class Type(type)</a:t>
            </a:r>
            <a:endParaRPr sz="2200">
              <a:latin typeface="Cambria"/>
              <a:ea typeface="Cambria"/>
              <a:cs typeface="Cambria"/>
              <a:sym typeface="Cambria"/>
            </a:endParaRPr>
          </a:p>
          <a:p>
            <a:pPr marL="781685" lvl="1" indent="-266065" algn="l" rtl="0">
              <a:lnSpc>
                <a:spcPct val="100000"/>
              </a:lnSpc>
              <a:spcBef>
                <a:spcPts val="0"/>
              </a:spcBef>
              <a:spcAft>
                <a:spcPts val="0"/>
              </a:spcAft>
              <a:buClr>
                <a:srgbClr val="40B8D2"/>
              </a:buClr>
              <a:buSzPts val="2200"/>
              <a:buFont typeface="Noto Sans Symbols"/>
              <a:buChar char="✔"/>
            </a:pPr>
            <a:r>
              <a:rPr lang="en-US" sz="2200">
                <a:solidFill>
                  <a:srgbClr val="575757"/>
                </a:solidFill>
                <a:latin typeface="Cambria"/>
                <a:ea typeface="Cambria"/>
                <a:cs typeface="Cambria"/>
                <a:sym typeface="Cambria"/>
              </a:rPr>
              <a:t>type typeValue()</a:t>
            </a:r>
            <a:endParaRPr sz="2200">
              <a:latin typeface="Cambria"/>
              <a:ea typeface="Cambria"/>
              <a:cs typeface="Cambria"/>
              <a:sym typeface="Cambria"/>
            </a:endParaRPr>
          </a:p>
          <a:p>
            <a:pPr marL="786765" lvl="1" indent="-271145" algn="l" rtl="0">
              <a:lnSpc>
                <a:spcPct val="100000"/>
              </a:lnSpc>
              <a:spcBef>
                <a:spcPts val="0"/>
              </a:spcBef>
              <a:spcAft>
                <a:spcPts val="0"/>
              </a:spcAft>
              <a:buClr>
                <a:srgbClr val="40B8D2"/>
              </a:buClr>
              <a:buSzPts val="2200"/>
              <a:buFont typeface="Noto Sans Symbols"/>
              <a:buChar char="✔"/>
            </a:pPr>
            <a:r>
              <a:rPr lang="en-US" sz="2200">
                <a:solidFill>
                  <a:srgbClr val="575757"/>
                </a:solidFill>
                <a:latin typeface="Cambria"/>
                <a:ea typeface="Cambria"/>
                <a:cs typeface="Cambria"/>
                <a:sym typeface="Cambria"/>
              </a:rPr>
              <a:t>int hashCode()</a:t>
            </a:r>
            <a:endParaRPr sz="2200">
              <a:latin typeface="Cambria"/>
              <a:ea typeface="Cambria"/>
              <a:cs typeface="Cambria"/>
              <a:sym typeface="Cambria"/>
            </a:endParaRPr>
          </a:p>
          <a:p>
            <a:pPr marL="734695" lvl="1" indent="-231775" algn="l" rtl="0">
              <a:lnSpc>
                <a:spcPct val="100000"/>
              </a:lnSpc>
              <a:spcBef>
                <a:spcPts val="0"/>
              </a:spcBef>
              <a:spcAft>
                <a:spcPts val="0"/>
              </a:spcAft>
              <a:buClr>
                <a:srgbClr val="40B8D2"/>
              </a:buClr>
              <a:buSzPts val="2200"/>
              <a:buFont typeface="Noto Sans Symbols"/>
              <a:buChar char="✔"/>
            </a:pPr>
            <a:r>
              <a:rPr lang="en-US" sz="2200">
                <a:solidFill>
                  <a:srgbClr val="575757"/>
                </a:solidFill>
                <a:latin typeface="Cambria"/>
                <a:ea typeface="Cambria"/>
                <a:cs typeface="Cambria"/>
                <a:sym typeface="Cambria"/>
              </a:rPr>
              <a:t>String to String()</a:t>
            </a:r>
            <a:endParaRPr sz="2200">
              <a:latin typeface="Cambria"/>
              <a:ea typeface="Cambria"/>
              <a:cs typeface="Cambria"/>
              <a:sym typeface="Cambria"/>
            </a:endParaRPr>
          </a:p>
          <a:p>
            <a:pPr marL="734695" lvl="1" indent="-231775" algn="l" rtl="0">
              <a:lnSpc>
                <a:spcPct val="100000"/>
              </a:lnSpc>
              <a:spcBef>
                <a:spcPts val="0"/>
              </a:spcBef>
              <a:spcAft>
                <a:spcPts val="0"/>
              </a:spcAft>
              <a:buClr>
                <a:srgbClr val="40B8D2"/>
              </a:buClr>
              <a:buSzPts val="2200"/>
              <a:buFont typeface="Noto Sans Symbols"/>
              <a:buChar char="✔"/>
            </a:pPr>
            <a:r>
              <a:rPr lang="en-US" sz="2200">
                <a:solidFill>
                  <a:srgbClr val="575757"/>
                </a:solidFill>
                <a:latin typeface="Cambria"/>
                <a:ea typeface="Cambria"/>
                <a:cs typeface="Cambria"/>
                <a:sym typeface="Cambria"/>
              </a:rPr>
              <a:t>boolean equals(Objectobj)</a:t>
            </a:r>
            <a:endParaRPr sz="2200">
              <a:latin typeface="Cambria"/>
              <a:ea typeface="Cambria"/>
              <a:cs typeface="Cambria"/>
              <a:sym typeface="Cambria"/>
            </a:endParaRPr>
          </a:p>
          <a:p>
            <a:pPr marL="734695" lvl="1" indent="-231775" algn="l" rtl="0">
              <a:lnSpc>
                <a:spcPct val="100000"/>
              </a:lnSpc>
              <a:spcBef>
                <a:spcPts val="0"/>
              </a:spcBef>
              <a:spcAft>
                <a:spcPts val="0"/>
              </a:spcAft>
              <a:buClr>
                <a:srgbClr val="40B8D2"/>
              </a:buClr>
              <a:buSzPts val="2200"/>
              <a:buFont typeface="Noto Sans Symbols"/>
              <a:buChar char="✔"/>
            </a:pPr>
            <a:r>
              <a:rPr lang="en-US" sz="2200">
                <a:solidFill>
                  <a:srgbClr val="575757"/>
                </a:solidFill>
                <a:latin typeface="Cambria"/>
                <a:ea typeface="Cambria"/>
                <a:cs typeface="Cambria"/>
                <a:sym typeface="Cambria"/>
              </a:rPr>
              <a:t>static booleanvalueOf(Strings)</a:t>
            </a:r>
            <a:endParaRPr sz="2200">
              <a:latin typeface="Cambria"/>
              <a:ea typeface="Cambria"/>
              <a:cs typeface="Cambria"/>
              <a:sym typeface="Cambria"/>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97"/>
        <p:cNvGrpSpPr/>
        <p:nvPr/>
      </p:nvGrpSpPr>
      <p:grpSpPr>
        <a:xfrm>
          <a:off x="0" y="0"/>
          <a:ext cx="0" cy="0"/>
          <a:chOff x="0" y="0"/>
          <a:chExt cx="0" cy="0"/>
        </a:xfrm>
      </p:grpSpPr>
      <p:sp>
        <p:nvSpPr>
          <p:cNvPr id="498" name="Google Shape;498;p54"/>
          <p:cNvSpPr/>
          <p:nvPr/>
        </p:nvSpPr>
        <p:spPr>
          <a:xfrm>
            <a:off x="11817095" y="758951"/>
            <a:ext cx="374650" cy="5330825"/>
          </a:xfrm>
          <a:custGeom>
            <a:avLst/>
            <a:gdLst/>
            <a:ahLst/>
            <a:cxnLst/>
            <a:rect l="l" t="t" r="r" b="b"/>
            <a:pathLst>
              <a:path w="374650" h="5330825" extrusionOk="0">
                <a:moveTo>
                  <a:pt x="374523" y="0"/>
                </a:moveTo>
                <a:lnTo>
                  <a:pt x="0" y="0"/>
                </a:lnTo>
                <a:lnTo>
                  <a:pt x="0" y="5330444"/>
                </a:lnTo>
                <a:lnTo>
                  <a:pt x="374523" y="5330444"/>
                </a:lnTo>
                <a:lnTo>
                  <a:pt x="374523" y="0"/>
                </a:lnTo>
                <a:close/>
              </a:path>
            </a:pathLst>
          </a:custGeom>
          <a:solidFill>
            <a:srgbClr val="C6C6C6">
              <a:alpha val="49411"/>
            </a:srgbClr>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499" name="Google Shape;499;p54"/>
          <p:cNvSpPr/>
          <p:nvPr/>
        </p:nvSpPr>
        <p:spPr>
          <a:xfrm>
            <a:off x="4495800" y="1851126"/>
            <a:ext cx="5867400" cy="632460"/>
          </a:xfrm>
          <a:custGeom>
            <a:avLst/>
            <a:gdLst/>
            <a:ahLst/>
            <a:cxnLst/>
            <a:rect l="l" t="t" r="r" b="b"/>
            <a:pathLst>
              <a:path w="5867400" h="632460" extrusionOk="0">
                <a:moveTo>
                  <a:pt x="5867400" y="0"/>
                </a:moveTo>
                <a:lnTo>
                  <a:pt x="3911600" y="0"/>
                </a:lnTo>
                <a:lnTo>
                  <a:pt x="1955800" y="0"/>
                </a:lnTo>
                <a:lnTo>
                  <a:pt x="0" y="0"/>
                </a:lnTo>
                <a:lnTo>
                  <a:pt x="0" y="631977"/>
                </a:lnTo>
                <a:lnTo>
                  <a:pt x="1955800" y="631977"/>
                </a:lnTo>
                <a:lnTo>
                  <a:pt x="3911600" y="631977"/>
                </a:lnTo>
                <a:lnTo>
                  <a:pt x="5867400" y="631977"/>
                </a:lnTo>
                <a:lnTo>
                  <a:pt x="5867400" y="0"/>
                </a:lnTo>
                <a:close/>
              </a:path>
            </a:pathLst>
          </a:custGeom>
          <a:solidFill>
            <a:srgbClr val="F0F0F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500" name="Google Shape;500;p54"/>
          <p:cNvSpPr/>
          <p:nvPr/>
        </p:nvSpPr>
        <p:spPr>
          <a:xfrm>
            <a:off x="4495800" y="2837624"/>
            <a:ext cx="5867400" cy="354965"/>
          </a:xfrm>
          <a:custGeom>
            <a:avLst/>
            <a:gdLst/>
            <a:ahLst/>
            <a:cxnLst/>
            <a:rect l="l" t="t" r="r" b="b"/>
            <a:pathLst>
              <a:path w="5867400" h="354964" extrusionOk="0">
                <a:moveTo>
                  <a:pt x="5867400" y="0"/>
                </a:moveTo>
                <a:lnTo>
                  <a:pt x="3911600" y="0"/>
                </a:lnTo>
                <a:lnTo>
                  <a:pt x="1955800" y="0"/>
                </a:lnTo>
                <a:lnTo>
                  <a:pt x="0" y="0"/>
                </a:lnTo>
                <a:lnTo>
                  <a:pt x="0" y="354520"/>
                </a:lnTo>
                <a:lnTo>
                  <a:pt x="1955800" y="354520"/>
                </a:lnTo>
                <a:lnTo>
                  <a:pt x="3911600" y="354520"/>
                </a:lnTo>
                <a:lnTo>
                  <a:pt x="5867400" y="354520"/>
                </a:lnTo>
                <a:lnTo>
                  <a:pt x="5867400" y="0"/>
                </a:lnTo>
                <a:close/>
              </a:path>
            </a:pathLst>
          </a:custGeom>
          <a:solidFill>
            <a:srgbClr val="F0F0F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501" name="Google Shape;501;p54"/>
          <p:cNvSpPr/>
          <p:nvPr/>
        </p:nvSpPr>
        <p:spPr>
          <a:xfrm>
            <a:off x="4495800" y="3546716"/>
            <a:ext cx="5867400" cy="632460"/>
          </a:xfrm>
          <a:custGeom>
            <a:avLst/>
            <a:gdLst/>
            <a:ahLst/>
            <a:cxnLst/>
            <a:rect l="l" t="t" r="r" b="b"/>
            <a:pathLst>
              <a:path w="5867400" h="632460" extrusionOk="0">
                <a:moveTo>
                  <a:pt x="5867400" y="0"/>
                </a:moveTo>
                <a:lnTo>
                  <a:pt x="3911600" y="0"/>
                </a:lnTo>
                <a:lnTo>
                  <a:pt x="1955800" y="0"/>
                </a:lnTo>
                <a:lnTo>
                  <a:pt x="0" y="0"/>
                </a:lnTo>
                <a:lnTo>
                  <a:pt x="0" y="631964"/>
                </a:lnTo>
                <a:lnTo>
                  <a:pt x="1955800" y="631964"/>
                </a:lnTo>
                <a:lnTo>
                  <a:pt x="3911600" y="631964"/>
                </a:lnTo>
                <a:lnTo>
                  <a:pt x="5867400" y="631964"/>
                </a:lnTo>
                <a:lnTo>
                  <a:pt x="5867400" y="0"/>
                </a:lnTo>
                <a:close/>
              </a:path>
            </a:pathLst>
          </a:custGeom>
          <a:solidFill>
            <a:srgbClr val="F0F0F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502" name="Google Shape;502;p54"/>
          <p:cNvSpPr/>
          <p:nvPr/>
        </p:nvSpPr>
        <p:spPr>
          <a:xfrm>
            <a:off x="4495800" y="4810709"/>
            <a:ext cx="5867400" cy="354965"/>
          </a:xfrm>
          <a:custGeom>
            <a:avLst/>
            <a:gdLst/>
            <a:ahLst/>
            <a:cxnLst/>
            <a:rect l="l" t="t" r="r" b="b"/>
            <a:pathLst>
              <a:path w="5867400" h="354964" extrusionOk="0">
                <a:moveTo>
                  <a:pt x="5867400" y="0"/>
                </a:moveTo>
                <a:lnTo>
                  <a:pt x="3911600" y="0"/>
                </a:lnTo>
                <a:lnTo>
                  <a:pt x="1955800" y="0"/>
                </a:lnTo>
                <a:lnTo>
                  <a:pt x="0" y="0"/>
                </a:lnTo>
                <a:lnTo>
                  <a:pt x="0" y="354507"/>
                </a:lnTo>
                <a:lnTo>
                  <a:pt x="1955800" y="354507"/>
                </a:lnTo>
                <a:lnTo>
                  <a:pt x="3911600" y="354507"/>
                </a:lnTo>
                <a:lnTo>
                  <a:pt x="5867400" y="354507"/>
                </a:lnTo>
                <a:lnTo>
                  <a:pt x="5867400" y="0"/>
                </a:lnTo>
                <a:close/>
              </a:path>
            </a:pathLst>
          </a:custGeom>
          <a:solidFill>
            <a:srgbClr val="F0F0F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aphicFrame>
        <p:nvGraphicFramePr>
          <p:cNvPr id="503" name="Google Shape;503;p54"/>
          <p:cNvGraphicFramePr/>
          <p:nvPr/>
        </p:nvGraphicFramePr>
        <p:xfrm>
          <a:off x="4491990" y="1215389"/>
          <a:ext cx="5867400" cy="4298300"/>
        </p:xfrm>
        <a:graphic>
          <a:graphicData uri="http://schemas.openxmlformats.org/drawingml/2006/table">
            <a:tbl>
              <a:tblPr firstRow="1" bandRow="1">
                <a:noFill/>
                <a:tableStyleId>{9017975B-57E6-407A-B2BE-4A32A2008E57}</a:tableStyleId>
              </a:tblPr>
              <a:tblGrid>
                <a:gridCol w="1955800">
                  <a:extLst>
                    <a:ext uri="{9D8B030D-6E8A-4147-A177-3AD203B41FA5}">
                      <a16:colId xmlns:a16="http://schemas.microsoft.com/office/drawing/2014/main" val="20000"/>
                    </a:ext>
                  </a:extLst>
                </a:gridCol>
                <a:gridCol w="1955800">
                  <a:extLst>
                    <a:ext uri="{9D8B030D-6E8A-4147-A177-3AD203B41FA5}">
                      <a16:colId xmlns:a16="http://schemas.microsoft.com/office/drawing/2014/main" val="20001"/>
                    </a:ext>
                  </a:extLst>
                </a:gridCol>
                <a:gridCol w="1955800">
                  <a:extLst>
                    <a:ext uri="{9D8B030D-6E8A-4147-A177-3AD203B41FA5}">
                      <a16:colId xmlns:a16="http://schemas.microsoft.com/office/drawing/2014/main" val="20002"/>
                    </a:ext>
                  </a:extLst>
                </a:gridCol>
              </a:tblGrid>
              <a:tr h="688350">
                <a:tc>
                  <a:txBody>
                    <a:bodyPr/>
                    <a:lstStyle/>
                    <a:p>
                      <a:pPr marL="1905" marR="0" lvl="0" indent="0" algn="ctr" rtl="0">
                        <a:lnSpc>
                          <a:spcPct val="100000"/>
                        </a:lnSpc>
                        <a:spcBef>
                          <a:spcPts val="0"/>
                        </a:spcBef>
                        <a:spcAft>
                          <a:spcPts val="0"/>
                        </a:spcAft>
                        <a:buNone/>
                      </a:pPr>
                      <a:r>
                        <a:rPr lang="en-US" sz="1500" b="1" u="none" strike="noStrike" cap="none">
                          <a:latin typeface="Cambria"/>
                          <a:ea typeface="Cambria"/>
                          <a:cs typeface="Cambria"/>
                          <a:sym typeface="Cambria"/>
                        </a:rPr>
                        <a:t>Primitive Data Type</a:t>
                      </a:r>
                      <a:endParaRPr sz="1500" u="none" strike="noStrike" cap="none">
                        <a:latin typeface="Cambria"/>
                        <a:ea typeface="Cambria"/>
                        <a:cs typeface="Cambria"/>
                        <a:sym typeface="Cambria"/>
                      </a:endParaRPr>
                    </a:p>
                  </a:txBody>
                  <a:tcPr marL="0" marR="0" marT="194300" marB="0">
                    <a:lnR w="9525" cap="flat" cmpd="sng">
                      <a:solidFill>
                        <a:srgbClr val="000000"/>
                      </a:solidFill>
                      <a:prstDash val="solid"/>
                      <a:round/>
                      <a:headEnd type="none" w="sm" len="sm"/>
                      <a:tailEnd type="none" w="sm" len="sm"/>
                    </a:lnR>
                  </a:tcPr>
                </a:tc>
                <a:tc>
                  <a:txBody>
                    <a:bodyPr/>
                    <a:lstStyle/>
                    <a:p>
                      <a:pPr marL="1905" marR="0" lvl="0" indent="0" algn="ctr" rtl="0">
                        <a:lnSpc>
                          <a:spcPct val="100000"/>
                        </a:lnSpc>
                        <a:spcBef>
                          <a:spcPts val="0"/>
                        </a:spcBef>
                        <a:spcAft>
                          <a:spcPts val="0"/>
                        </a:spcAft>
                        <a:buNone/>
                      </a:pPr>
                      <a:r>
                        <a:rPr lang="en-US" sz="1500" b="1" u="none" strike="noStrike" cap="none">
                          <a:latin typeface="Cambria"/>
                          <a:ea typeface="Cambria"/>
                          <a:cs typeface="Cambria"/>
                          <a:sym typeface="Cambria"/>
                        </a:rPr>
                        <a:t>Wrapper Class</a:t>
                      </a:r>
                      <a:endParaRPr sz="1500" u="none" strike="noStrike" cap="none">
                        <a:latin typeface="Cambria"/>
                        <a:ea typeface="Cambria"/>
                        <a:cs typeface="Cambria"/>
                        <a:sym typeface="Cambria"/>
                      </a:endParaRPr>
                    </a:p>
                  </a:txBody>
                  <a:tcPr marL="0" marR="0" marT="19430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tcPr>
                </a:tc>
                <a:tc>
                  <a:txBody>
                    <a:bodyPr/>
                    <a:lstStyle/>
                    <a:p>
                      <a:pPr marL="539750" marR="446405" lvl="0" indent="-85725" algn="l" rtl="0">
                        <a:lnSpc>
                          <a:spcPct val="100000"/>
                        </a:lnSpc>
                        <a:spcBef>
                          <a:spcPts val="0"/>
                        </a:spcBef>
                        <a:spcAft>
                          <a:spcPts val="0"/>
                        </a:spcAft>
                        <a:buNone/>
                      </a:pPr>
                      <a:r>
                        <a:rPr lang="en-US" sz="1500" b="1" u="none" strike="noStrike" cap="none">
                          <a:latin typeface="Cambria"/>
                          <a:ea typeface="Cambria"/>
                          <a:cs typeface="Cambria"/>
                          <a:sym typeface="Cambria"/>
                        </a:rPr>
                        <a:t>Constructor Argument</a:t>
                      </a:r>
                      <a:endParaRPr sz="1500" u="none" strike="noStrike" cap="none">
                        <a:latin typeface="Cambria"/>
                        <a:ea typeface="Cambria"/>
                        <a:cs typeface="Cambria"/>
                        <a:sym typeface="Cambria"/>
                      </a:endParaRPr>
                    </a:p>
                  </a:txBody>
                  <a:tcPr marL="0" marR="0" marT="8000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tcPr>
                </a:tc>
                <a:extLst>
                  <a:ext uri="{0D108BD9-81ED-4DB2-BD59-A6C34878D82A}">
                    <a16:rowId xmlns:a16="http://schemas.microsoft.com/office/drawing/2014/main" val="10000"/>
                  </a:ext>
                </a:extLst>
              </a:tr>
              <a:tr h="505450">
                <a:tc>
                  <a:txBody>
                    <a:bodyPr/>
                    <a:lstStyle/>
                    <a:p>
                      <a:pPr marL="0" marR="0" lvl="0" indent="0" algn="ctr" rtl="0">
                        <a:lnSpc>
                          <a:spcPct val="100000"/>
                        </a:lnSpc>
                        <a:spcBef>
                          <a:spcPts val="0"/>
                        </a:spcBef>
                        <a:spcAft>
                          <a:spcPts val="0"/>
                        </a:spcAft>
                        <a:buNone/>
                      </a:pPr>
                      <a:r>
                        <a:rPr lang="en-US" sz="1500" u="none" strike="noStrike" cap="none">
                          <a:latin typeface="Cambria"/>
                          <a:ea typeface="Cambria"/>
                          <a:cs typeface="Cambria"/>
                          <a:sym typeface="Cambria"/>
                        </a:rPr>
                        <a:t>boolean</a:t>
                      </a:r>
                      <a:endParaRPr sz="1500" u="none" strike="noStrike" cap="none">
                        <a:latin typeface="Cambria"/>
                        <a:ea typeface="Cambria"/>
                        <a:cs typeface="Cambria"/>
                        <a:sym typeface="Cambria"/>
                      </a:endParaRPr>
                    </a:p>
                  </a:txBody>
                  <a:tcPr marL="0" marR="0" marT="137800" marB="0">
                    <a:lnR w="9525" cap="flat" cmpd="sng">
                      <a:solidFill>
                        <a:srgbClr val="000000"/>
                      </a:solidFill>
                      <a:prstDash val="solid"/>
                      <a:round/>
                      <a:headEnd type="none" w="sm" len="sm"/>
                      <a:tailEnd type="none" w="sm" len="sm"/>
                    </a:lnR>
                  </a:tcPr>
                </a:tc>
                <a:tc>
                  <a:txBody>
                    <a:bodyPr/>
                    <a:lstStyle/>
                    <a:p>
                      <a:pPr marL="2540" marR="0" lvl="0" indent="0" algn="ctr" rtl="0">
                        <a:lnSpc>
                          <a:spcPct val="100000"/>
                        </a:lnSpc>
                        <a:spcBef>
                          <a:spcPts val="0"/>
                        </a:spcBef>
                        <a:spcAft>
                          <a:spcPts val="0"/>
                        </a:spcAft>
                        <a:buNone/>
                      </a:pPr>
                      <a:r>
                        <a:rPr lang="en-US" sz="1500" b="1" u="none" strike="noStrike" cap="none">
                          <a:latin typeface="Cambria"/>
                          <a:ea typeface="Cambria"/>
                          <a:cs typeface="Cambria"/>
                          <a:sym typeface="Cambria"/>
                        </a:rPr>
                        <a:t>Boolean</a:t>
                      </a:r>
                      <a:endParaRPr sz="1500" u="none" strike="noStrike" cap="none">
                        <a:latin typeface="Cambria"/>
                        <a:ea typeface="Cambria"/>
                        <a:cs typeface="Cambria"/>
                        <a:sym typeface="Cambria"/>
                      </a:endParaRPr>
                    </a:p>
                  </a:txBody>
                  <a:tcPr marL="0" marR="0" marT="13780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tcPr>
                </a:tc>
                <a:tc>
                  <a:txBody>
                    <a:bodyPr/>
                    <a:lstStyle/>
                    <a:p>
                      <a:pPr marL="1905" marR="0" lvl="0" indent="0" algn="ctr" rtl="0">
                        <a:lnSpc>
                          <a:spcPct val="100000"/>
                        </a:lnSpc>
                        <a:spcBef>
                          <a:spcPts val="0"/>
                        </a:spcBef>
                        <a:spcAft>
                          <a:spcPts val="0"/>
                        </a:spcAft>
                        <a:buNone/>
                      </a:pPr>
                      <a:r>
                        <a:rPr lang="en-US" sz="1500" u="none" strike="noStrike" cap="none">
                          <a:latin typeface="Cambria"/>
                          <a:ea typeface="Cambria"/>
                          <a:cs typeface="Cambria"/>
                          <a:sym typeface="Cambria"/>
                        </a:rPr>
                        <a:t>boolean or String</a:t>
                      </a:r>
                      <a:endParaRPr sz="1500" u="none" strike="noStrike" cap="none">
                        <a:latin typeface="Cambria"/>
                        <a:ea typeface="Cambria"/>
                        <a:cs typeface="Cambria"/>
                        <a:sym typeface="Cambria"/>
                      </a:endParaRPr>
                    </a:p>
                  </a:txBody>
                  <a:tcPr marL="0" marR="0" marT="13780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tcPr>
                </a:tc>
                <a:extLst>
                  <a:ext uri="{0D108BD9-81ED-4DB2-BD59-A6C34878D82A}">
                    <a16:rowId xmlns:a16="http://schemas.microsoft.com/office/drawing/2014/main" val="10001"/>
                  </a:ext>
                </a:extLst>
              </a:tr>
              <a:tr h="423550">
                <a:tc>
                  <a:txBody>
                    <a:bodyPr/>
                    <a:lstStyle/>
                    <a:p>
                      <a:pPr marL="635" marR="0" lvl="0" indent="0" algn="ctr" rtl="0">
                        <a:lnSpc>
                          <a:spcPct val="100000"/>
                        </a:lnSpc>
                        <a:spcBef>
                          <a:spcPts val="0"/>
                        </a:spcBef>
                        <a:spcAft>
                          <a:spcPts val="0"/>
                        </a:spcAft>
                        <a:buNone/>
                      </a:pPr>
                      <a:r>
                        <a:rPr lang="en-US" sz="1500" u="none" strike="noStrike" cap="none">
                          <a:latin typeface="Cambria"/>
                          <a:ea typeface="Cambria"/>
                          <a:cs typeface="Cambria"/>
                          <a:sym typeface="Cambria"/>
                        </a:rPr>
                        <a:t>byte</a:t>
                      </a:r>
                      <a:endParaRPr sz="1500" u="none" strike="noStrike" cap="none">
                        <a:latin typeface="Cambria"/>
                        <a:ea typeface="Cambria"/>
                        <a:cs typeface="Cambria"/>
                        <a:sym typeface="Cambria"/>
                      </a:endParaRPr>
                    </a:p>
                  </a:txBody>
                  <a:tcPr marL="0" marR="0" marT="125100" marB="0">
                    <a:lnR w="9525" cap="flat" cmpd="sng">
                      <a:solidFill>
                        <a:srgbClr val="000000"/>
                      </a:solidFill>
                      <a:prstDash val="solid"/>
                      <a:round/>
                      <a:headEnd type="none" w="sm" len="sm"/>
                      <a:tailEnd type="none" w="sm" len="sm"/>
                    </a:lnR>
                  </a:tcPr>
                </a:tc>
                <a:tc>
                  <a:txBody>
                    <a:bodyPr/>
                    <a:lstStyle/>
                    <a:p>
                      <a:pPr marL="2540" marR="0" lvl="0" indent="0" algn="ctr" rtl="0">
                        <a:lnSpc>
                          <a:spcPct val="100000"/>
                        </a:lnSpc>
                        <a:spcBef>
                          <a:spcPts val="0"/>
                        </a:spcBef>
                        <a:spcAft>
                          <a:spcPts val="0"/>
                        </a:spcAft>
                        <a:buNone/>
                      </a:pPr>
                      <a:r>
                        <a:rPr lang="en-US" sz="1500" b="1" u="none" strike="noStrike" cap="none">
                          <a:latin typeface="Cambria"/>
                          <a:ea typeface="Cambria"/>
                          <a:cs typeface="Cambria"/>
                          <a:sym typeface="Cambria"/>
                        </a:rPr>
                        <a:t>Byte</a:t>
                      </a:r>
                      <a:endParaRPr sz="1500" u="none" strike="noStrike" cap="none">
                        <a:latin typeface="Cambria"/>
                        <a:ea typeface="Cambria"/>
                        <a:cs typeface="Cambria"/>
                        <a:sym typeface="Cambria"/>
                      </a:endParaRPr>
                    </a:p>
                  </a:txBody>
                  <a:tcPr marL="0" marR="0" marT="12510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tcPr>
                </a:tc>
                <a:tc>
                  <a:txBody>
                    <a:bodyPr/>
                    <a:lstStyle/>
                    <a:p>
                      <a:pPr marL="1905" marR="0" lvl="0" indent="0" algn="ctr" rtl="0">
                        <a:lnSpc>
                          <a:spcPct val="100000"/>
                        </a:lnSpc>
                        <a:spcBef>
                          <a:spcPts val="0"/>
                        </a:spcBef>
                        <a:spcAft>
                          <a:spcPts val="0"/>
                        </a:spcAft>
                        <a:buNone/>
                      </a:pPr>
                      <a:r>
                        <a:rPr lang="en-US" sz="1500" u="none" strike="noStrike" cap="none">
                          <a:latin typeface="Cambria"/>
                          <a:ea typeface="Cambria"/>
                          <a:cs typeface="Cambria"/>
                          <a:sym typeface="Cambria"/>
                        </a:rPr>
                        <a:t>byte or String</a:t>
                      </a:r>
                      <a:endParaRPr sz="1500" u="none" strike="noStrike" cap="none">
                        <a:latin typeface="Cambria"/>
                        <a:ea typeface="Cambria"/>
                        <a:cs typeface="Cambria"/>
                        <a:sym typeface="Cambria"/>
                      </a:endParaRPr>
                    </a:p>
                  </a:txBody>
                  <a:tcPr marL="0" marR="0" marT="12510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tcPr>
                </a:tc>
                <a:extLst>
                  <a:ext uri="{0D108BD9-81ED-4DB2-BD59-A6C34878D82A}">
                    <a16:rowId xmlns:a16="http://schemas.microsoft.com/office/drawing/2014/main" val="10002"/>
                  </a:ext>
                </a:extLst>
              </a:tr>
              <a:tr h="354325">
                <a:tc>
                  <a:txBody>
                    <a:bodyPr/>
                    <a:lstStyle/>
                    <a:p>
                      <a:pPr marL="1905" marR="0" lvl="0" indent="0" algn="ctr" rtl="0">
                        <a:lnSpc>
                          <a:spcPct val="100000"/>
                        </a:lnSpc>
                        <a:spcBef>
                          <a:spcPts val="0"/>
                        </a:spcBef>
                        <a:spcAft>
                          <a:spcPts val="0"/>
                        </a:spcAft>
                        <a:buNone/>
                      </a:pPr>
                      <a:r>
                        <a:rPr lang="en-US" sz="1500" u="none" strike="noStrike" cap="none">
                          <a:latin typeface="Cambria"/>
                          <a:ea typeface="Cambria"/>
                          <a:cs typeface="Cambria"/>
                          <a:sym typeface="Cambria"/>
                        </a:rPr>
                        <a:t>char</a:t>
                      </a:r>
                      <a:endParaRPr sz="1500" u="none" strike="noStrike" cap="none">
                        <a:latin typeface="Cambria"/>
                        <a:ea typeface="Cambria"/>
                        <a:cs typeface="Cambria"/>
                        <a:sym typeface="Cambria"/>
                      </a:endParaRPr>
                    </a:p>
                  </a:txBody>
                  <a:tcPr marL="0" marR="0" marT="55875" marB="0">
                    <a:lnR w="9525" cap="flat" cmpd="sng">
                      <a:solidFill>
                        <a:srgbClr val="000000"/>
                      </a:solidFill>
                      <a:prstDash val="solid"/>
                      <a:round/>
                      <a:headEnd type="none" w="sm" len="sm"/>
                      <a:tailEnd type="none" w="sm" len="sm"/>
                    </a:lnR>
                  </a:tcPr>
                </a:tc>
                <a:tc>
                  <a:txBody>
                    <a:bodyPr/>
                    <a:lstStyle/>
                    <a:p>
                      <a:pPr marL="0" marR="0" lvl="0" indent="0" algn="ctr" rtl="0">
                        <a:lnSpc>
                          <a:spcPct val="100000"/>
                        </a:lnSpc>
                        <a:spcBef>
                          <a:spcPts val="0"/>
                        </a:spcBef>
                        <a:spcAft>
                          <a:spcPts val="0"/>
                        </a:spcAft>
                        <a:buNone/>
                      </a:pPr>
                      <a:r>
                        <a:rPr lang="en-US" sz="1500" b="1" u="none" strike="noStrike" cap="none">
                          <a:latin typeface="Cambria"/>
                          <a:ea typeface="Cambria"/>
                          <a:cs typeface="Cambria"/>
                          <a:sym typeface="Cambria"/>
                        </a:rPr>
                        <a:t>Character</a:t>
                      </a:r>
                      <a:endParaRPr sz="1500" u="none" strike="noStrike" cap="none">
                        <a:latin typeface="Cambria"/>
                        <a:ea typeface="Cambria"/>
                        <a:cs typeface="Cambria"/>
                        <a:sym typeface="Cambria"/>
                      </a:endParaRPr>
                    </a:p>
                  </a:txBody>
                  <a:tcPr marL="0" marR="0" marT="5587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tcPr>
                </a:tc>
                <a:tc>
                  <a:txBody>
                    <a:bodyPr/>
                    <a:lstStyle/>
                    <a:p>
                      <a:pPr marL="2540" marR="0" lvl="0" indent="0" algn="ctr" rtl="0">
                        <a:lnSpc>
                          <a:spcPct val="100000"/>
                        </a:lnSpc>
                        <a:spcBef>
                          <a:spcPts val="0"/>
                        </a:spcBef>
                        <a:spcAft>
                          <a:spcPts val="0"/>
                        </a:spcAft>
                        <a:buNone/>
                      </a:pPr>
                      <a:r>
                        <a:rPr lang="en-US" sz="1500" u="none" strike="noStrike" cap="none">
                          <a:latin typeface="Cambria"/>
                          <a:ea typeface="Cambria"/>
                          <a:cs typeface="Cambria"/>
                          <a:sym typeface="Cambria"/>
                        </a:rPr>
                        <a:t>char</a:t>
                      </a:r>
                      <a:endParaRPr sz="1500" u="none" strike="noStrike" cap="none">
                        <a:latin typeface="Cambria"/>
                        <a:ea typeface="Cambria"/>
                        <a:cs typeface="Cambria"/>
                        <a:sym typeface="Cambria"/>
                      </a:endParaRPr>
                    </a:p>
                  </a:txBody>
                  <a:tcPr marL="0" marR="0" marT="5587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tcPr>
                </a:tc>
                <a:extLst>
                  <a:ext uri="{0D108BD9-81ED-4DB2-BD59-A6C34878D82A}">
                    <a16:rowId xmlns:a16="http://schemas.microsoft.com/office/drawing/2014/main" val="10003"/>
                  </a:ext>
                </a:extLst>
              </a:tr>
              <a:tr h="423550">
                <a:tc>
                  <a:txBody>
                    <a:bodyPr/>
                    <a:lstStyle/>
                    <a:p>
                      <a:pPr marL="2540" marR="0" lvl="0" indent="0" algn="ctr" rtl="0">
                        <a:lnSpc>
                          <a:spcPct val="100000"/>
                        </a:lnSpc>
                        <a:spcBef>
                          <a:spcPts val="0"/>
                        </a:spcBef>
                        <a:spcAft>
                          <a:spcPts val="0"/>
                        </a:spcAft>
                        <a:buNone/>
                      </a:pPr>
                      <a:r>
                        <a:rPr lang="en-US" sz="1500" u="none" strike="noStrike" cap="none">
                          <a:latin typeface="Cambria"/>
                          <a:ea typeface="Cambria"/>
                          <a:cs typeface="Cambria"/>
                          <a:sym typeface="Cambria"/>
                        </a:rPr>
                        <a:t>int</a:t>
                      </a:r>
                      <a:endParaRPr sz="1500" u="none" strike="noStrike" cap="none">
                        <a:latin typeface="Cambria"/>
                        <a:ea typeface="Cambria"/>
                        <a:cs typeface="Cambria"/>
                        <a:sym typeface="Cambria"/>
                      </a:endParaRPr>
                    </a:p>
                  </a:txBody>
                  <a:tcPr marL="0" marR="0" marT="55875" marB="0">
                    <a:lnR w="9525" cap="flat" cmpd="sng">
                      <a:solidFill>
                        <a:srgbClr val="000000"/>
                      </a:solidFill>
                      <a:prstDash val="solid"/>
                      <a:round/>
                      <a:headEnd type="none" w="sm" len="sm"/>
                      <a:tailEnd type="none" w="sm" len="sm"/>
                    </a:lnR>
                  </a:tcPr>
                </a:tc>
                <a:tc>
                  <a:txBody>
                    <a:bodyPr/>
                    <a:lstStyle/>
                    <a:p>
                      <a:pPr marL="0" marR="0" lvl="0" indent="0" algn="ctr" rtl="0">
                        <a:lnSpc>
                          <a:spcPct val="100000"/>
                        </a:lnSpc>
                        <a:spcBef>
                          <a:spcPts val="0"/>
                        </a:spcBef>
                        <a:spcAft>
                          <a:spcPts val="0"/>
                        </a:spcAft>
                        <a:buNone/>
                      </a:pPr>
                      <a:r>
                        <a:rPr lang="en-US" sz="1500" b="1" u="none" strike="noStrike" cap="none">
                          <a:latin typeface="Cambria"/>
                          <a:ea typeface="Cambria"/>
                          <a:cs typeface="Cambria"/>
                          <a:sym typeface="Cambria"/>
                        </a:rPr>
                        <a:t>Integer</a:t>
                      </a:r>
                      <a:endParaRPr sz="1500" u="none" strike="noStrike" cap="none">
                        <a:latin typeface="Cambria"/>
                        <a:ea typeface="Cambria"/>
                        <a:cs typeface="Cambria"/>
                        <a:sym typeface="Cambria"/>
                      </a:endParaRPr>
                    </a:p>
                  </a:txBody>
                  <a:tcPr marL="0" marR="0" marT="5587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tcPr>
                </a:tc>
                <a:tc>
                  <a:txBody>
                    <a:bodyPr/>
                    <a:lstStyle/>
                    <a:p>
                      <a:pPr marL="1905" marR="0" lvl="0" indent="0" algn="ctr" rtl="0">
                        <a:lnSpc>
                          <a:spcPct val="100000"/>
                        </a:lnSpc>
                        <a:spcBef>
                          <a:spcPts val="0"/>
                        </a:spcBef>
                        <a:spcAft>
                          <a:spcPts val="0"/>
                        </a:spcAft>
                        <a:buNone/>
                      </a:pPr>
                      <a:r>
                        <a:rPr lang="en-US" sz="1500" u="none" strike="noStrike" cap="none">
                          <a:latin typeface="Cambria"/>
                          <a:ea typeface="Cambria"/>
                          <a:cs typeface="Cambria"/>
                          <a:sym typeface="Cambria"/>
                        </a:rPr>
                        <a:t>int or String</a:t>
                      </a:r>
                      <a:endParaRPr sz="1500" u="none" strike="noStrike" cap="none">
                        <a:latin typeface="Cambria"/>
                        <a:ea typeface="Cambria"/>
                        <a:cs typeface="Cambria"/>
                        <a:sym typeface="Cambria"/>
                      </a:endParaRPr>
                    </a:p>
                  </a:txBody>
                  <a:tcPr marL="0" marR="0" marT="5587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tcPr>
                </a:tc>
                <a:extLst>
                  <a:ext uri="{0D108BD9-81ED-4DB2-BD59-A6C34878D82A}">
                    <a16:rowId xmlns:a16="http://schemas.microsoft.com/office/drawing/2014/main" val="10004"/>
                  </a:ext>
                </a:extLst>
              </a:tr>
              <a:tr h="562600">
                <a:tc>
                  <a:txBody>
                    <a:bodyPr/>
                    <a:lstStyle/>
                    <a:p>
                      <a:pPr marL="1905" marR="0" lvl="0" indent="0" algn="ctr" rtl="0">
                        <a:lnSpc>
                          <a:spcPct val="100000"/>
                        </a:lnSpc>
                        <a:spcBef>
                          <a:spcPts val="0"/>
                        </a:spcBef>
                        <a:spcAft>
                          <a:spcPts val="0"/>
                        </a:spcAft>
                        <a:buNone/>
                      </a:pPr>
                      <a:r>
                        <a:rPr lang="en-US" sz="1500" u="none" strike="noStrike" cap="none">
                          <a:latin typeface="Cambria"/>
                          <a:ea typeface="Cambria"/>
                          <a:cs typeface="Cambria"/>
                          <a:sym typeface="Cambria"/>
                        </a:rPr>
                        <a:t>float</a:t>
                      </a:r>
                      <a:endParaRPr sz="1500" u="none" strike="noStrike" cap="none">
                        <a:latin typeface="Cambria"/>
                        <a:ea typeface="Cambria"/>
                        <a:cs typeface="Cambria"/>
                        <a:sym typeface="Cambria"/>
                      </a:endParaRPr>
                    </a:p>
                  </a:txBody>
                  <a:tcPr marL="0" marR="0" marT="125100" marB="0">
                    <a:lnR w="9525" cap="flat" cmpd="sng">
                      <a:solidFill>
                        <a:srgbClr val="000000"/>
                      </a:solidFill>
                      <a:prstDash val="solid"/>
                      <a:round/>
                      <a:headEnd type="none" w="sm" len="sm"/>
                      <a:tailEnd type="none" w="sm" len="sm"/>
                    </a:lnR>
                  </a:tcPr>
                </a:tc>
                <a:tc>
                  <a:txBody>
                    <a:bodyPr/>
                    <a:lstStyle/>
                    <a:p>
                      <a:pPr marL="0" marR="0" lvl="0" indent="0" algn="ctr" rtl="0">
                        <a:lnSpc>
                          <a:spcPct val="100000"/>
                        </a:lnSpc>
                        <a:spcBef>
                          <a:spcPts val="0"/>
                        </a:spcBef>
                        <a:spcAft>
                          <a:spcPts val="0"/>
                        </a:spcAft>
                        <a:buNone/>
                      </a:pPr>
                      <a:r>
                        <a:rPr lang="en-US" sz="1500" b="1" u="none" strike="noStrike" cap="none">
                          <a:latin typeface="Cambria"/>
                          <a:ea typeface="Cambria"/>
                          <a:cs typeface="Cambria"/>
                          <a:sym typeface="Cambria"/>
                        </a:rPr>
                        <a:t>Float</a:t>
                      </a:r>
                      <a:endParaRPr sz="1500" u="none" strike="noStrike" cap="none">
                        <a:latin typeface="Cambria"/>
                        <a:ea typeface="Cambria"/>
                        <a:cs typeface="Cambria"/>
                        <a:sym typeface="Cambria"/>
                      </a:endParaRPr>
                    </a:p>
                  </a:txBody>
                  <a:tcPr marL="0" marR="0" marT="12510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tcPr>
                </a:tc>
                <a:tc>
                  <a:txBody>
                    <a:bodyPr/>
                    <a:lstStyle/>
                    <a:p>
                      <a:pPr marL="0" marR="0" lvl="0" indent="0" algn="ctr" rtl="0">
                        <a:lnSpc>
                          <a:spcPct val="100000"/>
                        </a:lnSpc>
                        <a:spcBef>
                          <a:spcPts val="0"/>
                        </a:spcBef>
                        <a:spcAft>
                          <a:spcPts val="0"/>
                        </a:spcAft>
                        <a:buNone/>
                      </a:pPr>
                      <a:r>
                        <a:rPr lang="en-US" sz="1500" u="none" strike="noStrike" cap="none">
                          <a:latin typeface="Cambria"/>
                          <a:ea typeface="Cambria"/>
                          <a:cs typeface="Cambria"/>
                          <a:sym typeface="Cambria"/>
                        </a:rPr>
                        <a:t>float, double or String</a:t>
                      </a:r>
                      <a:endParaRPr sz="1500" u="none" strike="noStrike" cap="none">
                        <a:latin typeface="Cambria"/>
                        <a:ea typeface="Cambria"/>
                        <a:cs typeface="Cambria"/>
                        <a:sym typeface="Cambria"/>
                      </a:endParaRPr>
                    </a:p>
                  </a:txBody>
                  <a:tcPr marL="0" marR="0" marT="12510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tcPr>
                </a:tc>
                <a:extLst>
                  <a:ext uri="{0D108BD9-81ED-4DB2-BD59-A6C34878D82A}">
                    <a16:rowId xmlns:a16="http://schemas.microsoft.com/office/drawing/2014/main" val="10005"/>
                  </a:ext>
                </a:extLst>
              </a:tr>
              <a:tr h="562600">
                <a:tc>
                  <a:txBody>
                    <a:bodyPr/>
                    <a:lstStyle/>
                    <a:p>
                      <a:pPr marL="1905" marR="0" lvl="0" indent="0" algn="ctr" rtl="0">
                        <a:lnSpc>
                          <a:spcPct val="100000"/>
                        </a:lnSpc>
                        <a:spcBef>
                          <a:spcPts val="0"/>
                        </a:spcBef>
                        <a:spcAft>
                          <a:spcPts val="0"/>
                        </a:spcAft>
                        <a:buNone/>
                      </a:pPr>
                      <a:r>
                        <a:rPr lang="en-US" sz="1500" u="none" strike="noStrike" cap="none">
                          <a:latin typeface="Cambria"/>
                          <a:ea typeface="Cambria"/>
                          <a:cs typeface="Cambria"/>
                          <a:sym typeface="Cambria"/>
                        </a:rPr>
                        <a:t>double</a:t>
                      </a:r>
                      <a:endParaRPr sz="1500" u="none" strike="noStrike" cap="none">
                        <a:latin typeface="Cambria"/>
                        <a:ea typeface="Cambria"/>
                        <a:cs typeface="Cambria"/>
                        <a:sym typeface="Cambria"/>
                      </a:endParaRPr>
                    </a:p>
                  </a:txBody>
                  <a:tcPr marL="0" marR="0" marT="194950" marB="0">
                    <a:lnR w="9525" cap="flat" cmpd="sng">
                      <a:solidFill>
                        <a:srgbClr val="000000"/>
                      </a:solidFill>
                      <a:prstDash val="solid"/>
                      <a:round/>
                      <a:headEnd type="none" w="sm" len="sm"/>
                      <a:tailEnd type="none" w="sm" len="sm"/>
                    </a:lnR>
                  </a:tcPr>
                </a:tc>
                <a:tc>
                  <a:txBody>
                    <a:bodyPr/>
                    <a:lstStyle/>
                    <a:p>
                      <a:pPr marL="3175" marR="0" lvl="0" indent="0" algn="ctr" rtl="0">
                        <a:lnSpc>
                          <a:spcPct val="100000"/>
                        </a:lnSpc>
                        <a:spcBef>
                          <a:spcPts val="0"/>
                        </a:spcBef>
                        <a:spcAft>
                          <a:spcPts val="0"/>
                        </a:spcAft>
                        <a:buNone/>
                      </a:pPr>
                      <a:r>
                        <a:rPr lang="en-US" sz="1500" b="1" u="none" strike="noStrike" cap="none">
                          <a:latin typeface="Cambria"/>
                          <a:ea typeface="Cambria"/>
                          <a:cs typeface="Cambria"/>
                          <a:sym typeface="Cambria"/>
                        </a:rPr>
                        <a:t>Double</a:t>
                      </a:r>
                      <a:endParaRPr sz="1500" u="none" strike="noStrike" cap="none">
                        <a:latin typeface="Cambria"/>
                        <a:ea typeface="Cambria"/>
                        <a:cs typeface="Cambria"/>
                        <a:sym typeface="Cambria"/>
                      </a:endParaRPr>
                    </a:p>
                  </a:txBody>
                  <a:tcPr marL="0" marR="0" marT="19495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tcPr>
                </a:tc>
                <a:tc>
                  <a:txBody>
                    <a:bodyPr/>
                    <a:lstStyle/>
                    <a:p>
                      <a:pPr marL="0" marR="0" lvl="0" indent="0" algn="ctr" rtl="0">
                        <a:lnSpc>
                          <a:spcPct val="100000"/>
                        </a:lnSpc>
                        <a:spcBef>
                          <a:spcPts val="0"/>
                        </a:spcBef>
                        <a:spcAft>
                          <a:spcPts val="0"/>
                        </a:spcAft>
                        <a:buNone/>
                      </a:pPr>
                      <a:r>
                        <a:rPr lang="en-US" sz="1500" u="none" strike="noStrike" cap="none">
                          <a:latin typeface="Cambria"/>
                          <a:ea typeface="Cambria"/>
                          <a:cs typeface="Cambria"/>
                          <a:sym typeface="Cambria"/>
                        </a:rPr>
                        <a:t>double or String</a:t>
                      </a:r>
                      <a:endParaRPr sz="1500" u="none" strike="noStrike" cap="none">
                        <a:latin typeface="Cambria"/>
                        <a:ea typeface="Cambria"/>
                        <a:cs typeface="Cambria"/>
                        <a:sym typeface="Cambria"/>
                      </a:endParaRPr>
                    </a:p>
                  </a:txBody>
                  <a:tcPr marL="0" marR="0" marT="19495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tcPr>
                </a:tc>
                <a:extLst>
                  <a:ext uri="{0D108BD9-81ED-4DB2-BD59-A6C34878D82A}">
                    <a16:rowId xmlns:a16="http://schemas.microsoft.com/office/drawing/2014/main" val="10006"/>
                  </a:ext>
                </a:extLst>
              </a:tr>
              <a:tr h="423550">
                <a:tc>
                  <a:txBody>
                    <a:bodyPr/>
                    <a:lstStyle/>
                    <a:p>
                      <a:pPr marL="0" marR="0" lvl="0" indent="0" algn="ctr" rtl="0">
                        <a:lnSpc>
                          <a:spcPct val="100000"/>
                        </a:lnSpc>
                        <a:spcBef>
                          <a:spcPts val="0"/>
                        </a:spcBef>
                        <a:spcAft>
                          <a:spcPts val="0"/>
                        </a:spcAft>
                        <a:buNone/>
                      </a:pPr>
                      <a:r>
                        <a:rPr lang="en-US" sz="1500" u="none" strike="noStrike" cap="none">
                          <a:latin typeface="Cambria"/>
                          <a:ea typeface="Cambria"/>
                          <a:cs typeface="Cambria"/>
                          <a:sym typeface="Cambria"/>
                        </a:rPr>
                        <a:t>long</a:t>
                      </a:r>
                      <a:endParaRPr sz="1500" u="none" strike="noStrike" cap="none">
                        <a:latin typeface="Cambria"/>
                        <a:ea typeface="Cambria"/>
                        <a:cs typeface="Cambria"/>
                        <a:sym typeface="Cambria"/>
                      </a:endParaRPr>
                    </a:p>
                  </a:txBody>
                  <a:tcPr marL="0" marR="0" marT="125100" marB="0">
                    <a:lnR w="9525" cap="flat" cmpd="sng">
                      <a:solidFill>
                        <a:srgbClr val="000000"/>
                      </a:solidFill>
                      <a:prstDash val="solid"/>
                      <a:round/>
                      <a:headEnd type="none" w="sm" len="sm"/>
                      <a:tailEnd type="none" w="sm" len="sm"/>
                    </a:lnR>
                  </a:tcPr>
                </a:tc>
                <a:tc>
                  <a:txBody>
                    <a:bodyPr/>
                    <a:lstStyle/>
                    <a:p>
                      <a:pPr marL="1270" marR="0" lvl="0" indent="0" algn="ctr" rtl="0">
                        <a:lnSpc>
                          <a:spcPct val="100000"/>
                        </a:lnSpc>
                        <a:spcBef>
                          <a:spcPts val="0"/>
                        </a:spcBef>
                        <a:spcAft>
                          <a:spcPts val="0"/>
                        </a:spcAft>
                        <a:buNone/>
                      </a:pPr>
                      <a:r>
                        <a:rPr lang="en-US" sz="1500" b="1" u="none" strike="noStrike" cap="none">
                          <a:latin typeface="Cambria"/>
                          <a:ea typeface="Cambria"/>
                          <a:cs typeface="Cambria"/>
                          <a:sym typeface="Cambria"/>
                        </a:rPr>
                        <a:t>Long</a:t>
                      </a:r>
                      <a:endParaRPr sz="1500" u="none" strike="noStrike" cap="none">
                        <a:latin typeface="Cambria"/>
                        <a:ea typeface="Cambria"/>
                        <a:cs typeface="Cambria"/>
                        <a:sym typeface="Cambria"/>
                      </a:endParaRPr>
                    </a:p>
                  </a:txBody>
                  <a:tcPr marL="0" marR="0" marT="12510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tcPr>
                </a:tc>
                <a:tc>
                  <a:txBody>
                    <a:bodyPr/>
                    <a:lstStyle/>
                    <a:p>
                      <a:pPr marL="635" marR="0" lvl="0" indent="0" algn="ctr" rtl="0">
                        <a:lnSpc>
                          <a:spcPct val="100000"/>
                        </a:lnSpc>
                        <a:spcBef>
                          <a:spcPts val="0"/>
                        </a:spcBef>
                        <a:spcAft>
                          <a:spcPts val="0"/>
                        </a:spcAft>
                        <a:buNone/>
                      </a:pPr>
                      <a:r>
                        <a:rPr lang="en-US" sz="1500" u="none" strike="noStrike" cap="none">
                          <a:latin typeface="Cambria"/>
                          <a:ea typeface="Cambria"/>
                          <a:cs typeface="Cambria"/>
                          <a:sym typeface="Cambria"/>
                        </a:rPr>
                        <a:t>long or String</a:t>
                      </a:r>
                      <a:endParaRPr sz="1500" u="none" strike="noStrike" cap="none">
                        <a:latin typeface="Cambria"/>
                        <a:ea typeface="Cambria"/>
                        <a:cs typeface="Cambria"/>
                        <a:sym typeface="Cambria"/>
                      </a:endParaRPr>
                    </a:p>
                  </a:txBody>
                  <a:tcPr marL="0" marR="0" marT="12510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tcPr>
                </a:tc>
                <a:extLst>
                  <a:ext uri="{0D108BD9-81ED-4DB2-BD59-A6C34878D82A}">
                    <a16:rowId xmlns:a16="http://schemas.microsoft.com/office/drawing/2014/main" val="10007"/>
                  </a:ext>
                </a:extLst>
              </a:tr>
              <a:tr h="354325">
                <a:tc>
                  <a:txBody>
                    <a:bodyPr/>
                    <a:lstStyle/>
                    <a:p>
                      <a:pPr marL="1270" marR="0" lvl="0" indent="0" algn="ctr" rtl="0">
                        <a:lnSpc>
                          <a:spcPct val="100000"/>
                        </a:lnSpc>
                        <a:spcBef>
                          <a:spcPts val="0"/>
                        </a:spcBef>
                        <a:spcAft>
                          <a:spcPts val="0"/>
                        </a:spcAft>
                        <a:buNone/>
                      </a:pPr>
                      <a:r>
                        <a:rPr lang="en-US" sz="1500" u="none" strike="noStrike" cap="none">
                          <a:latin typeface="Cambria"/>
                          <a:ea typeface="Cambria"/>
                          <a:cs typeface="Cambria"/>
                          <a:sym typeface="Cambria"/>
                        </a:rPr>
                        <a:t>short</a:t>
                      </a:r>
                      <a:endParaRPr sz="1500" u="none" strike="noStrike" cap="none">
                        <a:latin typeface="Cambria"/>
                        <a:ea typeface="Cambria"/>
                        <a:cs typeface="Cambria"/>
                        <a:sym typeface="Cambria"/>
                      </a:endParaRPr>
                    </a:p>
                  </a:txBody>
                  <a:tcPr marL="0" marR="0" marT="55875" marB="0">
                    <a:lnR w="9525" cap="flat" cmpd="sng">
                      <a:solidFill>
                        <a:srgbClr val="000000"/>
                      </a:solidFill>
                      <a:prstDash val="solid"/>
                      <a:round/>
                      <a:headEnd type="none" w="sm" len="sm"/>
                      <a:tailEnd type="none" w="sm" len="sm"/>
                    </a:lnR>
                    <a:lnB w="9525" cap="flat" cmpd="sng">
                      <a:solidFill>
                        <a:srgbClr val="F0F0F0"/>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500" b="1" u="none" strike="noStrike" cap="none">
                          <a:latin typeface="Cambria"/>
                          <a:ea typeface="Cambria"/>
                          <a:cs typeface="Cambria"/>
                          <a:sym typeface="Cambria"/>
                        </a:rPr>
                        <a:t>Short</a:t>
                      </a:r>
                      <a:endParaRPr sz="1500" u="none" strike="noStrike" cap="none">
                        <a:latin typeface="Cambria"/>
                        <a:ea typeface="Cambria"/>
                        <a:cs typeface="Cambria"/>
                        <a:sym typeface="Cambria"/>
                      </a:endParaRPr>
                    </a:p>
                  </a:txBody>
                  <a:tcPr marL="0" marR="0" marT="5587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B w="9525" cap="flat" cmpd="sng">
                      <a:solidFill>
                        <a:srgbClr val="F0F0F0"/>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500" u="none" strike="noStrike" cap="none">
                          <a:latin typeface="Cambria"/>
                          <a:ea typeface="Cambria"/>
                          <a:cs typeface="Cambria"/>
                          <a:sym typeface="Cambria"/>
                        </a:rPr>
                        <a:t>short or String</a:t>
                      </a:r>
                      <a:endParaRPr sz="1500" u="none" strike="noStrike" cap="none">
                        <a:latin typeface="Cambria"/>
                        <a:ea typeface="Cambria"/>
                        <a:cs typeface="Cambria"/>
                        <a:sym typeface="Cambria"/>
                      </a:endParaRPr>
                    </a:p>
                  </a:txBody>
                  <a:tcPr marL="0" marR="0" marT="5587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B w="9525" cap="flat" cmpd="sng">
                      <a:solidFill>
                        <a:srgbClr val="F0F0F0"/>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
        <p:nvSpPr>
          <p:cNvPr id="504" name="Google Shape;504;p54"/>
          <p:cNvSpPr txBox="1">
            <a:spLocks noGrp="1"/>
          </p:cNvSpPr>
          <p:nvPr>
            <p:ph type="title"/>
          </p:nvPr>
        </p:nvSpPr>
        <p:spPr>
          <a:xfrm>
            <a:off x="535940" y="2906395"/>
            <a:ext cx="2508885" cy="513715"/>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None/>
            </a:pPr>
            <a:r>
              <a:rPr lang="en-US" sz="3200">
                <a:latin typeface="Cambria"/>
                <a:ea typeface="Cambria"/>
                <a:cs typeface="Cambria"/>
                <a:sym typeface="Cambria"/>
              </a:rPr>
              <a:t>Wrapper Class</a:t>
            </a:r>
            <a:endParaRPr sz="3200">
              <a:latin typeface="Cambria"/>
              <a:ea typeface="Cambria"/>
              <a:cs typeface="Cambria"/>
              <a:sym typeface="Cambria"/>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508"/>
        <p:cNvGrpSpPr/>
        <p:nvPr/>
      </p:nvGrpSpPr>
      <p:grpSpPr>
        <a:xfrm>
          <a:off x="0" y="0"/>
          <a:ext cx="0" cy="0"/>
          <a:chOff x="0" y="0"/>
          <a:chExt cx="0" cy="0"/>
        </a:xfrm>
      </p:grpSpPr>
      <p:sp>
        <p:nvSpPr>
          <p:cNvPr id="509" name="Google Shape;509;p55"/>
          <p:cNvSpPr/>
          <p:nvPr/>
        </p:nvSpPr>
        <p:spPr>
          <a:xfrm>
            <a:off x="11817095" y="758951"/>
            <a:ext cx="374650" cy="5330825"/>
          </a:xfrm>
          <a:custGeom>
            <a:avLst/>
            <a:gdLst/>
            <a:ahLst/>
            <a:cxnLst/>
            <a:rect l="l" t="t" r="r" b="b"/>
            <a:pathLst>
              <a:path w="374650" h="5330825" extrusionOk="0">
                <a:moveTo>
                  <a:pt x="374523" y="0"/>
                </a:moveTo>
                <a:lnTo>
                  <a:pt x="0" y="0"/>
                </a:lnTo>
                <a:lnTo>
                  <a:pt x="0" y="5330444"/>
                </a:lnTo>
                <a:lnTo>
                  <a:pt x="374523" y="5330444"/>
                </a:lnTo>
                <a:lnTo>
                  <a:pt x="374523" y="0"/>
                </a:lnTo>
                <a:close/>
              </a:path>
            </a:pathLst>
          </a:custGeom>
          <a:solidFill>
            <a:srgbClr val="C6C6C6">
              <a:alpha val="49411"/>
            </a:srgbClr>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510" name="Google Shape;510;p55"/>
          <p:cNvPicPr preferRelativeResize="0"/>
          <p:nvPr/>
        </p:nvPicPr>
        <p:blipFill rotWithShape="1">
          <a:blip r:embed="rId3">
            <a:alphaModFix/>
          </a:blip>
          <a:srcRect/>
          <a:stretch/>
        </p:blipFill>
        <p:spPr>
          <a:xfrm>
            <a:off x="4800622" y="904896"/>
            <a:ext cx="4734639" cy="4887046"/>
          </a:xfrm>
          <a:prstGeom prst="rect">
            <a:avLst/>
          </a:prstGeom>
          <a:noFill/>
          <a:ln>
            <a:noFill/>
          </a:ln>
        </p:spPr>
      </p:pic>
      <p:sp>
        <p:nvSpPr>
          <p:cNvPr id="511" name="Google Shape;511;p55"/>
          <p:cNvSpPr txBox="1">
            <a:spLocks noGrp="1"/>
          </p:cNvSpPr>
          <p:nvPr>
            <p:ph type="title"/>
          </p:nvPr>
        </p:nvSpPr>
        <p:spPr>
          <a:xfrm>
            <a:off x="331419" y="3067253"/>
            <a:ext cx="2697480" cy="57467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a:t>Wrapper Class</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515"/>
        <p:cNvGrpSpPr/>
        <p:nvPr/>
      </p:nvGrpSpPr>
      <p:grpSpPr>
        <a:xfrm>
          <a:off x="0" y="0"/>
          <a:ext cx="0" cy="0"/>
          <a:chOff x="0" y="0"/>
          <a:chExt cx="0" cy="0"/>
        </a:xfrm>
      </p:grpSpPr>
      <p:sp>
        <p:nvSpPr>
          <p:cNvPr id="516" name="Google Shape;516;p56"/>
          <p:cNvSpPr txBox="1"/>
          <p:nvPr/>
        </p:nvSpPr>
        <p:spPr>
          <a:xfrm>
            <a:off x="502107" y="2614422"/>
            <a:ext cx="2399030" cy="1504950"/>
          </a:xfrm>
          <a:prstGeom prst="rect">
            <a:avLst/>
          </a:prstGeom>
          <a:noFill/>
          <a:ln>
            <a:noFill/>
          </a:ln>
        </p:spPr>
        <p:txBody>
          <a:bodyPr spcFirstLastPara="1" wrap="square" lIns="0" tIns="5075" rIns="0" bIns="0" anchor="t" anchorCtr="0">
            <a:spAutoFit/>
          </a:bodyPr>
          <a:lstStyle/>
          <a:p>
            <a:pPr marL="12700" marR="5080" lvl="0" indent="634" algn="ctr" rtl="0">
              <a:lnSpc>
                <a:spcPct val="101600"/>
              </a:lnSpc>
              <a:spcBef>
                <a:spcPts val="0"/>
              </a:spcBef>
              <a:spcAft>
                <a:spcPts val="0"/>
              </a:spcAft>
              <a:buNone/>
            </a:pPr>
            <a:r>
              <a:rPr lang="en-US" sz="3200" b="1">
                <a:solidFill>
                  <a:srgbClr val="FFFFFF"/>
                </a:solidFill>
                <a:latin typeface="Cambria"/>
                <a:ea typeface="Cambria"/>
                <a:cs typeface="Cambria"/>
                <a:sym typeface="Cambria"/>
              </a:rPr>
              <a:t>Common Methods in WrapperClass</a:t>
            </a:r>
            <a:endParaRPr sz="3200">
              <a:latin typeface="Cambria"/>
              <a:ea typeface="Cambria"/>
              <a:cs typeface="Cambria"/>
              <a:sym typeface="Cambria"/>
            </a:endParaRPr>
          </a:p>
        </p:txBody>
      </p:sp>
      <p:sp>
        <p:nvSpPr>
          <p:cNvPr id="517" name="Google Shape;517;p56"/>
          <p:cNvSpPr txBox="1"/>
          <p:nvPr/>
        </p:nvSpPr>
        <p:spPr>
          <a:xfrm>
            <a:off x="3949065" y="1368933"/>
            <a:ext cx="2312670" cy="36068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2200">
                <a:solidFill>
                  <a:srgbClr val="40B8D2"/>
                </a:solidFill>
                <a:latin typeface="Cambria"/>
                <a:ea typeface="Cambria"/>
                <a:cs typeface="Cambria"/>
                <a:sym typeface="Cambria"/>
              </a:rPr>
              <a:t>1.	</a:t>
            </a:r>
            <a:r>
              <a:rPr lang="en-US" sz="2200">
                <a:solidFill>
                  <a:srgbClr val="575757"/>
                </a:solidFill>
                <a:latin typeface="Cambria"/>
                <a:ea typeface="Cambria"/>
                <a:cs typeface="Cambria"/>
                <a:sym typeface="Cambria"/>
              </a:rPr>
              <a:t>ClassType(type):</a:t>
            </a:r>
            <a:endParaRPr sz="2200">
              <a:latin typeface="Cambria"/>
              <a:ea typeface="Cambria"/>
              <a:cs typeface="Cambria"/>
              <a:sym typeface="Cambria"/>
            </a:endParaRPr>
          </a:p>
        </p:txBody>
      </p:sp>
      <p:sp>
        <p:nvSpPr>
          <p:cNvPr id="518" name="Google Shape;518;p56"/>
          <p:cNvSpPr txBox="1">
            <a:spLocks noGrp="1"/>
          </p:cNvSpPr>
          <p:nvPr>
            <p:ph type="title"/>
          </p:nvPr>
        </p:nvSpPr>
        <p:spPr>
          <a:xfrm>
            <a:off x="4451984" y="1703908"/>
            <a:ext cx="3984625" cy="36068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2200" b="0">
                <a:solidFill>
                  <a:srgbClr val="575757"/>
                </a:solidFill>
                <a:latin typeface="Cambria"/>
                <a:ea typeface="Cambria"/>
                <a:cs typeface="Cambria"/>
                <a:sym typeface="Cambria"/>
              </a:rPr>
              <a:t>Ex.Character c1=newCharacter(‘x’);</a:t>
            </a:r>
            <a:endParaRPr sz="2200">
              <a:latin typeface="Cambria"/>
              <a:ea typeface="Cambria"/>
              <a:cs typeface="Cambria"/>
              <a:sym typeface="Cambria"/>
            </a:endParaRPr>
          </a:p>
        </p:txBody>
      </p:sp>
      <p:sp>
        <p:nvSpPr>
          <p:cNvPr id="519" name="Google Shape;519;p56"/>
          <p:cNvSpPr txBox="1"/>
          <p:nvPr/>
        </p:nvSpPr>
        <p:spPr>
          <a:xfrm>
            <a:off x="3949065" y="2192273"/>
            <a:ext cx="4687570" cy="3202940"/>
          </a:xfrm>
          <a:prstGeom prst="rect">
            <a:avLst/>
          </a:prstGeom>
          <a:noFill/>
          <a:ln>
            <a:noFill/>
          </a:ln>
        </p:spPr>
        <p:txBody>
          <a:bodyPr spcFirstLastPara="1" wrap="square" lIns="0" tIns="12050" rIns="0" bIns="0" anchor="t" anchorCtr="0">
            <a:spAutoFit/>
          </a:bodyPr>
          <a:lstStyle/>
          <a:p>
            <a:pPr marL="469265" lvl="0" indent="-456565" algn="l" rtl="0">
              <a:lnSpc>
                <a:spcPct val="100000"/>
              </a:lnSpc>
              <a:spcBef>
                <a:spcPts val="0"/>
              </a:spcBef>
              <a:spcAft>
                <a:spcPts val="0"/>
              </a:spcAft>
              <a:buClr>
                <a:srgbClr val="40B8D2"/>
              </a:buClr>
              <a:buSzPts val="2200"/>
              <a:buFont typeface="Cambria"/>
              <a:buAutoNum type="arabicPeriod" startAt="2"/>
            </a:pPr>
            <a:r>
              <a:rPr lang="en-US" sz="2200">
                <a:solidFill>
                  <a:srgbClr val="575757"/>
                </a:solidFill>
                <a:latin typeface="Cambria"/>
                <a:ea typeface="Cambria"/>
                <a:cs typeface="Cambria"/>
                <a:sym typeface="Cambria"/>
              </a:rPr>
              <a:t>typeValue( ):</a:t>
            </a:r>
            <a:endParaRPr sz="2200">
              <a:latin typeface="Cambria"/>
              <a:ea typeface="Cambria"/>
              <a:cs typeface="Cambria"/>
              <a:sym typeface="Cambria"/>
            </a:endParaRPr>
          </a:p>
          <a:p>
            <a:pPr marL="515619" lvl="0" indent="0" algn="l" rtl="0">
              <a:lnSpc>
                <a:spcPct val="100000"/>
              </a:lnSpc>
              <a:spcBef>
                <a:spcPts val="0"/>
              </a:spcBef>
              <a:spcAft>
                <a:spcPts val="0"/>
              </a:spcAft>
              <a:buNone/>
            </a:pPr>
            <a:r>
              <a:rPr lang="en-US" sz="2200">
                <a:solidFill>
                  <a:srgbClr val="575757"/>
                </a:solidFill>
                <a:latin typeface="Cambria"/>
                <a:ea typeface="Cambria"/>
                <a:cs typeface="Cambria"/>
                <a:sym typeface="Cambria"/>
              </a:rPr>
              <a:t>Ex. char c2 =c1.typeValue();</a:t>
            </a:r>
            <a:endParaRPr sz="2200">
              <a:latin typeface="Cambria"/>
              <a:ea typeface="Cambria"/>
              <a:cs typeface="Cambria"/>
              <a:sym typeface="Cambria"/>
            </a:endParaRPr>
          </a:p>
          <a:p>
            <a:pPr marL="469265" lvl="0" indent="-456565" algn="l" rtl="0">
              <a:lnSpc>
                <a:spcPct val="100000"/>
              </a:lnSpc>
              <a:spcBef>
                <a:spcPts val="1310"/>
              </a:spcBef>
              <a:spcAft>
                <a:spcPts val="0"/>
              </a:spcAft>
              <a:buClr>
                <a:srgbClr val="40B8D2"/>
              </a:buClr>
              <a:buSzPts val="2200"/>
              <a:buFont typeface="Cambria"/>
              <a:buAutoNum type="arabicPeriod" startAt="3"/>
            </a:pPr>
            <a:r>
              <a:rPr lang="en-US" sz="2200">
                <a:solidFill>
                  <a:srgbClr val="575757"/>
                </a:solidFill>
                <a:latin typeface="Cambria"/>
                <a:ea typeface="Cambria"/>
                <a:cs typeface="Cambria"/>
                <a:sym typeface="Cambria"/>
              </a:rPr>
              <a:t>toString( ):</a:t>
            </a:r>
            <a:endParaRPr sz="2200">
              <a:latin typeface="Cambria"/>
              <a:ea typeface="Cambria"/>
              <a:cs typeface="Cambria"/>
              <a:sym typeface="Cambria"/>
            </a:endParaRPr>
          </a:p>
          <a:p>
            <a:pPr marL="515619" lvl="0" indent="0" algn="l" rtl="0">
              <a:lnSpc>
                <a:spcPct val="100000"/>
              </a:lnSpc>
              <a:spcBef>
                <a:spcPts val="0"/>
              </a:spcBef>
              <a:spcAft>
                <a:spcPts val="0"/>
              </a:spcAft>
              <a:buNone/>
            </a:pPr>
            <a:r>
              <a:rPr lang="en-US" sz="2200">
                <a:solidFill>
                  <a:srgbClr val="575757"/>
                </a:solidFill>
                <a:latin typeface="Cambria"/>
                <a:ea typeface="Cambria"/>
                <a:cs typeface="Cambria"/>
                <a:sym typeface="Cambria"/>
              </a:rPr>
              <a:t>Ex. System.out.println(c1.toString());</a:t>
            </a:r>
            <a:endParaRPr sz="2200">
              <a:latin typeface="Cambria"/>
              <a:ea typeface="Cambria"/>
              <a:cs typeface="Cambria"/>
              <a:sym typeface="Cambria"/>
            </a:endParaRPr>
          </a:p>
          <a:p>
            <a:pPr marL="469265" lvl="0" indent="-456565" algn="l" rtl="0">
              <a:lnSpc>
                <a:spcPct val="100000"/>
              </a:lnSpc>
              <a:spcBef>
                <a:spcPts val="1295"/>
              </a:spcBef>
              <a:spcAft>
                <a:spcPts val="0"/>
              </a:spcAft>
              <a:buClr>
                <a:srgbClr val="40B8D2"/>
              </a:buClr>
              <a:buSzPts val="2200"/>
              <a:buFont typeface="Cambria"/>
              <a:buAutoNum type="arabicPeriod" startAt="4"/>
            </a:pPr>
            <a:r>
              <a:rPr lang="en-US" sz="2200">
                <a:solidFill>
                  <a:srgbClr val="575757"/>
                </a:solidFill>
                <a:latin typeface="Cambria"/>
                <a:ea typeface="Cambria"/>
                <a:cs typeface="Cambria"/>
                <a:sym typeface="Cambria"/>
              </a:rPr>
              <a:t>equals():</a:t>
            </a:r>
            <a:endParaRPr sz="2200">
              <a:latin typeface="Cambria"/>
              <a:ea typeface="Cambria"/>
              <a:cs typeface="Cambria"/>
              <a:sym typeface="Cambria"/>
            </a:endParaRPr>
          </a:p>
          <a:p>
            <a:pPr marL="515619" lvl="0" indent="0" algn="l" rtl="0">
              <a:lnSpc>
                <a:spcPct val="100000"/>
              </a:lnSpc>
              <a:spcBef>
                <a:spcPts val="0"/>
              </a:spcBef>
              <a:spcAft>
                <a:spcPts val="0"/>
              </a:spcAft>
              <a:buNone/>
            </a:pPr>
            <a:r>
              <a:rPr lang="en-US" sz="2200">
                <a:solidFill>
                  <a:srgbClr val="575757"/>
                </a:solidFill>
                <a:latin typeface="Cambria"/>
                <a:ea typeface="Cambria"/>
                <a:cs typeface="Cambria"/>
                <a:sym typeface="Cambria"/>
              </a:rPr>
              <a:t>Ex.S1.equals(s2);</a:t>
            </a:r>
            <a:endParaRPr sz="2200">
              <a:latin typeface="Cambria"/>
              <a:ea typeface="Cambria"/>
              <a:cs typeface="Cambria"/>
              <a:sym typeface="Cambria"/>
            </a:endParaRPr>
          </a:p>
          <a:p>
            <a:pPr marL="469265" lvl="0" indent="-456565" algn="l" rtl="0">
              <a:lnSpc>
                <a:spcPct val="100000"/>
              </a:lnSpc>
              <a:spcBef>
                <a:spcPts val="1295"/>
              </a:spcBef>
              <a:spcAft>
                <a:spcPts val="0"/>
              </a:spcAft>
              <a:buClr>
                <a:srgbClr val="40B8D2"/>
              </a:buClr>
              <a:buSzPts val="2200"/>
              <a:buFont typeface="Cambria"/>
              <a:buAutoNum type="arabicPeriod" startAt="5"/>
            </a:pPr>
            <a:r>
              <a:rPr lang="en-US" sz="2200">
                <a:solidFill>
                  <a:srgbClr val="575757"/>
                </a:solidFill>
                <a:latin typeface="Cambria"/>
                <a:ea typeface="Cambria"/>
                <a:cs typeface="Cambria"/>
                <a:sym typeface="Cambria"/>
              </a:rPr>
              <a:t>valueOf( ):</a:t>
            </a:r>
            <a:endParaRPr sz="2200">
              <a:latin typeface="Cambria"/>
              <a:ea typeface="Cambria"/>
              <a:cs typeface="Cambria"/>
              <a:sym typeface="Cambria"/>
            </a:endParaRPr>
          </a:p>
          <a:p>
            <a:pPr marL="515619" lvl="0" indent="0" algn="l" rtl="0">
              <a:lnSpc>
                <a:spcPct val="100000"/>
              </a:lnSpc>
              <a:spcBef>
                <a:spcPts val="5"/>
              </a:spcBef>
              <a:spcAft>
                <a:spcPts val="0"/>
              </a:spcAft>
              <a:buNone/>
            </a:pPr>
            <a:r>
              <a:rPr lang="en-US" sz="2200">
                <a:solidFill>
                  <a:srgbClr val="575757"/>
                </a:solidFill>
                <a:latin typeface="Cambria"/>
                <a:ea typeface="Cambria"/>
                <a:cs typeface="Cambria"/>
                <a:sym typeface="Cambria"/>
              </a:rPr>
              <a:t>Ex. Byte b1=valueOf(“101”,2);</a:t>
            </a:r>
            <a:endParaRPr sz="2200">
              <a:latin typeface="Cambria"/>
              <a:ea typeface="Cambria"/>
              <a:cs typeface="Cambria"/>
              <a:sym typeface="Cambria"/>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sp>
        <p:nvSpPr>
          <p:cNvPr id="524" name="Google Shape;524;p57"/>
          <p:cNvSpPr/>
          <p:nvPr/>
        </p:nvSpPr>
        <p:spPr>
          <a:xfrm>
            <a:off x="11817095" y="758951"/>
            <a:ext cx="374650" cy="5330825"/>
          </a:xfrm>
          <a:custGeom>
            <a:avLst/>
            <a:gdLst/>
            <a:ahLst/>
            <a:cxnLst/>
            <a:rect l="l" t="t" r="r" b="b"/>
            <a:pathLst>
              <a:path w="374650" h="5330825" extrusionOk="0">
                <a:moveTo>
                  <a:pt x="374523" y="0"/>
                </a:moveTo>
                <a:lnTo>
                  <a:pt x="0" y="0"/>
                </a:lnTo>
                <a:lnTo>
                  <a:pt x="0" y="5330444"/>
                </a:lnTo>
                <a:lnTo>
                  <a:pt x="374523" y="5330444"/>
                </a:lnTo>
                <a:lnTo>
                  <a:pt x="374523" y="0"/>
                </a:lnTo>
                <a:close/>
              </a:path>
            </a:pathLst>
          </a:custGeom>
          <a:solidFill>
            <a:srgbClr val="C6C6C6">
              <a:alpha val="49411"/>
            </a:srgbClr>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525" name="Google Shape;525;p57"/>
          <p:cNvSpPr txBox="1"/>
          <p:nvPr/>
        </p:nvSpPr>
        <p:spPr>
          <a:xfrm>
            <a:off x="399999" y="2583941"/>
            <a:ext cx="2724201" cy="1562479"/>
          </a:xfrm>
          <a:prstGeom prst="rect">
            <a:avLst/>
          </a:prstGeom>
          <a:noFill/>
          <a:ln>
            <a:noFill/>
          </a:ln>
        </p:spPr>
        <p:txBody>
          <a:bodyPr spcFirstLastPara="1" wrap="square" lIns="0" tIns="66025" rIns="0" bIns="0" anchor="t" anchorCtr="0">
            <a:spAutoFit/>
          </a:bodyPr>
          <a:lstStyle/>
          <a:p>
            <a:pPr marL="12700" marR="5080" lvl="0" indent="5079" algn="ctr" rtl="0">
              <a:lnSpc>
                <a:spcPct val="90300"/>
              </a:lnSpc>
              <a:spcBef>
                <a:spcPts val="0"/>
              </a:spcBef>
              <a:spcAft>
                <a:spcPts val="0"/>
              </a:spcAft>
              <a:buNone/>
            </a:pPr>
            <a:r>
              <a:rPr lang="en-US" sz="3600" b="1">
                <a:solidFill>
                  <a:srgbClr val="FFFFFF"/>
                </a:solidFill>
                <a:latin typeface="Cambria"/>
                <a:ea typeface="Cambria"/>
                <a:cs typeface="Cambria"/>
                <a:sym typeface="Cambria"/>
              </a:rPr>
              <a:t>Boolean, Byte, Short Class</a:t>
            </a:r>
            <a:endParaRPr sz="3600">
              <a:latin typeface="Cambria"/>
              <a:ea typeface="Cambria"/>
              <a:cs typeface="Cambria"/>
              <a:sym typeface="Cambria"/>
            </a:endParaRPr>
          </a:p>
        </p:txBody>
      </p:sp>
      <p:sp>
        <p:nvSpPr>
          <p:cNvPr id="526" name="Google Shape;526;p57"/>
          <p:cNvSpPr txBox="1">
            <a:spLocks noGrp="1"/>
          </p:cNvSpPr>
          <p:nvPr>
            <p:ph type="title"/>
          </p:nvPr>
        </p:nvSpPr>
        <p:spPr>
          <a:xfrm>
            <a:off x="3949065" y="1634185"/>
            <a:ext cx="4909185" cy="69596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2200" b="0">
                <a:solidFill>
                  <a:srgbClr val="575757"/>
                </a:solidFill>
                <a:latin typeface="Cambria"/>
                <a:ea typeface="Cambria"/>
                <a:cs typeface="Cambria"/>
                <a:sym typeface="Cambria"/>
              </a:rPr>
              <a:t>BooleanClass:</a:t>
            </a:r>
            <a:endParaRPr sz="2200">
              <a:latin typeface="Cambria"/>
              <a:ea typeface="Cambria"/>
              <a:cs typeface="Cambria"/>
              <a:sym typeface="Cambria"/>
            </a:endParaRPr>
          </a:p>
          <a:p>
            <a:pPr marL="515619" lvl="0" indent="0" algn="l" rtl="0">
              <a:lnSpc>
                <a:spcPct val="100000"/>
              </a:lnSpc>
              <a:spcBef>
                <a:spcPts val="5"/>
              </a:spcBef>
              <a:spcAft>
                <a:spcPts val="0"/>
              </a:spcAft>
              <a:buNone/>
            </a:pPr>
            <a:r>
              <a:rPr lang="en-US" sz="2200" b="0">
                <a:solidFill>
                  <a:srgbClr val="575757"/>
                </a:solidFill>
                <a:latin typeface="Cambria"/>
                <a:ea typeface="Cambria"/>
                <a:cs typeface="Cambria"/>
                <a:sym typeface="Cambria"/>
              </a:rPr>
              <a:t>static boolean getBoolean(Stringname)</a:t>
            </a:r>
            <a:endParaRPr sz="2200">
              <a:latin typeface="Cambria"/>
              <a:ea typeface="Cambria"/>
              <a:cs typeface="Cambria"/>
              <a:sym typeface="Cambria"/>
            </a:endParaRPr>
          </a:p>
        </p:txBody>
      </p:sp>
      <p:sp>
        <p:nvSpPr>
          <p:cNvPr id="527" name="Google Shape;527;p57"/>
          <p:cNvSpPr txBox="1"/>
          <p:nvPr/>
        </p:nvSpPr>
        <p:spPr>
          <a:xfrm>
            <a:off x="3949065" y="2845435"/>
            <a:ext cx="4942840" cy="106934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2200">
                <a:solidFill>
                  <a:srgbClr val="575757"/>
                </a:solidFill>
                <a:latin typeface="Cambria"/>
                <a:ea typeface="Cambria"/>
                <a:cs typeface="Cambria"/>
                <a:sym typeface="Cambria"/>
              </a:rPr>
              <a:t>ByteClass:</a:t>
            </a:r>
            <a:endParaRPr sz="2200">
              <a:latin typeface="Cambria"/>
              <a:ea typeface="Cambria"/>
              <a:cs typeface="Cambria"/>
              <a:sym typeface="Cambria"/>
            </a:endParaRPr>
          </a:p>
          <a:p>
            <a:pPr marL="515619" lvl="0" indent="0" algn="l" rtl="0">
              <a:lnSpc>
                <a:spcPct val="100000"/>
              </a:lnSpc>
              <a:spcBef>
                <a:spcPts val="0"/>
              </a:spcBef>
              <a:spcAft>
                <a:spcPts val="0"/>
              </a:spcAft>
              <a:buNone/>
            </a:pPr>
            <a:r>
              <a:rPr lang="en-US" sz="2200">
                <a:solidFill>
                  <a:srgbClr val="575757"/>
                </a:solidFill>
                <a:latin typeface="Cambria"/>
                <a:ea typeface="Cambria"/>
                <a:cs typeface="Cambria"/>
                <a:sym typeface="Cambria"/>
              </a:rPr>
              <a:t>static byte parseByte(String s,int radix)</a:t>
            </a:r>
            <a:endParaRPr sz="2200">
              <a:latin typeface="Cambria"/>
              <a:ea typeface="Cambria"/>
              <a:cs typeface="Cambria"/>
              <a:sym typeface="Cambria"/>
            </a:endParaRPr>
          </a:p>
          <a:p>
            <a:pPr marL="515619" lvl="0" indent="0" algn="l" rtl="0">
              <a:lnSpc>
                <a:spcPct val="100000"/>
              </a:lnSpc>
              <a:spcBef>
                <a:spcPts val="300"/>
              </a:spcBef>
              <a:spcAft>
                <a:spcPts val="0"/>
              </a:spcAft>
              <a:buNone/>
            </a:pPr>
            <a:r>
              <a:rPr lang="en-US" sz="2200">
                <a:solidFill>
                  <a:srgbClr val="575757"/>
                </a:solidFill>
                <a:latin typeface="Cambria"/>
                <a:ea typeface="Cambria"/>
                <a:cs typeface="Cambria"/>
                <a:sym typeface="Cambria"/>
              </a:rPr>
              <a:t>staticbyte parseByte(String s)</a:t>
            </a:r>
            <a:endParaRPr sz="2200">
              <a:latin typeface="Cambria"/>
              <a:ea typeface="Cambria"/>
              <a:cs typeface="Cambria"/>
              <a:sym typeface="Cambria"/>
            </a:endParaRPr>
          </a:p>
        </p:txBody>
      </p:sp>
      <p:sp>
        <p:nvSpPr>
          <p:cNvPr id="528" name="Google Shape;528;p57"/>
          <p:cNvSpPr txBox="1"/>
          <p:nvPr/>
        </p:nvSpPr>
        <p:spPr>
          <a:xfrm>
            <a:off x="3949065" y="4434332"/>
            <a:ext cx="1970405" cy="69596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2200">
                <a:solidFill>
                  <a:srgbClr val="575757"/>
                </a:solidFill>
                <a:latin typeface="Cambria"/>
                <a:ea typeface="Cambria"/>
                <a:cs typeface="Cambria"/>
                <a:sym typeface="Cambria"/>
              </a:rPr>
              <a:t>ShortClass:</a:t>
            </a:r>
            <a:endParaRPr sz="2200">
              <a:latin typeface="Cambria"/>
              <a:ea typeface="Cambria"/>
              <a:cs typeface="Cambria"/>
              <a:sym typeface="Cambria"/>
            </a:endParaRPr>
          </a:p>
          <a:p>
            <a:pPr marL="515619" lvl="0" indent="0" algn="l" rtl="0">
              <a:lnSpc>
                <a:spcPct val="100000"/>
              </a:lnSpc>
              <a:spcBef>
                <a:spcPts val="0"/>
              </a:spcBef>
              <a:spcAft>
                <a:spcPts val="0"/>
              </a:spcAft>
              <a:buNone/>
            </a:pPr>
            <a:r>
              <a:rPr lang="en-US" sz="2200">
                <a:solidFill>
                  <a:srgbClr val="575757"/>
                </a:solidFill>
                <a:latin typeface="Cambria"/>
                <a:ea typeface="Cambria"/>
                <a:cs typeface="Cambria"/>
                <a:sym typeface="Cambria"/>
              </a:rPr>
              <a:t>shortValue()</a:t>
            </a:r>
            <a:endParaRPr sz="2200">
              <a:latin typeface="Cambria"/>
              <a:ea typeface="Cambria"/>
              <a:cs typeface="Cambria"/>
              <a:sym typeface="Cambria"/>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532"/>
        <p:cNvGrpSpPr/>
        <p:nvPr/>
      </p:nvGrpSpPr>
      <p:grpSpPr>
        <a:xfrm>
          <a:off x="0" y="0"/>
          <a:ext cx="0" cy="0"/>
          <a:chOff x="0" y="0"/>
          <a:chExt cx="0" cy="0"/>
        </a:xfrm>
      </p:grpSpPr>
      <p:sp>
        <p:nvSpPr>
          <p:cNvPr id="533" name="Google Shape;533;p58"/>
          <p:cNvSpPr/>
          <p:nvPr/>
        </p:nvSpPr>
        <p:spPr>
          <a:xfrm>
            <a:off x="11817095" y="758951"/>
            <a:ext cx="374650" cy="5330825"/>
          </a:xfrm>
          <a:custGeom>
            <a:avLst/>
            <a:gdLst/>
            <a:ahLst/>
            <a:cxnLst/>
            <a:rect l="l" t="t" r="r" b="b"/>
            <a:pathLst>
              <a:path w="374650" h="5330825" extrusionOk="0">
                <a:moveTo>
                  <a:pt x="374523" y="0"/>
                </a:moveTo>
                <a:lnTo>
                  <a:pt x="0" y="0"/>
                </a:lnTo>
                <a:lnTo>
                  <a:pt x="0" y="5330444"/>
                </a:lnTo>
                <a:lnTo>
                  <a:pt x="374523" y="5330444"/>
                </a:lnTo>
                <a:lnTo>
                  <a:pt x="374523" y="0"/>
                </a:lnTo>
                <a:close/>
              </a:path>
            </a:pathLst>
          </a:custGeom>
          <a:solidFill>
            <a:srgbClr val="C6C6C6">
              <a:alpha val="49411"/>
            </a:srgbClr>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534" name="Google Shape;534;p58"/>
          <p:cNvSpPr txBox="1"/>
          <p:nvPr/>
        </p:nvSpPr>
        <p:spPr>
          <a:xfrm>
            <a:off x="359460" y="2830779"/>
            <a:ext cx="2840940" cy="1069975"/>
          </a:xfrm>
          <a:prstGeom prst="rect">
            <a:avLst/>
          </a:prstGeom>
          <a:noFill/>
          <a:ln>
            <a:noFill/>
          </a:ln>
        </p:spPr>
        <p:txBody>
          <a:bodyPr spcFirstLastPara="1" wrap="square" lIns="0" tIns="73650" rIns="0" bIns="0" anchor="t" anchorCtr="0">
            <a:spAutoFit/>
          </a:bodyPr>
          <a:lstStyle/>
          <a:p>
            <a:pPr marL="455930" marR="5080" lvl="0" indent="-443865" algn="l" rtl="0">
              <a:lnSpc>
                <a:spcPct val="108333"/>
              </a:lnSpc>
              <a:spcBef>
                <a:spcPts val="0"/>
              </a:spcBef>
              <a:spcAft>
                <a:spcPts val="0"/>
              </a:spcAft>
              <a:buNone/>
            </a:pPr>
            <a:r>
              <a:rPr lang="en-US" sz="3600" b="1">
                <a:solidFill>
                  <a:srgbClr val="FFFFFF"/>
                </a:solidFill>
                <a:latin typeface="Cambria"/>
                <a:ea typeface="Cambria"/>
                <a:cs typeface="Cambria"/>
                <a:sym typeface="Cambria"/>
              </a:rPr>
              <a:t>Character class</a:t>
            </a:r>
            <a:endParaRPr sz="3600">
              <a:latin typeface="Cambria"/>
              <a:ea typeface="Cambria"/>
              <a:cs typeface="Cambria"/>
              <a:sym typeface="Cambria"/>
            </a:endParaRPr>
          </a:p>
        </p:txBody>
      </p:sp>
      <p:sp>
        <p:nvSpPr>
          <p:cNvPr id="535" name="Google Shape;535;p58"/>
          <p:cNvSpPr txBox="1"/>
          <p:nvPr/>
        </p:nvSpPr>
        <p:spPr>
          <a:xfrm>
            <a:off x="3949065" y="1256156"/>
            <a:ext cx="3442970" cy="36068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2200">
                <a:solidFill>
                  <a:srgbClr val="575757"/>
                </a:solidFill>
                <a:latin typeface="Cambria"/>
                <a:ea typeface="Cambria"/>
                <a:cs typeface="Cambria"/>
                <a:sym typeface="Cambria"/>
              </a:rPr>
              <a:t>isLowerCase() &amp; isUpperCase()</a:t>
            </a:r>
            <a:endParaRPr sz="2200">
              <a:latin typeface="Cambria"/>
              <a:ea typeface="Cambria"/>
              <a:cs typeface="Cambria"/>
              <a:sym typeface="Cambria"/>
            </a:endParaRPr>
          </a:p>
        </p:txBody>
      </p:sp>
      <p:pic>
        <p:nvPicPr>
          <p:cNvPr id="536" name="Google Shape;536;p58"/>
          <p:cNvPicPr preferRelativeResize="0"/>
          <p:nvPr/>
        </p:nvPicPr>
        <p:blipFill rotWithShape="1">
          <a:blip r:embed="rId3">
            <a:alphaModFix/>
          </a:blip>
          <a:srcRect/>
          <a:stretch/>
        </p:blipFill>
        <p:spPr>
          <a:xfrm>
            <a:off x="4464684" y="1620977"/>
            <a:ext cx="76200" cy="327964"/>
          </a:xfrm>
          <a:prstGeom prst="rect">
            <a:avLst/>
          </a:prstGeom>
          <a:noFill/>
          <a:ln>
            <a:noFill/>
          </a:ln>
        </p:spPr>
      </p:pic>
      <p:sp>
        <p:nvSpPr>
          <p:cNvPr id="537" name="Google Shape;537;p58"/>
          <p:cNvSpPr txBox="1">
            <a:spLocks noGrp="1"/>
          </p:cNvSpPr>
          <p:nvPr>
            <p:ph type="title"/>
          </p:nvPr>
        </p:nvSpPr>
        <p:spPr>
          <a:xfrm>
            <a:off x="4682109" y="1594561"/>
            <a:ext cx="3937000" cy="36068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2200" b="0">
                <a:solidFill>
                  <a:srgbClr val="575757"/>
                </a:solidFill>
                <a:latin typeface="Cambria"/>
                <a:ea typeface="Cambria"/>
                <a:cs typeface="Cambria"/>
                <a:sym typeface="Cambria"/>
              </a:rPr>
              <a:t>static booleanisLowerCase(char ch)</a:t>
            </a:r>
            <a:endParaRPr sz="2200">
              <a:latin typeface="Cambria"/>
              <a:ea typeface="Cambria"/>
              <a:cs typeface="Cambria"/>
              <a:sym typeface="Cambria"/>
            </a:endParaRPr>
          </a:p>
        </p:txBody>
      </p:sp>
      <p:pic>
        <p:nvPicPr>
          <p:cNvPr id="538" name="Google Shape;538;p58"/>
          <p:cNvPicPr preferRelativeResize="0"/>
          <p:nvPr/>
        </p:nvPicPr>
        <p:blipFill rotWithShape="1">
          <a:blip r:embed="rId4">
            <a:alphaModFix/>
          </a:blip>
          <a:srcRect/>
          <a:stretch/>
        </p:blipFill>
        <p:spPr>
          <a:xfrm>
            <a:off x="4464684" y="1999488"/>
            <a:ext cx="368808" cy="327660"/>
          </a:xfrm>
          <a:prstGeom prst="rect">
            <a:avLst/>
          </a:prstGeom>
          <a:noFill/>
          <a:ln>
            <a:noFill/>
          </a:ln>
        </p:spPr>
      </p:pic>
      <p:pic>
        <p:nvPicPr>
          <p:cNvPr id="539" name="Google Shape;539;p58"/>
          <p:cNvPicPr preferRelativeResize="0"/>
          <p:nvPr/>
        </p:nvPicPr>
        <p:blipFill rotWithShape="1">
          <a:blip r:embed="rId4">
            <a:alphaModFix/>
          </a:blip>
          <a:srcRect/>
          <a:stretch/>
        </p:blipFill>
        <p:spPr>
          <a:xfrm>
            <a:off x="4464684" y="2372867"/>
            <a:ext cx="368808" cy="327660"/>
          </a:xfrm>
          <a:prstGeom prst="rect">
            <a:avLst/>
          </a:prstGeom>
          <a:noFill/>
          <a:ln>
            <a:noFill/>
          </a:ln>
        </p:spPr>
      </p:pic>
      <p:pic>
        <p:nvPicPr>
          <p:cNvPr id="540" name="Google Shape;540;p58"/>
          <p:cNvPicPr preferRelativeResize="0"/>
          <p:nvPr/>
        </p:nvPicPr>
        <p:blipFill rotWithShape="1">
          <a:blip r:embed="rId4">
            <a:alphaModFix/>
          </a:blip>
          <a:srcRect/>
          <a:stretch/>
        </p:blipFill>
        <p:spPr>
          <a:xfrm>
            <a:off x="4464684" y="2746248"/>
            <a:ext cx="368808" cy="327660"/>
          </a:xfrm>
          <a:prstGeom prst="rect">
            <a:avLst/>
          </a:prstGeom>
          <a:noFill/>
          <a:ln>
            <a:noFill/>
          </a:ln>
        </p:spPr>
      </p:pic>
      <p:pic>
        <p:nvPicPr>
          <p:cNvPr id="541" name="Google Shape;541;p58"/>
          <p:cNvPicPr preferRelativeResize="0"/>
          <p:nvPr/>
        </p:nvPicPr>
        <p:blipFill rotWithShape="1">
          <a:blip r:embed="rId4">
            <a:alphaModFix/>
          </a:blip>
          <a:srcRect/>
          <a:stretch/>
        </p:blipFill>
        <p:spPr>
          <a:xfrm>
            <a:off x="4464684" y="3583178"/>
            <a:ext cx="368808" cy="327660"/>
          </a:xfrm>
          <a:prstGeom prst="rect">
            <a:avLst/>
          </a:prstGeom>
          <a:noFill/>
          <a:ln>
            <a:noFill/>
          </a:ln>
        </p:spPr>
      </p:pic>
      <p:pic>
        <p:nvPicPr>
          <p:cNvPr id="542" name="Google Shape;542;p58"/>
          <p:cNvPicPr preferRelativeResize="0"/>
          <p:nvPr/>
        </p:nvPicPr>
        <p:blipFill rotWithShape="1">
          <a:blip r:embed="rId4">
            <a:alphaModFix/>
          </a:blip>
          <a:srcRect/>
          <a:stretch/>
        </p:blipFill>
        <p:spPr>
          <a:xfrm>
            <a:off x="4464684" y="3956558"/>
            <a:ext cx="368808" cy="327660"/>
          </a:xfrm>
          <a:prstGeom prst="rect">
            <a:avLst/>
          </a:prstGeom>
          <a:noFill/>
          <a:ln>
            <a:noFill/>
          </a:ln>
        </p:spPr>
      </p:pic>
      <p:pic>
        <p:nvPicPr>
          <p:cNvPr id="543" name="Google Shape;543;p58"/>
          <p:cNvPicPr preferRelativeResize="0"/>
          <p:nvPr/>
        </p:nvPicPr>
        <p:blipFill rotWithShape="1">
          <a:blip r:embed="rId4">
            <a:alphaModFix/>
          </a:blip>
          <a:srcRect/>
          <a:stretch/>
        </p:blipFill>
        <p:spPr>
          <a:xfrm>
            <a:off x="4464684" y="4791405"/>
            <a:ext cx="368808" cy="327964"/>
          </a:xfrm>
          <a:prstGeom prst="rect">
            <a:avLst/>
          </a:prstGeom>
          <a:noFill/>
          <a:ln>
            <a:noFill/>
          </a:ln>
        </p:spPr>
      </p:pic>
      <p:pic>
        <p:nvPicPr>
          <p:cNvPr id="544" name="Google Shape;544;p58"/>
          <p:cNvPicPr preferRelativeResize="0"/>
          <p:nvPr/>
        </p:nvPicPr>
        <p:blipFill rotWithShape="1">
          <a:blip r:embed="rId4">
            <a:alphaModFix/>
          </a:blip>
          <a:srcRect/>
          <a:stretch/>
        </p:blipFill>
        <p:spPr>
          <a:xfrm>
            <a:off x="4464684" y="5165471"/>
            <a:ext cx="368808" cy="327660"/>
          </a:xfrm>
          <a:prstGeom prst="rect">
            <a:avLst/>
          </a:prstGeom>
          <a:noFill/>
          <a:ln>
            <a:noFill/>
          </a:ln>
        </p:spPr>
      </p:pic>
      <p:sp>
        <p:nvSpPr>
          <p:cNvPr id="545" name="Google Shape;545;p58"/>
          <p:cNvSpPr txBox="1"/>
          <p:nvPr/>
        </p:nvSpPr>
        <p:spPr>
          <a:xfrm>
            <a:off x="3949065" y="1934362"/>
            <a:ext cx="5707380" cy="3564890"/>
          </a:xfrm>
          <a:prstGeom prst="rect">
            <a:avLst/>
          </a:prstGeom>
          <a:noFill/>
          <a:ln>
            <a:noFill/>
          </a:ln>
        </p:spPr>
        <p:txBody>
          <a:bodyPr spcFirstLastPara="1" wrap="square" lIns="0" tIns="12700" rIns="0" bIns="0" anchor="t" anchorCtr="0">
            <a:spAutoFit/>
          </a:bodyPr>
          <a:lstStyle/>
          <a:p>
            <a:pPr marL="835660" marR="1002664" lvl="0" indent="-21590" algn="l" rtl="0">
              <a:lnSpc>
                <a:spcPct val="111400"/>
              </a:lnSpc>
              <a:spcBef>
                <a:spcPts val="0"/>
              </a:spcBef>
              <a:spcAft>
                <a:spcPts val="0"/>
              </a:spcAft>
              <a:buNone/>
            </a:pPr>
            <a:r>
              <a:rPr lang="en-US" sz="2200">
                <a:solidFill>
                  <a:srgbClr val="575757"/>
                </a:solidFill>
                <a:latin typeface="Cambria"/>
                <a:ea typeface="Cambria"/>
                <a:cs typeface="Cambria"/>
                <a:sym typeface="Cambria"/>
              </a:rPr>
              <a:t>staticboolean isUpperCase(char ch) Ex.Character c=newCharacter(‘g’);</a:t>
            </a:r>
            <a:endParaRPr sz="2200">
              <a:latin typeface="Cambria"/>
              <a:ea typeface="Cambria"/>
              <a:cs typeface="Cambria"/>
              <a:sym typeface="Cambria"/>
            </a:endParaRPr>
          </a:p>
          <a:p>
            <a:pPr marL="806450" lvl="0" indent="0" algn="l" rtl="0">
              <a:lnSpc>
                <a:spcPct val="100000"/>
              </a:lnSpc>
              <a:spcBef>
                <a:spcPts val="300"/>
              </a:spcBef>
              <a:spcAft>
                <a:spcPts val="0"/>
              </a:spcAft>
              <a:buNone/>
            </a:pPr>
            <a:r>
              <a:rPr lang="en-US" sz="2200">
                <a:solidFill>
                  <a:srgbClr val="575757"/>
                </a:solidFill>
                <a:latin typeface="Cambria"/>
                <a:ea typeface="Cambria"/>
                <a:cs typeface="Cambria"/>
                <a:sym typeface="Cambria"/>
              </a:rPr>
              <a:t>boolean isLower=Character.isLowerCase(c);</a:t>
            </a:r>
            <a:endParaRPr sz="2200">
              <a:latin typeface="Cambria"/>
              <a:ea typeface="Cambria"/>
              <a:cs typeface="Cambria"/>
              <a:sym typeface="Cambria"/>
            </a:endParaRPr>
          </a:p>
          <a:p>
            <a:pPr marL="12700" lvl="0" indent="0" algn="l" rtl="0">
              <a:lnSpc>
                <a:spcPct val="100000"/>
              </a:lnSpc>
              <a:spcBef>
                <a:spcPts val="1305"/>
              </a:spcBef>
              <a:spcAft>
                <a:spcPts val="0"/>
              </a:spcAft>
              <a:buNone/>
            </a:pPr>
            <a:r>
              <a:rPr lang="en-US" sz="2200">
                <a:solidFill>
                  <a:srgbClr val="575757"/>
                </a:solidFill>
                <a:latin typeface="Cambria"/>
                <a:ea typeface="Cambria"/>
                <a:cs typeface="Cambria"/>
                <a:sym typeface="Cambria"/>
              </a:rPr>
              <a:t>isDigit( )</a:t>
            </a:r>
            <a:endParaRPr sz="2200">
              <a:latin typeface="Cambria"/>
              <a:ea typeface="Cambria"/>
              <a:cs typeface="Cambria"/>
              <a:sym typeface="Cambria"/>
            </a:endParaRPr>
          </a:p>
          <a:p>
            <a:pPr marL="815339" lvl="0" indent="0" algn="l" rtl="0">
              <a:lnSpc>
                <a:spcPct val="100000"/>
              </a:lnSpc>
              <a:spcBef>
                <a:spcPts val="5"/>
              </a:spcBef>
              <a:spcAft>
                <a:spcPts val="0"/>
              </a:spcAft>
              <a:buNone/>
            </a:pPr>
            <a:r>
              <a:rPr lang="en-US" sz="2200">
                <a:solidFill>
                  <a:srgbClr val="575757"/>
                </a:solidFill>
                <a:latin typeface="Cambria"/>
                <a:ea typeface="Cambria"/>
                <a:cs typeface="Cambria"/>
                <a:sym typeface="Cambria"/>
              </a:rPr>
              <a:t>static boolean isDigit(charch)</a:t>
            </a:r>
            <a:endParaRPr sz="2200">
              <a:latin typeface="Cambria"/>
              <a:ea typeface="Cambria"/>
              <a:cs typeface="Cambria"/>
              <a:sym typeface="Cambria"/>
            </a:endParaRPr>
          </a:p>
          <a:p>
            <a:pPr marL="791210" lvl="0" indent="0" algn="l" rtl="0">
              <a:lnSpc>
                <a:spcPct val="100000"/>
              </a:lnSpc>
              <a:spcBef>
                <a:spcPts val="300"/>
              </a:spcBef>
              <a:spcAft>
                <a:spcPts val="0"/>
              </a:spcAft>
              <a:buNone/>
            </a:pPr>
            <a:r>
              <a:rPr lang="en-US" sz="2200">
                <a:solidFill>
                  <a:srgbClr val="575757"/>
                </a:solidFill>
                <a:latin typeface="Cambria"/>
                <a:ea typeface="Cambria"/>
                <a:cs typeface="Cambria"/>
                <a:sym typeface="Cambria"/>
              </a:rPr>
              <a:t>Ex. boolean isDigit=Character.isDigit(‘7’);</a:t>
            </a:r>
            <a:endParaRPr sz="2200">
              <a:latin typeface="Cambria"/>
              <a:ea typeface="Cambria"/>
              <a:cs typeface="Cambria"/>
              <a:sym typeface="Cambria"/>
            </a:endParaRPr>
          </a:p>
          <a:p>
            <a:pPr marL="12700" lvl="0" indent="0" algn="l" rtl="0">
              <a:lnSpc>
                <a:spcPct val="100000"/>
              </a:lnSpc>
              <a:spcBef>
                <a:spcPts val="1295"/>
              </a:spcBef>
              <a:spcAft>
                <a:spcPts val="0"/>
              </a:spcAft>
              <a:buNone/>
            </a:pPr>
            <a:r>
              <a:rPr lang="en-US" sz="2200">
                <a:solidFill>
                  <a:srgbClr val="575757"/>
                </a:solidFill>
                <a:latin typeface="Cambria"/>
                <a:ea typeface="Cambria"/>
                <a:cs typeface="Cambria"/>
                <a:sym typeface="Cambria"/>
              </a:rPr>
              <a:t>isSpace()</a:t>
            </a:r>
            <a:endParaRPr sz="2200">
              <a:latin typeface="Cambria"/>
              <a:ea typeface="Cambria"/>
              <a:cs typeface="Cambria"/>
              <a:sym typeface="Cambria"/>
            </a:endParaRPr>
          </a:p>
          <a:p>
            <a:pPr marL="815339" lvl="0" indent="0" algn="l" rtl="0">
              <a:lnSpc>
                <a:spcPct val="100000"/>
              </a:lnSpc>
              <a:spcBef>
                <a:spcPts val="0"/>
              </a:spcBef>
              <a:spcAft>
                <a:spcPts val="0"/>
              </a:spcAft>
              <a:buNone/>
            </a:pPr>
            <a:r>
              <a:rPr lang="en-US" sz="2200">
                <a:solidFill>
                  <a:srgbClr val="575757"/>
                </a:solidFill>
                <a:latin typeface="Cambria"/>
                <a:ea typeface="Cambria"/>
                <a:cs typeface="Cambria"/>
                <a:sym typeface="Cambria"/>
              </a:rPr>
              <a:t>static boolean isSpace(charch)</a:t>
            </a:r>
            <a:endParaRPr sz="2200">
              <a:latin typeface="Cambria"/>
              <a:ea typeface="Cambria"/>
              <a:cs typeface="Cambria"/>
              <a:sym typeface="Cambria"/>
            </a:endParaRPr>
          </a:p>
          <a:p>
            <a:pPr marL="791210" lvl="0" indent="0" algn="l" rtl="0">
              <a:lnSpc>
                <a:spcPct val="100000"/>
              </a:lnSpc>
              <a:spcBef>
                <a:spcPts val="300"/>
              </a:spcBef>
              <a:spcAft>
                <a:spcPts val="0"/>
              </a:spcAft>
              <a:buNone/>
            </a:pPr>
            <a:r>
              <a:rPr lang="en-US" sz="2200">
                <a:solidFill>
                  <a:srgbClr val="575757"/>
                </a:solidFill>
                <a:latin typeface="Cambria"/>
                <a:ea typeface="Cambria"/>
                <a:cs typeface="Cambria"/>
                <a:sym typeface="Cambria"/>
              </a:rPr>
              <a:t>Ex. boolean isSpace =Character.isSpace(‘\t’);</a:t>
            </a:r>
            <a:endParaRPr sz="2200">
              <a:latin typeface="Cambria"/>
              <a:ea typeface="Cambria"/>
              <a:cs typeface="Cambria"/>
              <a:sym typeface="Cambria"/>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59"/>
          <p:cNvSpPr txBox="1"/>
          <p:nvPr/>
        </p:nvSpPr>
        <p:spPr>
          <a:xfrm>
            <a:off x="905052" y="2662809"/>
            <a:ext cx="1856739" cy="1069975"/>
          </a:xfrm>
          <a:prstGeom prst="rect">
            <a:avLst/>
          </a:prstGeom>
          <a:noFill/>
          <a:ln>
            <a:noFill/>
          </a:ln>
        </p:spPr>
        <p:txBody>
          <a:bodyPr spcFirstLastPara="1" wrap="square" lIns="0" tIns="12700" rIns="0" bIns="0" anchor="t" anchorCtr="0">
            <a:spAutoFit/>
          </a:bodyPr>
          <a:lstStyle/>
          <a:p>
            <a:pPr marL="0" lvl="0" indent="0" algn="ctr" rtl="0">
              <a:lnSpc>
                <a:spcPct val="114166"/>
              </a:lnSpc>
              <a:spcBef>
                <a:spcPts val="0"/>
              </a:spcBef>
              <a:spcAft>
                <a:spcPts val="0"/>
              </a:spcAft>
              <a:buNone/>
            </a:pPr>
            <a:r>
              <a:rPr lang="en-US" sz="3600" b="1">
                <a:solidFill>
                  <a:srgbClr val="FFFFFF"/>
                </a:solidFill>
                <a:latin typeface="Cambria"/>
                <a:ea typeface="Cambria"/>
                <a:cs typeface="Cambria"/>
                <a:sym typeface="Cambria"/>
              </a:rPr>
              <a:t>Character</a:t>
            </a:r>
            <a:endParaRPr sz="3600">
              <a:latin typeface="Cambria"/>
              <a:ea typeface="Cambria"/>
              <a:cs typeface="Cambria"/>
              <a:sym typeface="Cambria"/>
            </a:endParaRPr>
          </a:p>
          <a:p>
            <a:pPr marL="0" lvl="0" indent="0" algn="ctr" rtl="0">
              <a:lnSpc>
                <a:spcPct val="114166"/>
              </a:lnSpc>
              <a:spcBef>
                <a:spcPts val="0"/>
              </a:spcBef>
              <a:spcAft>
                <a:spcPts val="0"/>
              </a:spcAft>
              <a:buNone/>
            </a:pPr>
            <a:r>
              <a:rPr lang="en-US" sz="3600" b="1">
                <a:solidFill>
                  <a:srgbClr val="FFFFFF"/>
                </a:solidFill>
                <a:latin typeface="Trebuchet MS"/>
                <a:ea typeface="Trebuchet MS"/>
                <a:cs typeface="Trebuchet MS"/>
                <a:sym typeface="Trebuchet MS"/>
              </a:rPr>
              <a:t>class</a:t>
            </a:r>
            <a:endParaRPr sz="3600">
              <a:latin typeface="Trebuchet MS"/>
              <a:ea typeface="Trebuchet MS"/>
              <a:cs typeface="Trebuchet MS"/>
              <a:sym typeface="Trebuchet MS"/>
            </a:endParaRPr>
          </a:p>
        </p:txBody>
      </p:sp>
      <p:pic>
        <p:nvPicPr>
          <p:cNvPr id="551" name="Google Shape;551;p59"/>
          <p:cNvPicPr preferRelativeResize="0"/>
          <p:nvPr/>
        </p:nvPicPr>
        <p:blipFill rotWithShape="1">
          <a:blip r:embed="rId3">
            <a:alphaModFix/>
          </a:blip>
          <a:srcRect/>
          <a:stretch/>
        </p:blipFill>
        <p:spPr>
          <a:xfrm>
            <a:off x="3961765" y="624840"/>
            <a:ext cx="128015" cy="310896"/>
          </a:xfrm>
          <a:prstGeom prst="rect">
            <a:avLst/>
          </a:prstGeom>
          <a:noFill/>
          <a:ln>
            <a:noFill/>
          </a:ln>
        </p:spPr>
      </p:pic>
      <p:pic>
        <p:nvPicPr>
          <p:cNvPr id="552" name="Google Shape;552;p59"/>
          <p:cNvPicPr preferRelativeResize="0"/>
          <p:nvPr/>
        </p:nvPicPr>
        <p:blipFill rotWithShape="1">
          <a:blip r:embed="rId4">
            <a:alphaModFix/>
          </a:blip>
          <a:srcRect/>
          <a:stretch/>
        </p:blipFill>
        <p:spPr>
          <a:xfrm>
            <a:off x="4464684" y="963422"/>
            <a:ext cx="417575" cy="310896"/>
          </a:xfrm>
          <a:prstGeom prst="rect">
            <a:avLst/>
          </a:prstGeom>
          <a:noFill/>
          <a:ln>
            <a:noFill/>
          </a:ln>
        </p:spPr>
      </p:pic>
      <p:grpSp>
        <p:nvGrpSpPr>
          <p:cNvPr id="553" name="Google Shape;553;p59"/>
          <p:cNvGrpSpPr/>
          <p:nvPr/>
        </p:nvGrpSpPr>
        <p:grpSpPr>
          <a:xfrm>
            <a:off x="4464684" y="1336802"/>
            <a:ext cx="417575" cy="658368"/>
            <a:chOff x="4464684" y="1336802"/>
            <a:chExt cx="417575" cy="658368"/>
          </a:xfrm>
        </p:grpSpPr>
        <p:pic>
          <p:nvPicPr>
            <p:cNvPr id="554" name="Google Shape;554;p59"/>
            <p:cNvPicPr preferRelativeResize="0"/>
            <p:nvPr/>
          </p:nvPicPr>
          <p:blipFill rotWithShape="1">
            <a:blip r:embed="rId4">
              <a:alphaModFix/>
            </a:blip>
            <a:srcRect/>
            <a:stretch/>
          </p:blipFill>
          <p:spPr>
            <a:xfrm>
              <a:off x="4464684" y="1336802"/>
              <a:ext cx="417575" cy="310896"/>
            </a:xfrm>
            <a:prstGeom prst="rect">
              <a:avLst/>
            </a:prstGeom>
            <a:noFill/>
            <a:ln>
              <a:noFill/>
            </a:ln>
          </p:spPr>
        </p:pic>
        <p:pic>
          <p:nvPicPr>
            <p:cNvPr id="555" name="Google Shape;555;p59"/>
            <p:cNvPicPr preferRelativeResize="0"/>
            <p:nvPr/>
          </p:nvPicPr>
          <p:blipFill rotWithShape="1">
            <a:blip r:embed="rId4">
              <a:alphaModFix/>
            </a:blip>
            <a:srcRect/>
            <a:stretch/>
          </p:blipFill>
          <p:spPr>
            <a:xfrm>
              <a:off x="4464684" y="1684274"/>
              <a:ext cx="417575" cy="310896"/>
            </a:xfrm>
            <a:prstGeom prst="rect">
              <a:avLst/>
            </a:prstGeom>
            <a:noFill/>
            <a:ln>
              <a:noFill/>
            </a:ln>
          </p:spPr>
        </p:pic>
      </p:grpSp>
      <p:pic>
        <p:nvPicPr>
          <p:cNvPr id="556" name="Google Shape;556;p59"/>
          <p:cNvPicPr preferRelativeResize="0"/>
          <p:nvPr/>
        </p:nvPicPr>
        <p:blipFill rotWithShape="1">
          <a:blip r:embed="rId4">
            <a:alphaModFix/>
          </a:blip>
          <a:srcRect/>
          <a:stretch/>
        </p:blipFill>
        <p:spPr>
          <a:xfrm>
            <a:off x="4464684" y="2063750"/>
            <a:ext cx="417575" cy="310896"/>
          </a:xfrm>
          <a:prstGeom prst="rect">
            <a:avLst/>
          </a:prstGeom>
          <a:noFill/>
          <a:ln>
            <a:noFill/>
          </a:ln>
        </p:spPr>
      </p:pic>
      <p:sp>
        <p:nvSpPr>
          <p:cNvPr id="557" name="Google Shape;557;p59"/>
          <p:cNvSpPr txBox="1"/>
          <p:nvPr/>
        </p:nvSpPr>
        <p:spPr>
          <a:xfrm>
            <a:off x="4252340" y="583184"/>
            <a:ext cx="5534025" cy="1799589"/>
          </a:xfrm>
          <a:prstGeom prst="rect">
            <a:avLst/>
          </a:prstGeom>
          <a:noFill/>
          <a:ln>
            <a:noFill/>
          </a:ln>
        </p:spPr>
        <p:txBody>
          <a:bodyPr spcFirstLastPara="1" wrap="square" lIns="0" tIns="8875" rIns="0" bIns="0" anchor="t" anchorCtr="0">
            <a:spAutoFit/>
          </a:bodyPr>
          <a:lstStyle/>
          <a:p>
            <a:pPr marL="422275" marR="1353185" lvl="0" indent="-410209" algn="l" rtl="0">
              <a:lnSpc>
                <a:spcPct val="101000"/>
              </a:lnSpc>
              <a:spcBef>
                <a:spcPts val="0"/>
              </a:spcBef>
              <a:spcAft>
                <a:spcPts val="0"/>
              </a:spcAft>
              <a:buNone/>
            </a:pPr>
            <a:r>
              <a:rPr lang="en-US" sz="2200">
                <a:solidFill>
                  <a:srgbClr val="575757"/>
                </a:solidFill>
                <a:latin typeface="Arial"/>
                <a:ea typeface="Arial"/>
                <a:cs typeface="Arial"/>
                <a:sym typeface="Arial"/>
              </a:rPr>
              <a:t>toLowerCase( ) &amp; toUpperCase() static char toLowerCase(char ch)</a:t>
            </a:r>
            <a:endParaRPr sz="2200">
              <a:latin typeface="Arial"/>
              <a:ea typeface="Arial"/>
              <a:cs typeface="Arial"/>
              <a:sym typeface="Arial"/>
            </a:endParaRPr>
          </a:p>
          <a:p>
            <a:pPr marL="422275" lvl="0" indent="0" algn="l" rtl="0">
              <a:lnSpc>
                <a:spcPct val="100000"/>
              </a:lnSpc>
              <a:spcBef>
                <a:spcPts val="300"/>
              </a:spcBef>
              <a:spcAft>
                <a:spcPts val="0"/>
              </a:spcAft>
              <a:buNone/>
            </a:pPr>
            <a:r>
              <a:rPr lang="en-US" sz="2200">
                <a:solidFill>
                  <a:srgbClr val="575757"/>
                </a:solidFill>
                <a:latin typeface="Arial"/>
                <a:ea typeface="Arial"/>
                <a:cs typeface="Arial"/>
                <a:sym typeface="Arial"/>
              </a:rPr>
              <a:t>static char toUpperCase(char ch)</a:t>
            </a:r>
            <a:endParaRPr sz="2200">
              <a:latin typeface="Arial"/>
              <a:ea typeface="Arial"/>
              <a:cs typeface="Arial"/>
              <a:sym typeface="Arial"/>
            </a:endParaRPr>
          </a:p>
          <a:p>
            <a:pPr marL="824864" lvl="0" indent="0" algn="l" rtl="0">
              <a:lnSpc>
                <a:spcPct val="100000"/>
              </a:lnSpc>
              <a:spcBef>
                <a:spcPts val="95"/>
              </a:spcBef>
              <a:spcAft>
                <a:spcPts val="0"/>
              </a:spcAft>
              <a:buNone/>
            </a:pPr>
            <a:r>
              <a:rPr lang="en-US" sz="2200">
                <a:solidFill>
                  <a:srgbClr val="575757"/>
                </a:solidFill>
                <a:latin typeface="Arial"/>
                <a:ea typeface="Arial"/>
                <a:cs typeface="Arial"/>
                <a:sym typeface="Arial"/>
              </a:rPr>
              <a:t>Ex. char c1 = Character.toUpperCase(‘g’);</a:t>
            </a:r>
            <a:endParaRPr sz="2200">
              <a:latin typeface="Arial"/>
              <a:ea typeface="Arial"/>
              <a:cs typeface="Arial"/>
              <a:sym typeface="Arial"/>
            </a:endParaRPr>
          </a:p>
          <a:p>
            <a:pPr marL="824864" lvl="0" indent="0" algn="l" rtl="0">
              <a:lnSpc>
                <a:spcPct val="100000"/>
              </a:lnSpc>
              <a:spcBef>
                <a:spcPts val="345"/>
              </a:spcBef>
              <a:spcAft>
                <a:spcPts val="0"/>
              </a:spcAft>
              <a:buNone/>
            </a:pPr>
            <a:r>
              <a:rPr lang="en-US" sz="2200">
                <a:solidFill>
                  <a:srgbClr val="575757"/>
                </a:solidFill>
                <a:latin typeface="Arial"/>
                <a:ea typeface="Arial"/>
                <a:cs typeface="Arial"/>
                <a:sym typeface="Arial"/>
              </a:rPr>
              <a:t>char c2 =Character.toLowerCase(‘M’);</a:t>
            </a:r>
            <a:endParaRPr sz="2200">
              <a:latin typeface="Arial"/>
              <a:ea typeface="Arial"/>
              <a:cs typeface="Arial"/>
              <a:sym typeface="Arial"/>
            </a:endParaRPr>
          </a:p>
        </p:txBody>
      </p:sp>
      <p:pic>
        <p:nvPicPr>
          <p:cNvPr id="558" name="Google Shape;558;p59"/>
          <p:cNvPicPr preferRelativeResize="0"/>
          <p:nvPr/>
        </p:nvPicPr>
        <p:blipFill rotWithShape="1">
          <a:blip r:embed="rId4">
            <a:alphaModFix/>
          </a:blip>
          <a:srcRect/>
          <a:stretch/>
        </p:blipFill>
        <p:spPr>
          <a:xfrm>
            <a:off x="3961765" y="2596007"/>
            <a:ext cx="417575" cy="310896"/>
          </a:xfrm>
          <a:prstGeom prst="rect">
            <a:avLst/>
          </a:prstGeom>
          <a:noFill/>
          <a:ln>
            <a:noFill/>
          </a:ln>
        </p:spPr>
      </p:pic>
      <p:pic>
        <p:nvPicPr>
          <p:cNvPr id="559" name="Google Shape;559;p59"/>
          <p:cNvPicPr preferRelativeResize="0"/>
          <p:nvPr/>
        </p:nvPicPr>
        <p:blipFill rotWithShape="1">
          <a:blip r:embed="rId4">
            <a:alphaModFix/>
          </a:blip>
          <a:srcRect/>
          <a:stretch/>
        </p:blipFill>
        <p:spPr>
          <a:xfrm>
            <a:off x="4464684" y="2931286"/>
            <a:ext cx="417575" cy="310896"/>
          </a:xfrm>
          <a:prstGeom prst="rect">
            <a:avLst/>
          </a:prstGeom>
          <a:noFill/>
          <a:ln>
            <a:noFill/>
          </a:ln>
        </p:spPr>
      </p:pic>
      <p:pic>
        <p:nvPicPr>
          <p:cNvPr id="560" name="Google Shape;560;p59"/>
          <p:cNvPicPr preferRelativeResize="0"/>
          <p:nvPr/>
        </p:nvPicPr>
        <p:blipFill rotWithShape="1">
          <a:blip r:embed="rId4">
            <a:alphaModFix/>
          </a:blip>
          <a:srcRect/>
          <a:stretch/>
        </p:blipFill>
        <p:spPr>
          <a:xfrm>
            <a:off x="4464684" y="3304666"/>
            <a:ext cx="417575" cy="310896"/>
          </a:xfrm>
          <a:prstGeom prst="rect">
            <a:avLst/>
          </a:prstGeom>
          <a:noFill/>
          <a:ln>
            <a:noFill/>
          </a:ln>
        </p:spPr>
      </p:pic>
      <p:pic>
        <p:nvPicPr>
          <p:cNvPr id="561" name="Google Shape;561;p59"/>
          <p:cNvPicPr preferRelativeResize="0"/>
          <p:nvPr/>
        </p:nvPicPr>
        <p:blipFill rotWithShape="1">
          <a:blip r:embed="rId3">
            <a:alphaModFix/>
          </a:blip>
          <a:srcRect/>
          <a:stretch/>
        </p:blipFill>
        <p:spPr>
          <a:xfrm>
            <a:off x="3961765" y="4924933"/>
            <a:ext cx="128015" cy="310896"/>
          </a:xfrm>
          <a:prstGeom prst="rect">
            <a:avLst/>
          </a:prstGeom>
          <a:noFill/>
          <a:ln>
            <a:noFill/>
          </a:ln>
        </p:spPr>
      </p:pic>
      <p:pic>
        <p:nvPicPr>
          <p:cNvPr id="562" name="Google Shape;562;p59"/>
          <p:cNvPicPr preferRelativeResize="0"/>
          <p:nvPr/>
        </p:nvPicPr>
        <p:blipFill rotWithShape="1">
          <a:blip r:embed="rId3">
            <a:alphaModFix/>
          </a:blip>
          <a:srcRect/>
          <a:stretch/>
        </p:blipFill>
        <p:spPr>
          <a:xfrm>
            <a:off x="4464684" y="5260213"/>
            <a:ext cx="128015" cy="310896"/>
          </a:xfrm>
          <a:prstGeom prst="rect">
            <a:avLst/>
          </a:prstGeom>
          <a:noFill/>
          <a:ln>
            <a:noFill/>
          </a:ln>
        </p:spPr>
      </p:pic>
      <p:sp>
        <p:nvSpPr>
          <p:cNvPr id="563" name="Google Shape;563;p59"/>
          <p:cNvSpPr txBox="1"/>
          <p:nvPr/>
        </p:nvSpPr>
        <p:spPr>
          <a:xfrm>
            <a:off x="4159377" y="2554350"/>
            <a:ext cx="4898390" cy="377190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2200">
                <a:solidFill>
                  <a:srgbClr val="575757"/>
                </a:solidFill>
                <a:latin typeface="Arial"/>
                <a:ea typeface="Arial"/>
                <a:cs typeface="Arial"/>
                <a:sym typeface="Arial"/>
              </a:rPr>
              <a:t>digit( )</a:t>
            </a:r>
            <a:endParaRPr sz="2200">
              <a:latin typeface="Arial"/>
              <a:ea typeface="Arial"/>
              <a:cs typeface="Arial"/>
              <a:sym typeface="Arial"/>
            </a:endParaRPr>
          </a:p>
          <a:p>
            <a:pPr marL="515619" lvl="0" indent="0" algn="l" rtl="0">
              <a:lnSpc>
                <a:spcPct val="100000"/>
              </a:lnSpc>
              <a:spcBef>
                <a:spcPts val="0"/>
              </a:spcBef>
              <a:spcAft>
                <a:spcPts val="0"/>
              </a:spcAft>
              <a:buNone/>
            </a:pPr>
            <a:r>
              <a:rPr lang="en-US" sz="2200">
                <a:solidFill>
                  <a:srgbClr val="575757"/>
                </a:solidFill>
                <a:latin typeface="Arial"/>
                <a:ea typeface="Arial"/>
                <a:cs typeface="Arial"/>
                <a:sym typeface="Arial"/>
              </a:rPr>
              <a:t>static int digit(char ch, int radix)</a:t>
            </a:r>
            <a:endParaRPr sz="2200">
              <a:latin typeface="Arial"/>
              <a:ea typeface="Arial"/>
              <a:cs typeface="Arial"/>
              <a:sym typeface="Arial"/>
            </a:endParaRPr>
          </a:p>
          <a:p>
            <a:pPr marL="917575" marR="2566670" lvl="0" indent="-402590" algn="l" rtl="0">
              <a:lnSpc>
                <a:spcPct val="111400"/>
              </a:lnSpc>
              <a:spcBef>
                <a:spcPts val="0"/>
              </a:spcBef>
              <a:spcAft>
                <a:spcPts val="0"/>
              </a:spcAft>
              <a:buNone/>
            </a:pPr>
            <a:r>
              <a:rPr lang="en-US" sz="2200">
                <a:solidFill>
                  <a:srgbClr val="575757"/>
                </a:solidFill>
                <a:latin typeface="Arial"/>
                <a:ea typeface="Arial"/>
                <a:cs typeface="Arial"/>
                <a:sym typeface="Arial"/>
              </a:rPr>
              <a:t>Ex. char c1 =‘4’; char c2 =‘c’;</a:t>
            </a:r>
            <a:endParaRPr sz="2200">
              <a:latin typeface="Arial"/>
              <a:ea typeface="Arial"/>
              <a:cs typeface="Arial"/>
              <a:sym typeface="Arial"/>
            </a:endParaRPr>
          </a:p>
          <a:p>
            <a:pPr marL="917575" marR="53975" lvl="0" indent="0" algn="l" rtl="0">
              <a:lnSpc>
                <a:spcPct val="111400"/>
              </a:lnSpc>
              <a:spcBef>
                <a:spcPts val="0"/>
              </a:spcBef>
              <a:spcAft>
                <a:spcPts val="0"/>
              </a:spcAft>
              <a:buNone/>
            </a:pPr>
            <a:r>
              <a:rPr lang="en-US" sz="2200">
                <a:solidFill>
                  <a:srgbClr val="575757"/>
                </a:solidFill>
                <a:latin typeface="Arial"/>
                <a:ea typeface="Arial"/>
                <a:cs typeface="Arial"/>
                <a:sym typeface="Arial"/>
              </a:rPr>
              <a:t>int four =Character.digit(c1,10); int twelve =Character.digit(c2,16);</a:t>
            </a:r>
            <a:endParaRPr sz="2200">
              <a:latin typeface="Arial"/>
              <a:ea typeface="Arial"/>
              <a:cs typeface="Arial"/>
              <a:sym typeface="Arial"/>
            </a:endParaRPr>
          </a:p>
          <a:p>
            <a:pPr marL="109854" lvl="0" indent="0" algn="l" rtl="0">
              <a:lnSpc>
                <a:spcPct val="100000"/>
              </a:lnSpc>
              <a:spcBef>
                <a:spcPts val="1295"/>
              </a:spcBef>
              <a:spcAft>
                <a:spcPts val="0"/>
              </a:spcAft>
              <a:buNone/>
            </a:pPr>
            <a:r>
              <a:rPr lang="en-US" sz="2200">
                <a:solidFill>
                  <a:srgbClr val="575757"/>
                </a:solidFill>
                <a:latin typeface="Arial"/>
                <a:ea typeface="Arial"/>
                <a:cs typeface="Arial"/>
                <a:sym typeface="Arial"/>
              </a:rPr>
              <a:t>forDigit( )</a:t>
            </a:r>
            <a:endParaRPr sz="2200">
              <a:latin typeface="Arial"/>
              <a:ea typeface="Arial"/>
              <a:cs typeface="Arial"/>
              <a:sym typeface="Arial"/>
            </a:endParaRPr>
          </a:p>
          <a:p>
            <a:pPr marL="614680" lvl="0" indent="0" algn="l" rtl="0">
              <a:lnSpc>
                <a:spcPct val="100000"/>
              </a:lnSpc>
              <a:spcBef>
                <a:spcPts val="0"/>
              </a:spcBef>
              <a:spcAft>
                <a:spcPts val="0"/>
              </a:spcAft>
              <a:buNone/>
            </a:pPr>
            <a:r>
              <a:rPr lang="en-US" sz="2200">
                <a:solidFill>
                  <a:srgbClr val="575757"/>
                </a:solidFill>
                <a:latin typeface="Arial"/>
                <a:ea typeface="Arial"/>
                <a:cs typeface="Arial"/>
                <a:sym typeface="Arial"/>
              </a:rPr>
              <a:t>static char forDigit(int digit, int radix)</a:t>
            </a:r>
            <a:endParaRPr sz="2200">
              <a:latin typeface="Arial"/>
              <a:ea typeface="Arial"/>
              <a:cs typeface="Arial"/>
              <a:sym typeface="Arial"/>
            </a:endParaRPr>
          </a:p>
          <a:p>
            <a:pPr marL="1250315" lvl="0" indent="0" algn="l" rtl="0">
              <a:lnSpc>
                <a:spcPct val="100000"/>
              </a:lnSpc>
              <a:spcBef>
                <a:spcPts val="305"/>
              </a:spcBef>
              <a:spcAft>
                <a:spcPts val="0"/>
              </a:spcAft>
              <a:buNone/>
            </a:pPr>
            <a:r>
              <a:rPr lang="en-US" sz="2200">
                <a:solidFill>
                  <a:srgbClr val="575757"/>
                </a:solidFill>
                <a:latin typeface="Arial"/>
                <a:ea typeface="Arial"/>
                <a:cs typeface="Arial"/>
                <a:sym typeface="Arial"/>
              </a:rPr>
              <a:t>int i=10;</a:t>
            </a:r>
            <a:endParaRPr sz="2200">
              <a:latin typeface="Arial"/>
              <a:ea typeface="Arial"/>
              <a:cs typeface="Arial"/>
              <a:sym typeface="Arial"/>
            </a:endParaRPr>
          </a:p>
          <a:p>
            <a:pPr marL="1250315" lvl="0" indent="0" algn="l" rtl="0">
              <a:lnSpc>
                <a:spcPct val="100000"/>
              </a:lnSpc>
              <a:spcBef>
                <a:spcPts val="300"/>
              </a:spcBef>
              <a:spcAft>
                <a:spcPts val="0"/>
              </a:spcAft>
              <a:buNone/>
            </a:pPr>
            <a:r>
              <a:rPr lang="en-US" sz="2200">
                <a:solidFill>
                  <a:srgbClr val="575757"/>
                </a:solidFill>
                <a:latin typeface="Arial"/>
                <a:ea typeface="Arial"/>
                <a:cs typeface="Arial"/>
                <a:sym typeface="Arial"/>
              </a:rPr>
              <a:t>char c =Character.forDigit(I,16);</a:t>
            </a:r>
            <a:endParaRPr sz="2200">
              <a:latin typeface="Arial"/>
              <a:ea typeface="Arial"/>
              <a:cs typeface="Arial"/>
              <a:sym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567"/>
        <p:cNvGrpSpPr/>
        <p:nvPr/>
      </p:nvGrpSpPr>
      <p:grpSpPr>
        <a:xfrm>
          <a:off x="0" y="0"/>
          <a:ext cx="0" cy="0"/>
          <a:chOff x="0" y="0"/>
          <a:chExt cx="0" cy="0"/>
        </a:xfrm>
      </p:grpSpPr>
      <p:sp>
        <p:nvSpPr>
          <p:cNvPr id="568" name="Google Shape;568;p60"/>
          <p:cNvSpPr txBox="1"/>
          <p:nvPr/>
        </p:nvSpPr>
        <p:spPr>
          <a:xfrm>
            <a:off x="699617" y="2207133"/>
            <a:ext cx="2035810" cy="1717675"/>
          </a:xfrm>
          <a:prstGeom prst="rect">
            <a:avLst/>
          </a:prstGeom>
          <a:noFill/>
          <a:ln>
            <a:noFill/>
          </a:ln>
        </p:spPr>
        <p:txBody>
          <a:bodyPr spcFirstLastPara="1" wrap="square" lIns="0" tIns="12700" rIns="0" bIns="0" anchor="t" anchorCtr="0">
            <a:spAutoFit/>
          </a:bodyPr>
          <a:lstStyle/>
          <a:p>
            <a:pPr marL="323850" marR="310515" lvl="0" indent="0" algn="ctr" rtl="0">
              <a:lnSpc>
                <a:spcPct val="125000"/>
              </a:lnSpc>
              <a:spcBef>
                <a:spcPts val="0"/>
              </a:spcBef>
              <a:spcAft>
                <a:spcPts val="0"/>
              </a:spcAft>
              <a:buNone/>
            </a:pPr>
            <a:r>
              <a:rPr lang="en-US" sz="3600" b="1">
                <a:solidFill>
                  <a:srgbClr val="FFFFFF"/>
                </a:solidFill>
                <a:latin typeface="Cambria"/>
                <a:ea typeface="Cambria"/>
                <a:cs typeface="Cambria"/>
                <a:sym typeface="Cambria"/>
              </a:rPr>
              <a:t>Integer &amp;</a:t>
            </a:r>
            <a:endParaRPr sz="3600">
              <a:latin typeface="Cambria"/>
              <a:ea typeface="Cambria"/>
              <a:cs typeface="Cambria"/>
              <a:sym typeface="Cambria"/>
            </a:endParaRPr>
          </a:p>
          <a:p>
            <a:pPr marL="0" lvl="0" indent="0" algn="ctr" rtl="0">
              <a:lnSpc>
                <a:spcPct val="100000"/>
              </a:lnSpc>
              <a:spcBef>
                <a:spcPts val="0"/>
              </a:spcBef>
              <a:spcAft>
                <a:spcPts val="0"/>
              </a:spcAft>
              <a:buNone/>
            </a:pPr>
            <a:r>
              <a:rPr lang="en-US" sz="3600" b="1">
                <a:solidFill>
                  <a:srgbClr val="FFFFFF"/>
                </a:solidFill>
                <a:latin typeface="Cambria"/>
                <a:ea typeface="Cambria"/>
                <a:cs typeface="Cambria"/>
                <a:sym typeface="Cambria"/>
              </a:rPr>
              <a:t>LongClass</a:t>
            </a:r>
            <a:endParaRPr sz="3600">
              <a:latin typeface="Cambria"/>
              <a:ea typeface="Cambria"/>
              <a:cs typeface="Cambria"/>
              <a:sym typeface="Cambria"/>
            </a:endParaRPr>
          </a:p>
        </p:txBody>
      </p:sp>
      <p:pic>
        <p:nvPicPr>
          <p:cNvPr id="569" name="Google Shape;569;p60"/>
          <p:cNvPicPr preferRelativeResize="0"/>
          <p:nvPr/>
        </p:nvPicPr>
        <p:blipFill rotWithShape="1">
          <a:blip r:embed="rId3">
            <a:alphaModFix/>
          </a:blip>
          <a:srcRect/>
          <a:stretch/>
        </p:blipFill>
        <p:spPr>
          <a:xfrm>
            <a:off x="3961765" y="1298194"/>
            <a:ext cx="417575" cy="310896"/>
          </a:xfrm>
          <a:prstGeom prst="rect">
            <a:avLst/>
          </a:prstGeom>
          <a:noFill/>
          <a:ln>
            <a:noFill/>
          </a:ln>
        </p:spPr>
      </p:pic>
      <p:pic>
        <p:nvPicPr>
          <p:cNvPr id="570" name="Google Shape;570;p60"/>
          <p:cNvPicPr preferRelativeResize="0"/>
          <p:nvPr/>
        </p:nvPicPr>
        <p:blipFill rotWithShape="1">
          <a:blip r:embed="rId3">
            <a:alphaModFix/>
          </a:blip>
          <a:srcRect/>
          <a:stretch/>
        </p:blipFill>
        <p:spPr>
          <a:xfrm>
            <a:off x="3961765" y="1747773"/>
            <a:ext cx="417575" cy="310896"/>
          </a:xfrm>
          <a:prstGeom prst="rect">
            <a:avLst/>
          </a:prstGeom>
          <a:noFill/>
          <a:ln>
            <a:noFill/>
          </a:ln>
        </p:spPr>
      </p:pic>
      <p:pic>
        <p:nvPicPr>
          <p:cNvPr id="571" name="Google Shape;571;p60"/>
          <p:cNvPicPr preferRelativeResize="0"/>
          <p:nvPr/>
        </p:nvPicPr>
        <p:blipFill rotWithShape="1">
          <a:blip r:embed="rId3">
            <a:alphaModFix/>
          </a:blip>
          <a:srcRect/>
          <a:stretch/>
        </p:blipFill>
        <p:spPr>
          <a:xfrm>
            <a:off x="4464684" y="2083054"/>
            <a:ext cx="417575" cy="310896"/>
          </a:xfrm>
          <a:prstGeom prst="rect">
            <a:avLst/>
          </a:prstGeom>
          <a:noFill/>
          <a:ln>
            <a:noFill/>
          </a:ln>
        </p:spPr>
      </p:pic>
      <p:pic>
        <p:nvPicPr>
          <p:cNvPr id="572" name="Google Shape;572;p60"/>
          <p:cNvPicPr preferRelativeResize="0"/>
          <p:nvPr/>
        </p:nvPicPr>
        <p:blipFill rotWithShape="1">
          <a:blip r:embed="rId3">
            <a:alphaModFix/>
          </a:blip>
          <a:srcRect/>
          <a:stretch/>
        </p:blipFill>
        <p:spPr>
          <a:xfrm>
            <a:off x="4464684" y="2456688"/>
            <a:ext cx="417575" cy="310896"/>
          </a:xfrm>
          <a:prstGeom prst="rect">
            <a:avLst/>
          </a:prstGeom>
          <a:noFill/>
          <a:ln>
            <a:noFill/>
          </a:ln>
        </p:spPr>
      </p:pic>
      <p:pic>
        <p:nvPicPr>
          <p:cNvPr id="573" name="Google Shape;573;p60"/>
          <p:cNvPicPr preferRelativeResize="0"/>
          <p:nvPr/>
        </p:nvPicPr>
        <p:blipFill rotWithShape="1">
          <a:blip r:embed="rId3">
            <a:alphaModFix/>
          </a:blip>
          <a:srcRect/>
          <a:stretch/>
        </p:blipFill>
        <p:spPr>
          <a:xfrm>
            <a:off x="4464684" y="2830067"/>
            <a:ext cx="417575" cy="310896"/>
          </a:xfrm>
          <a:prstGeom prst="rect">
            <a:avLst/>
          </a:prstGeom>
          <a:noFill/>
          <a:ln>
            <a:noFill/>
          </a:ln>
        </p:spPr>
      </p:pic>
      <p:pic>
        <p:nvPicPr>
          <p:cNvPr id="574" name="Google Shape;574;p60"/>
          <p:cNvPicPr preferRelativeResize="0"/>
          <p:nvPr/>
        </p:nvPicPr>
        <p:blipFill rotWithShape="1">
          <a:blip r:embed="rId3">
            <a:alphaModFix/>
          </a:blip>
          <a:srcRect/>
          <a:stretch/>
        </p:blipFill>
        <p:spPr>
          <a:xfrm>
            <a:off x="4464684" y="3203448"/>
            <a:ext cx="417575" cy="310896"/>
          </a:xfrm>
          <a:prstGeom prst="rect">
            <a:avLst/>
          </a:prstGeom>
          <a:noFill/>
          <a:ln>
            <a:noFill/>
          </a:ln>
        </p:spPr>
      </p:pic>
      <p:sp>
        <p:nvSpPr>
          <p:cNvPr id="575" name="Google Shape;575;p60"/>
          <p:cNvSpPr txBox="1"/>
          <p:nvPr/>
        </p:nvSpPr>
        <p:spPr>
          <a:xfrm>
            <a:off x="4159377" y="1141628"/>
            <a:ext cx="4601210" cy="2380615"/>
          </a:xfrm>
          <a:prstGeom prst="rect">
            <a:avLst/>
          </a:prstGeom>
          <a:noFill/>
          <a:ln>
            <a:noFill/>
          </a:ln>
        </p:spPr>
        <p:txBody>
          <a:bodyPr spcFirstLastPara="1" wrap="square" lIns="0" tIns="127000" rIns="0" bIns="0" anchor="t" anchorCtr="0">
            <a:spAutoFit/>
          </a:bodyPr>
          <a:lstStyle/>
          <a:p>
            <a:pPr marL="12700" lvl="0" indent="0" algn="l" rtl="0">
              <a:lnSpc>
                <a:spcPct val="100000"/>
              </a:lnSpc>
              <a:spcBef>
                <a:spcPts val="0"/>
              </a:spcBef>
              <a:spcAft>
                <a:spcPts val="0"/>
              </a:spcAft>
              <a:buNone/>
            </a:pPr>
            <a:r>
              <a:rPr lang="en-US" sz="2200" b="1">
                <a:solidFill>
                  <a:srgbClr val="575757"/>
                </a:solidFill>
                <a:latin typeface="Trebuchet MS"/>
                <a:ea typeface="Trebuchet MS"/>
                <a:cs typeface="Trebuchet MS"/>
                <a:sym typeface="Trebuchet MS"/>
              </a:rPr>
              <a:t>Integer &amp; Long Class</a:t>
            </a:r>
            <a:endParaRPr sz="2200">
              <a:latin typeface="Trebuchet MS"/>
              <a:ea typeface="Trebuchet MS"/>
              <a:cs typeface="Trebuchet MS"/>
              <a:sym typeface="Trebuchet MS"/>
            </a:endParaRPr>
          </a:p>
          <a:p>
            <a:pPr marL="12700" lvl="0" indent="0" algn="l" rtl="0">
              <a:lnSpc>
                <a:spcPct val="100000"/>
              </a:lnSpc>
              <a:spcBef>
                <a:spcPts val="900"/>
              </a:spcBef>
              <a:spcAft>
                <a:spcPts val="0"/>
              </a:spcAft>
              <a:buNone/>
            </a:pPr>
            <a:r>
              <a:rPr lang="en-US" sz="2200">
                <a:solidFill>
                  <a:srgbClr val="575757"/>
                </a:solidFill>
                <a:latin typeface="Arial"/>
                <a:ea typeface="Arial"/>
                <a:cs typeface="Arial"/>
                <a:sym typeface="Arial"/>
              </a:rPr>
              <a:t>parseInt( )</a:t>
            </a:r>
            <a:endParaRPr sz="2200">
              <a:latin typeface="Arial"/>
              <a:ea typeface="Arial"/>
              <a:cs typeface="Arial"/>
              <a:sym typeface="Arial"/>
            </a:endParaRPr>
          </a:p>
          <a:p>
            <a:pPr marL="515619" lvl="0" indent="0" algn="l" rtl="0">
              <a:lnSpc>
                <a:spcPct val="100000"/>
              </a:lnSpc>
              <a:spcBef>
                <a:spcPts val="0"/>
              </a:spcBef>
              <a:spcAft>
                <a:spcPts val="0"/>
              </a:spcAft>
              <a:buNone/>
            </a:pPr>
            <a:r>
              <a:rPr lang="en-US" sz="2200">
                <a:solidFill>
                  <a:srgbClr val="575757"/>
                </a:solidFill>
                <a:latin typeface="Arial"/>
                <a:ea typeface="Arial"/>
                <a:cs typeface="Arial"/>
                <a:sym typeface="Arial"/>
              </a:rPr>
              <a:t>static int parseInt(String s, int radix)</a:t>
            </a:r>
            <a:endParaRPr sz="2200">
              <a:latin typeface="Arial"/>
              <a:ea typeface="Arial"/>
              <a:cs typeface="Arial"/>
              <a:sym typeface="Arial"/>
            </a:endParaRPr>
          </a:p>
          <a:p>
            <a:pPr marL="515619" lvl="0" indent="0" algn="l" rtl="0">
              <a:lnSpc>
                <a:spcPct val="100000"/>
              </a:lnSpc>
              <a:spcBef>
                <a:spcPts val="300"/>
              </a:spcBef>
              <a:spcAft>
                <a:spcPts val="0"/>
              </a:spcAft>
              <a:buNone/>
            </a:pPr>
            <a:r>
              <a:rPr lang="en-US" sz="2200">
                <a:solidFill>
                  <a:srgbClr val="575757"/>
                </a:solidFill>
                <a:latin typeface="Arial"/>
                <a:ea typeface="Arial"/>
                <a:cs typeface="Arial"/>
                <a:sym typeface="Arial"/>
              </a:rPr>
              <a:t>static int parseInt(String s)</a:t>
            </a:r>
            <a:endParaRPr sz="2200">
              <a:latin typeface="Arial"/>
              <a:ea typeface="Arial"/>
              <a:cs typeface="Arial"/>
              <a:sym typeface="Arial"/>
            </a:endParaRPr>
          </a:p>
          <a:p>
            <a:pPr marL="820419" marR="600075" lvl="0" indent="-304800" algn="l" rtl="0">
              <a:lnSpc>
                <a:spcPct val="111400"/>
              </a:lnSpc>
              <a:spcBef>
                <a:spcPts val="0"/>
              </a:spcBef>
              <a:spcAft>
                <a:spcPts val="0"/>
              </a:spcAft>
              <a:buNone/>
            </a:pPr>
            <a:r>
              <a:rPr lang="en-US" sz="2200">
                <a:solidFill>
                  <a:srgbClr val="575757"/>
                </a:solidFill>
                <a:latin typeface="Arial"/>
                <a:ea typeface="Arial"/>
                <a:cs typeface="Arial"/>
                <a:sym typeface="Arial"/>
              </a:rPr>
              <a:t>Ex. Integer i = new Integer(17); float f = i.floatValue();</a:t>
            </a:r>
            <a:endParaRPr sz="2200">
              <a:latin typeface="Arial"/>
              <a:ea typeface="Arial"/>
              <a:cs typeface="Arial"/>
              <a:sym typeface="Arial"/>
            </a:endParaRPr>
          </a:p>
        </p:txBody>
      </p:sp>
      <p:pic>
        <p:nvPicPr>
          <p:cNvPr id="576" name="Google Shape;576;p60"/>
          <p:cNvPicPr preferRelativeResize="0"/>
          <p:nvPr/>
        </p:nvPicPr>
        <p:blipFill rotWithShape="1">
          <a:blip r:embed="rId3">
            <a:alphaModFix/>
          </a:blip>
          <a:srcRect/>
          <a:stretch/>
        </p:blipFill>
        <p:spPr>
          <a:xfrm>
            <a:off x="3961765" y="4098035"/>
            <a:ext cx="417575" cy="310895"/>
          </a:xfrm>
          <a:prstGeom prst="rect">
            <a:avLst/>
          </a:prstGeom>
          <a:noFill/>
          <a:ln>
            <a:noFill/>
          </a:ln>
        </p:spPr>
      </p:pic>
      <p:pic>
        <p:nvPicPr>
          <p:cNvPr id="577" name="Google Shape;577;p60"/>
          <p:cNvPicPr preferRelativeResize="0"/>
          <p:nvPr/>
        </p:nvPicPr>
        <p:blipFill rotWithShape="1">
          <a:blip r:embed="rId3">
            <a:alphaModFix/>
          </a:blip>
          <a:srcRect/>
          <a:stretch/>
        </p:blipFill>
        <p:spPr>
          <a:xfrm>
            <a:off x="4464684" y="4433011"/>
            <a:ext cx="417575" cy="311200"/>
          </a:xfrm>
          <a:prstGeom prst="rect">
            <a:avLst/>
          </a:prstGeom>
          <a:noFill/>
          <a:ln>
            <a:noFill/>
          </a:ln>
        </p:spPr>
      </p:pic>
      <p:pic>
        <p:nvPicPr>
          <p:cNvPr id="578" name="Google Shape;578;p60"/>
          <p:cNvPicPr preferRelativeResize="0"/>
          <p:nvPr/>
        </p:nvPicPr>
        <p:blipFill rotWithShape="1">
          <a:blip r:embed="rId3">
            <a:alphaModFix/>
          </a:blip>
          <a:srcRect/>
          <a:stretch/>
        </p:blipFill>
        <p:spPr>
          <a:xfrm>
            <a:off x="4464684" y="4806950"/>
            <a:ext cx="417575" cy="310895"/>
          </a:xfrm>
          <a:prstGeom prst="rect">
            <a:avLst/>
          </a:prstGeom>
          <a:noFill/>
          <a:ln>
            <a:noFill/>
          </a:ln>
        </p:spPr>
      </p:pic>
      <p:pic>
        <p:nvPicPr>
          <p:cNvPr id="579" name="Google Shape;579;p60"/>
          <p:cNvPicPr preferRelativeResize="0"/>
          <p:nvPr/>
        </p:nvPicPr>
        <p:blipFill rotWithShape="1">
          <a:blip r:embed="rId3">
            <a:alphaModFix/>
          </a:blip>
          <a:srcRect/>
          <a:stretch/>
        </p:blipFill>
        <p:spPr>
          <a:xfrm>
            <a:off x="4464684" y="5180329"/>
            <a:ext cx="417575" cy="310895"/>
          </a:xfrm>
          <a:prstGeom prst="rect">
            <a:avLst/>
          </a:prstGeom>
          <a:noFill/>
          <a:ln>
            <a:noFill/>
          </a:ln>
        </p:spPr>
      </p:pic>
      <p:sp>
        <p:nvSpPr>
          <p:cNvPr id="580" name="Google Shape;580;p60"/>
          <p:cNvSpPr txBox="1"/>
          <p:nvPr/>
        </p:nvSpPr>
        <p:spPr>
          <a:xfrm>
            <a:off x="4159377" y="4056379"/>
            <a:ext cx="6234430" cy="14427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2200">
                <a:solidFill>
                  <a:srgbClr val="575757"/>
                </a:solidFill>
                <a:latin typeface="Arial"/>
                <a:ea typeface="Arial"/>
                <a:cs typeface="Arial"/>
                <a:sym typeface="Arial"/>
              </a:rPr>
              <a:t>getInteger( )</a:t>
            </a:r>
            <a:endParaRPr sz="2200">
              <a:latin typeface="Arial"/>
              <a:ea typeface="Arial"/>
              <a:cs typeface="Arial"/>
              <a:sym typeface="Arial"/>
            </a:endParaRPr>
          </a:p>
          <a:p>
            <a:pPr marL="515619" lvl="0" indent="0" algn="l" rtl="0">
              <a:lnSpc>
                <a:spcPct val="100000"/>
              </a:lnSpc>
              <a:spcBef>
                <a:spcPts val="0"/>
              </a:spcBef>
              <a:spcAft>
                <a:spcPts val="0"/>
              </a:spcAft>
              <a:buNone/>
            </a:pPr>
            <a:r>
              <a:rPr lang="en-US" sz="2200">
                <a:solidFill>
                  <a:srgbClr val="575757"/>
                </a:solidFill>
                <a:latin typeface="Arial"/>
                <a:ea typeface="Arial"/>
                <a:cs typeface="Arial"/>
                <a:sym typeface="Arial"/>
              </a:rPr>
              <a:t>static Integer getInteger(String name)</a:t>
            </a:r>
            <a:endParaRPr sz="2200">
              <a:latin typeface="Arial"/>
              <a:ea typeface="Arial"/>
              <a:cs typeface="Arial"/>
              <a:sym typeface="Arial"/>
            </a:endParaRPr>
          </a:p>
          <a:p>
            <a:pPr marL="515619" marR="5080" lvl="0" indent="0" algn="l" rtl="0">
              <a:lnSpc>
                <a:spcPct val="111400"/>
              </a:lnSpc>
              <a:spcBef>
                <a:spcPts val="0"/>
              </a:spcBef>
              <a:spcAft>
                <a:spcPts val="0"/>
              </a:spcAft>
              <a:buNone/>
            </a:pPr>
            <a:r>
              <a:rPr lang="en-US" sz="2200">
                <a:solidFill>
                  <a:srgbClr val="575757"/>
                </a:solidFill>
                <a:latin typeface="Arial"/>
                <a:ea typeface="Arial"/>
                <a:cs typeface="Arial"/>
                <a:sym typeface="Arial"/>
              </a:rPr>
              <a:t>static Integer getInteger(String name, int val) static Integer getInteger(String name, Integer val)</a:t>
            </a:r>
            <a:endParaRPr sz="2200">
              <a:latin typeface="Arial"/>
              <a:ea typeface="Arial"/>
              <a:cs typeface="Arial"/>
              <a:sym typeface="Aria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584"/>
        <p:cNvGrpSpPr/>
        <p:nvPr/>
      </p:nvGrpSpPr>
      <p:grpSpPr>
        <a:xfrm>
          <a:off x="0" y="0"/>
          <a:ext cx="0" cy="0"/>
          <a:chOff x="0" y="0"/>
          <a:chExt cx="0" cy="0"/>
        </a:xfrm>
      </p:grpSpPr>
      <p:sp>
        <p:nvSpPr>
          <p:cNvPr id="585" name="Google Shape;585;p61"/>
          <p:cNvSpPr txBox="1"/>
          <p:nvPr/>
        </p:nvSpPr>
        <p:spPr>
          <a:xfrm>
            <a:off x="342087" y="2830779"/>
            <a:ext cx="2444115" cy="1717675"/>
          </a:xfrm>
          <a:prstGeom prst="rect">
            <a:avLst/>
          </a:prstGeom>
          <a:noFill/>
          <a:ln>
            <a:noFill/>
          </a:ln>
        </p:spPr>
        <p:txBody>
          <a:bodyPr spcFirstLastPara="1" wrap="square" lIns="0" tIns="12700" rIns="0" bIns="0" anchor="t" anchorCtr="0">
            <a:spAutoFit/>
          </a:bodyPr>
          <a:lstStyle/>
          <a:p>
            <a:pPr marL="734695" marR="720725" lvl="0" indent="0" algn="ctr" rtl="0">
              <a:lnSpc>
                <a:spcPct val="125000"/>
              </a:lnSpc>
              <a:spcBef>
                <a:spcPts val="0"/>
              </a:spcBef>
              <a:spcAft>
                <a:spcPts val="0"/>
              </a:spcAft>
              <a:buNone/>
            </a:pPr>
            <a:r>
              <a:rPr lang="en-US" sz="3600" b="1">
                <a:solidFill>
                  <a:srgbClr val="FFFFFF"/>
                </a:solidFill>
                <a:latin typeface="Cambria"/>
                <a:ea typeface="Cambria"/>
                <a:cs typeface="Cambria"/>
                <a:sym typeface="Cambria"/>
              </a:rPr>
              <a:t>Float &amp;</a:t>
            </a:r>
            <a:endParaRPr sz="3600">
              <a:latin typeface="Cambria"/>
              <a:ea typeface="Cambria"/>
              <a:cs typeface="Cambria"/>
              <a:sym typeface="Cambria"/>
            </a:endParaRPr>
          </a:p>
          <a:p>
            <a:pPr marL="0" lvl="0" indent="0" algn="ctr" rtl="0">
              <a:lnSpc>
                <a:spcPct val="100000"/>
              </a:lnSpc>
              <a:spcBef>
                <a:spcPts val="5"/>
              </a:spcBef>
              <a:spcAft>
                <a:spcPts val="0"/>
              </a:spcAft>
              <a:buNone/>
            </a:pPr>
            <a:r>
              <a:rPr lang="en-US" sz="3600" b="1">
                <a:solidFill>
                  <a:srgbClr val="FFFFFF"/>
                </a:solidFill>
                <a:latin typeface="Cambria"/>
                <a:ea typeface="Cambria"/>
                <a:cs typeface="Cambria"/>
                <a:sym typeface="Cambria"/>
              </a:rPr>
              <a:t>DoubleClass</a:t>
            </a:r>
            <a:endParaRPr sz="3600">
              <a:latin typeface="Cambria"/>
              <a:ea typeface="Cambria"/>
              <a:cs typeface="Cambria"/>
              <a:sym typeface="Cambria"/>
            </a:endParaRPr>
          </a:p>
        </p:txBody>
      </p:sp>
      <p:pic>
        <p:nvPicPr>
          <p:cNvPr id="586" name="Google Shape;586;p61"/>
          <p:cNvPicPr preferRelativeResize="0"/>
          <p:nvPr/>
        </p:nvPicPr>
        <p:blipFill rotWithShape="1">
          <a:blip r:embed="rId3">
            <a:alphaModFix/>
          </a:blip>
          <a:srcRect/>
          <a:stretch/>
        </p:blipFill>
        <p:spPr>
          <a:xfrm>
            <a:off x="3961765" y="957961"/>
            <a:ext cx="128015" cy="310896"/>
          </a:xfrm>
          <a:prstGeom prst="rect">
            <a:avLst/>
          </a:prstGeom>
          <a:noFill/>
          <a:ln>
            <a:noFill/>
          </a:ln>
        </p:spPr>
      </p:pic>
      <p:pic>
        <p:nvPicPr>
          <p:cNvPr id="587" name="Google Shape;587;p61"/>
          <p:cNvPicPr preferRelativeResize="0"/>
          <p:nvPr/>
        </p:nvPicPr>
        <p:blipFill rotWithShape="1">
          <a:blip r:embed="rId4">
            <a:alphaModFix/>
          </a:blip>
          <a:srcRect/>
          <a:stretch/>
        </p:blipFill>
        <p:spPr>
          <a:xfrm>
            <a:off x="3961765" y="1412113"/>
            <a:ext cx="417575" cy="310896"/>
          </a:xfrm>
          <a:prstGeom prst="rect">
            <a:avLst/>
          </a:prstGeom>
          <a:noFill/>
          <a:ln>
            <a:noFill/>
          </a:ln>
        </p:spPr>
      </p:pic>
      <p:pic>
        <p:nvPicPr>
          <p:cNvPr id="588" name="Google Shape;588;p61"/>
          <p:cNvPicPr preferRelativeResize="0"/>
          <p:nvPr/>
        </p:nvPicPr>
        <p:blipFill rotWithShape="1">
          <a:blip r:embed="rId4">
            <a:alphaModFix/>
          </a:blip>
          <a:srcRect/>
          <a:stretch/>
        </p:blipFill>
        <p:spPr>
          <a:xfrm>
            <a:off x="4464684" y="1747088"/>
            <a:ext cx="417575" cy="311200"/>
          </a:xfrm>
          <a:prstGeom prst="rect">
            <a:avLst/>
          </a:prstGeom>
          <a:noFill/>
          <a:ln>
            <a:noFill/>
          </a:ln>
        </p:spPr>
      </p:pic>
      <p:pic>
        <p:nvPicPr>
          <p:cNvPr id="589" name="Google Shape;589;p61"/>
          <p:cNvPicPr preferRelativeResize="0"/>
          <p:nvPr/>
        </p:nvPicPr>
        <p:blipFill rotWithShape="1">
          <a:blip r:embed="rId4">
            <a:alphaModFix/>
          </a:blip>
          <a:srcRect/>
          <a:stretch/>
        </p:blipFill>
        <p:spPr>
          <a:xfrm>
            <a:off x="4464684" y="2121154"/>
            <a:ext cx="417575" cy="310896"/>
          </a:xfrm>
          <a:prstGeom prst="rect">
            <a:avLst/>
          </a:prstGeom>
          <a:noFill/>
          <a:ln>
            <a:noFill/>
          </a:ln>
        </p:spPr>
      </p:pic>
      <p:pic>
        <p:nvPicPr>
          <p:cNvPr id="590" name="Google Shape;590;p61"/>
          <p:cNvPicPr preferRelativeResize="0"/>
          <p:nvPr/>
        </p:nvPicPr>
        <p:blipFill rotWithShape="1">
          <a:blip r:embed="rId4">
            <a:alphaModFix/>
          </a:blip>
          <a:srcRect/>
          <a:stretch/>
        </p:blipFill>
        <p:spPr>
          <a:xfrm>
            <a:off x="4464684" y="2494533"/>
            <a:ext cx="417575" cy="310896"/>
          </a:xfrm>
          <a:prstGeom prst="rect">
            <a:avLst/>
          </a:prstGeom>
          <a:noFill/>
          <a:ln>
            <a:noFill/>
          </a:ln>
        </p:spPr>
      </p:pic>
      <p:pic>
        <p:nvPicPr>
          <p:cNvPr id="591" name="Google Shape;591;p61"/>
          <p:cNvPicPr preferRelativeResize="0"/>
          <p:nvPr/>
        </p:nvPicPr>
        <p:blipFill rotWithShape="1">
          <a:blip r:embed="rId3">
            <a:alphaModFix/>
          </a:blip>
          <a:srcRect/>
          <a:stretch/>
        </p:blipFill>
        <p:spPr>
          <a:xfrm>
            <a:off x="4464684" y="2868802"/>
            <a:ext cx="128015" cy="310896"/>
          </a:xfrm>
          <a:prstGeom prst="rect">
            <a:avLst/>
          </a:prstGeom>
          <a:noFill/>
          <a:ln>
            <a:noFill/>
          </a:ln>
        </p:spPr>
      </p:pic>
      <p:pic>
        <p:nvPicPr>
          <p:cNvPr id="592" name="Google Shape;592;p61"/>
          <p:cNvPicPr preferRelativeResize="0"/>
          <p:nvPr/>
        </p:nvPicPr>
        <p:blipFill rotWithShape="1">
          <a:blip r:embed="rId4">
            <a:alphaModFix/>
          </a:blip>
          <a:srcRect/>
          <a:stretch/>
        </p:blipFill>
        <p:spPr>
          <a:xfrm>
            <a:off x="3961765" y="3681729"/>
            <a:ext cx="417575" cy="310895"/>
          </a:xfrm>
          <a:prstGeom prst="rect">
            <a:avLst/>
          </a:prstGeom>
          <a:noFill/>
          <a:ln>
            <a:noFill/>
          </a:ln>
        </p:spPr>
      </p:pic>
      <p:pic>
        <p:nvPicPr>
          <p:cNvPr id="593" name="Google Shape;593;p61"/>
          <p:cNvPicPr preferRelativeResize="0"/>
          <p:nvPr/>
        </p:nvPicPr>
        <p:blipFill rotWithShape="1">
          <a:blip r:embed="rId4">
            <a:alphaModFix/>
          </a:blip>
          <a:srcRect/>
          <a:stretch/>
        </p:blipFill>
        <p:spPr>
          <a:xfrm>
            <a:off x="4464684" y="4017009"/>
            <a:ext cx="417575" cy="310895"/>
          </a:xfrm>
          <a:prstGeom prst="rect">
            <a:avLst/>
          </a:prstGeom>
          <a:noFill/>
          <a:ln>
            <a:noFill/>
          </a:ln>
        </p:spPr>
      </p:pic>
      <p:pic>
        <p:nvPicPr>
          <p:cNvPr id="594" name="Google Shape;594;p61"/>
          <p:cNvPicPr preferRelativeResize="0"/>
          <p:nvPr/>
        </p:nvPicPr>
        <p:blipFill rotWithShape="1">
          <a:blip r:embed="rId4">
            <a:alphaModFix/>
          </a:blip>
          <a:srcRect/>
          <a:stretch/>
        </p:blipFill>
        <p:spPr>
          <a:xfrm>
            <a:off x="4464684" y="4390390"/>
            <a:ext cx="417575" cy="310895"/>
          </a:xfrm>
          <a:prstGeom prst="rect">
            <a:avLst/>
          </a:prstGeom>
          <a:noFill/>
          <a:ln>
            <a:noFill/>
          </a:ln>
        </p:spPr>
      </p:pic>
      <p:pic>
        <p:nvPicPr>
          <p:cNvPr id="595" name="Google Shape;595;p61"/>
          <p:cNvPicPr preferRelativeResize="0"/>
          <p:nvPr/>
        </p:nvPicPr>
        <p:blipFill rotWithShape="1">
          <a:blip r:embed="rId4">
            <a:alphaModFix/>
          </a:blip>
          <a:srcRect/>
          <a:stretch/>
        </p:blipFill>
        <p:spPr>
          <a:xfrm>
            <a:off x="3961765" y="4877765"/>
            <a:ext cx="417575" cy="311200"/>
          </a:xfrm>
          <a:prstGeom prst="rect">
            <a:avLst/>
          </a:prstGeom>
          <a:noFill/>
          <a:ln>
            <a:noFill/>
          </a:ln>
        </p:spPr>
      </p:pic>
      <p:pic>
        <p:nvPicPr>
          <p:cNvPr id="596" name="Google Shape;596;p61"/>
          <p:cNvPicPr preferRelativeResize="0"/>
          <p:nvPr/>
        </p:nvPicPr>
        <p:blipFill rotWithShape="1">
          <a:blip r:embed="rId4">
            <a:alphaModFix/>
          </a:blip>
          <a:srcRect/>
          <a:stretch/>
        </p:blipFill>
        <p:spPr>
          <a:xfrm>
            <a:off x="4464684" y="5196840"/>
            <a:ext cx="417575" cy="310895"/>
          </a:xfrm>
          <a:prstGeom prst="rect">
            <a:avLst/>
          </a:prstGeom>
          <a:noFill/>
          <a:ln>
            <a:noFill/>
          </a:ln>
        </p:spPr>
      </p:pic>
      <p:sp>
        <p:nvSpPr>
          <p:cNvPr id="597" name="Google Shape;597;p61"/>
          <p:cNvSpPr txBox="1"/>
          <p:nvPr/>
        </p:nvSpPr>
        <p:spPr>
          <a:xfrm>
            <a:off x="4159376" y="796823"/>
            <a:ext cx="7423023" cy="5170005"/>
          </a:xfrm>
          <a:prstGeom prst="rect">
            <a:avLst/>
          </a:prstGeom>
          <a:noFill/>
          <a:ln>
            <a:noFill/>
          </a:ln>
        </p:spPr>
        <p:txBody>
          <a:bodyPr spcFirstLastPara="1" wrap="square" lIns="0" tIns="131425" rIns="0" bIns="0" anchor="t" anchorCtr="0">
            <a:spAutoFit/>
          </a:bodyPr>
          <a:lstStyle/>
          <a:p>
            <a:pPr marL="27305" lvl="0" indent="0" algn="l" rtl="0">
              <a:lnSpc>
                <a:spcPct val="100000"/>
              </a:lnSpc>
              <a:spcBef>
                <a:spcPts val="0"/>
              </a:spcBef>
              <a:spcAft>
                <a:spcPts val="0"/>
              </a:spcAft>
              <a:buNone/>
            </a:pPr>
            <a:r>
              <a:rPr lang="en-US" sz="2200" b="1">
                <a:solidFill>
                  <a:srgbClr val="575757"/>
                </a:solidFill>
                <a:latin typeface="Trebuchet MS"/>
                <a:ea typeface="Trebuchet MS"/>
                <a:cs typeface="Trebuchet MS"/>
                <a:sym typeface="Trebuchet MS"/>
              </a:rPr>
              <a:t>Float &amp; Double Class:</a:t>
            </a:r>
            <a:endParaRPr sz="2200">
              <a:latin typeface="Trebuchet MS"/>
              <a:ea typeface="Trebuchet MS"/>
              <a:cs typeface="Trebuchet MS"/>
              <a:sym typeface="Trebuchet MS"/>
            </a:endParaRPr>
          </a:p>
          <a:p>
            <a:pPr marL="12700" lvl="0" indent="0" algn="l" rtl="0">
              <a:lnSpc>
                <a:spcPct val="100000"/>
              </a:lnSpc>
              <a:spcBef>
                <a:spcPts val="935"/>
              </a:spcBef>
              <a:spcAft>
                <a:spcPts val="0"/>
              </a:spcAft>
              <a:buNone/>
            </a:pPr>
            <a:r>
              <a:rPr lang="en-US" sz="2200">
                <a:solidFill>
                  <a:srgbClr val="575757"/>
                </a:solidFill>
                <a:latin typeface="Arial"/>
                <a:ea typeface="Arial"/>
                <a:cs typeface="Arial"/>
                <a:sym typeface="Arial"/>
              </a:rPr>
              <a:t>isNaN( )</a:t>
            </a:r>
            <a:endParaRPr sz="2200">
              <a:latin typeface="Arial"/>
              <a:ea typeface="Arial"/>
              <a:cs typeface="Arial"/>
              <a:sym typeface="Arial"/>
            </a:endParaRPr>
          </a:p>
          <a:p>
            <a:pPr marL="515619" lvl="0" indent="0" algn="l" rtl="0">
              <a:lnSpc>
                <a:spcPct val="100000"/>
              </a:lnSpc>
              <a:spcBef>
                <a:spcPts val="0"/>
              </a:spcBef>
              <a:spcAft>
                <a:spcPts val="0"/>
              </a:spcAft>
              <a:buNone/>
            </a:pPr>
            <a:r>
              <a:rPr lang="en-US" sz="2200">
                <a:solidFill>
                  <a:srgbClr val="575757"/>
                </a:solidFill>
                <a:latin typeface="Arial"/>
                <a:ea typeface="Arial"/>
                <a:cs typeface="Arial"/>
                <a:sym typeface="Arial"/>
              </a:rPr>
              <a:t>boolean isNaN()</a:t>
            </a:r>
            <a:endParaRPr sz="2200">
              <a:latin typeface="Arial"/>
              <a:ea typeface="Arial"/>
              <a:cs typeface="Arial"/>
              <a:sym typeface="Arial"/>
            </a:endParaRPr>
          </a:p>
          <a:p>
            <a:pPr marL="515619" lvl="0" indent="0" algn="l" rtl="0">
              <a:lnSpc>
                <a:spcPct val="100000"/>
              </a:lnSpc>
              <a:spcBef>
                <a:spcPts val="305"/>
              </a:spcBef>
              <a:spcAft>
                <a:spcPts val="0"/>
              </a:spcAft>
              <a:buNone/>
            </a:pPr>
            <a:r>
              <a:rPr lang="en-US" sz="2200">
                <a:solidFill>
                  <a:srgbClr val="575757"/>
                </a:solidFill>
                <a:latin typeface="Arial"/>
                <a:ea typeface="Arial"/>
                <a:cs typeface="Arial"/>
                <a:sym typeface="Arial"/>
              </a:rPr>
              <a:t>static boolean isNaN(floatv)</a:t>
            </a:r>
            <a:endParaRPr sz="2200">
              <a:latin typeface="Arial"/>
              <a:ea typeface="Arial"/>
              <a:cs typeface="Arial"/>
              <a:sym typeface="Arial"/>
            </a:endParaRPr>
          </a:p>
          <a:p>
            <a:pPr marL="815339" marR="815339" lvl="0" indent="-300354" algn="l" rtl="0">
              <a:lnSpc>
                <a:spcPct val="134090"/>
              </a:lnSpc>
              <a:spcBef>
                <a:spcPts val="140"/>
              </a:spcBef>
              <a:spcAft>
                <a:spcPts val="0"/>
              </a:spcAft>
              <a:buNone/>
            </a:pPr>
            <a:r>
              <a:rPr lang="en-US" sz="2200">
                <a:solidFill>
                  <a:srgbClr val="575757"/>
                </a:solidFill>
                <a:latin typeface="Arial"/>
                <a:ea typeface="Arial"/>
                <a:cs typeface="Arial"/>
                <a:sym typeface="Arial"/>
              </a:rPr>
              <a:t>Ex. Double d1 = newDouble(23.70); System.out.println(“is d1 is not a number?” +d1.isNaN());</a:t>
            </a:r>
            <a:endParaRPr sz="2200">
              <a:latin typeface="Arial"/>
              <a:ea typeface="Arial"/>
              <a:cs typeface="Arial"/>
              <a:sym typeface="Arial"/>
            </a:endParaRPr>
          </a:p>
          <a:p>
            <a:pPr marL="12700" lvl="0" indent="0" algn="l" rtl="0">
              <a:lnSpc>
                <a:spcPct val="100000"/>
              </a:lnSpc>
              <a:spcBef>
                <a:spcPts val="1265"/>
              </a:spcBef>
              <a:spcAft>
                <a:spcPts val="0"/>
              </a:spcAft>
              <a:buNone/>
            </a:pPr>
            <a:r>
              <a:rPr lang="en-US" sz="2200">
                <a:solidFill>
                  <a:srgbClr val="575757"/>
                </a:solidFill>
                <a:latin typeface="Arial"/>
                <a:ea typeface="Arial"/>
                <a:cs typeface="Arial"/>
                <a:sym typeface="Arial"/>
              </a:rPr>
              <a:t>isInfinite( )</a:t>
            </a:r>
            <a:endParaRPr sz="2200">
              <a:latin typeface="Arial"/>
              <a:ea typeface="Arial"/>
              <a:cs typeface="Arial"/>
              <a:sym typeface="Arial"/>
            </a:endParaRPr>
          </a:p>
          <a:p>
            <a:pPr marL="515619" lvl="0" indent="0" algn="l" rtl="0">
              <a:lnSpc>
                <a:spcPct val="100000"/>
              </a:lnSpc>
              <a:spcBef>
                <a:spcPts val="0"/>
              </a:spcBef>
              <a:spcAft>
                <a:spcPts val="0"/>
              </a:spcAft>
              <a:buNone/>
            </a:pPr>
            <a:r>
              <a:rPr lang="en-US" sz="2200">
                <a:solidFill>
                  <a:srgbClr val="575757"/>
                </a:solidFill>
                <a:latin typeface="Arial"/>
                <a:ea typeface="Arial"/>
                <a:cs typeface="Arial"/>
                <a:sym typeface="Arial"/>
              </a:rPr>
              <a:t>boolean isInfinite()</a:t>
            </a:r>
            <a:endParaRPr sz="2200">
              <a:latin typeface="Arial"/>
              <a:ea typeface="Arial"/>
              <a:cs typeface="Arial"/>
              <a:sym typeface="Arial"/>
            </a:endParaRPr>
          </a:p>
          <a:p>
            <a:pPr marL="515619" lvl="0" indent="0" algn="l" rtl="0">
              <a:lnSpc>
                <a:spcPct val="100000"/>
              </a:lnSpc>
              <a:spcBef>
                <a:spcPts val="300"/>
              </a:spcBef>
              <a:spcAft>
                <a:spcPts val="0"/>
              </a:spcAft>
              <a:buNone/>
            </a:pPr>
            <a:r>
              <a:rPr lang="en-US" sz="2200">
                <a:solidFill>
                  <a:srgbClr val="575757"/>
                </a:solidFill>
                <a:latin typeface="Arial"/>
                <a:ea typeface="Arial"/>
                <a:cs typeface="Arial"/>
                <a:sym typeface="Arial"/>
              </a:rPr>
              <a:t>static boolean isInfinite(floatv)</a:t>
            </a:r>
            <a:endParaRPr sz="2200">
              <a:latin typeface="Arial"/>
              <a:ea typeface="Arial"/>
              <a:cs typeface="Arial"/>
              <a:sym typeface="Arial"/>
            </a:endParaRPr>
          </a:p>
          <a:p>
            <a:pPr marL="12700" lvl="0" indent="0" algn="l" rtl="0">
              <a:lnSpc>
                <a:spcPct val="117045"/>
              </a:lnSpc>
              <a:spcBef>
                <a:spcPts val="1200"/>
              </a:spcBef>
              <a:spcAft>
                <a:spcPts val="0"/>
              </a:spcAft>
              <a:buNone/>
            </a:pPr>
            <a:r>
              <a:rPr lang="en-US" sz="2200" b="1">
                <a:solidFill>
                  <a:srgbClr val="575757"/>
                </a:solidFill>
                <a:latin typeface="Trebuchet MS"/>
                <a:ea typeface="Trebuchet MS"/>
                <a:cs typeface="Trebuchet MS"/>
                <a:sym typeface="Trebuchet MS"/>
              </a:rPr>
              <a:t>VoidClass:</a:t>
            </a:r>
            <a:endParaRPr sz="2200">
              <a:latin typeface="Trebuchet MS"/>
              <a:ea typeface="Trebuchet MS"/>
              <a:cs typeface="Trebuchet MS"/>
              <a:sym typeface="Trebuchet MS"/>
            </a:endParaRPr>
          </a:p>
          <a:p>
            <a:pPr marL="487680" marR="5715" lvl="0" indent="27304" algn="l" rtl="0">
              <a:lnSpc>
                <a:spcPct val="113636"/>
              </a:lnSpc>
              <a:spcBef>
                <a:spcPts val="135"/>
              </a:spcBef>
              <a:spcAft>
                <a:spcPts val="0"/>
              </a:spcAft>
              <a:buNone/>
            </a:pPr>
            <a:r>
              <a:rPr lang="en-US" sz="2200">
                <a:solidFill>
                  <a:srgbClr val="575757"/>
                </a:solidFill>
                <a:latin typeface="Arial"/>
                <a:ea typeface="Arial"/>
                <a:cs typeface="Arial"/>
                <a:sym typeface="Arial"/>
              </a:rPr>
              <a:t>void class has no constructors or methods &amp; only one member constantTYPE.</a:t>
            </a:r>
            <a:endParaRPr sz="2200">
              <a:latin typeface="Arial"/>
              <a:ea typeface="Arial"/>
              <a:cs typeface="Arial"/>
              <a:sym typeface="Aria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601"/>
        <p:cNvGrpSpPr/>
        <p:nvPr/>
      </p:nvGrpSpPr>
      <p:grpSpPr>
        <a:xfrm>
          <a:off x="0" y="0"/>
          <a:ext cx="0" cy="0"/>
          <a:chOff x="0" y="0"/>
          <a:chExt cx="0" cy="0"/>
        </a:xfrm>
      </p:grpSpPr>
      <p:grpSp>
        <p:nvGrpSpPr>
          <p:cNvPr id="602" name="Google Shape;602;p62"/>
          <p:cNvGrpSpPr/>
          <p:nvPr/>
        </p:nvGrpSpPr>
        <p:grpSpPr>
          <a:xfrm>
            <a:off x="4312919" y="3002279"/>
            <a:ext cx="7574280" cy="3641090"/>
            <a:chOff x="4312919" y="3002279"/>
            <a:chExt cx="7574280" cy="3641090"/>
          </a:xfrm>
        </p:grpSpPr>
        <p:sp>
          <p:nvSpPr>
            <p:cNvPr id="603" name="Google Shape;603;p62"/>
            <p:cNvSpPr/>
            <p:nvPr/>
          </p:nvSpPr>
          <p:spPr>
            <a:xfrm>
              <a:off x="4312919" y="3002279"/>
              <a:ext cx="7574280" cy="3641090"/>
            </a:xfrm>
            <a:custGeom>
              <a:avLst/>
              <a:gdLst/>
              <a:ahLst/>
              <a:cxnLst/>
              <a:rect l="l" t="t" r="r" b="b"/>
              <a:pathLst>
                <a:path w="7574280" h="3641090" extrusionOk="0">
                  <a:moveTo>
                    <a:pt x="7574280" y="0"/>
                  </a:moveTo>
                  <a:lnTo>
                    <a:pt x="0" y="0"/>
                  </a:lnTo>
                  <a:lnTo>
                    <a:pt x="0" y="3640836"/>
                  </a:lnTo>
                  <a:lnTo>
                    <a:pt x="7574280" y="3640836"/>
                  </a:lnTo>
                  <a:lnTo>
                    <a:pt x="7574280" y="0"/>
                  </a:lnTo>
                  <a:close/>
                </a:path>
              </a:pathLst>
            </a:custGeom>
            <a:solidFill>
              <a:srgbClr val="CEE7EC"/>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604" name="Google Shape;604;p62"/>
            <p:cNvSpPr/>
            <p:nvPr/>
          </p:nvSpPr>
          <p:spPr>
            <a:xfrm>
              <a:off x="4312919" y="3002279"/>
              <a:ext cx="7574280" cy="3641090"/>
            </a:xfrm>
            <a:custGeom>
              <a:avLst/>
              <a:gdLst/>
              <a:ahLst/>
              <a:cxnLst/>
              <a:rect l="l" t="t" r="r" b="b"/>
              <a:pathLst>
                <a:path w="7574280" h="3641090" extrusionOk="0">
                  <a:moveTo>
                    <a:pt x="0" y="3640836"/>
                  </a:moveTo>
                  <a:lnTo>
                    <a:pt x="7574280" y="3640836"/>
                  </a:lnTo>
                  <a:lnTo>
                    <a:pt x="7574280" y="0"/>
                  </a:lnTo>
                  <a:lnTo>
                    <a:pt x="0" y="0"/>
                  </a:lnTo>
                  <a:lnTo>
                    <a:pt x="0" y="3640836"/>
                  </a:lnTo>
                  <a:close/>
                </a:path>
              </a:pathLst>
            </a:custGeom>
            <a:noFill/>
            <a:ln w="1217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605" name="Google Shape;605;p62"/>
          <p:cNvSpPr txBox="1"/>
          <p:nvPr/>
        </p:nvSpPr>
        <p:spPr>
          <a:xfrm>
            <a:off x="331419" y="3075178"/>
            <a:ext cx="2487981" cy="566822"/>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3600" b="1">
                <a:solidFill>
                  <a:srgbClr val="FFFFFF"/>
                </a:solidFill>
                <a:latin typeface="Cambria"/>
                <a:ea typeface="Cambria"/>
                <a:cs typeface="Cambria"/>
                <a:sym typeface="Cambria"/>
              </a:rPr>
              <a:t>Autoboxing</a:t>
            </a:r>
            <a:endParaRPr sz="3600">
              <a:latin typeface="Cambria"/>
              <a:ea typeface="Cambria"/>
              <a:cs typeface="Cambria"/>
              <a:sym typeface="Cambria"/>
            </a:endParaRPr>
          </a:p>
        </p:txBody>
      </p:sp>
      <p:sp>
        <p:nvSpPr>
          <p:cNvPr id="606" name="Google Shape;606;p62"/>
          <p:cNvSpPr txBox="1"/>
          <p:nvPr/>
        </p:nvSpPr>
        <p:spPr>
          <a:xfrm>
            <a:off x="3657601" y="561213"/>
            <a:ext cx="8077200" cy="1960793"/>
          </a:xfrm>
          <a:prstGeom prst="rect">
            <a:avLst/>
          </a:prstGeom>
          <a:noFill/>
          <a:ln>
            <a:noFill/>
          </a:ln>
        </p:spPr>
        <p:txBody>
          <a:bodyPr spcFirstLastPara="1" wrap="square" lIns="0" tIns="26650" rIns="0" bIns="0" anchor="t" anchorCtr="0">
            <a:spAutoFit/>
          </a:bodyPr>
          <a:lstStyle/>
          <a:p>
            <a:pPr marL="12700" marR="1759585" lvl="0" indent="0" algn="just" rtl="0">
              <a:lnSpc>
                <a:spcPct val="105499"/>
              </a:lnSpc>
              <a:spcBef>
                <a:spcPts val="0"/>
              </a:spcBef>
              <a:spcAft>
                <a:spcPts val="0"/>
              </a:spcAft>
              <a:buNone/>
            </a:pPr>
            <a:r>
              <a:rPr lang="en-US" sz="2000">
                <a:solidFill>
                  <a:srgbClr val="575757"/>
                </a:solidFill>
                <a:latin typeface="Cambria"/>
                <a:ea typeface="Cambria"/>
                <a:cs typeface="Cambria"/>
                <a:sym typeface="Cambria"/>
              </a:rPr>
              <a:t>The automatic conversion of primitive datatype into its corresponding wrapper class is known as autoboxing.</a:t>
            </a:r>
            <a:endParaRPr sz="2000">
              <a:latin typeface="Cambria"/>
              <a:ea typeface="Cambria"/>
              <a:cs typeface="Cambria"/>
              <a:sym typeface="Cambria"/>
            </a:endParaRPr>
          </a:p>
          <a:p>
            <a:pPr marL="195580" marR="5080" lvl="0" indent="-27939" algn="just" rtl="0">
              <a:lnSpc>
                <a:spcPct val="80000"/>
              </a:lnSpc>
              <a:spcBef>
                <a:spcPts val="1620"/>
              </a:spcBef>
              <a:spcAft>
                <a:spcPts val="0"/>
              </a:spcAft>
              <a:buNone/>
            </a:pPr>
            <a:r>
              <a:rPr lang="en-US" sz="2000">
                <a:solidFill>
                  <a:srgbClr val="575757"/>
                </a:solidFill>
                <a:latin typeface="Cambria"/>
                <a:ea typeface="Cambria"/>
                <a:cs typeface="Cambria"/>
                <a:sym typeface="Cambria"/>
              </a:rPr>
              <a:t>For example, byte to Byte, char to Character, int to Integer, long to Long, float to Float,  Boolean to Boolean, double to  Double, and short to Short.</a:t>
            </a:r>
            <a:endParaRPr sz="2000">
              <a:latin typeface="Cambria"/>
              <a:ea typeface="Cambria"/>
              <a:cs typeface="Cambria"/>
              <a:sym typeface="Cambria"/>
            </a:endParaRPr>
          </a:p>
          <a:p>
            <a:pPr marL="195580" marR="5080" lvl="0" indent="-27939" algn="just" rtl="0">
              <a:lnSpc>
                <a:spcPct val="80000"/>
              </a:lnSpc>
              <a:spcBef>
                <a:spcPts val="1620"/>
              </a:spcBef>
              <a:spcAft>
                <a:spcPts val="0"/>
              </a:spcAft>
              <a:buNone/>
            </a:pPr>
            <a:r>
              <a:rPr lang="en-US" sz="2000">
                <a:solidFill>
                  <a:srgbClr val="575757"/>
                </a:solidFill>
                <a:latin typeface="Cambria"/>
                <a:ea typeface="Cambria"/>
                <a:cs typeface="Cambria"/>
                <a:sym typeface="Cambria"/>
              </a:rPr>
              <a:t>Since Java5, we do not need to use the valueOf() method of wrapper classes to convert the primitive into objects.</a:t>
            </a:r>
            <a:endParaRPr sz="2000">
              <a:latin typeface="Cambria"/>
              <a:ea typeface="Cambria"/>
              <a:cs typeface="Cambria"/>
              <a:sym typeface="Cambria"/>
            </a:endParaRPr>
          </a:p>
        </p:txBody>
      </p:sp>
      <p:sp>
        <p:nvSpPr>
          <p:cNvPr id="607" name="Google Shape;607;p62"/>
          <p:cNvSpPr txBox="1"/>
          <p:nvPr/>
        </p:nvSpPr>
        <p:spPr>
          <a:xfrm>
            <a:off x="4391659" y="3016122"/>
            <a:ext cx="6901815" cy="167195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800">
                <a:latin typeface="Cambria"/>
                <a:ea typeface="Cambria"/>
                <a:cs typeface="Cambria"/>
                <a:sym typeface="Cambria"/>
              </a:rPr>
              <a:t>public class WrapperExample1</a:t>
            </a:r>
            <a:endParaRPr sz="1800">
              <a:latin typeface="Cambria"/>
              <a:ea typeface="Cambria"/>
              <a:cs typeface="Cambria"/>
              <a:sym typeface="Cambria"/>
            </a:endParaRPr>
          </a:p>
          <a:p>
            <a:pPr marL="12700" lvl="0" indent="0" algn="l" rtl="0">
              <a:lnSpc>
                <a:spcPct val="100000"/>
              </a:lnSpc>
              <a:spcBef>
                <a:spcPts val="0"/>
              </a:spcBef>
              <a:spcAft>
                <a:spcPts val="0"/>
              </a:spcAft>
              <a:buNone/>
            </a:pPr>
            <a:r>
              <a:rPr lang="en-US" sz="1800">
                <a:latin typeface="Cambria"/>
                <a:ea typeface="Cambria"/>
                <a:cs typeface="Cambria"/>
                <a:sym typeface="Cambria"/>
              </a:rPr>
              <a:t>{</a:t>
            </a:r>
            <a:endParaRPr sz="1800">
              <a:latin typeface="Cambria"/>
              <a:ea typeface="Cambria"/>
              <a:cs typeface="Cambria"/>
              <a:sym typeface="Cambria"/>
            </a:endParaRPr>
          </a:p>
          <a:p>
            <a:pPr marL="337185" lvl="0" indent="0" algn="l" rtl="0">
              <a:lnSpc>
                <a:spcPct val="100000"/>
              </a:lnSpc>
              <a:spcBef>
                <a:spcPts val="0"/>
              </a:spcBef>
              <a:spcAft>
                <a:spcPts val="0"/>
              </a:spcAft>
              <a:buNone/>
            </a:pPr>
            <a:r>
              <a:rPr lang="en-US" sz="1800">
                <a:latin typeface="Cambria"/>
                <a:ea typeface="Cambria"/>
                <a:cs typeface="Cambria"/>
                <a:sym typeface="Cambria"/>
              </a:rPr>
              <a:t>public static void main(Stringargs[])</a:t>
            </a:r>
            <a:endParaRPr sz="1800">
              <a:latin typeface="Cambria"/>
              <a:ea typeface="Cambria"/>
              <a:cs typeface="Cambria"/>
              <a:sym typeface="Cambria"/>
            </a:endParaRPr>
          </a:p>
          <a:p>
            <a:pPr marL="382905" lvl="0" indent="0" algn="l" rtl="0">
              <a:lnSpc>
                <a:spcPct val="100000"/>
              </a:lnSpc>
              <a:spcBef>
                <a:spcPts val="0"/>
              </a:spcBef>
              <a:spcAft>
                <a:spcPts val="0"/>
              </a:spcAft>
              <a:buNone/>
            </a:pPr>
            <a:r>
              <a:rPr lang="en-US" sz="1800">
                <a:latin typeface="Cambria"/>
                <a:ea typeface="Cambria"/>
                <a:cs typeface="Cambria"/>
                <a:sym typeface="Cambria"/>
              </a:rPr>
              <a:t>{</a:t>
            </a:r>
            <a:endParaRPr sz="1800">
              <a:latin typeface="Cambria"/>
              <a:ea typeface="Cambria"/>
              <a:cs typeface="Cambria"/>
              <a:sym typeface="Cambria"/>
            </a:endParaRPr>
          </a:p>
          <a:p>
            <a:pPr marL="706120" lvl="0" indent="0" algn="l" rtl="0">
              <a:lnSpc>
                <a:spcPct val="100000"/>
              </a:lnSpc>
              <a:spcBef>
                <a:spcPts val="0"/>
              </a:spcBef>
              <a:spcAft>
                <a:spcPts val="0"/>
              </a:spcAft>
              <a:buNone/>
            </a:pPr>
            <a:r>
              <a:rPr lang="en-US" sz="1800">
                <a:latin typeface="Cambria"/>
                <a:ea typeface="Cambria"/>
                <a:cs typeface="Cambria"/>
                <a:sym typeface="Cambria"/>
              </a:rPr>
              <a:t>int a=20;</a:t>
            </a:r>
            <a:endParaRPr sz="1800">
              <a:latin typeface="Cambria"/>
              <a:ea typeface="Cambria"/>
              <a:cs typeface="Cambria"/>
              <a:sym typeface="Cambria"/>
            </a:endParaRPr>
          </a:p>
          <a:p>
            <a:pPr marL="751840" lvl="0" indent="0" algn="l" rtl="0">
              <a:lnSpc>
                <a:spcPct val="100000"/>
              </a:lnSpc>
              <a:spcBef>
                <a:spcPts val="0"/>
              </a:spcBef>
              <a:spcAft>
                <a:spcPts val="0"/>
              </a:spcAft>
              <a:buNone/>
            </a:pPr>
            <a:r>
              <a:rPr lang="en-US" sz="1800">
                <a:latin typeface="Cambria"/>
                <a:ea typeface="Cambria"/>
                <a:cs typeface="Cambria"/>
                <a:sym typeface="Cambria"/>
              </a:rPr>
              <a:t>Integeri=Integer.valueOf(a); //converting int into Integerexplicitly</a:t>
            </a:r>
            <a:endParaRPr sz="1800">
              <a:latin typeface="Cambria"/>
              <a:ea typeface="Cambria"/>
              <a:cs typeface="Cambria"/>
              <a:sym typeface="Cambria"/>
            </a:endParaRPr>
          </a:p>
        </p:txBody>
      </p:sp>
      <p:sp>
        <p:nvSpPr>
          <p:cNvPr id="608" name="Google Shape;608;p62"/>
          <p:cNvSpPr txBox="1"/>
          <p:nvPr/>
        </p:nvSpPr>
        <p:spPr>
          <a:xfrm>
            <a:off x="4391659" y="4936617"/>
            <a:ext cx="6953884" cy="1671955"/>
          </a:xfrm>
          <a:prstGeom prst="rect">
            <a:avLst/>
          </a:prstGeom>
          <a:noFill/>
          <a:ln>
            <a:noFill/>
          </a:ln>
        </p:spPr>
        <p:txBody>
          <a:bodyPr spcFirstLastPara="1" wrap="square" lIns="0" tIns="12700" rIns="0" bIns="0" anchor="t" anchorCtr="0">
            <a:spAutoFit/>
          </a:bodyPr>
          <a:lstStyle/>
          <a:p>
            <a:pPr marL="751840" lvl="0" indent="0" algn="l" rtl="0">
              <a:lnSpc>
                <a:spcPct val="100000"/>
              </a:lnSpc>
              <a:spcBef>
                <a:spcPts val="0"/>
              </a:spcBef>
              <a:spcAft>
                <a:spcPts val="0"/>
              </a:spcAft>
              <a:buNone/>
            </a:pPr>
            <a:r>
              <a:rPr lang="en-US" sz="1800">
                <a:latin typeface="Cambria"/>
                <a:ea typeface="Cambria"/>
                <a:cs typeface="Cambria"/>
                <a:sym typeface="Cambria"/>
              </a:rPr>
              <a:t>Integerj=a;</a:t>
            </a:r>
            <a:endParaRPr sz="1800">
              <a:latin typeface="Cambria"/>
              <a:ea typeface="Cambria"/>
              <a:cs typeface="Cambria"/>
              <a:sym typeface="Cambria"/>
            </a:endParaRPr>
          </a:p>
          <a:p>
            <a:pPr marL="751840" lvl="0" indent="0" algn="l" rtl="0">
              <a:lnSpc>
                <a:spcPct val="100000"/>
              </a:lnSpc>
              <a:spcBef>
                <a:spcPts val="0"/>
              </a:spcBef>
              <a:spcAft>
                <a:spcPts val="0"/>
              </a:spcAft>
              <a:buNone/>
            </a:pPr>
            <a:r>
              <a:rPr lang="en-US" sz="1800">
                <a:latin typeface="Cambria"/>
                <a:ea typeface="Cambria"/>
                <a:cs typeface="Cambria"/>
                <a:sym typeface="Cambria"/>
              </a:rPr>
              <a:t>//autoboxing, nowcompiler will write Integer.valueOf(a) internally</a:t>
            </a:r>
            <a:endParaRPr sz="1800">
              <a:latin typeface="Cambria"/>
              <a:ea typeface="Cambria"/>
              <a:cs typeface="Cambria"/>
              <a:sym typeface="Cambria"/>
            </a:endParaRPr>
          </a:p>
          <a:p>
            <a:pPr marL="0" lvl="0" indent="0" algn="l" rtl="0">
              <a:lnSpc>
                <a:spcPct val="100000"/>
              </a:lnSpc>
              <a:spcBef>
                <a:spcPts val="50"/>
              </a:spcBef>
              <a:spcAft>
                <a:spcPts val="0"/>
              </a:spcAft>
              <a:buNone/>
            </a:pPr>
            <a:endParaRPr sz="1800">
              <a:latin typeface="Cambria"/>
              <a:ea typeface="Cambria"/>
              <a:cs typeface="Cambria"/>
              <a:sym typeface="Cambria"/>
            </a:endParaRPr>
          </a:p>
          <a:p>
            <a:pPr marL="745490" lvl="0" indent="0" algn="l" rtl="0">
              <a:lnSpc>
                <a:spcPct val="100000"/>
              </a:lnSpc>
              <a:spcBef>
                <a:spcPts val="0"/>
              </a:spcBef>
              <a:spcAft>
                <a:spcPts val="0"/>
              </a:spcAft>
              <a:buNone/>
            </a:pPr>
            <a:r>
              <a:rPr lang="en-US" sz="1800">
                <a:latin typeface="Cambria"/>
                <a:ea typeface="Cambria"/>
                <a:cs typeface="Cambria"/>
                <a:sym typeface="Cambria"/>
              </a:rPr>
              <a:t>System.out.println(a+" "+i+""+j);</a:t>
            </a:r>
            <a:endParaRPr sz="1800">
              <a:latin typeface="Cambria"/>
              <a:ea typeface="Cambria"/>
              <a:cs typeface="Cambria"/>
              <a:sym typeface="Cambria"/>
            </a:endParaRPr>
          </a:p>
          <a:p>
            <a:pPr marL="12700" lvl="0" indent="0" algn="l" rtl="0">
              <a:lnSpc>
                <a:spcPct val="100000"/>
              </a:lnSpc>
              <a:spcBef>
                <a:spcPts val="0"/>
              </a:spcBef>
              <a:spcAft>
                <a:spcPts val="0"/>
              </a:spcAft>
              <a:buNone/>
            </a:pPr>
            <a:r>
              <a:rPr lang="en-US" sz="1800">
                <a:latin typeface="Cambria"/>
                <a:ea typeface="Cambria"/>
                <a:cs typeface="Cambria"/>
                <a:sym typeface="Cambria"/>
              </a:rPr>
              <a:t>}</a:t>
            </a:r>
            <a:endParaRPr sz="1800">
              <a:latin typeface="Cambria"/>
              <a:ea typeface="Cambria"/>
              <a:cs typeface="Cambria"/>
              <a:sym typeface="Cambria"/>
            </a:endParaRPr>
          </a:p>
          <a:p>
            <a:pPr marL="12700" lvl="0" indent="0" algn="l" rtl="0">
              <a:lnSpc>
                <a:spcPct val="100000"/>
              </a:lnSpc>
              <a:spcBef>
                <a:spcPts val="0"/>
              </a:spcBef>
              <a:spcAft>
                <a:spcPts val="0"/>
              </a:spcAft>
              <a:buNone/>
            </a:pPr>
            <a:r>
              <a:rPr lang="en-US" sz="1800">
                <a:latin typeface="Cambria"/>
                <a:ea typeface="Cambria"/>
                <a:cs typeface="Cambria"/>
                <a:sym typeface="Cambria"/>
              </a:rPr>
              <a:t>}</a:t>
            </a:r>
            <a:endParaRPr sz="1800">
              <a:latin typeface="Cambria"/>
              <a:ea typeface="Cambria"/>
              <a:cs typeface="Cambria"/>
              <a:sym typeface="Cambria"/>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612"/>
        <p:cNvGrpSpPr/>
        <p:nvPr/>
      </p:nvGrpSpPr>
      <p:grpSpPr>
        <a:xfrm>
          <a:off x="0" y="0"/>
          <a:ext cx="0" cy="0"/>
          <a:chOff x="0" y="0"/>
          <a:chExt cx="0" cy="0"/>
        </a:xfrm>
      </p:grpSpPr>
      <p:sp>
        <p:nvSpPr>
          <p:cNvPr id="613" name="Google Shape;613;p63"/>
          <p:cNvSpPr/>
          <p:nvPr/>
        </p:nvSpPr>
        <p:spPr>
          <a:xfrm>
            <a:off x="11817095" y="758951"/>
            <a:ext cx="374650" cy="5330825"/>
          </a:xfrm>
          <a:custGeom>
            <a:avLst/>
            <a:gdLst/>
            <a:ahLst/>
            <a:cxnLst/>
            <a:rect l="l" t="t" r="r" b="b"/>
            <a:pathLst>
              <a:path w="374650" h="5330825" extrusionOk="0">
                <a:moveTo>
                  <a:pt x="374523" y="0"/>
                </a:moveTo>
                <a:lnTo>
                  <a:pt x="0" y="0"/>
                </a:lnTo>
                <a:lnTo>
                  <a:pt x="0" y="5330444"/>
                </a:lnTo>
                <a:lnTo>
                  <a:pt x="374523" y="5330444"/>
                </a:lnTo>
                <a:lnTo>
                  <a:pt x="374523" y="0"/>
                </a:lnTo>
                <a:close/>
              </a:path>
            </a:pathLst>
          </a:custGeom>
          <a:solidFill>
            <a:srgbClr val="C6C6C6">
              <a:alpha val="49411"/>
            </a:srgbClr>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614" name="Google Shape;614;p63"/>
          <p:cNvSpPr txBox="1"/>
          <p:nvPr/>
        </p:nvSpPr>
        <p:spPr>
          <a:xfrm>
            <a:off x="689254" y="2884170"/>
            <a:ext cx="1877060" cy="57404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3600" b="1">
                <a:solidFill>
                  <a:srgbClr val="FFFFFF"/>
                </a:solidFill>
                <a:latin typeface="Cambria"/>
                <a:ea typeface="Cambria"/>
                <a:cs typeface="Cambria"/>
                <a:sym typeface="Cambria"/>
              </a:rPr>
              <a:t>Unboxing</a:t>
            </a:r>
            <a:endParaRPr sz="3600">
              <a:latin typeface="Cambria"/>
              <a:ea typeface="Cambria"/>
              <a:cs typeface="Cambria"/>
              <a:sym typeface="Cambria"/>
            </a:endParaRPr>
          </a:p>
        </p:txBody>
      </p:sp>
      <p:sp>
        <p:nvSpPr>
          <p:cNvPr id="615" name="Google Shape;615;p63"/>
          <p:cNvSpPr txBox="1">
            <a:spLocks noGrp="1"/>
          </p:cNvSpPr>
          <p:nvPr>
            <p:ph type="title"/>
          </p:nvPr>
        </p:nvSpPr>
        <p:spPr>
          <a:xfrm>
            <a:off x="4267200" y="594741"/>
            <a:ext cx="6831710" cy="963930"/>
          </a:xfrm>
          <a:prstGeom prst="rect">
            <a:avLst/>
          </a:prstGeom>
          <a:noFill/>
          <a:ln>
            <a:noFill/>
          </a:ln>
        </p:spPr>
        <p:txBody>
          <a:bodyPr spcFirstLastPara="1" wrap="square" lIns="0" tIns="49525" rIns="0" bIns="0" anchor="t" anchorCtr="0">
            <a:spAutoFit/>
          </a:bodyPr>
          <a:lstStyle/>
          <a:p>
            <a:pPr marL="195580" marR="5080" lvl="0" indent="-182880" algn="just" rtl="0">
              <a:lnSpc>
                <a:spcPct val="108181"/>
              </a:lnSpc>
              <a:spcBef>
                <a:spcPts val="0"/>
              </a:spcBef>
              <a:spcAft>
                <a:spcPts val="0"/>
              </a:spcAft>
              <a:buNone/>
            </a:pPr>
            <a:r>
              <a:rPr lang="en-US" sz="2200" b="0">
                <a:solidFill>
                  <a:srgbClr val="575757"/>
                </a:solidFill>
                <a:latin typeface="Cambria"/>
                <a:ea typeface="Cambria"/>
                <a:cs typeface="Cambria"/>
                <a:sym typeface="Cambria"/>
              </a:rPr>
              <a:t>   The  automatic  conversion  of  wrapper  type  into  its corresponding primitive type is known as </a:t>
            </a:r>
            <a:r>
              <a:rPr lang="en-US" sz="2200">
                <a:solidFill>
                  <a:srgbClr val="575757"/>
                </a:solidFill>
                <a:latin typeface="Cambria"/>
                <a:ea typeface="Cambria"/>
                <a:cs typeface="Cambria"/>
                <a:sym typeface="Cambria"/>
              </a:rPr>
              <a:t>unboxing</a:t>
            </a:r>
            <a:r>
              <a:rPr lang="en-US" sz="2200" b="0">
                <a:solidFill>
                  <a:srgbClr val="575757"/>
                </a:solidFill>
                <a:latin typeface="Cambria"/>
                <a:ea typeface="Cambria"/>
                <a:cs typeface="Cambria"/>
                <a:sym typeface="Cambria"/>
              </a:rPr>
              <a:t>. It is the reverse process of autoboxing.</a:t>
            </a:r>
            <a:endParaRPr sz="2200">
              <a:latin typeface="Cambria"/>
              <a:ea typeface="Cambria"/>
              <a:cs typeface="Cambria"/>
              <a:sym typeface="Cambria"/>
            </a:endParaRPr>
          </a:p>
        </p:txBody>
      </p:sp>
      <p:sp>
        <p:nvSpPr>
          <p:cNvPr id="616" name="Google Shape;616;p63"/>
          <p:cNvSpPr txBox="1"/>
          <p:nvPr/>
        </p:nvSpPr>
        <p:spPr>
          <a:xfrm>
            <a:off x="4005198" y="1965401"/>
            <a:ext cx="7497548" cy="679032"/>
          </a:xfrm>
          <a:prstGeom prst="rect">
            <a:avLst/>
          </a:prstGeom>
          <a:noFill/>
          <a:ln>
            <a:noFill/>
          </a:ln>
        </p:spPr>
        <p:txBody>
          <a:bodyPr spcFirstLastPara="1" wrap="square" lIns="0" tIns="12050" rIns="0" bIns="0" anchor="t" anchorCtr="0">
            <a:spAutoFit/>
          </a:bodyPr>
          <a:lstStyle/>
          <a:p>
            <a:pPr marL="12700" lvl="0" indent="0" algn="l" rtl="0">
              <a:lnSpc>
                <a:spcPct val="117045"/>
              </a:lnSpc>
              <a:spcBef>
                <a:spcPts val="0"/>
              </a:spcBef>
              <a:spcAft>
                <a:spcPts val="0"/>
              </a:spcAft>
              <a:buNone/>
            </a:pPr>
            <a:r>
              <a:rPr lang="en-US" sz="2200">
                <a:solidFill>
                  <a:srgbClr val="575757"/>
                </a:solidFill>
                <a:latin typeface="Cambria"/>
                <a:ea typeface="Cambria"/>
                <a:cs typeface="Cambria"/>
                <a:sym typeface="Cambria"/>
              </a:rPr>
              <a:t>Since Java5,we do not need to use the intValue() method of wrapper classes to convert the wrapper type into primitives.</a:t>
            </a:r>
            <a:endParaRPr sz="2200">
              <a:latin typeface="Cambria"/>
              <a:ea typeface="Cambria"/>
              <a:cs typeface="Cambria"/>
              <a:sym typeface="Cambria"/>
            </a:endParaRPr>
          </a:p>
        </p:txBody>
      </p:sp>
      <p:sp>
        <p:nvSpPr>
          <p:cNvPr id="617" name="Google Shape;617;p63"/>
          <p:cNvSpPr txBox="1"/>
          <p:nvPr/>
        </p:nvSpPr>
        <p:spPr>
          <a:xfrm>
            <a:off x="4114800" y="2895600"/>
            <a:ext cx="6989445" cy="3426460"/>
          </a:xfrm>
          <a:prstGeom prst="rect">
            <a:avLst/>
          </a:prstGeom>
          <a:solidFill>
            <a:srgbClr val="CEE7EC"/>
          </a:solidFill>
          <a:ln>
            <a:noFill/>
          </a:ln>
        </p:spPr>
        <p:txBody>
          <a:bodyPr spcFirstLastPara="1" wrap="square" lIns="0" tIns="26025" rIns="0" bIns="0" anchor="t" anchorCtr="0">
            <a:spAutoFit/>
          </a:bodyPr>
          <a:lstStyle/>
          <a:p>
            <a:pPr marL="92075" lvl="0" indent="0" algn="l" rtl="0">
              <a:lnSpc>
                <a:spcPct val="100000"/>
              </a:lnSpc>
              <a:spcBef>
                <a:spcPts val="0"/>
              </a:spcBef>
              <a:spcAft>
                <a:spcPts val="0"/>
              </a:spcAft>
              <a:buNone/>
            </a:pPr>
            <a:r>
              <a:rPr lang="en-US" sz="1800">
                <a:latin typeface="Cambria"/>
                <a:ea typeface="Cambria"/>
                <a:cs typeface="Cambria"/>
                <a:sym typeface="Cambria"/>
              </a:rPr>
              <a:t>public classWrapperExample2</a:t>
            </a:r>
            <a:endParaRPr sz="1800">
              <a:latin typeface="Cambria"/>
              <a:ea typeface="Cambria"/>
              <a:cs typeface="Cambria"/>
              <a:sym typeface="Cambria"/>
            </a:endParaRPr>
          </a:p>
          <a:p>
            <a:pPr marL="92075" lvl="0" indent="0" algn="l" rtl="0">
              <a:lnSpc>
                <a:spcPct val="100000"/>
              </a:lnSpc>
              <a:spcBef>
                <a:spcPts val="0"/>
              </a:spcBef>
              <a:spcAft>
                <a:spcPts val="0"/>
              </a:spcAft>
              <a:buNone/>
            </a:pPr>
            <a:r>
              <a:rPr lang="en-US" sz="1800">
                <a:latin typeface="Cambria"/>
                <a:ea typeface="Cambria"/>
                <a:cs typeface="Cambria"/>
                <a:sym typeface="Cambria"/>
              </a:rPr>
              <a:t>{</a:t>
            </a:r>
            <a:endParaRPr sz="1800">
              <a:latin typeface="Cambria"/>
              <a:ea typeface="Cambria"/>
              <a:cs typeface="Cambria"/>
              <a:sym typeface="Cambria"/>
            </a:endParaRPr>
          </a:p>
          <a:p>
            <a:pPr marL="274320" lvl="0" indent="0" algn="l" rtl="0">
              <a:lnSpc>
                <a:spcPct val="100000"/>
              </a:lnSpc>
              <a:spcBef>
                <a:spcPts val="0"/>
              </a:spcBef>
              <a:spcAft>
                <a:spcPts val="0"/>
              </a:spcAft>
              <a:buNone/>
            </a:pPr>
            <a:r>
              <a:rPr lang="en-US" sz="1800">
                <a:latin typeface="Cambria"/>
                <a:ea typeface="Cambria"/>
                <a:cs typeface="Cambria"/>
                <a:sym typeface="Cambria"/>
              </a:rPr>
              <a:t>publicstatic voidmain(String args[])</a:t>
            </a:r>
            <a:endParaRPr sz="1800">
              <a:latin typeface="Cambria"/>
              <a:ea typeface="Cambria"/>
              <a:cs typeface="Cambria"/>
              <a:sym typeface="Cambria"/>
            </a:endParaRPr>
          </a:p>
          <a:p>
            <a:pPr marL="274320" lvl="0" indent="0" algn="l" rtl="0">
              <a:lnSpc>
                <a:spcPct val="100000"/>
              </a:lnSpc>
              <a:spcBef>
                <a:spcPts val="0"/>
              </a:spcBef>
              <a:spcAft>
                <a:spcPts val="0"/>
              </a:spcAft>
              <a:buNone/>
            </a:pPr>
            <a:r>
              <a:rPr lang="en-US" sz="1800">
                <a:latin typeface="Cambria"/>
                <a:ea typeface="Cambria"/>
                <a:cs typeface="Cambria"/>
                <a:sym typeface="Cambria"/>
              </a:rPr>
              <a:t>{</a:t>
            </a:r>
            <a:endParaRPr sz="1800">
              <a:latin typeface="Cambria"/>
              <a:ea typeface="Cambria"/>
              <a:cs typeface="Cambria"/>
              <a:sym typeface="Cambria"/>
            </a:endParaRPr>
          </a:p>
          <a:p>
            <a:pPr marL="690880" marR="3958590" lvl="0" indent="0" algn="l" rtl="0">
              <a:lnSpc>
                <a:spcPct val="100000"/>
              </a:lnSpc>
              <a:spcBef>
                <a:spcPts val="5"/>
              </a:spcBef>
              <a:spcAft>
                <a:spcPts val="0"/>
              </a:spcAft>
              <a:buNone/>
            </a:pPr>
            <a:r>
              <a:rPr lang="en-US" sz="1800">
                <a:latin typeface="Cambria"/>
                <a:ea typeface="Cambria"/>
                <a:cs typeface="Cambria"/>
                <a:sym typeface="Cambria"/>
              </a:rPr>
              <a:t>Integer a=newInteger(3); int i=a.intValue();</a:t>
            </a:r>
            <a:endParaRPr sz="1800">
              <a:latin typeface="Cambria"/>
              <a:ea typeface="Cambria"/>
              <a:cs typeface="Cambria"/>
              <a:sym typeface="Cambria"/>
            </a:endParaRPr>
          </a:p>
          <a:p>
            <a:pPr marL="1382395" lvl="0" indent="0" algn="l" rtl="0">
              <a:lnSpc>
                <a:spcPct val="100000"/>
              </a:lnSpc>
              <a:spcBef>
                <a:spcPts val="0"/>
              </a:spcBef>
              <a:spcAft>
                <a:spcPts val="0"/>
              </a:spcAft>
              <a:buNone/>
            </a:pPr>
            <a:r>
              <a:rPr lang="en-US" sz="1800">
                <a:latin typeface="Cambria"/>
                <a:ea typeface="Cambria"/>
                <a:cs typeface="Cambria"/>
                <a:sym typeface="Cambria"/>
              </a:rPr>
              <a:t>//converting Integerto int explicitly</a:t>
            </a:r>
            <a:endParaRPr sz="1800">
              <a:latin typeface="Cambria"/>
              <a:ea typeface="Cambria"/>
              <a:cs typeface="Cambria"/>
              <a:sym typeface="Cambria"/>
            </a:endParaRPr>
          </a:p>
          <a:p>
            <a:pPr marL="690880" lvl="0" indent="0" algn="l" rtl="0">
              <a:lnSpc>
                <a:spcPct val="100000"/>
              </a:lnSpc>
              <a:spcBef>
                <a:spcPts val="0"/>
              </a:spcBef>
              <a:spcAft>
                <a:spcPts val="0"/>
              </a:spcAft>
              <a:buNone/>
            </a:pPr>
            <a:r>
              <a:rPr lang="en-US" sz="1800">
                <a:latin typeface="Cambria"/>
                <a:ea typeface="Cambria"/>
                <a:cs typeface="Cambria"/>
                <a:sym typeface="Cambria"/>
              </a:rPr>
              <a:t>int j=a;</a:t>
            </a:r>
            <a:endParaRPr sz="1800">
              <a:latin typeface="Cambria"/>
              <a:ea typeface="Cambria"/>
              <a:cs typeface="Cambria"/>
              <a:sym typeface="Cambria"/>
            </a:endParaRPr>
          </a:p>
          <a:p>
            <a:pPr marL="731520" marR="209550" lvl="0" indent="604520" algn="l" rtl="0">
              <a:lnSpc>
                <a:spcPct val="100000"/>
              </a:lnSpc>
              <a:spcBef>
                <a:spcPts val="0"/>
              </a:spcBef>
              <a:spcAft>
                <a:spcPts val="0"/>
              </a:spcAft>
              <a:buNone/>
            </a:pPr>
            <a:r>
              <a:rPr lang="en-US" sz="1800">
                <a:latin typeface="Cambria"/>
                <a:ea typeface="Cambria"/>
                <a:cs typeface="Cambria"/>
                <a:sym typeface="Cambria"/>
              </a:rPr>
              <a:t>//unboxing, nowcompiler will write a.intValue() internally System.out.println(a+" "+i+""+j);</a:t>
            </a:r>
            <a:endParaRPr sz="1800">
              <a:latin typeface="Cambria"/>
              <a:ea typeface="Cambria"/>
              <a:cs typeface="Cambria"/>
              <a:sym typeface="Cambria"/>
            </a:endParaRPr>
          </a:p>
          <a:p>
            <a:pPr marL="92075" lvl="0" indent="0" algn="l" rtl="0">
              <a:lnSpc>
                <a:spcPct val="100000"/>
              </a:lnSpc>
              <a:spcBef>
                <a:spcPts val="0"/>
              </a:spcBef>
              <a:spcAft>
                <a:spcPts val="0"/>
              </a:spcAft>
              <a:buNone/>
            </a:pPr>
            <a:r>
              <a:rPr lang="en-US" sz="1800">
                <a:latin typeface="Cambria"/>
                <a:ea typeface="Cambria"/>
                <a:cs typeface="Cambria"/>
                <a:sym typeface="Cambria"/>
              </a:rPr>
              <a:t>}</a:t>
            </a:r>
            <a:endParaRPr sz="1800">
              <a:latin typeface="Cambria"/>
              <a:ea typeface="Cambria"/>
              <a:cs typeface="Cambria"/>
              <a:sym typeface="Cambria"/>
            </a:endParaRPr>
          </a:p>
          <a:p>
            <a:pPr marL="92075" lvl="0" indent="0" algn="l" rtl="0">
              <a:lnSpc>
                <a:spcPct val="100000"/>
              </a:lnSpc>
              <a:spcBef>
                <a:spcPts val="0"/>
              </a:spcBef>
              <a:spcAft>
                <a:spcPts val="0"/>
              </a:spcAft>
              <a:buNone/>
            </a:pPr>
            <a:r>
              <a:rPr lang="en-US" sz="1800">
                <a:latin typeface="Cambria"/>
                <a:ea typeface="Cambria"/>
                <a:cs typeface="Cambria"/>
                <a:sym typeface="Cambria"/>
              </a:rPr>
              <a:t>}</a:t>
            </a:r>
            <a:endParaRPr sz="1800">
              <a:latin typeface="Cambria"/>
              <a:ea typeface="Cambria"/>
              <a:cs typeface="Cambria"/>
              <a:sym typeface="Cambria"/>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621"/>
        <p:cNvGrpSpPr/>
        <p:nvPr/>
      </p:nvGrpSpPr>
      <p:grpSpPr>
        <a:xfrm>
          <a:off x="0" y="0"/>
          <a:ext cx="0" cy="0"/>
          <a:chOff x="0" y="0"/>
          <a:chExt cx="0" cy="0"/>
        </a:xfrm>
      </p:grpSpPr>
      <p:sp>
        <p:nvSpPr>
          <p:cNvPr id="622" name="Google Shape;622;p64"/>
          <p:cNvSpPr/>
          <p:nvPr/>
        </p:nvSpPr>
        <p:spPr>
          <a:xfrm>
            <a:off x="11817095" y="758951"/>
            <a:ext cx="374650" cy="5330825"/>
          </a:xfrm>
          <a:custGeom>
            <a:avLst/>
            <a:gdLst/>
            <a:ahLst/>
            <a:cxnLst/>
            <a:rect l="l" t="t" r="r" b="b"/>
            <a:pathLst>
              <a:path w="374650" h="5330825" extrusionOk="0">
                <a:moveTo>
                  <a:pt x="374523" y="0"/>
                </a:moveTo>
                <a:lnTo>
                  <a:pt x="0" y="0"/>
                </a:lnTo>
                <a:lnTo>
                  <a:pt x="0" y="5330444"/>
                </a:lnTo>
                <a:lnTo>
                  <a:pt x="374523" y="5330444"/>
                </a:lnTo>
                <a:lnTo>
                  <a:pt x="374523" y="0"/>
                </a:lnTo>
                <a:close/>
              </a:path>
            </a:pathLst>
          </a:custGeom>
          <a:solidFill>
            <a:srgbClr val="C6C6C6">
              <a:alpha val="49411"/>
            </a:srgbClr>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623" name="Google Shape;623;p64"/>
          <p:cNvSpPr txBox="1"/>
          <p:nvPr/>
        </p:nvSpPr>
        <p:spPr>
          <a:xfrm>
            <a:off x="855370" y="2731770"/>
            <a:ext cx="1720850" cy="1122680"/>
          </a:xfrm>
          <a:prstGeom prst="rect">
            <a:avLst/>
          </a:prstGeom>
          <a:noFill/>
          <a:ln>
            <a:noFill/>
          </a:ln>
        </p:spPr>
        <p:txBody>
          <a:bodyPr spcFirstLastPara="1" wrap="square" lIns="0" tIns="12700" rIns="0" bIns="0" anchor="t" anchorCtr="0">
            <a:spAutoFit/>
          </a:bodyPr>
          <a:lstStyle/>
          <a:p>
            <a:pPr marL="394970" marR="5080" lvl="0" indent="-382905" algn="l" rtl="0">
              <a:lnSpc>
                <a:spcPct val="100000"/>
              </a:lnSpc>
              <a:spcBef>
                <a:spcPts val="0"/>
              </a:spcBef>
              <a:spcAft>
                <a:spcPts val="0"/>
              </a:spcAft>
              <a:buNone/>
            </a:pPr>
            <a:r>
              <a:rPr lang="en-US" sz="3600" b="1">
                <a:solidFill>
                  <a:srgbClr val="FFFFFF"/>
                </a:solidFill>
                <a:latin typeface="Cambria"/>
                <a:ea typeface="Cambria"/>
                <a:cs typeface="Cambria"/>
                <a:sym typeface="Cambria"/>
              </a:rPr>
              <a:t>Random class</a:t>
            </a:r>
            <a:endParaRPr sz="3600">
              <a:latin typeface="Cambria"/>
              <a:ea typeface="Cambria"/>
              <a:cs typeface="Cambria"/>
              <a:sym typeface="Cambria"/>
            </a:endParaRPr>
          </a:p>
        </p:txBody>
      </p:sp>
      <p:sp>
        <p:nvSpPr>
          <p:cNvPr id="624" name="Google Shape;624;p64"/>
          <p:cNvSpPr txBox="1"/>
          <p:nvPr/>
        </p:nvSpPr>
        <p:spPr>
          <a:xfrm>
            <a:off x="3949064" y="1823466"/>
            <a:ext cx="6913879" cy="350737"/>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2200">
                <a:solidFill>
                  <a:srgbClr val="40B8D2"/>
                </a:solidFill>
                <a:latin typeface="Cambria"/>
                <a:ea typeface="Cambria"/>
                <a:cs typeface="Cambria"/>
                <a:sym typeface="Cambria"/>
              </a:rPr>
              <a:t>1.	</a:t>
            </a:r>
            <a:r>
              <a:rPr lang="en-US" sz="2200">
                <a:solidFill>
                  <a:srgbClr val="575757"/>
                </a:solidFill>
                <a:latin typeface="Cambria"/>
                <a:ea typeface="Cambria"/>
                <a:cs typeface="Cambria"/>
                <a:sym typeface="Cambria"/>
              </a:rPr>
              <a:t>Import the class java.util.Random</a:t>
            </a:r>
            <a:endParaRPr sz="2200">
              <a:latin typeface="Cambria"/>
              <a:ea typeface="Cambria"/>
              <a:cs typeface="Cambria"/>
              <a:sym typeface="Cambria"/>
            </a:endParaRPr>
          </a:p>
        </p:txBody>
      </p:sp>
      <p:sp>
        <p:nvSpPr>
          <p:cNvPr id="625" name="Google Shape;625;p64"/>
          <p:cNvSpPr txBox="1">
            <a:spLocks noGrp="1"/>
          </p:cNvSpPr>
          <p:nvPr>
            <p:ph type="title"/>
          </p:nvPr>
        </p:nvSpPr>
        <p:spPr>
          <a:xfrm>
            <a:off x="3949065" y="2228164"/>
            <a:ext cx="6642735" cy="350737"/>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2200" b="0">
                <a:solidFill>
                  <a:srgbClr val="40B8D2"/>
                </a:solidFill>
                <a:latin typeface="Cambria"/>
                <a:ea typeface="Cambria"/>
                <a:cs typeface="Cambria"/>
                <a:sym typeface="Cambria"/>
              </a:rPr>
              <a:t>2.	</a:t>
            </a:r>
            <a:r>
              <a:rPr lang="en-US" sz="2200" b="0">
                <a:solidFill>
                  <a:srgbClr val="575757"/>
                </a:solidFill>
                <a:latin typeface="Cambria"/>
                <a:ea typeface="Cambria"/>
                <a:cs typeface="Cambria"/>
                <a:sym typeface="Cambria"/>
              </a:rPr>
              <a:t>Make the instance of the class Random</a:t>
            </a:r>
            <a:endParaRPr sz="2200">
              <a:latin typeface="Cambria"/>
              <a:ea typeface="Cambria"/>
              <a:cs typeface="Cambria"/>
              <a:sym typeface="Cambria"/>
            </a:endParaRPr>
          </a:p>
        </p:txBody>
      </p:sp>
      <p:sp>
        <p:nvSpPr>
          <p:cNvPr id="626" name="Google Shape;626;p64"/>
          <p:cNvSpPr txBox="1"/>
          <p:nvPr/>
        </p:nvSpPr>
        <p:spPr>
          <a:xfrm>
            <a:off x="4918328" y="2686049"/>
            <a:ext cx="3432175" cy="36068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2200">
                <a:solidFill>
                  <a:srgbClr val="575757"/>
                </a:solidFill>
                <a:latin typeface="Cambria"/>
                <a:ea typeface="Cambria"/>
                <a:cs typeface="Cambria"/>
                <a:sym typeface="Cambria"/>
              </a:rPr>
              <a:t>i.e., Randomr =new Random();</a:t>
            </a:r>
            <a:endParaRPr sz="2200">
              <a:latin typeface="Cambria"/>
              <a:ea typeface="Cambria"/>
              <a:cs typeface="Cambria"/>
              <a:sym typeface="Cambria"/>
            </a:endParaRPr>
          </a:p>
        </p:txBody>
      </p:sp>
      <p:pic>
        <p:nvPicPr>
          <p:cNvPr id="627" name="Google Shape;627;p64"/>
          <p:cNvPicPr preferRelativeResize="0"/>
          <p:nvPr/>
        </p:nvPicPr>
        <p:blipFill rotWithShape="1">
          <a:blip r:embed="rId3">
            <a:alphaModFix/>
          </a:blip>
          <a:srcRect/>
          <a:stretch/>
        </p:blipFill>
        <p:spPr>
          <a:xfrm>
            <a:off x="4464684" y="3546678"/>
            <a:ext cx="417575" cy="311200"/>
          </a:xfrm>
          <a:prstGeom prst="rect">
            <a:avLst/>
          </a:prstGeom>
          <a:noFill/>
          <a:ln>
            <a:noFill/>
          </a:ln>
        </p:spPr>
      </p:pic>
      <p:pic>
        <p:nvPicPr>
          <p:cNvPr id="628" name="Google Shape;628;p64"/>
          <p:cNvPicPr preferRelativeResize="0"/>
          <p:nvPr/>
        </p:nvPicPr>
        <p:blipFill rotWithShape="1">
          <a:blip r:embed="rId3">
            <a:alphaModFix/>
          </a:blip>
          <a:srcRect/>
          <a:stretch/>
        </p:blipFill>
        <p:spPr>
          <a:xfrm>
            <a:off x="4464684" y="4237609"/>
            <a:ext cx="417575" cy="310895"/>
          </a:xfrm>
          <a:prstGeom prst="rect">
            <a:avLst/>
          </a:prstGeom>
          <a:noFill/>
          <a:ln>
            <a:noFill/>
          </a:ln>
        </p:spPr>
      </p:pic>
      <p:pic>
        <p:nvPicPr>
          <p:cNvPr id="629" name="Google Shape;629;p64"/>
          <p:cNvPicPr preferRelativeResize="0"/>
          <p:nvPr/>
        </p:nvPicPr>
        <p:blipFill rotWithShape="1">
          <a:blip r:embed="rId3">
            <a:alphaModFix/>
          </a:blip>
          <a:srcRect/>
          <a:stretch/>
        </p:blipFill>
        <p:spPr>
          <a:xfrm>
            <a:off x="4464684" y="4610989"/>
            <a:ext cx="417575" cy="310895"/>
          </a:xfrm>
          <a:prstGeom prst="rect">
            <a:avLst/>
          </a:prstGeom>
          <a:noFill/>
          <a:ln>
            <a:noFill/>
          </a:ln>
        </p:spPr>
      </p:pic>
      <p:sp>
        <p:nvSpPr>
          <p:cNvPr id="630" name="Google Shape;630;p64"/>
          <p:cNvSpPr txBox="1">
            <a:spLocks noGrp="1"/>
          </p:cNvSpPr>
          <p:nvPr>
            <p:ph type="body" idx="1"/>
          </p:nvPr>
        </p:nvSpPr>
        <p:spPr>
          <a:xfrm>
            <a:off x="3949065" y="3186811"/>
            <a:ext cx="7868030" cy="1743075"/>
          </a:xfrm>
          <a:prstGeom prst="rect">
            <a:avLst/>
          </a:prstGeom>
          <a:noFill/>
          <a:ln>
            <a:noFill/>
          </a:ln>
        </p:spPr>
        <p:txBody>
          <a:bodyPr spcFirstLastPara="1" wrap="square" lIns="0" tIns="29200" rIns="0" bIns="0" anchor="t" anchorCtr="0">
            <a:spAutoFit/>
          </a:bodyPr>
          <a:lstStyle/>
          <a:p>
            <a:pPr marL="698500" marR="5080" lvl="0" indent="-685800" algn="l" rtl="0">
              <a:lnSpc>
                <a:spcPct val="94800"/>
              </a:lnSpc>
              <a:spcBef>
                <a:spcPts val="0"/>
              </a:spcBef>
              <a:spcAft>
                <a:spcPts val="0"/>
              </a:spcAft>
              <a:buNone/>
            </a:pPr>
            <a:r>
              <a:rPr lang="en-US">
                <a:solidFill>
                  <a:srgbClr val="4AACC5"/>
                </a:solidFill>
                <a:latin typeface="Arial"/>
                <a:ea typeface="Arial"/>
                <a:cs typeface="Arial"/>
                <a:sym typeface="Arial"/>
              </a:rPr>
              <a:t>3</a:t>
            </a:r>
            <a:r>
              <a:rPr lang="en-US">
                <a:solidFill>
                  <a:srgbClr val="4AACC5"/>
                </a:solidFill>
              </a:rPr>
              <a:t>. </a:t>
            </a:r>
            <a:r>
              <a:rPr lang="en-US"/>
              <a:t>Invoke  one of the following  methods of r object: </a:t>
            </a:r>
            <a:r>
              <a:rPr lang="en-US">
                <a:latin typeface="Arial"/>
                <a:ea typeface="Arial"/>
                <a:cs typeface="Arial"/>
                <a:sym typeface="Arial"/>
              </a:rPr>
              <a:t>nextInt(upperbound) </a:t>
            </a:r>
            <a:r>
              <a:rPr lang="en-US"/>
              <a:t>generates  random numbers in the range 0 toupperbound-1.</a:t>
            </a:r>
            <a:endParaRPr/>
          </a:p>
          <a:p>
            <a:pPr marL="725805" lvl="0" indent="0" algn="l" rtl="0">
              <a:lnSpc>
                <a:spcPct val="100000"/>
              </a:lnSpc>
              <a:spcBef>
                <a:spcPts val="300"/>
              </a:spcBef>
              <a:spcAft>
                <a:spcPts val="0"/>
              </a:spcAft>
              <a:buNone/>
            </a:pPr>
            <a:r>
              <a:rPr lang="en-US">
                <a:latin typeface="Arial"/>
                <a:ea typeface="Arial"/>
                <a:cs typeface="Arial"/>
                <a:sym typeface="Arial"/>
              </a:rPr>
              <a:t>nextFloat() </a:t>
            </a:r>
            <a:r>
              <a:rPr lang="en-US"/>
              <a:t>generates  a float between 0.0and 1.0.</a:t>
            </a:r>
            <a:endParaRPr/>
          </a:p>
          <a:p>
            <a:pPr marL="725805" lvl="0" indent="0" algn="l" rtl="0">
              <a:lnSpc>
                <a:spcPct val="100000"/>
              </a:lnSpc>
              <a:spcBef>
                <a:spcPts val="300"/>
              </a:spcBef>
              <a:spcAft>
                <a:spcPts val="0"/>
              </a:spcAft>
              <a:buNone/>
            </a:pPr>
            <a:r>
              <a:rPr lang="en-US">
                <a:latin typeface="Arial"/>
                <a:ea typeface="Arial"/>
                <a:cs typeface="Arial"/>
                <a:sym typeface="Arial"/>
              </a:rPr>
              <a:t>nextDouble() </a:t>
            </a:r>
            <a:r>
              <a:rPr lang="en-US"/>
              <a:t>generates  a double between 0.0 and 1.0.</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Shape 634"/>
        <p:cNvGrpSpPr/>
        <p:nvPr/>
      </p:nvGrpSpPr>
      <p:grpSpPr>
        <a:xfrm>
          <a:off x="0" y="0"/>
          <a:ext cx="0" cy="0"/>
          <a:chOff x="0" y="0"/>
          <a:chExt cx="0" cy="0"/>
        </a:xfrm>
      </p:grpSpPr>
      <p:sp>
        <p:nvSpPr>
          <p:cNvPr id="635" name="Google Shape;635;p65"/>
          <p:cNvSpPr/>
          <p:nvPr/>
        </p:nvSpPr>
        <p:spPr>
          <a:xfrm>
            <a:off x="0" y="758951"/>
            <a:ext cx="3444240" cy="5330825"/>
          </a:xfrm>
          <a:custGeom>
            <a:avLst/>
            <a:gdLst/>
            <a:ahLst/>
            <a:cxnLst/>
            <a:rect l="l" t="t" r="r" b="b"/>
            <a:pathLst>
              <a:path w="3444240" h="5330825" extrusionOk="0">
                <a:moveTo>
                  <a:pt x="3444240" y="0"/>
                </a:moveTo>
                <a:lnTo>
                  <a:pt x="0" y="0"/>
                </a:lnTo>
                <a:lnTo>
                  <a:pt x="0" y="5330444"/>
                </a:lnTo>
                <a:lnTo>
                  <a:pt x="3444240" y="5330444"/>
                </a:lnTo>
                <a:lnTo>
                  <a:pt x="3444240" y="0"/>
                </a:lnTo>
                <a:close/>
              </a:path>
            </a:pathLst>
          </a:custGeom>
          <a:solidFill>
            <a:srgbClr val="40B8D2"/>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nvGrpSpPr>
          <p:cNvPr id="636" name="Google Shape;636;p65"/>
          <p:cNvGrpSpPr/>
          <p:nvPr/>
        </p:nvGrpSpPr>
        <p:grpSpPr>
          <a:xfrm>
            <a:off x="3532631" y="739140"/>
            <a:ext cx="8659115" cy="5350636"/>
            <a:chOff x="3532631" y="739140"/>
            <a:chExt cx="8659115" cy="5350636"/>
          </a:xfrm>
        </p:grpSpPr>
        <p:sp>
          <p:nvSpPr>
            <p:cNvPr id="637" name="Google Shape;637;p65"/>
            <p:cNvSpPr/>
            <p:nvPr/>
          </p:nvSpPr>
          <p:spPr>
            <a:xfrm>
              <a:off x="11817096" y="758951"/>
              <a:ext cx="374650" cy="5330825"/>
            </a:xfrm>
            <a:custGeom>
              <a:avLst/>
              <a:gdLst/>
              <a:ahLst/>
              <a:cxnLst/>
              <a:rect l="l" t="t" r="r" b="b"/>
              <a:pathLst>
                <a:path w="374650" h="5330825" extrusionOk="0">
                  <a:moveTo>
                    <a:pt x="374637" y="0"/>
                  </a:moveTo>
                  <a:lnTo>
                    <a:pt x="166116" y="0"/>
                  </a:lnTo>
                  <a:lnTo>
                    <a:pt x="0" y="0"/>
                  </a:lnTo>
                  <a:lnTo>
                    <a:pt x="0" y="5330444"/>
                  </a:lnTo>
                  <a:lnTo>
                    <a:pt x="166116" y="5330444"/>
                  </a:lnTo>
                  <a:lnTo>
                    <a:pt x="374523" y="5330444"/>
                  </a:lnTo>
                  <a:lnTo>
                    <a:pt x="374637" y="0"/>
                  </a:lnTo>
                  <a:close/>
                </a:path>
              </a:pathLst>
            </a:custGeom>
            <a:solidFill>
              <a:srgbClr val="C6C6C6">
                <a:alpha val="49411"/>
              </a:srgbClr>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638" name="Google Shape;638;p65"/>
            <p:cNvSpPr/>
            <p:nvPr/>
          </p:nvSpPr>
          <p:spPr>
            <a:xfrm>
              <a:off x="3532631" y="739140"/>
              <a:ext cx="8450580" cy="5309870"/>
            </a:xfrm>
            <a:custGeom>
              <a:avLst/>
              <a:gdLst/>
              <a:ahLst/>
              <a:cxnLst/>
              <a:rect l="l" t="t" r="r" b="b"/>
              <a:pathLst>
                <a:path w="8450580" h="5309870" extrusionOk="0">
                  <a:moveTo>
                    <a:pt x="8450579" y="0"/>
                  </a:moveTo>
                  <a:lnTo>
                    <a:pt x="0" y="0"/>
                  </a:lnTo>
                  <a:lnTo>
                    <a:pt x="0" y="5309615"/>
                  </a:lnTo>
                  <a:lnTo>
                    <a:pt x="8450579" y="5309615"/>
                  </a:lnTo>
                  <a:lnTo>
                    <a:pt x="8450579" y="0"/>
                  </a:lnTo>
                  <a:close/>
                </a:path>
              </a:pathLst>
            </a:custGeom>
            <a:solidFill>
              <a:srgbClr val="CEE7EC"/>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639" name="Google Shape;639;p65"/>
            <p:cNvSpPr/>
            <p:nvPr/>
          </p:nvSpPr>
          <p:spPr>
            <a:xfrm>
              <a:off x="3532631" y="739140"/>
              <a:ext cx="8450580" cy="5309870"/>
            </a:xfrm>
            <a:custGeom>
              <a:avLst/>
              <a:gdLst/>
              <a:ahLst/>
              <a:cxnLst/>
              <a:rect l="l" t="t" r="r" b="b"/>
              <a:pathLst>
                <a:path w="8450580" h="5309870" extrusionOk="0">
                  <a:moveTo>
                    <a:pt x="0" y="5309615"/>
                  </a:moveTo>
                  <a:lnTo>
                    <a:pt x="8450579" y="5309615"/>
                  </a:lnTo>
                  <a:lnTo>
                    <a:pt x="8450579" y="0"/>
                  </a:lnTo>
                  <a:lnTo>
                    <a:pt x="0" y="0"/>
                  </a:lnTo>
                  <a:lnTo>
                    <a:pt x="0" y="5309615"/>
                  </a:lnTo>
                  <a:close/>
                </a:path>
              </a:pathLst>
            </a:custGeom>
            <a:noFill/>
            <a:ln w="1217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640" name="Google Shape;640;p65"/>
          <p:cNvSpPr txBox="1"/>
          <p:nvPr/>
        </p:nvSpPr>
        <p:spPr>
          <a:xfrm>
            <a:off x="804163" y="2830779"/>
            <a:ext cx="1720850" cy="1565275"/>
          </a:xfrm>
          <a:prstGeom prst="rect">
            <a:avLst/>
          </a:prstGeom>
          <a:noFill/>
          <a:ln>
            <a:noFill/>
          </a:ln>
        </p:spPr>
        <p:txBody>
          <a:bodyPr spcFirstLastPara="1" wrap="square" lIns="0" tIns="73650" rIns="0" bIns="0" anchor="t" anchorCtr="0">
            <a:spAutoFit/>
          </a:bodyPr>
          <a:lstStyle/>
          <a:p>
            <a:pPr marL="12700" marR="5080" lvl="0" indent="0" algn="ctr" rtl="0">
              <a:lnSpc>
                <a:spcPct val="108333"/>
              </a:lnSpc>
              <a:spcBef>
                <a:spcPts val="0"/>
              </a:spcBef>
              <a:spcAft>
                <a:spcPts val="0"/>
              </a:spcAft>
              <a:buNone/>
            </a:pPr>
            <a:r>
              <a:rPr lang="en-US" sz="3600" b="1">
                <a:solidFill>
                  <a:srgbClr val="FFFFFF"/>
                </a:solidFill>
                <a:latin typeface="Cambria"/>
                <a:ea typeface="Cambria"/>
                <a:cs typeface="Cambria"/>
                <a:sym typeface="Cambria"/>
              </a:rPr>
              <a:t>Random class Example</a:t>
            </a:r>
            <a:endParaRPr sz="3600">
              <a:latin typeface="Cambria"/>
              <a:ea typeface="Cambria"/>
              <a:cs typeface="Cambria"/>
              <a:sym typeface="Cambria"/>
            </a:endParaRPr>
          </a:p>
        </p:txBody>
      </p:sp>
      <p:sp>
        <p:nvSpPr>
          <p:cNvPr id="641" name="Google Shape;641;p65"/>
          <p:cNvSpPr txBox="1"/>
          <p:nvPr/>
        </p:nvSpPr>
        <p:spPr>
          <a:xfrm>
            <a:off x="3612641" y="751459"/>
            <a:ext cx="5579110" cy="195389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800">
                <a:latin typeface="Cambria"/>
                <a:ea typeface="Cambria"/>
                <a:cs typeface="Cambria"/>
                <a:sym typeface="Cambria"/>
              </a:rPr>
              <a:t>import java.util.Random;</a:t>
            </a:r>
            <a:endParaRPr sz="1800">
              <a:latin typeface="Cambria"/>
              <a:ea typeface="Cambria"/>
              <a:cs typeface="Cambria"/>
              <a:sym typeface="Cambria"/>
            </a:endParaRPr>
          </a:p>
          <a:p>
            <a:pPr marL="0" lvl="0" indent="0" algn="l" rtl="0">
              <a:lnSpc>
                <a:spcPct val="100000"/>
              </a:lnSpc>
              <a:spcBef>
                <a:spcPts val="105"/>
              </a:spcBef>
              <a:spcAft>
                <a:spcPts val="0"/>
              </a:spcAft>
              <a:buNone/>
            </a:pPr>
            <a:endParaRPr sz="1800">
              <a:latin typeface="Cambria"/>
              <a:ea typeface="Cambria"/>
              <a:cs typeface="Cambria"/>
              <a:sym typeface="Cambria"/>
            </a:endParaRPr>
          </a:p>
          <a:p>
            <a:pPr marL="12700" lvl="0" indent="0" algn="l" rtl="0">
              <a:lnSpc>
                <a:spcPct val="100000"/>
              </a:lnSpc>
              <a:spcBef>
                <a:spcPts val="5"/>
              </a:spcBef>
              <a:spcAft>
                <a:spcPts val="0"/>
              </a:spcAft>
              <a:buNone/>
            </a:pPr>
            <a:r>
              <a:rPr lang="en-US" sz="1800">
                <a:latin typeface="Cambria"/>
                <a:ea typeface="Cambria"/>
                <a:cs typeface="Cambria"/>
                <a:sym typeface="Cambria"/>
              </a:rPr>
              <a:t>classGenerateRandom</a:t>
            </a:r>
            <a:endParaRPr sz="1800">
              <a:latin typeface="Cambria"/>
              <a:ea typeface="Cambria"/>
              <a:cs typeface="Cambria"/>
              <a:sym typeface="Cambria"/>
            </a:endParaRPr>
          </a:p>
          <a:p>
            <a:pPr marL="12700" lvl="0" indent="0" algn="l" rtl="0">
              <a:lnSpc>
                <a:spcPct val="100000"/>
              </a:lnSpc>
              <a:spcBef>
                <a:spcPts val="0"/>
              </a:spcBef>
              <a:spcAft>
                <a:spcPts val="0"/>
              </a:spcAft>
              <a:buNone/>
            </a:pPr>
            <a:r>
              <a:rPr lang="en-US" sz="1800">
                <a:latin typeface="Cambria"/>
                <a:ea typeface="Cambria"/>
                <a:cs typeface="Cambria"/>
                <a:sym typeface="Cambria"/>
              </a:rPr>
              <a:t>{</a:t>
            </a:r>
            <a:endParaRPr sz="1800">
              <a:latin typeface="Cambria"/>
              <a:ea typeface="Cambria"/>
              <a:cs typeface="Cambria"/>
              <a:sym typeface="Cambria"/>
            </a:endParaRPr>
          </a:p>
          <a:p>
            <a:pPr marL="195580" lvl="0" indent="0" algn="l" rtl="0">
              <a:lnSpc>
                <a:spcPct val="100000"/>
              </a:lnSpc>
              <a:spcBef>
                <a:spcPts val="0"/>
              </a:spcBef>
              <a:spcAft>
                <a:spcPts val="0"/>
              </a:spcAft>
              <a:buNone/>
            </a:pPr>
            <a:r>
              <a:rPr lang="en-US" sz="1800">
                <a:latin typeface="Cambria"/>
                <a:ea typeface="Cambria"/>
                <a:cs typeface="Cambria"/>
                <a:sym typeface="Cambria"/>
              </a:rPr>
              <a:t>publicstatic voidmain( Stringargs[])</a:t>
            </a:r>
            <a:endParaRPr sz="1800">
              <a:latin typeface="Cambria"/>
              <a:ea typeface="Cambria"/>
              <a:cs typeface="Cambria"/>
              <a:sym typeface="Cambria"/>
            </a:endParaRPr>
          </a:p>
          <a:p>
            <a:pPr marL="195580" lvl="0" indent="0" algn="l" rtl="0">
              <a:lnSpc>
                <a:spcPct val="100000"/>
              </a:lnSpc>
              <a:spcBef>
                <a:spcPts val="0"/>
              </a:spcBef>
              <a:spcAft>
                <a:spcPts val="0"/>
              </a:spcAft>
              <a:buNone/>
            </a:pPr>
            <a:r>
              <a:rPr lang="en-US" sz="1800">
                <a:latin typeface="Cambria"/>
                <a:ea typeface="Cambria"/>
                <a:cs typeface="Cambria"/>
                <a:sym typeface="Cambria"/>
              </a:rPr>
              <a:t>{</a:t>
            </a:r>
            <a:endParaRPr sz="1800">
              <a:latin typeface="Cambria"/>
              <a:ea typeface="Cambria"/>
              <a:cs typeface="Cambria"/>
              <a:sym typeface="Cambria"/>
            </a:endParaRPr>
          </a:p>
          <a:p>
            <a:pPr marL="337185" lvl="0" indent="0" algn="l" rtl="0">
              <a:lnSpc>
                <a:spcPct val="100000"/>
              </a:lnSpc>
              <a:spcBef>
                <a:spcPts val="0"/>
              </a:spcBef>
              <a:spcAft>
                <a:spcPts val="0"/>
              </a:spcAft>
              <a:buNone/>
            </a:pPr>
            <a:r>
              <a:rPr lang="en-US" sz="1800">
                <a:latin typeface="Cambria"/>
                <a:ea typeface="Cambria"/>
                <a:cs typeface="Cambria"/>
                <a:sym typeface="Cambria"/>
              </a:rPr>
              <a:t>Randomrand=new Random(); //instanceof random class</a:t>
            </a:r>
            <a:endParaRPr sz="1800">
              <a:latin typeface="Cambria"/>
              <a:ea typeface="Cambria"/>
              <a:cs typeface="Cambria"/>
              <a:sym typeface="Cambria"/>
            </a:endParaRPr>
          </a:p>
        </p:txBody>
      </p:sp>
      <p:sp>
        <p:nvSpPr>
          <p:cNvPr id="642" name="Google Shape;642;p65"/>
          <p:cNvSpPr txBox="1"/>
          <p:nvPr/>
        </p:nvSpPr>
        <p:spPr>
          <a:xfrm>
            <a:off x="3937253" y="2953892"/>
            <a:ext cx="5313045" cy="574040"/>
          </a:xfrm>
          <a:prstGeom prst="rect">
            <a:avLst/>
          </a:prstGeom>
          <a:noFill/>
          <a:ln>
            <a:noFill/>
          </a:ln>
        </p:spPr>
        <p:txBody>
          <a:bodyPr spcFirstLastPara="1" wrap="square" lIns="0" tIns="12700" rIns="0" bIns="0" anchor="t" anchorCtr="0">
            <a:spAutoFit/>
          </a:bodyPr>
          <a:lstStyle/>
          <a:p>
            <a:pPr marL="12700" marR="5080" lvl="0" indent="0" algn="l" rtl="0">
              <a:lnSpc>
                <a:spcPct val="100000"/>
              </a:lnSpc>
              <a:spcBef>
                <a:spcPts val="0"/>
              </a:spcBef>
              <a:spcAft>
                <a:spcPts val="0"/>
              </a:spcAft>
              <a:buNone/>
            </a:pPr>
            <a:r>
              <a:rPr lang="en-US" sz="1800">
                <a:latin typeface="Cambria"/>
                <a:ea typeface="Cambria"/>
                <a:cs typeface="Cambria"/>
                <a:sym typeface="Cambria"/>
              </a:rPr>
              <a:t>int upperbound= 25; //generate random values from0-24 int int_random = rand.nextInt(upperbound);</a:t>
            </a:r>
            <a:endParaRPr sz="1800">
              <a:latin typeface="Cambria"/>
              <a:ea typeface="Cambria"/>
              <a:cs typeface="Cambria"/>
              <a:sym typeface="Cambria"/>
            </a:endParaRPr>
          </a:p>
        </p:txBody>
      </p:sp>
      <p:sp>
        <p:nvSpPr>
          <p:cNvPr id="643" name="Google Shape;643;p65"/>
          <p:cNvSpPr txBox="1"/>
          <p:nvPr/>
        </p:nvSpPr>
        <p:spPr>
          <a:xfrm>
            <a:off x="3937253" y="3502532"/>
            <a:ext cx="4172585" cy="2997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800">
                <a:latin typeface="Cambria"/>
                <a:ea typeface="Cambria"/>
                <a:cs typeface="Cambria"/>
                <a:sym typeface="Cambria"/>
              </a:rPr>
              <a:t>double	double_random=rand.nextDouble();</a:t>
            </a:r>
            <a:endParaRPr sz="1800">
              <a:latin typeface="Cambria"/>
              <a:ea typeface="Cambria"/>
              <a:cs typeface="Cambria"/>
              <a:sym typeface="Cambria"/>
            </a:endParaRPr>
          </a:p>
        </p:txBody>
      </p:sp>
      <p:sp>
        <p:nvSpPr>
          <p:cNvPr id="644" name="Google Shape;644;p65"/>
          <p:cNvSpPr txBox="1"/>
          <p:nvPr/>
        </p:nvSpPr>
        <p:spPr>
          <a:xfrm>
            <a:off x="3937253" y="3776548"/>
            <a:ext cx="3407410" cy="30035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800">
                <a:latin typeface="Cambria"/>
                <a:ea typeface="Cambria"/>
                <a:cs typeface="Cambria"/>
                <a:sym typeface="Cambria"/>
              </a:rPr>
              <a:t>float float_random=rand.nextFloat();</a:t>
            </a:r>
            <a:endParaRPr sz="1800">
              <a:latin typeface="Cambria"/>
              <a:ea typeface="Cambria"/>
              <a:cs typeface="Cambria"/>
              <a:sym typeface="Cambria"/>
            </a:endParaRPr>
          </a:p>
        </p:txBody>
      </p:sp>
      <p:sp>
        <p:nvSpPr>
          <p:cNvPr id="645" name="Google Shape;645;p65"/>
          <p:cNvSpPr txBox="1"/>
          <p:nvPr/>
        </p:nvSpPr>
        <p:spPr>
          <a:xfrm>
            <a:off x="3612641" y="4333494"/>
            <a:ext cx="7881620" cy="1671955"/>
          </a:xfrm>
          <a:prstGeom prst="rect">
            <a:avLst/>
          </a:prstGeom>
          <a:noFill/>
          <a:ln>
            <a:noFill/>
          </a:ln>
        </p:spPr>
        <p:txBody>
          <a:bodyPr spcFirstLastPara="1" wrap="square" lIns="0" tIns="12700" rIns="0" bIns="0" anchor="t" anchorCtr="0">
            <a:spAutoFit/>
          </a:bodyPr>
          <a:lstStyle/>
          <a:p>
            <a:pPr marL="980439" marR="2532380" lvl="0" indent="-650874" algn="l" rtl="0">
              <a:lnSpc>
                <a:spcPct val="100000"/>
              </a:lnSpc>
              <a:spcBef>
                <a:spcPts val="0"/>
              </a:spcBef>
              <a:spcAft>
                <a:spcPts val="0"/>
              </a:spcAft>
              <a:buNone/>
            </a:pPr>
            <a:r>
              <a:rPr lang="en-US" sz="1800">
                <a:latin typeface="Cambria"/>
                <a:ea typeface="Cambria"/>
                <a:cs typeface="Cambria"/>
                <a:sym typeface="Cambria"/>
              </a:rPr>
              <a:t>System.out.println("Random integer value from 0 to" + (upperbound-1) +" : "+ int_random);</a:t>
            </a:r>
            <a:endParaRPr sz="1800">
              <a:latin typeface="Cambria"/>
              <a:ea typeface="Cambria"/>
              <a:cs typeface="Cambria"/>
              <a:sym typeface="Cambria"/>
            </a:endParaRPr>
          </a:p>
          <a:p>
            <a:pPr marL="329565" marR="5080" lvl="0" indent="0" algn="l" rtl="0">
              <a:lnSpc>
                <a:spcPct val="100000"/>
              </a:lnSpc>
              <a:spcBef>
                <a:spcPts val="0"/>
              </a:spcBef>
              <a:spcAft>
                <a:spcPts val="0"/>
              </a:spcAft>
              <a:buNone/>
            </a:pPr>
            <a:r>
              <a:rPr lang="en-US" sz="1800">
                <a:latin typeface="Cambria"/>
                <a:ea typeface="Cambria"/>
                <a:cs typeface="Cambria"/>
                <a:sym typeface="Cambria"/>
              </a:rPr>
              <a:t>System.out.println("Random float value between 0.0 and 1.0: "+float_random); System.out.println("Random double value between 0.0 and 1.0: "+double_random);</a:t>
            </a:r>
            <a:endParaRPr sz="1800">
              <a:latin typeface="Cambria"/>
              <a:ea typeface="Cambria"/>
              <a:cs typeface="Cambria"/>
              <a:sym typeface="Cambria"/>
            </a:endParaRPr>
          </a:p>
          <a:p>
            <a:pPr marL="195580" lvl="0" indent="0" algn="l" rtl="0">
              <a:lnSpc>
                <a:spcPct val="100000"/>
              </a:lnSpc>
              <a:spcBef>
                <a:spcPts val="0"/>
              </a:spcBef>
              <a:spcAft>
                <a:spcPts val="0"/>
              </a:spcAft>
              <a:buNone/>
            </a:pPr>
            <a:r>
              <a:rPr lang="en-US" sz="1800">
                <a:latin typeface="Cambria"/>
                <a:ea typeface="Cambria"/>
                <a:cs typeface="Cambria"/>
                <a:sym typeface="Cambria"/>
              </a:rPr>
              <a:t>}</a:t>
            </a:r>
            <a:endParaRPr sz="1800">
              <a:latin typeface="Cambria"/>
              <a:ea typeface="Cambria"/>
              <a:cs typeface="Cambria"/>
              <a:sym typeface="Cambria"/>
            </a:endParaRPr>
          </a:p>
          <a:p>
            <a:pPr marL="12700" lvl="0" indent="0" algn="l" rtl="0">
              <a:lnSpc>
                <a:spcPct val="100000"/>
              </a:lnSpc>
              <a:spcBef>
                <a:spcPts val="0"/>
              </a:spcBef>
              <a:spcAft>
                <a:spcPts val="0"/>
              </a:spcAft>
              <a:buNone/>
            </a:pPr>
            <a:r>
              <a:rPr lang="en-US" sz="1800">
                <a:latin typeface="Cambria"/>
                <a:ea typeface="Cambria"/>
                <a:cs typeface="Cambria"/>
                <a:sym typeface="Cambria"/>
              </a:rPr>
              <a:t>}</a:t>
            </a:r>
            <a:endParaRPr sz="1800">
              <a:latin typeface="Cambria"/>
              <a:ea typeface="Cambria"/>
              <a:cs typeface="Cambria"/>
              <a:sym typeface="Cambria"/>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649"/>
        <p:cNvGrpSpPr/>
        <p:nvPr/>
      </p:nvGrpSpPr>
      <p:grpSpPr>
        <a:xfrm>
          <a:off x="0" y="0"/>
          <a:ext cx="0" cy="0"/>
          <a:chOff x="0" y="0"/>
          <a:chExt cx="0" cy="0"/>
        </a:xfrm>
      </p:grpSpPr>
      <p:sp>
        <p:nvSpPr>
          <p:cNvPr id="650" name="Google Shape;650;p66"/>
          <p:cNvSpPr/>
          <p:nvPr/>
        </p:nvSpPr>
        <p:spPr>
          <a:xfrm>
            <a:off x="11817096" y="758951"/>
            <a:ext cx="374650" cy="5330825"/>
          </a:xfrm>
          <a:custGeom>
            <a:avLst/>
            <a:gdLst/>
            <a:ahLst/>
            <a:cxnLst/>
            <a:rect l="l" t="t" r="r" b="b"/>
            <a:pathLst>
              <a:path w="374650" h="5330825" extrusionOk="0">
                <a:moveTo>
                  <a:pt x="374637" y="0"/>
                </a:moveTo>
                <a:lnTo>
                  <a:pt x="166116" y="0"/>
                </a:lnTo>
                <a:lnTo>
                  <a:pt x="0" y="0"/>
                </a:lnTo>
                <a:lnTo>
                  <a:pt x="0" y="5330444"/>
                </a:lnTo>
                <a:lnTo>
                  <a:pt x="166116" y="5330444"/>
                </a:lnTo>
                <a:lnTo>
                  <a:pt x="374523" y="5330444"/>
                </a:lnTo>
                <a:lnTo>
                  <a:pt x="374637" y="0"/>
                </a:lnTo>
                <a:close/>
              </a:path>
            </a:pathLst>
          </a:custGeom>
          <a:solidFill>
            <a:srgbClr val="C6C6C6">
              <a:alpha val="49411"/>
            </a:srgbClr>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651" name="Google Shape;651;p66"/>
          <p:cNvSpPr txBox="1"/>
          <p:nvPr/>
        </p:nvSpPr>
        <p:spPr>
          <a:xfrm>
            <a:off x="739240" y="2543936"/>
            <a:ext cx="2156359" cy="1534160"/>
          </a:xfrm>
          <a:prstGeom prst="rect">
            <a:avLst/>
          </a:prstGeom>
          <a:noFill/>
          <a:ln>
            <a:noFill/>
          </a:ln>
        </p:spPr>
        <p:txBody>
          <a:bodyPr spcFirstLastPara="1" wrap="square" lIns="0" tIns="47625" rIns="0" bIns="0" anchor="t" anchorCtr="0">
            <a:spAutoFit/>
          </a:bodyPr>
          <a:lstStyle/>
          <a:p>
            <a:pPr marL="12700" marR="5080" lvl="0" indent="0" algn="ctr" rtl="0">
              <a:lnSpc>
                <a:spcPct val="114705"/>
              </a:lnSpc>
              <a:spcBef>
                <a:spcPts val="0"/>
              </a:spcBef>
              <a:spcAft>
                <a:spcPts val="0"/>
              </a:spcAft>
              <a:buNone/>
            </a:pPr>
            <a:r>
              <a:rPr lang="en-US" sz="3400" b="1">
                <a:solidFill>
                  <a:srgbClr val="FFFFFF"/>
                </a:solidFill>
                <a:latin typeface="Cambria"/>
                <a:ea typeface="Cambria"/>
                <a:cs typeface="Cambria"/>
                <a:sym typeface="Cambria"/>
              </a:rPr>
              <a:t>Command Line Argument</a:t>
            </a:r>
            <a:endParaRPr sz="3400">
              <a:latin typeface="Cambria"/>
              <a:ea typeface="Cambria"/>
              <a:cs typeface="Cambria"/>
              <a:sym typeface="Cambria"/>
            </a:endParaRPr>
          </a:p>
        </p:txBody>
      </p:sp>
      <p:sp>
        <p:nvSpPr>
          <p:cNvPr id="652" name="Google Shape;652;p66"/>
          <p:cNvSpPr txBox="1">
            <a:spLocks noGrp="1"/>
          </p:cNvSpPr>
          <p:nvPr>
            <p:ph type="title"/>
          </p:nvPr>
        </p:nvSpPr>
        <p:spPr>
          <a:xfrm>
            <a:off x="3813175" y="1017778"/>
            <a:ext cx="7539355" cy="574040"/>
          </a:xfrm>
          <a:prstGeom prst="rect">
            <a:avLst/>
          </a:prstGeom>
          <a:noFill/>
          <a:ln>
            <a:noFill/>
          </a:ln>
        </p:spPr>
        <p:txBody>
          <a:bodyPr spcFirstLastPara="1" wrap="square" lIns="0" tIns="12700" rIns="0" bIns="0" anchor="t" anchorCtr="0">
            <a:spAutoFit/>
          </a:bodyPr>
          <a:lstStyle/>
          <a:p>
            <a:pPr marL="12700" marR="5080" lvl="0" indent="0" algn="l" rtl="0">
              <a:lnSpc>
                <a:spcPct val="100000"/>
              </a:lnSpc>
              <a:spcBef>
                <a:spcPts val="0"/>
              </a:spcBef>
              <a:spcAft>
                <a:spcPts val="0"/>
              </a:spcAft>
              <a:buNone/>
            </a:pPr>
            <a:r>
              <a:rPr lang="en-US" sz="1800" b="0">
                <a:solidFill>
                  <a:srgbClr val="000000"/>
                </a:solidFill>
                <a:latin typeface="Cambria"/>
                <a:ea typeface="Cambria"/>
                <a:cs typeface="Cambria"/>
                <a:sym typeface="Cambria"/>
              </a:rPr>
              <a:t>The java command-line argument is an argument i.e. passed at the time of running the java program.</a:t>
            </a:r>
            <a:endParaRPr sz="1800">
              <a:latin typeface="Cambria"/>
              <a:ea typeface="Cambria"/>
              <a:cs typeface="Cambria"/>
              <a:sym typeface="Cambria"/>
            </a:endParaRPr>
          </a:p>
        </p:txBody>
      </p:sp>
      <p:sp>
        <p:nvSpPr>
          <p:cNvPr id="653" name="Google Shape;653;p66"/>
          <p:cNvSpPr txBox="1"/>
          <p:nvPr/>
        </p:nvSpPr>
        <p:spPr>
          <a:xfrm>
            <a:off x="3813175" y="1840738"/>
            <a:ext cx="7539990" cy="574675"/>
          </a:xfrm>
          <a:prstGeom prst="rect">
            <a:avLst/>
          </a:prstGeom>
          <a:noFill/>
          <a:ln>
            <a:noFill/>
          </a:ln>
        </p:spPr>
        <p:txBody>
          <a:bodyPr spcFirstLastPara="1" wrap="square" lIns="0" tIns="12700" rIns="0" bIns="0" anchor="t" anchorCtr="0">
            <a:spAutoFit/>
          </a:bodyPr>
          <a:lstStyle/>
          <a:p>
            <a:pPr marL="12700" marR="5080" lvl="0" indent="0" algn="l" rtl="0">
              <a:lnSpc>
                <a:spcPct val="100000"/>
              </a:lnSpc>
              <a:spcBef>
                <a:spcPts val="0"/>
              </a:spcBef>
              <a:spcAft>
                <a:spcPts val="0"/>
              </a:spcAft>
              <a:buNone/>
            </a:pPr>
            <a:r>
              <a:rPr lang="en-US" sz="1800">
                <a:latin typeface="Cambria"/>
                <a:ea typeface="Cambria"/>
                <a:cs typeface="Cambria"/>
                <a:sym typeface="Cambria"/>
              </a:rPr>
              <a:t>The arguments passed from the console can be received in the java program and it can be used as an input.</a:t>
            </a:r>
            <a:endParaRPr sz="1800">
              <a:latin typeface="Cambria"/>
              <a:ea typeface="Cambria"/>
              <a:cs typeface="Cambria"/>
              <a:sym typeface="Cambria"/>
            </a:endParaRPr>
          </a:p>
        </p:txBody>
      </p:sp>
      <p:sp>
        <p:nvSpPr>
          <p:cNvPr id="654" name="Google Shape;654;p66"/>
          <p:cNvSpPr txBox="1"/>
          <p:nvPr/>
        </p:nvSpPr>
        <p:spPr>
          <a:xfrm>
            <a:off x="3813175" y="2664078"/>
            <a:ext cx="7538720" cy="848360"/>
          </a:xfrm>
          <a:prstGeom prst="rect">
            <a:avLst/>
          </a:prstGeom>
          <a:noFill/>
          <a:ln>
            <a:noFill/>
          </a:ln>
        </p:spPr>
        <p:txBody>
          <a:bodyPr spcFirstLastPara="1" wrap="square" lIns="0" tIns="12700" rIns="0" bIns="0" anchor="t" anchorCtr="0">
            <a:spAutoFit/>
          </a:bodyPr>
          <a:lstStyle/>
          <a:p>
            <a:pPr marL="12700" marR="5080" lvl="0" indent="0" algn="just" rtl="0">
              <a:lnSpc>
                <a:spcPct val="100000"/>
              </a:lnSpc>
              <a:spcBef>
                <a:spcPts val="0"/>
              </a:spcBef>
              <a:spcAft>
                <a:spcPts val="0"/>
              </a:spcAft>
              <a:buNone/>
            </a:pPr>
            <a:r>
              <a:rPr lang="en-US" sz="1800">
                <a:latin typeface="Cambria"/>
                <a:ea typeface="Cambria"/>
                <a:cs typeface="Cambria"/>
                <a:sym typeface="Cambria"/>
              </a:rPr>
              <a:t>So, it provides a convenient way to check the behavior of the program for the different values. You can pass </a:t>
            </a:r>
            <a:r>
              <a:rPr lang="en-US" sz="1800" b="1">
                <a:latin typeface="Cambria"/>
                <a:ea typeface="Cambria"/>
                <a:cs typeface="Cambria"/>
                <a:sym typeface="Cambria"/>
              </a:rPr>
              <a:t>N </a:t>
            </a:r>
            <a:r>
              <a:rPr lang="en-US" sz="1800">
                <a:latin typeface="Cambria"/>
                <a:ea typeface="Cambria"/>
                <a:cs typeface="Cambria"/>
                <a:sym typeface="Cambria"/>
              </a:rPr>
              <a:t>(1,2,3 and so on) numbers of arguments from the command prompt.</a:t>
            </a:r>
            <a:endParaRPr sz="1800">
              <a:latin typeface="Cambria"/>
              <a:ea typeface="Cambria"/>
              <a:cs typeface="Cambria"/>
              <a:sym typeface="Cambria"/>
            </a:endParaRPr>
          </a:p>
        </p:txBody>
      </p:sp>
      <p:sp>
        <p:nvSpPr>
          <p:cNvPr id="655" name="Google Shape;655;p66"/>
          <p:cNvSpPr txBox="1"/>
          <p:nvPr/>
        </p:nvSpPr>
        <p:spPr>
          <a:xfrm>
            <a:off x="3813175" y="3761613"/>
            <a:ext cx="3919854" cy="2997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800" b="1">
                <a:latin typeface="Cambria"/>
                <a:ea typeface="Cambria"/>
                <a:cs typeface="Cambria"/>
                <a:sym typeface="Cambria"/>
              </a:rPr>
              <a:t>Check Program: </a:t>
            </a:r>
            <a:r>
              <a:rPr lang="en-US" sz="1800">
                <a:latin typeface="Cambria"/>
                <a:ea typeface="Cambria"/>
                <a:cs typeface="Cambria"/>
                <a:sym typeface="Cambria"/>
              </a:rPr>
              <a:t>commandLineArg.java</a:t>
            </a:r>
            <a:endParaRPr sz="1800">
              <a:latin typeface="Cambria"/>
              <a:ea typeface="Cambria"/>
              <a:cs typeface="Cambria"/>
              <a:sym typeface="Cambria"/>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660" name="Google Shape;660;p67"/>
          <p:cNvSpPr/>
          <p:nvPr/>
        </p:nvSpPr>
        <p:spPr>
          <a:xfrm>
            <a:off x="11817095" y="758951"/>
            <a:ext cx="374650" cy="5330825"/>
          </a:xfrm>
          <a:custGeom>
            <a:avLst/>
            <a:gdLst/>
            <a:ahLst/>
            <a:cxnLst/>
            <a:rect l="l" t="t" r="r" b="b"/>
            <a:pathLst>
              <a:path w="374650" h="5330825" extrusionOk="0">
                <a:moveTo>
                  <a:pt x="374523" y="0"/>
                </a:moveTo>
                <a:lnTo>
                  <a:pt x="0" y="0"/>
                </a:lnTo>
                <a:lnTo>
                  <a:pt x="0" y="5330444"/>
                </a:lnTo>
                <a:lnTo>
                  <a:pt x="374523" y="5330444"/>
                </a:lnTo>
                <a:lnTo>
                  <a:pt x="374523" y="0"/>
                </a:lnTo>
                <a:close/>
              </a:path>
            </a:pathLst>
          </a:custGeom>
          <a:solidFill>
            <a:srgbClr val="C6C6C6">
              <a:alpha val="49411"/>
            </a:srgbClr>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661" name="Google Shape;661;p67"/>
          <p:cNvPicPr preferRelativeResize="0"/>
          <p:nvPr/>
        </p:nvPicPr>
        <p:blipFill rotWithShape="1">
          <a:blip r:embed="rId3">
            <a:alphaModFix/>
          </a:blip>
          <a:srcRect/>
          <a:stretch/>
        </p:blipFill>
        <p:spPr>
          <a:xfrm>
            <a:off x="3886200" y="86868"/>
            <a:ext cx="7848600" cy="6571488"/>
          </a:xfrm>
          <a:prstGeom prst="rect">
            <a:avLst/>
          </a:prstGeom>
          <a:noFill/>
          <a:ln>
            <a:noFill/>
          </a:ln>
        </p:spPr>
      </p:pic>
      <p:sp>
        <p:nvSpPr>
          <p:cNvPr id="662" name="Google Shape;662;p67"/>
          <p:cNvSpPr txBox="1">
            <a:spLocks noGrp="1"/>
          </p:cNvSpPr>
          <p:nvPr>
            <p:ph type="title"/>
          </p:nvPr>
        </p:nvSpPr>
        <p:spPr>
          <a:xfrm>
            <a:off x="410972" y="2861259"/>
            <a:ext cx="2506980" cy="1009650"/>
          </a:xfrm>
          <a:prstGeom prst="rect">
            <a:avLst/>
          </a:prstGeom>
          <a:noFill/>
          <a:ln>
            <a:noFill/>
          </a:ln>
        </p:spPr>
        <p:txBody>
          <a:bodyPr spcFirstLastPara="1" wrap="square" lIns="0" tIns="5700" rIns="0" bIns="0" anchor="t" anchorCtr="0">
            <a:spAutoFit/>
          </a:bodyPr>
          <a:lstStyle/>
          <a:p>
            <a:pPr marL="12700" marR="5080" lvl="0" indent="365760" algn="l" rtl="0">
              <a:lnSpc>
                <a:spcPct val="101600"/>
              </a:lnSpc>
              <a:spcBef>
                <a:spcPts val="0"/>
              </a:spcBef>
              <a:spcAft>
                <a:spcPts val="0"/>
              </a:spcAft>
              <a:buNone/>
            </a:pPr>
            <a:r>
              <a:rPr lang="en-US" sz="3200">
                <a:latin typeface="Cambria"/>
                <a:ea typeface="Cambria"/>
                <a:cs typeface="Cambria"/>
                <a:sym typeface="Cambria"/>
              </a:rPr>
              <a:t>Collection Classes in Java</a:t>
            </a:r>
            <a:endParaRPr sz="3200">
              <a:latin typeface="Cambria"/>
              <a:ea typeface="Cambria"/>
              <a:cs typeface="Cambria"/>
              <a:sym typeface="Cambria"/>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666"/>
        <p:cNvGrpSpPr/>
        <p:nvPr/>
      </p:nvGrpSpPr>
      <p:grpSpPr>
        <a:xfrm>
          <a:off x="0" y="0"/>
          <a:ext cx="0" cy="0"/>
          <a:chOff x="0" y="0"/>
          <a:chExt cx="0" cy="0"/>
        </a:xfrm>
      </p:grpSpPr>
      <p:sp>
        <p:nvSpPr>
          <p:cNvPr id="667" name="Google Shape;667;p68"/>
          <p:cNvSpPr/>
          <p:nvPr/>
        </p:nvSpPr>
        <p:spPr>
          <a:xfrm>
            <a:off x="11817096" y="758951"/>
            <a:ext cx="374650" cy="5330825"/>
          </a:xfrm>
          <a:custGeom>
            <a:avLst/>
            <a:gdLst/>
            <a:ahLst/>
            <a:cxnLst/>
            <a:rect l="l" t="t" r="r" b="b"/>
            <a:pathLst>
              <a:path w="374650" h="5330825" extrusionOk="0">
                <a:moveTo>
                  <a:pt x="374637" y="0"/>
                </a:moveTo>
                <a:lnTo>
                  <a:pt x="166116" y="0"/>
                </a:lnTo>
                <a:lnTo>
                  <a:pt x="0" y="0"/>
                </a:lnTo>
                <a:lnTo>
                  <a:pt x="0" y="5330444"/>
                </a:lnTo>
                <a:lnTo>
                  <a:pt x="166116" y="5330444"/>
                </a:lnTo>
                <a:lnTo>
                  <a:pt x="374523" y="5330444"/>
                </a:lnTo>
                <a:lnTo>
                  <a:pt x="374637" y="0"/>
                </a:lnTo>
                <a:close/>
              </a:path>
            </a:pathLst>
          </a:custGeom>
          <a:solidFill>
            <a:srgbClr val="C6C6C6">
              <a:alpha val="49411"/>
            </a:srgbClr>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668" name="Google Shape;668;p68"/>
          <p:cNvSpPr txBox="1"/>
          <p:nvPr/>
        </p:nvSpPr>
        <p:spPr>
          <a:xfrm>
            <a:off x="557276" y="2861259"/>
            <a:ext cx="2212340" cy="1009650"/>
          </a:xfrm>
          <a:prstGeom prst="rect">
            <a:avLst/>
          </a:prstGeom>
          <a:noFill/>
          <a:ln>
            <a:noFill/>
          </a:ln>
        </p:spPr>
        <p:txBody>
          <a:bodyPr spcFirstLastPara="1" wrap="square" lIns="0" tIns="5700" rIns="0" bIns="0" anchor="t" anchorCtr="0">
            <a:spAutoFit/>
          </a:bodyPr>
          <a:lstStyle/>
          <a:p>
            <a:pPr marL="680085" marR="5080" lvl="0" indent="-668020" algn="l" rtl="0">
              <a:lnSpc>
                <a:spcPct val="101600"/>
              </a:lnSpc>
              <a:spcBef>
                <a:spcPts val="0"/>
              </a:spcBef>
              <a:spcAft>
                <a:spcPts val="0"/>
              </a:spcAft>
              <a:buNone/>
            </a:pPr>
            <a:r>
              <a:rPr lang="en-US" sz="3200" b="1">
                <a:solidFill>
                  <a:srgbClr val="FFFFFF"/>
                </a:solidFill>
                <a:latin typeface="Cambria"/>
                <a:ea typeface="Cambria"/>
                <a:cs typeface="Cambria"/>
                <a:sym typeface="Cambria"/>
              </a:rPr>
              <a:t>Abstract List class</a:t>
            </a:r>
            <a:endParaRPr sz="3200">
              <a:latin typeface="Cambria"/>
              <a:ea typeface="Cambria"/>
              <a:cs typeface="Cambria"/>
              <a:sym typeface="Cambria"/>
            </a:endParaRPr>
          </a:p>
        </p:txBody>
      </p:sp>
      <p:sp>
        <p:nvSpPr>
          <p:cNvPr id="669" name="Google Shape;669;p68"/>
          <p:cNvSpPr txBox="1">
            <a:spLocks noGrp="1"/>
          </p:cNvSpPr>
          <p:nvPr>
            <p:ph type="title"/>
          </p:nvPr>
        </p:nvSpPr>
        <p:spPr>
          <a:xfrm>
            <a:off x="3813175" y="331419"/>
            <a:ext cx="7538084" cy="57467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800" b="0">
                <a:solidFill>
                  <a:srgbClr val="000000"/>
                </a:solidFill>
                <a:latin typeface="Cambria"/>
                <a:ea typeface="Cambria"/>
                <a:cs typeface="Cambria"/>
                <a:sym typeface="Cambria"/>
              </a:rPr>
              <a:t>The AbstractList class in Java is a part of the Java Collection Framework and</a:t>
            </a:r>
            <a:endParaRPr sz="1800">
              <a:latin typeface="Cambria"/>
              <a:ea typeface="Cambria"/>
              <a:cs typeface="Cambria"/>
              <a:sym typeface="Cambria"/>
            </a:endParaRPr>
          </a:p>
          <a:p>
            <a:pPr marL="12700" lvl="0" indent="0" algn="l" rtl="0">
              <a:lnSpc>
                <a:spcPct val="100000"/>
              </a:lnSpc>
              <a:spcBef>
                <a:spcPts val="5"/>
              </a:spcBef>
              <a:spcAft>
                <a:spcPts val="0"/>
              </a:spcAft>
              <a:buNone/>
            </a:pPr>
            <a:r>
              <a:rPr lang="en-US" sz="1800" b="0">
                <a:solidFill>
                  <a:srgbClr val="000000"/>
                </a:solidFill>
                <a:latin typeface="Cambria"/>
                <a:ea typeface="Cambria"/>
                <a:cs typeface="Cambria"/>
                <a:sym typeface="Cambria"/>
              </a:rPr>
              <a:t>implements the Collection interface and the Abstract Collection class.</a:t>
            </a:r>
            <a:endParaRPr sz="1800">
              <a:latin typeface="Cambria"/>
              <a:ea typeface="Cambria"/>
              <a:cs typeface="Cambria"/>
              <a:sym typeface="Cambria"/>
            </a:endParaRPr>
          </a:p>
        </p:txBody>
      </p:sp>
      <p:sp>
        <p:nvSpPr>
          <p:cNvPr id="670" name="Google Shape;670;p68"/>
          <p:cNvSpPr txBox="1"/>
          <p:nvPr/>
        </p:nvSpPr>
        <p:spPr>
          <a:xfrm>
            <a:off x="3813175" y="4995748"/>
            <a:ext cx="7538720" cy="1397635"/>
          </a:xfrm>
          <a:prstGeom prst="rect">
            <a:avLst/>
          </a:prstGeom>
          <a:noFill/>
          <a:ln>
            <a:noFill/>
          </a:ln>
        </p:spPr>
        <p:txBody>
          <a:bodyPr spcFirstLastPara="1" wrap="square" lIns="0" tIns="12700" rIns="0" bIns="0" anchor="t" anchorCtr="0">
            <a:spAutoFit/>
          </a:bodyPr>
          <a:lstStyle/>
          <a:p>
            <a:pPr marL="12700" marR="5080" lvl="0" indent="0" algn="just" rtl="0">
              <a:lnSpc>
                <a:spcPct val="100000"/>
              </a:lnSpc>
              <a:spcBef>
                <a:spcPts val="0"/>
              </a:spcBef>
              <a:spcAft>
                <a:spcPts val="0"/>
              </a:spcAft>
              <a:buNone/>
            </a:pPr>
            <a:r>
              <a:rPr lang="en-US" sz="1800">
                <a:latin typeface="Cambria"/>
                <a:ea typeface="Cambria"/>
                <a:cs typeface="Cambria"/>
                <a:sym typeface="Cambria"/>
              </a:rPr>
              <a:t>This  class  provides  a  skeletal  implementation  of  the  List  interface  to minimize  the  effort  required  to  implement  this  interface  backed  by  a Random Access data store (such as an array). For sequential access data (such as a linked list), Abstract Sequential List should be used in preference to this class.</a:t>
            </a:r>
            <a:endParaRPr sz="1800">
              <a:latin typeface="Cambria"/>
              <a:ea typeface="Cambria"/>
              <a:cs typeface="Cambria"/>
              <a:sym typeface="Cambria"/>
            </a:endParaRPr>
          </a:p>
        </p:txBody>
      </p:sp>
      <p:pic>
        <p:nvPicPr>
          <p:cNvPr id="671" name="Google Shape;671;p68"/>
          <p:cNvPicPr preferRelativeResize="0"/>
          <p:nvPr/>
        </p:nvPicPr>
        <p:blipFill rotWithShape="1">
          <a:blip r:embed="rId3">
            <a:alphaModFix/>
          </a:blip>
          <a:srcRect/>
          <a:stretch/>
        </p:blipFill>
        <p:spPr>
          <a:xfrm>
            <a:off x="5248563" y="1066800"/>
            <a:ext cx="4581236" cy="3667504"/>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675"/>
        <p:cNvGrpSpPr/>
        <p:nvPr/>
      </p:nvGrpSpPr>
      <p:grpSpPr>
        <a:xfrm>
          <a:off x="0" y="0"/>
          <a:ext cx="0" cy="0"/>
          <a:chOff x="0" y="0"/>
          <a:chExt cx="0" cy="0"/>
        </a:xfrm>
      </p:grpSpPr>
      <p:sp>
        <p:nvSpPr>
          <p:cNvPr id="676" name="Google Shape;676;p69"/>
          <p:cNvSpPr/>
          <p:nvPr/>
        </p:nvSpPr>
        <p:spPr>
          <a:xfrm>
            <a:off x="11817096" y="758951"/>
            <a:ext cx="374650" cy="5330825"/>
          </a:xfrm>
          <a:custGeom>
            <a:avLst/>
            <a:gdLst/>
            <a:ahLst/>
            <a:cxnLst/>
            <a:rect l="l" t="t" r="r" b="b"/>
            <a:pathLst>
              <a:path w="374650" h="5330825" extrusionOk="0">
                <a:moveTo>
                  <a:pt x="374637" y="0"/>
                </a:moveTo>
                <a:lnTo>
                  <a:pt x="166116" y="0"/>
                </a:lnTo>
                <a:lnTo>
                  <a:pt x="0" y="0"/>
                </a:lnTo>
                <a:lnTo>
                  <a:pt x="0" y="5330444"/>
                </a:lnTo>
                <a:lnTo>
                  <a:pt x="166116" y="5330444"/>
                </a:lnTo>
                <a:lnTo>
                  <a:pt x="374523" y="5330444"/>
                </a:lnTo>
                <a:lnTo>
                  <a:pt x="374637" y="0"/>
                </a:lnTo>
                <a:close/>
              </a:path>
            </a:pathLst>
          </a:custGeom>
          <a:solidFill>
            <a:srgbClr val="C6C6C6">
              <a:alpha val="49411"/>
            </a:srgbClr>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677" name="Google Shape;677;p69"/>
          <p:cNvSpPr txBox="1"/>
          <p:nvPr/>
        </p:nvSpPr>
        <p:spPr>
          <a:xfrm>
            <a:off x="538073" y="2511933"/>
            <a:ext cx="2501265" cy="1565275"/>
          </a:xfrm>
          <a:prstGeom prst="rect">
            <a:avLst/>
          </a:prstGeom>
          <a:noFill/>
          <a:ln>
            <a:noFill/>
          </a:ln>
        </p:spPr>
        <p:txBody>
          <a:bodyPr spcFirstLastPara="1" wrap="square" lIns="0" tIns="73650" rIns="0" bIns="0" anchor="t" anchorCtr="0">
            <a:spAutoFit/>
          </a:bodyPr>
          <a:lstStyle/>
          <a:p>
            <a:pPr marL="12065" marR="5080" lvl="0" indent="0" algn="ctr" rtl="0">
              <a:lnSpc>
                <a:spcPct val="108333"/>
              </a:lnSpc>
              <a:spcBef>
                <a:spcPts val="0"/>
              </a:spcBef>
              <a:spcAft>
                <a:spcPts val="0"/>
              </a:spcAft>
              <a:buNone/>
            </a:pPr>
            <a:r>
              <a:rPr lang="en-US" sz="3600" b="1">
                <a:solidFill>
                  <a:srgbClr val="FFFFFF"/>
                </a:solidFill>
                <a:latin typeface="Cambria"/>
                <a:ea typeface="Cambria"/>
                <a:cs typeface="Cambria"/>
                <a:sym typeface="Cambria"/>
              </a:rPr>
              <a:t>Abstract List class methods</a:t>
            </a:r>
            <a:endParaRPr sz="3600">
              <a:latin typeface="Cambria"/>
              <a:ea typeface="Cambria"/>
              <a:cs typeface="Cambria"/>
              <a:sym typeface="Cambria"/>
            </a:endParaRPr>
          </a:p>
        </p:txBody>
      </p:sp>
      <p:sp>
        <p:nvSpPr>
          <p:cNvPr id="678" name="Google Shape;678;p69"/>
          <p:cNvSpPr txBox="1">
            <a:spLocks noGrp="1"/>
          </p:cNvSpPr>
          <p:nvPr>
            <p:ph type="title"/>
          </p:nvPr>
        </p:nvSpPr>
        <p:spPr>
          <a:xfrm>
            <a:off x="3813175" y="1017778"/>
            <a:ext cx="7538720" cy="574040"/>
          </a:xfrm>
          <a:prstGeom prst="rect">
            <a:avLst/>
          </a:prstGeom>
          <a:noFill/>
          <a:ln>
            <a:noFill/>
          </a:ln>
        </p:spPr>
        <p:txBody>
          <a:bodyPr spcFirstLastPara="1" wrap="square" lIns="0" tIns="12700" rIns="0" bIns="0" anchor="t" anchorCtr="0">
            <a:spAutoFit/>
          </a:bodyPr>
          <a:lstStyle/>
          <a:p>
            <a:pPr marL="12700" marR="5080" lvl="0" indent="0" algn="l" rtl="0">
              <a:lnSpc>
                <a:spcPct val="100000"/>
              </a:lnSpc>
              <a:spcBef>
                <a:spcPts val="0"/>
              </a:spcBef>
              <a:spcAft>
                <a:spcPts val="0"/>
              </a:spcAft>
              <a:buNone/>
            </a:pPr>
            <a:r>
              <a:rPr lang="en-US" sz="1800" b="0">
                <a:solidFill>
                  <a:srgbClr val="000000"/>
                </a:solidFill>
                <a:latin typeface="Cambria"/>
                <a:ea typeface="Cambria"/>
                <a:cs typeface="Cambria"/>
                <a:sym typeface="Cambria"/>
              </a:rPr>
              <a:t>To implement an unmodifiable list, for which one needs to only extend this AbstractList Class and implement the get(int) and the size() methods.</a:t>
            </a:r>
            <a:endParaRPr sz="1800">
              <a:latin typeface="Cambria"/>
              <a:ea typeface="Cambria"/>
              <a:cs typeface="Cambria"/>
              <a:sym typeface="Cambria"/>
            </a:endParaRPr>
          </a:p>
        </p:txBody>
      </p:sp>
      <p:sp>
        <p:nvSpPr>
          <p:cNvPr id="679" name="Google Shape;679;p69"/>
          <p:cNvSpPr txBox="1"/>
          <p:nvPr/>
        </p:nvSpPr>
        <p:spPr>
          <a:xfrm>
            <a:off x="3813175" y="1840738"/>
            <a:ext cx="7537450" cy="848994"/>
          </a:xfrm>
          <a:prstGeom prst="rect">
            <a:avLst/>
          </a:prstGeom>
          <a:noFill/>
          <a:ln>
            <a:noFill/>
          </a:ln>
        </p:spPr>
        <p:txBody>
          <a:bodyPr spcFirstLastPara="1" wrap="square" lIns="0" tIns="12700" rIns="0" bIns="0" anchor="t" anchorCtr="0">
            <a:spAutoFit/>
          </a:bodyPr>
          <a:lstStyle/>
          <a:p>
            <a:pPr marL="12700" marR="5080" lvl="0" indent="0" algn="just" rtl="0">
              <a:lnSpc>
                <a:spcPct val="100000"/>
              </a:lnSpc>
              <a:spcBef>
                <a:spcPts val="0"/>
              </a:spcBef>
              <a:spcAft>
                <a:spcPts val="0"/>
              </a:spcAft>
              <a:buNone/>
            </a:pPr>
            <a:r>
              <a:rPr lang="en-US" sz="1800">
                <a:latin typeface="Cambria"/>
                <a:ea typeface="Cambria"/>
                <a:cs typeface="Cambria"/>
                <a:sym typeface="Cambria"/>
              </a:rPr>
              <a:t>To implement a modifiable list, for which one additionally override the set(int   index, E   element)   method   (which   otherwise   throws   an UnsupportedOperationException).</a:t>
            </a:r>
            <a:endParaRPr sz="1800">
              <a:latin typeface="Cambria"/>
              <a:ea typeface="Cambria"/>
              <a:cs typeface="Cambria"/>
              <a:sym typeface="Cambria"/>
            </a:endParaRPr>
          </a:p>
        </p:txBody>
      </p:sp>
      <p:sp>
        <p:nvSpPr>
          <p:cNvPr id="680" name="Google Shape;680;p69"/>
          <p:cNvSpPr txBox="1"/>
          <p:nvPr/>
        </p:nvSpPr>
        <p:spPr>
          <a:xfrm>
            <a:off x="3813175" y="2938398"/>
            <a:ext cx="7538720" cy="574040"/>
          </a:xfrm>
          <a:prstGeom prst="rect">
            <a:avLst/>
          </a:prstGeom>
          <a:noFill/>
          <a:ln>
            <a:noFill/>
          </a:ln>
        </p:spPr>
        <p:txBody>
          <a:bodyPr spcFirstLastPara="1" wrap="square" lIns="0" tIns="12700" rIns="0" bIns="0" anchor="t" anchorCtr="0">
            <a:spAutoFit/>
          </a:bodyPr>
          <a:lstStyle/>
          <a:p>
            <a:pPr marL="12700" marR="5080" lvl="0" indent="0" algn="l" rtl="0">
              <a:lnSpc>
                <a:spcPct val="100000"/>
              </a:lnSpc>
              <a:spcBef>
                <a:spcPts val="0"/>
              </a:spcBef>
              <a:spcAft>
                <a:spcPts val="0"/>
              </a:spcAft>
              <a:buNone/>
            </a:pPr>
            <a:r>
              <a:rPr lang="en-US" sz="1800">
                <a:latin typeface="Cambria"/>
                <a:ea typeface="Cambria"/>
                <a:cs typeface="Cambria"/>
                <a:sym typeface="Cambria"/>
              </a:rPr>
              <a:t>If the list is variable-size, for which one should override the add(int, E) and remove(int) methods.</a:t>
            </a:r>
            <a:endParaRPr sz="1800">
              <a:latin typeface="Cambria"/>
              <a:ea typeface="Cambria"/>
              <a:cs typeface="Cambria"/>
              <a:sym typeface="Cambria"/>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684"/>
        <p:cNvGrpSpPr/>
        <p:nvPr/>
      </p:nvGrpSpPr>
      <p:grpSpPr>
        <a:xfrm>
          <a:off x="0" y="0"/>
          <a:ext cx="0" cy="0"/>
          <a:chOff x="0" y="0"/>
          <a:chExt cx="0" cy="0"/>
        </a:xfrm>
      </p:grpSpPr>
      <p:sp>
        <p:nvSpPr>
          <p:cNvPr id="685" name="Google Shape;685;p70"/>
          <p:cNvSpPr/>
          <p:nvPr/>
        </p:nvSpPr>
        <p:spPr>
          <a:xfrm>
            <a:off x="11817096" y="758951"/>
            <a:ext cx="374650" cy="5330825"/>
          </a:xfrm>
          <a:custGeom>
            <a:avLst/>
            <a:gdLst/>
            <a:ahLst/>
            <a:cxnLst/>
            <a:rect l="l" t="t" r="r" b="b"/>
            <a:pathLst>
              <a:path w="374650" h="5330825" extrusionOk="0">
                <a:moveTo>
                  <a:pt x="374637" y="0"/>
                </a:moveTo>
                <a:lnTo>
                  <a:pt x="166116" y="0"/>
                </a:lnTo>
                <a:lnTo>
                  <a:pt x="0" y="0"/>
                </a:lnTo>
                <a:lnTo>
                  <a:pt x="0" y="5330444"/>
                </a:lnTo>
                <a:lnTo>
                  <a:pt x="166116" y="5330444"/>
                </a:lnTo>
                <a:lnTo>
                  <a:pt x="374523" y="5330444"/>
                </a:lnTo>
                <a:lnTo>
                  <a:pt x="374637" y="0"/>
                </a:lnTo>
                <a:close/>
              </a:path>
            </a:pathLst>
          </a:custGeom>
          <a:solidFill>
            <a:srgbClr val="C6C6C6">
              <a:alpha val="49411"/>
            </a:srgbClr>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686" name="Google Shape;686;p70"/>
          <p:cNvSpPr txBox="1"/>
          <p:nvPr/>
        </p:nvSpPr>
        <p:spPr>
          <a:xfrm>
            <a:off x="412495" y="2830779"/>
            <a:ext cx="2501900" cy="1069975"/>
          </a:xfrm>
          <a:prstGeom prst="rect">
            <a:avLst/>
          </a:prstGeom>
          <a:noFill/>
          <a:ln>
            <a:noFill/>
          </a:ln>
        </p:spPr>
        <p:txBody>
          <a:bodyPr spcFirstLastPara="1" wrap="square" lIns="0" tIns="73650" rIns="0" bIns="0" anchor="t" anchorCtr="0">
            <a:spAutoFit/>
          </a:bodyPr>
          <a:lstStyle/>
          <a:p>
            <a:pPr marL="768350" marR="5080" lvl="0" indent="-756285" algn="l" rtl="0">
              <a:lnSpc>
                <a:spcPct val="108333"/>
              </a:lnSpc>
              <a:spcBef>
                <a:spcPts val="0"/>
              </a:spcBef>
              <a:spcAft>
                <a:spcPts val="0"/>
              </a:spcAft>
              <a:buNone/>
            </a:pPr>
            <a:r>
              <a:rPr lang="en-US" sz="3600" b="1">
                <a:solidFill>
                  <a:srgbClr val="FFFFFF"/>
                </a:solidFill>
                <a:latin typeface="Cambria"/>
                <a:ea typeface="Cambria"/>
                <a:cs typeface="Cambria"/>
                <a:sym typeface="Cambria"/>
              </a:rPr>
              <a:t>Abstract List class</a:t>
            </a:r>
            <a:endParaRPr sz="3600">
              <a:latin typeface="Cambria"/>
              <a:ea typeface="Cambria"/>
              <a:cs typeface="Cambria"/>
              <a:sym typeface="Cambria"/>
            </a:endParaRPr>
          </a:p>
        </p:txBody>
      </p:sp>
      <p:sp>
        <p:nvSpPr>
          <p:cNvPr id="687" name="Google Shape;687;p70"/>
          <p:cNvSpPr txBox="1">
            <a:spLocks noGrp="1"/>
          </p:cNvSpPr>
          <p:nvPr>
            <p:ph type="title"/>
          </p:nvPr>
        </p:nvSpPr>
        <p:spPr>
          <a:xfrm>
            <a:off x="3813175" y="331419"/>
            <a:ext cx="2346325" cy="848994"/>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800">
                <a:solidFill>
                  <a:srgbClr val="000000"/>
                </a:solidFill>
                <a:latin typeface="Cambria"/>
                <a:ea typeface="Cambria"/>
                <a:cs typeface="Cambria"/>
                <a:sym typeface="Cambria"/>
              </a:rPr>
              <a:t>Declaration:</a:t>
            </a:r>
            <a:endParaRPr sz="1800">
              <a:latin typeface="Cambria"/>
              <a:ea typeface="Cambria"/>
              <a:cs typeface="Cambria"/>
              <a:sym typeface="Cambria"/>
            </a:endParaRPr>
          </a:p>
          <a:p>
            <a:pPr marL="12700" marR="5080" lvl="0" indent="0" algn="l" rtl="0">
              <a:lnSpc>
                <a:spcPct val="100000"/>
              </a:lnSpc>
              <a:spcBef>
                <a:spcPts val="5"/>
              </a:spcBef>
              <a:spcAft>
                <a:spcPts val="0"/>
              </a:spcAft>
              <a:buNone/>
            </a:pPr>
            <a:r>
              <a:rPr lang="en-US" sz="1800" b="0">
                <a:solidFill>
                  <a:srgbClr val="000000"/>
                </a:solidFill>
                <a:latin typeface="Cambria"/>
                <a:ea typeface="Cambria"/>
                <a:cs typeface="Cambria"/>
                <a:sym typeface="Cambria"/>
              </a:rPr>
              <a:t>public	abstract	class implements List&lt;E&gt;</a:t>
            </a:r>
            <a:endParaRPr sz="1800">
              <a:latin typeface="Cambria"/>
              <a:ea typeface="Cambria"/>
              <a:cs typeface="Cambria"/>
              <a:sym typeface="Cambria"/>
            </a:endParaRPr>
          </a:p>
        </p:txBody>
      </p:sp>
      <p:sp>
        <p:nvSpPr>
          <p:cNvPr id="688" name="Google Shape;688;p70"/>
          <p:cNvSpPr txBox="1"/>
          <p:nvPr/>
        </p:nvSpPr>
        <p:spPr>
          <a:xfrm>
            <a:off x="6360033" y="606297"/>
            <a:ext cx="1596390" cy="2997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800">
                <a:latin typeface="Cambria"/>
                <a:ea typeface="Cambria"/>
                <a:cs typeface="Cambria"/>
                <a:sym typeface="Cambria"/>
              </a:rPr>
              <a:t>AbstractList&lt;E&gt;</a:t>
            </a:r>
            <a:endParaRPr sz="1800">
              <a:latin typeface="Cambria"/>
              <a:ea typeface="Cambria"/>
              <a:cs typeface="Cambria"/>
              <a:sym typeface="Cambria"/>
            </a:endParaRPr>
          </a:p>
        </p:txBody>
      </p:sp>
      <p:sp>
        <p:nvSpPr>
          <p:cNvPr id="689" name="Google Shape;689;p70"/>
          <p:cNvSpPr txBox="1"/>
          <p:nvPr/>
        </p:nvSpPr>
        <p:spPr>
          <a:xfrm>
            <a:off x="8156829" y="606297"/>
            <a:ext cx="788035" cy="2997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800">
                <a:latin typeface="Cambria"/>
                <a:ea typeface="Cambria"/>
                <a:cs typeface="Cambria"/>
                <a:sym typeface="Cambria"/>
              </a:rPr>
              <a:t>extends</a:t>
            </a:r>
            <a:endParaRPr sz="1800">
              <a:latin typeface="Cambria"/>
              <a:ea typeface="Cambria"/>
              <a:cs typeface="Cambria"/>
              <a:sym typeface="Cambria"/>
            </a:endParaRPr>
          </a:p>
        </p:txBody>
      </p:sp>
      <p:sp>
        <p:nvSpPr>
          <p:cNvPr id="690" name="Google Shape;690;p70"/>
          <p:cNvSpPr txBox="1"/>
          <p:nvPr/>
        </p:nvSpPr>
        <p:spPr>
          <a:xfrm>
            <a:off x="9143238" y="606297"/>
            <a:ext cx="2210435" cy="2997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800">
                <a:latin typeface="Cambria"/>
                <a:ea typeface="Cambria"/>
                <a:cs typeface="Cambria"/>
                <a:sym typeface="Cambria"/>
              </a:rPr>
              <a:t>AbstractCollection&lt;E&gt;</a:t>
            </a:r>
            <a:endParaRPr sz="1800">
              <a:latin typeface="Cambria"/>
              <a:ea typeface="Cambria"/>
              <a:cs typeface="Cambria"/>
              <a:sym typeface="Cambria"/>
            </a:endParaRPr>
          </a:p>
        </p:txBody>
      </p:sp>
      <p:sp>
        <p:nvSpPr>
          <p:cNvPr id="691" name="Google Shape;691;p70"/>
          <p:cNvSpPr txBox="1"/>
          <p:nvPr/>
        </p:nvSpPr>
        <p:spPr>
          <a:xfrm>
            <a:off x="3813175" y="1429258"/>
            <a:ext cx="5977255" cy="2997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800">
                <a:latin typeface="Cambria"/>
                <a:ea typeface="Cambria"/>
                <a:cs typeface="Cambria"/>
                <a:sym typeface="Cambria"/>
              </a:rPr>
              <a:t>where </a:t>
            </a:r>
            <a:r>
              <a:rPr lang="en-US" sz="1800" b="1">
                <a:latin typeface="Cambria"/>
                <a:ea typeface="Cambria"/>
                <a:cs typeface="Cambria"/>
                <a:sym typeface="Cambria"/>
              </a:rPr>
              <a:t>E </a:t>
            </a:r>
            <a:r>
              <a:rPr lang="en-US" sz="1800">
                <a:latin typeface="Cambria"/>
                <a:ea typeface="Cambria"/>
                <a:cs typeface="Cambria"/>
                <a:sym typeface="Cambria"/>
              </a:rPr>
              <a:t>is the type of elements maintained by this collection.</a:t>
            </a:r>
            <a:endParaRPr sz="1800">
              <a:latin typeface="Cambria"/>
              <a:ea typeface="Cambria"/>
              <a:cs typeface="Cambria"/>
              <a:sym typeface="Cambria"/>
            </a:endParaRPr>
          </a:p>
        </p:txBody>
      </p:sp>
      <p:sp>
        <p:nvSpPr>
          <p:cNvPr id="692" name="Google Shape;692;p70"/>
          <p:cNvSpPr txBox="1"/>
          <p:nvPr/>
        </p:nvSpPr>
        <p:spPr>
          <a:xfrm>
            <a:off x="3813175" y="2252598"/>
            <a:ext cx="7538084" cy="8483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800" b="1">
                <a:latin typeface="Cambria"/>
                <a:ea typeface="Cambria"/>
                <a:cs typeface="Cambria"/>
                <a:sym typeface="Cambria"/>
              </a:rPr>
              <a:t>Constructor:</a:t>
            </a:r>
            <a:endParaRPr sz="1800">
              <a:latin typeface="Cambria"/>
              <a:ea typeface="Cambria"/>
              <a:cs typeface="Cambria"/>
              <a:sym typeface="Cambria"/>
            </a:endParaRPr>
          </a:p>
          <a:p>
            <a:pPr marL="12700" marR="5080" lvl="0" indent="0" algn="l" rtl="0">
              <a:lnSpc>
                <a:spcPct val="100000"/>
              </a:lnSpc>
              <a:spcBef>
                <a:spcPts val="0"/>
              </a:spcBef>
              <a:spcAft>
                <a:spcPts val="0"/>
              </a:spcAft>
              <a:buNone/>
            </a:pPr>
            <a:r>
              <a:rPr lang="en-US" sz="1800">
                <a:latin typeface="Cambria"/>
                <a:ea typeface="Cambria"/>
                <a:cs typeface="Cambria"/>
                <a:sym typeface="Cambria"/>
              </a:rPr>
              <a:t>protected AbstractList() – The default constructor, but being protected, it doesn’t allow to create an AbstractList object.</a:t>
            </a:r>
            <a:endParaRPr sz="1800">
              <a:latin typeface="Cambria"/>
              <a:ea typeface="Cambria"/>
              <a:cs typeface="Cambria"/>
              <a:sym typeface="Cambria"/>
            </a:endParaRPr>
          </a:p>
        </p:txBody>
      </p:sp>
      <p:sp>
        <p:nvSpPr>
          <p:cNvPr id="693" name="Google Shape;693;p70"/>
          <p:cNvSpPr txBox="1"/>
          <p:nvPr/>
        </p:nvSpPr>
        <p:spPr>
          <a:xfrm>
            <a:off x="3813175" y="3349878"/>
            <a:ext cx="4095750" cy="2997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800">
                <a:latin typeface="Cambria"/>
                <a:ea typeface="Cambria"/>
                <a:cs typeface="Cambria"/>
                <a:sym typeface="Cambria"/>
              </a:rPr>
              <a:t>AbstractList&lt;E&gt; al = new ArrayList&lt;E&gt;();</a:t>
            </a:r>
            <a:endParaRPr sz="1800">
              <a:latin typeface="Cambria"/>
              <a:ea typeface="Cambria"/>
              <a:cs typeface="Cambria"/>
              <a:sym typeface="Cambria"/>
            </a:endParaRPr>
          </a:p>
        </p:txBody>
      </p:sp>
      <p:sp>
        <p:nvSpPr>
          <p:cNvPr id="694" name="Google Shape;694;p70"/>
          <p:cNvSpPr txBox="1"/>
          <p:nvPr/>
        </p:nvSpPr>
        <p:spPr>
          <a:xfrm>
            <a:off x="3813175" y="4173092"/>
            <a:ext cx="3903345" cy="2997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800" b="1">
                <a:latin typeface="Cambria"/>
                <a:ea typeface="Cambria"/>
                <a:cs typeface="Cambria"/>
                <a:sym typeface="Cambria"/>
              </a:rPr>
              <a:t>Check example: </a:t>
            </a:r>
            <a:r>
              <a:rPr lang="en-US" sz="1800">
                <a:latin typeface="Cambria"/>
                <a:ea typeface="Cambria"/>
                <a:cs typeface="Cambria"/>
                <a:sym typeface="Cambria"/>
              </a:rPr>
              <a:t>AbstractListDemo.java</a:t>
            </a:r>
            <a:endParaRPr sz="1800">
              <a:latin typeface="Cambria"/>
              <a:ea typeface="Cambria"/>
              <a:cs typeface="Cambria"/>
              <a:sym typeface="Cambria"/>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sp>
        <p:nvSpPr>
          <p:cNvPr id="699" name="Google Shape;699;p71"/>
          <p:cNvSpPr/>
          <p:nvPr/>
        </p:nvSpPr>
        <p:spPr>
          <a:xfrm>
            <a:off x="11817096" y="758951"/>
            <a:ext cx="374650" cy="5330825"/>
          </a:xfrm>
          <a:custGeom>
            <a:avLst/>
            <a:gdLst/>
            <a:ahLst/>
            <a:cxnLst/>
            <a:rect l="l" t="t" r="r" b="b"/>
            <a:pathLst>
              <a:path w="374650" h="5330825" extrusionOk="0">
                <a:moveTo>
                  <a:pt x="374637" y="0"/>
                </a:moveTo>
                <a:lnTo>
                  <a:pt x="166116" y="0"/>
                </a:lnTo>
                <a:lnTo>
                  <a:pt x="0" y="0"/>
                </a:lnTo>
                <a:lnTo>
                  <a:pt x="0" y="5330444"/>
                </a:lnTo>
                <a:lnTo>
                  <a:pt x="166116" y="5330444"/>
                </a:lnTo>
                <a:lnTo>
                  <a:pt x="374523" y="5330444"/>
                </a:lnTo>
                <a:lnTo>
                  <a:pt x="374637" y="0"/>
                </a:lnTo>
                <a:close/>
              </a:path>
            </a:pathLst>
          </a:custGeom>
          <a:solidFill>
            <a:srgbClr val="C6C6C6">
              <a:alpha val="49411"/>
            </a:srgbClr>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700" name="Google Shape;700;p71"/>
          <p:cNvSpPr txBox="1"/>
          <p:nvPr/>
        </p:nvSpPr>
        <p:spPr>
          <a:xfrm>
            <a:off x="683768" y="2830779"/>
            <a:ext cx="1959610" cy="57467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3600" b="1">
                <a:solidFill>
                  <a:srgbClr val="FFFFFF"/>
                </a:solidFill>
                <a:latin typeface="Cambria"/>
                <a:ea typeface="Cambria"/>
                <a:cs typeface="Cambria"/>
                <a:sym typeface="Cambria"/>
              </a:rPr>
              <a:t>Array List</a:t>
            </a:r>
            <a:endParaRPr sz="3600">
              <a:latin typeface="Cambria"/>
              <a:ea typeface="Cambria"/>
              <a:cs typeface="Cambria"/>
              <a:sym typeface="Cambria"/>
            </a:endParaRPr>
          </a:p>
        </p:txBody>
      </p:sp>
      <p:sp>
        <p:nvSpPr>
          <p:cNvPr id="701" name="Google Shape;701;p71"/>
          <p:cNvSpPr txBox="1"/>
          <p:nvPr/>
        </p:nvSpPr>
        <p:spPr>
          <a:xfrm>
            <a:off x="3736975" y="179323"/>
            <a:ext cx="7536815" cy="2997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800">
                <a:latin typeface="Cambria"/>
                <a:ea typeface="Cambria"/>
                <a:cs typeface="Cambria"/>
                <a:sym typeface="Cambria"/>
              </a:rPr>
              <a:t>The ArrayList class implements the List interface. It uses a dynamic array to</a:t>
            </a:r>
            <a:endParaRPr sz="1800">
              <a:latin typeface="Cambria"/>
              <a:ea typeface="Cambria"/>
              <a:cs typeface="Cambria"/>
              <a:sym typeface="Cambria"/>
            </a:endParaRPr>
          </a:p>
        </p:txBody>
      </p:sp>
      <p:sp>
        <p:nvSpPr>
          <p:cNvPr id="702" name="Google Shape;702;p71"/>
          <p:cNvSpPr txBox="1">
            <a:spLocks noGrp="1"/>
          </p:cNvSpPr>
          <p:nvPr>
            <p:ph type="title"/>
          </p:nvPr>
        </p:nvSpPr>
        <p:spPr>
          <a:xfrm>
            <a:off x="3736975" y="453339"/>
            <a:ext cx="5090160" cy="30035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800" b="0">
                <a:solidFill>
                  <a:srgbClr val="000000"/>
                </a:solidFill>
                <a:latin typeface="Cambria"/>
                <a:ea typeface="Cambria"/>
                <a:cs typeface="Cambria"/>
                <a:sym typeface="Cambria"/>
              </a:rPr>
              <a:t>store the duplicate element of </a:t>
            </a:r>
            <a:r>
              <a:rPr lang="en-US" sz="1800">
                <a:solidFill>
                  <a:srgbClr val="000000"/>
                </a:solidFill>
                <a:latin typeface="Cambria"/>
                <a:ea typeface="Cambria"/>
                <a:cs typeface="Cambria"/>
                <a:sym typeface="Cambria"/>
              </a:rPr>
              <a:t>different data types.</a:t>
            </a:r>
            <a:endParaRPr sz="1800">
              <a:latin typeface="Cambria"/>
              <a:ea typeface="Cambria"/>
              <a:cs typeface="Cambria"/>
              <a:sym typeface="Cambria"/>
            </a:endParaRPr>
          </a:p>
        </p:txBody>
      </p:sp>
      <p:sp>
        <p:nvSpPr>
          <p:cNvPr id="703" name="Google Shape;703;p71"/>
          <p:cNvSpPr txBox="1"/>
          <p:nvPr/>
        </p:nvSpPr>
        <p:spPr>
          <a:xfrm>
            <a:off x="3736975" y="1002538"/>
            <a:ext cx="7291070" cy="8483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800">
                <a:latin typeface="Cambria"/>
                <a:ea typeface="Cambria"/>
                <a:cs typeface="Cambria"/>
                <a:sym typeface="Cambria"/>
              </a:rPr>
              <a:t>The ArrayList class maintains the insertion order and is non-synchronized.</a:t>
            </a:r>
            <a:endParaRPr sz="1800">
              <a:latin typeface="Cambria"/>
              <a:ea typeface="Cambria"/>
              <a:cs typeface="Cambria"/>
              <a:sym typeface="Cambria"/>
            </a:endParaRPr>
          </a:p>
          <a:p>
            <a:pPr marL="0" lvl="0" indent="0" algn="l" rtl="0">
              <a:lnSpc>
                <a:spcPct val="100000"/>
              </a:lnSpc>
              <a:spcBef>
                <a:spcPts val="45"/>
              </a:spcBef>
              <a:spcAft>
                <a:spcPts val="0"/>
              </a:spcAft>
              <a:buNone/>
            </a:pPr>
            <a:endParaRPr sz="1800">
              <a:latin typeface="Cambria"/>
              <a:ea typeface="Cambria"/>
              <a:cs typeface="Cambria"/>
              <a:sym typeface="Cambria"/>
            </a:endParaRPr>
          </a:p>
          <a:p>
            <a:pPr marL="12700" lvl="0" indent="0" algn="l" rtl="0">
              <a:lnSpc>
                <a:spcPct val="100000"/>
              </a:lnSpc>
              <a:spcBef>
                <a:spcPts val="5"/>
              </a:spcBef>
              <a:spcAft>
                <a:spcPts val="0"/>
              </a:spcAft>
              <a:buNone/>
            </a:pPr>
            <a:r>
              <a:rPr lang="en-US" sz="1800">
                <a:latin typeface="Cambria"/>
                <a:ea typeface="Cambria"/>
                <a:cs typeface="Cambria"/>
                <a:sym typeface="Cambria"/>
              </a:rPr>
              <a:t>The elements stored in the ArrayList class can be randomly accessed.</a:t>
            </a:r>
            <a:endParaRPr sz="1800">
              <a:latin typeface="Cambria"/>
              <a:ea typeface="Cambria"/>
              <a:cs typeface="Cambria"/>
              <a:sym typeface="Cambria"/>
            </a:endParaRPr>
          </a:p>
        </p:txBody>
      </p:sp>
      <p:sp>
        <p:nvSpPr>
          <p:cNvPr id="704" name="Google Shape;704;p71"/>
          <p:cNvSpPr txBox="1"/>
          <p:nvPr/>
        </p:nvSpPr>
        <p:spPr>
          <a:xfrm>
            <a:off x="3736975" y="2100198"/>
            <a:ext cx="7539990" cy="1122680"/>
          </a:xfrm>
          <a:prstGeom prst="rect">
            <a:avLst/>
          </a:prstGeom>
          <a:noFill/>
          <a:ln>
            <a:noFill/>
          </a:ln>
        </p:spPr>
        <p:txBody>
          <a:bodyPr spcFirstLastPara="1" wrap="square" lIns="0" tIns="12700" rIns="0" bIns="0" anchor="t" anchorCtr="0">
            <a:spAutoFit/>
          </a:bodyPr>
          <a:lstStyle/>
          <a:p>
            <a:pPr marL="12700" marR="5080" lvl="0" indent="0" algn="just" rtl="0">
              <a:lnSpc>
                <a:spcPct val="100000"/>
              </a:lnSpc>
              <a:spcBef>
                <a:spcPts val="0"/>
              </a:spcBef>
              <a:spcAft>
                <a:spcPts val="0"/>
              </a:spcAft>
              <a:buNone/>
            </a:pPr>
            <a:r>
              <a:rPr lang="en-US" sz="1800">
                <a:latin typeface="Cambria"/>
                <a:ea typeface="Cambria"/>
                <a:cs typeface="Cambria"/>
                <a:sym typeface="Cambria"/>
              </a:rPr>
              <a:t>Java </a:t>
            </a:r>
            <a:r>
              <a:rPr lang="en-US" sz="1800" b="1">
                <a:latin typeface="Cambria"/>
                <a:ea typeface="Cambria"/>
                <a:cs typeface="Cambria"/>
                <a:sym typeface="Cambria"/>
              </a:rPr>
              <a:t>ArrayList </a:t>
            </a:r>
            <a:r>
              <a:rPr lang="en-US" sz="1800">
                <a:latin typeface="Cambria"/>
                <a:ea typeface="Cambria"/>
                <a:cs typeface="Cambria"/>
                <a:sym typeface="Cambria"/>
              </a:rPr>
              <a:t>class uses a </a:t>
            </a:r>
            <a:r>
              <a:rPr lang="en-US" sz="1800" i="1">
                <a:latin typeface="Cambria"/>
                <a:ea typeface="Cambria"/>
                <a:cs typeface="Cambria"/>
                <a:sym typeface="Cambria"/>
              </a:rPr>
              <a:t>dynamic array </a:t>
            </a:r>
            <a:r>
              <a:rPr lang="en-US" sz="1800">
                <a:latin typeface="Cambria"/>
                <a:ea typeface="Cambria"/>
                <a:cs typeface="Cambria"/>
                <a:sym typeface="Cambria"/>
              </a:rPr>
              <a:t>for storing the elements. It is like an array, but there </a:t>
            </a:r>
            <a:r>
              <a:rPr lang="en-US" sz="1800" b="1">
                <a:latin typeface="Cambria"/>
                <a:ea typeface="Cambria"/>
                <a:cs typeface="Cambria"/>
                <a:sym typeface="Cambria"/>
              </a:rPr>
              <a:t>is </a:t>
            </a:r>
            <a:r>
              <a:rPr lang="en-US" sz="1800" b="1" i="1">
                <a:latin typeface="Cambria"/>
                <a:ea typeface="Cambria"/>
                <a:cs typeface="Cambria"/>
                <a:sym typeface="Cambria"/>
              </a:rPr>
              <a:t>no size limit</a:t>
            </a:r>
            <a:r>
              <a:rPr lang="en-US" sz="1800">
                <a:latin typeface="Cambria"/>
                <a:ea typeface="Cambria"/>
                <a:cs typeface="Cambria"/>
                <a:sym typeface="Cambria"/>
              </a:rPr>
              <a:t>. We can </a:t>
            </a:r>
            <a:r>
              <a:rPr lang="en-US" sz="1800" b="1">
                <a:latin typeface="Cambria"/>
                <a:ea typeface="Cambria"/>
                <a:cs typeface="Cambria"/>
                <a:sym typeface="Cambria"/>
              </a:rPr>
              <a:t>add or remove elements anytime</a:t>
            </a:r>
            <a:r>
              <a:rPr lang="en-US" sz="1800">
                <a:latin typeface="Cambria"/>
                <a:ea typeface="Cambria"/>
                <a:cs typeface="Cambria"/>
                <a:sym typeface="Cambria"/>
              </a:rPr>
              <a:t>. So, it is much </a:t>
            </a:r>
            <a:r>
              <a:rPr lang="en-US" sz="1800" b="1">
                <a:latin typeface="Cambria"/>
                <a:ea typeface="Cambria"/>
                <a:cs typeface="Cambria"/>
                <a:sym typeface="Cambria"/>
              </a:rPr>
              <a:t>more flexible </a:t>
            </a:r>
            <a:r>
              <a:rPr lang="en-US" sz="1800">
                <a:latin typeface="Cambria"/>
                <a:ea typeface="Cambria"/>
                <a:cs typeface="Cambria"/>
                <a:sym typeface="Cambria"/>
              </a:rPr>
              <a:t>than the traditional array. It is found in the </a:t>
            </a:r>
            <a:r>
              <a:rPr lang="en-US" sz="1800" i="1">
                <a:latin typeface="Cambria"/>
                <a:ea typeface="Cambria"/>
                <a:cs typeface="Cambria"/>
                <a:sym typeface="Cambria"/>
              </a:rPr>
              <a:t>java.util </a:t>
            </a:r>
            <a:r>
              <a:rPr lang="en-US" sz="1800">
                <a:latin typeface="Cambria"/>
                <a:ea typeface="Cambria"/>
                <a:cs typeface="Cambria"/>
                <a:sym typeface="Cambria"/>
              </a:rPr>
              <a:t>package. It is like the Vector in C++.</a:t>
            </a:r>
            <a:endParaRPr sz="1800">
              <a:latin typeface="Cambria"/>
              <a:ea typeface="Cambria"/>
              <a:cs typeface="Cambria"/>
              <a:sym typeface="Cambria"/>
            </a:endParaRPr>
          </a:p>
        </p:txBody>
      </p:sp>
      <p:sp>
        <p:nvSpPr>
          <p:cNvPr id="705" name="Google Shape;705;p71"/>
          <p:cNvSpPr txBox="1"/>
          <p:nvPr/>
        </p:nvSpPr>
        <p:spPr>
          <a:xfrm>
            <a:off x="3736975" y="3471494"/>
            <a:ext cx="7539990" cy="3181350"/>
          </a:xfrm>
          <a:prstGeom prst="rect">
            <a:avLst/>
          </a:prstGeom>
          <a:noFill/>
          <a:ln>
            <a:noFill/>
          </a:ln>
        </p:spPr>
        <p:txBody>
          <a:bodyPr spcFirstLastPara="1" wrap="square" lIns="0" tIns="12700" rIns="0" bIns="0" anchor="t" anchorCtr="0">
            <a:spAutoFit/>
          </a:bodyPr>
          <a:lstStyle/>
          <a:p>
            <a:pPr marL="12700" marR="5080" lvl="0" indent="0" algn="just" rtl="0">
              <a:lnSpc>
                <a:spcPct val="100000"/>
              </a:lnSpc>
              <a:spcBef>
                <a:spcPts val="0"/>
              </a:spcBef>
              <a:spcAft>
                <a:spcPts val="0"/>
              </a:spcAft>
              <a:buNone/>
            </a:pPr>
            <a:r>
              <a:rPr lang="en-US" sz="1800">
                <a:latin typeface="Cambria"/>
                <a:ea typeface="Cambria"/>
                <a:cs typeface="Cambria"/>
                <a:sym typeface="Cambria"/>
              </a:rPr>
              <a:t>The ArrayList in Java can have the duplicate elements also. It implements the List interface so we can use all the methods of the List interface here. The ArrayList maintains the insertion order internally.</a:t>
            </a:r>
            <a:endParaRPr sz="1800">
              <a:latin typeface="Cambria"/>
              <a:ea typeface="Cambria"/>
              <a:cs typeface="Cambria"/>
              <a:sym typeface="Cambria"/>
            </a:endParaRPr>
          </a:p>
          <a:p>
            <a:pPr marL="0" lvl="0" indent="0" algn="l" rtl="0">
              <a:lnSpc>
                <a:spcPct val="100000"/>
              </a:lnSpc>
              <a:spcBef>
                <a:spcPts val="50"/>
              </a:spcBef>
              <a:spcAft>
                <a:spcPts val="0"/>
              </a:spcAft>
              <a:buNone/>
            </a:pPr>
            <a:endParaRPr sz="1800">
              <a:latin typeface="Cambria"/>
              <a:ea typeface="Cambria"/>
              <a:cs typeface="Cambria"/>
              <a:sym typeface="Cambria"/>
            </a:endParaRPr>
          </a:p>
          <a:p>
            <a:pPr marL="12700" lvl="0" indent="0" algn="just" rtl="0">
              <a:lnSpc>
                <a:spcPct val="100000"/>
              </a:lnSpc>
              <a:spcBef>
                <a:spcPts val="5"/>
              </a:spcBef>
              <a:spcAft>
                <a:spcPts val="0"/>
              </a:spcAft>
              <a:buNone/>
            </a:pPr>
            <a:r>
              <a:rPr lang="en-US" sz="1800">
                <a:latin typeface="Cambria"/>
                <a:ea typeface="Cambria"/>
                <a:cs typeface="Cambria"/>
                <a:sym typeface="Cambria"/>
              </a:rPr>
              <a:t>It inherits the AbstractList class and implements List interface.</a:t>
            </a:r>
            <a:endParaRPr sz="1800">
              <a:latin typeface="Cambria"/>
              <a:ea typeface="Cambria"/>
              <a:cs typeface="Cambria"/>
              <a:sym typeface="Cambria"/>
            </a:endParaRPr>
          </a:p>
          <a:p>
            <a:pPr marL="12700" marR="1256030" lvl="0" indent="0" algn="just" rtl="0">
              <a:lnSpc>
                <a:spcPct val="150000"/>
              </a:lnSpc>
              <a:spcBef>
                <a:spcPts val="1764"/>
              </a:spcBef>
              <a:spcAft>
                <a:spcPts val="0"/>
              </a:spcAft>
              <a:buNone/>
            </a:pPr>
            <a:r>
              <a:rPr lang="en-US" sz="1800">
                <a:latin typeface="Cambria"/>
                <a:ea typeface="Cambria"/>
                <a:cs typeface="Cambria"/>
                <a:sym typeface="Cambria"/>
              </a:rPr>
              <a:t>ArrayList&lt;int&gt; al = ArrayList&lt;int&gt;(); // does not work ArrayList&lt;Integer&gt; al = new ArrayList&lt;Integer&gt;(); // works fine</a:t>
            </a:r>
            <a:endParaRPr sz="1800">
              <a:latin typeface="Cambria"/>
              <a:ea typeface="Cambria"/>
              <a:cs typeface="Cambria"/>
              <a:sym typeface="Cambria"/>
            </a:endParaRPr>
          </a:p>
          <a:p>
            <a:pPr marL="0" lvl="0" indent="0" algn="l" rtl="0">
              <a:lnSpc>
                <a:spcPct val="100000"/>
              </a:lnSpc>
              <a:spcBef>
                <a:spcPts val="1525"/>
              </a:spcBef>
              <a:spcAft>
                <a:spcPts val="0"/>
              </a:spcAft>
              <a:buNone/>
            </a:pPr>
            <a:endParaRPr sz="1800">
              <a:latin typeface="Cambria"/>
              <a:ea typeface="Cambria"/>
              <a:cs typeface="Cambria"/>
              <a:sym typeface="Cambria"/>
            </a:endParaRPr>
          </a:p>
          <a:p>
            <a:pPr marL="12700" lvl="0" indent="0" algn="just" rtl="0">
              <a:lnSpc>
                <a:spcPct val="100000"/>
              </a:lnSpc>
              <a:spcBef>
                <a:spcPts val="0"/>
              </a:spcBef>
              <a:spcAft>
                <a:spcPts val="0"/>
              </a:spcAft>
              <a:buNone/>
            </a:pPr>
            <a:r>
              <a:rPr lang="en-US" sz="1800" b="1">
                <a:latin typeface="Cambria"/>
                <a:ea typeface="Cambria"/>
                <a:cs typeface="Cambria"/>
                <a:sym typeface="Cambria"/>
              </a:rPr>
              <a:t>Check Program: </a:t>
            </a:r>
            <a:r>
              <a:rPr lang="en-US" sz="1800">
                <a:latin typeface="Cambria"/>
                <a:ea typeface="Cambria"/>
                <a:cs typeface="Cambria"/>
                <a:sym typeface="Cambria"/>
              </a:rPr>
              <a:t>ArrayListDemo.java</a:t>
            </a:r>
            <a:endParaRPr sz="1800">
              <a:latin typeface="Cambria"/>
              <a:ea typeface="Cambria"/>
              <a:cs typeface="Cambria"/>
              <a:sym typeface="Cambria"/>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710" name="Google Shape;710;p72"/>
          <p:cNvSpPr/>
          <p:nvPr/>
        </p:nvSpPr>
        <p:spPr>
          <a:xfrm>
            <a:off x="11817095" y="758951"/>
            <a:ext cx="374650" cy="5330825"/>
          </a:xfrm>
          <a:custGeom>
            <a:avLst/>
            <a:gdLst/>
            <a:ahLst/>
            <a:cxnLst/>
            <a:rect l="l" t="t" r="r" b="b"/>
            <a:pathLst>
              <a:path w="374650" h="5330825" extrusionOk="0">
                <a:moveTo>
                  <a:pt x="374523" y="0"/>
                </a:moveTo>
                <a:lnTo>
                  <a:pt x="0" y="0"/>
                </a:lnTo>
                <a:lnTo>
                  <a:pt x="0" y="5330444"/>
                </a:lnTo>
                <a:lnTo>
                  <a:pt x="374523" y="5330444"/>
                </a:lnTo>
                <a:lnTo>
                  <a:pt x="374523" y="0"/>
                </a:lnTo>
                <a:close/>
              </a:path>
            </a:pathLst>
          </a:custGeom>
          <a:solidFill>
            <a:srgbClr val="C6C6C6">
              <a:alpha val="49411"/>
            </a:srgbClr>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711" name="Google Shape;711;p72"/>
          <p:cNvSpPr txBox="1">
            <a:spLocks noGrp="1"/>
          </p:cNvSpPr>
          <p:nvPr>
            <p:ph type="title"/>
          </p:nvPr>
        </p:nvSpPr>
        <p:spPr>
          <a:xfrm>
            <a:off x="683768" y="2830779"/>
            <a:ext cx="1959610" cy="57467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a:latin typeface="Cambria"/>
                <a:ea typeface="Cambria"/>
                <a:cs typeface="Cambria"/>
                <a:sym typeface="Cambria"/>
              </a:rPr>
              <a:t>Array List</a:t>
            </a:r>
            <a:endParaRPr/>
          </a:p>
        </p:txBody>
      </p:sp>
      <p:pic>
        <p:nvPicPr>
          <p:cNvPr id="712" name="Google Shape;712;p72"/>
          <p:cNvPicPr preferRelativeResize="0"/>
          <p:nvPr/>
        </p:nvPicPr>
        <p:blipFill rotWithShape="1">
          <a:blip r:embed="rId3">
            <a:alphaModFix/>
          </a:blip>
          <a:srcRect/>
          <a:stretch/>
        </p:blipFill>
        <p:spPr>
          <a:xfrm>
            <a:off x="3777309" y="2460770"/>
            <a:ext cx="7316362" cy="2541701"/>
          </a:xfrm>
          <a:prstGeom prst="rect">
            <a:avLst/>
          </a:prstGeom>
          <a:noFill/>
          <a:ln>
            <a:noFill/>
          </a:ln>
        </p:spPr>
      </p:pic>
      <p:sp>
        <p:nvSpPr>
          <p:cNvPr id="713" name="Google Shape;713;p72"/>
          <p:cNvSpPr txBox="1"/>
          <p:nvPr/>
        </p:nvSpPr>
        <p:spPr>
          <a:xfrm>
            <a:off x="4041775" y="1551178"/>
            <a:ext cx="2524760" cy="2898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800" b="1">
                <a:latin typeface="Cambria"/>
                <a:ea typeface="Cambria"/>
                <a:cs typeface="Cambria"/>
                <a:sym typeface="Cambria"/>
              </a:rPr>
              <a:t>ArrayList Constructors :</a:t>
            </a:r>
            <a:endParaRPr sz="1800">
              <a:latin typeface="Cambria"/>
              <a:ea typeface="Cambria"/>
              <a:cs typeface="Cambria"/>
              <a:sym typeface="Cambria"/>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717"/>
        <p:cNvGrpSpPr/>
        <p:nvPr/>
      </p:nvGrpSpPr>
      <p:grpSpPr>
        <a:xfrm>
          <a:off x="0" y="0"/>
          <a:ext cx="0" cy="0"/>
          <a:chOff x="0" y="0"/>
          <a:chExt cx="0" cy="0"/>
        </a:xfrm>
      </p:grpSpPr>
      <p:sp>
        <p:nvSpPr>
          <p:cNvPr id="718" name="Google Shape;718;p73"/>
          <p:cNvSpPr/>
          <p:nvPr/>
        </p:nvSpPr>
        <p:spPr>
          <a:xfrm>
            <a:off x="11817096" y="758951"/>
            <a:ext cx="374650" cy="5330825"/>
          </a:xfrm>
          <a:custGeom>
            <a:avLst/>
            <a:gdLst/>
            <a:ahLst/>
            <a:cxnLst/>
            <a:rect l="l" t="t" r="r" b="b"/>
            <a:pathLst>
              <a:path w="374650" h="5330825" extrusionOk="0">
                <a:moveTo>
                  <a:pt x="374637" y="0"/>
                </a:moveTo>
                <a:lnTo>
                  <a:pt x="166116" y="0"/>
                </a:lnTo>
                <a:lnTo>
                  <a:pt x="0" y="0"/>
                </a:lnTo>
                <a:lnTo>
                  <a:pt x="0" y="5330444"/>
                </a:lnTo>
                <a:lnTo>
                  <a:pt x="166116" y="5330444"/>
                </a:lnTo>
                <a:lnTo>
                  <a:pt x="374523" y="5330444"/>
                </a:lnTo>
                <a:lnTo>
                  <a:pt x="374637" y="0"/>
                </a:lnTo>
                <a:close/>
              </a:path>
            </a:pathLst>
          </a:custGeom>
          <a:solidFill>
            <a:srgbClr val="C6C6C6">
              <a:alpha val="49411"/>
            </a:srgbClr>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719" name="Google Shape;719;p73"/>
          <p:cNvSpPr txBox="1">
            <a:spLocks noGrp="1"/>
          </p:cNvSpPr>
          <p:nvPr>
            <p:ph type="title"/>
          </p:nvPr>
        </p:nvSpPr>
        <p:spPr>
          <a:xfrm>
            <a:off x="618845" y="2694813"/>
            <a:ext cx="1730375" cy="1009015"/>
          </a:xfrm>
          <a:prstGeom prst="rect">
            <a:avLst/>
          </a:prstGeom>
          <a:noFill/>
          <a:ln>
            <a:noFill/>
          </a:ln>
        </p:spPr>
        <p:txBody>
          <a:bodyPr spcFirstLastPara="1" wrap="square" lIns="0" tIns="5075" rIns="0" bIns="0" anchor="t" anchorCtr="0">
            <a:spAutoFit/>
          </a:bodyPr>
          <a:lstStyle/>
          <a:p>
            <a:pPr marL="99060" marR="5080" lvl="0" indent="-86995" algn="l" rtl="0">
              <a:lnSpc>
                <a:spcPct val="101600"/>
              </a:lnSpc>
              <a:spcBef>
                <a:spcPts val="0"/>
              </a:spcBef>
              <a:spcAft>
                <a:spcPts val="0"/>
              </a:spcAft>
              <a:buNone/>
            </a:pPr>
            <a:r>
              <a:rPr lang="en-US" sz="3200">
                <a:latin typeface="Cambria"/>
                <a:ea typeface="Cambria"/>
                <a:cs typeface="Cambria"/>
                <a:sym typeface="Cambria"/>
              </a:rPr>
              <a:t>Array List Methods</a:t>
            </a:r>
            <a:endParaRPr sz="3200">
              <a:latin typeface="Cambria"/>
              <a:ea typeface="Cambria"/>
              <a:cs typeface="Cambria"/>
              <a:sym typeface="Cambria"/>
            </a:endParaRPr>
          </a:p>
        </p:txBody>
      </p:sp>
      <p:grpSp>
        <p:nvGrpSpPr>
          <p:cNvPr id="720" name="Google Shape;720;p73"/>
          <p:cNvGrpSpPr/>
          <p:nvPr/>
        </p:nvGrpSpPr>
        <p:grpSpPr>
          <a:xfrm>
            <a:off x="3505200" y="0"/>
            <a:ext cx="8458200" cy="6553200"/>
            <a:chOff x="2743200" y="304799"/>
            <a:chExt cx="8801100" cy="6553200"/>
          </a:xfrm>
        </p:grpSpPr>
        <p:pic>
          <p:nvPicPr>
            <p:cNvPr id="721" name="Google Shape;721;p73"/>
            <p:cNvPicPr preferRelativeResize="0"/>
            <p:nvPr/>
          </p:nvPicPr>
          <p:blipFill rotWithShape="1">
            <a:blip r:embed="rId3">
              <a:alphaModFix/>
            </a:blip>
            <a:srcRect/>
            <a:stretch/>
          </p:blipFill>
          <p:spPr>
            <a:xfrm>
              <a:off x="2819400" y="304799"/>
              <a:ext cx="8724900" cy="5330825"/>
            </a:xfrm>
            <a:prstGeom prst="rect">
              <a:avLst/>
            </a:prstGeom>
            <a:noFill/>
            <a:ln>
              <a:noFill/>
            </a:ln>
          </p:spPr>
        </p:pic>
        <p:pic>
          <p:nvPicPr>
            <p:cNvPr id="722" name="Google Shape;722;p73"/>
            <p:cNvPicPr preferRelativeResize="0"/>
            <p:nvPr/>
          </p:nvPicPr>
          <p:blipFill rotWithShape="1">
            <a:blip r:embed="rId4">
              <a:alphaModFix/>
            </a:blip>
            <a:srcRect/>
            <a:stretch/>
          </p:blipFill>
          <p:spPr>
            <a:xfrm>
              <a:off x="2743200" y="5465063"/>
              <a:ext cx="8795258" cy="1392936"/>
            </a:xfrm>
            <a:prstGeom prst="rect">
              <a:avLst/>
            </a:prstGeom>
            <a:noFill/>
            <a:ln>
              <a:noFill/>
            </a:ln>
          </p:spPr>
        </p:pic>
      </p:gr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726"/>
        <p:cNvGrpSpPr/>
        <p:nvPr/>
      </p:nvGrpSpPr>
      <p:grpSpPr>
        <a:xfrm>
          <a:off x="0" y="0"/>
          <a:ext cx="0" cy="0"/>
          <a:chOff x="0" y="0"/>
          <a:chExt cx="0" cy="0"/>
        </a:xfrm>
      </p:grpSpPr>
      <p:sp>
        <p:nvSpPr>
          <p:cNvPr id="727" name="Google Shape;727;p74"/>
          <p:cNvSpPr/>
          <p:nvPr/>
        </p:nvSpPr>
        <p:spPr>
          <a:xfrm>
            <a:off x="11817096" y="758951"/>
            <a:ext cx="374650" cy="5330825"/>
          </a:xfrm>
          <a:custGeom>
            <a:avLst/>
            <a:gdLst/>
            <a:ahLst/>
            <a:cxnLst/>
            <a:rect l="l" t="t" r="r" b="b"/>
            <a:pathLst>
              <a:path w="374650" h="5330825" extrusionOk="0">
                <a:moveTo>
                  <a:pt x="374637" y="0"/>
                </a:moveTo>
                <a:lnTo>
                  <a:pt x="166116" y="0"/>
                </a:lnTo>
                <a:lnTo>
                  <a:pt x="0" y="0"/>
                </a:lnTo>
                <a:lnTo>
                  <a:pt x="0" y="5330444"/>
                </a:lnTo>
                <a:lnTo>
                  <a:pt x="166116" y="5330444"/>
                </a:lnTo>
                <a:lnTo>
                  <a:pt x="374523" y="5330444"/>
                </a:lnTo>
                <a:lnTo>
                  <a:pt x="374637" y="0"/>
                </a:lnTo>
                <a:close/>
              </a:path>
            </a:pathLst>
          </a:custGeom>
          <a:solidFill>
            <a:srgbClr val="C6C6C6">
              <a:alpha val="49411"/>
            </a:srgbClr>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728" name="Google Shape;728;p74"/>
          <p:cNvSpPr txBox="1">
            <a:spLocks noGrp="1"/>
          </p:cNvSpPr>
          <p:nvPr>
            <p:ph type="title"/>
          </p:nvPr>
        </p:nvSpPr>
        <p:spPr>
          <a:xfrm>
            <a:off x="466445" y="2618613"/>
            <a:ext cx="1730375" cy="1009015"/>
          </a:xfrm>
          <a:prstGeom prst="rect">
            <a:avLst/>
          </a:prstGeom>
          <a:noFill/>
          <a:ln>
            <a:noFill/>
          </a:ln>
        </p:spPr>
        <p:txBody>
          <a:bodyPr spcFirstLastPara="1" wrap="square" lIns="0" tIns="5075" rIns="0" bIns="0" anchor="t" anchorCtr="0">
            <a:spAutoFit/>
          </a:bodyPr>
          <a:lstStyle/>
          <a:p>
            <a:pPr marL="99060" marR="5080" lvl="0" indent="-86995" algn="l" rtl="0">
              <a:lnSpc>
                <a:spcPct val="101600"/>
              </a:lnSpc>
              <a:spcBef>
                <a:spcPts val="0"/>
              </a:spcBef>
              <a:spcAft>
                <a:spcPts val="0"/>
              </a:spcAft>
              <a:buNone/>
            </a:pPr>
            <a:r>
              <a:rPr lang="en-US" sz="3200">
                <a:latin typeface="Cambria"/>
                <a:ea typeface="Cambria"/>
                <a:cs typeface="Cambria"/>
                <a:sym typeface="Cambria"/>
              </a:rPr>
              <a:t>Array List Methods</a:t>
            </a:r>
            <a:endParaRPr sz="3200">
              <a:latin typeface="Cambria"/>
              <a:ea typeface="Cambria"/>
              <a:cs typeface="Cambria"/>
              <a:sym typeface="Cambria"/>
            </a:endParaRPr>
          </a:p>
        </p:txBody>
      </p:sp>
      <p:grpSp>
        <p:nvGrpSpPr>
          <p:cNvPr id="729" name="Google Shape;729;p74"/>
          <p:cNvGrpSpPr/>
          <p:nvPr/>
        </p:nvGrpSpPr>
        <p:grpSpPr>
          <a:xfrm>
            <a:off x="3576600" y="571942"/>
            <a:ext cx="8148828" cy="5904532"/>
            <a:chOff x="2819400" y="207263"/>
            <a:chExt cx="8148828" cy="5704333"/>
          </a:xfrm>
        </p:grpSpPr>
        <p:pic>
          <p:nvPicPr>
            <p:cNvPr id="730" name="Google Shape;730;p74"/>
            <p:cNvPicPr preferRelativeResize="0"/>
            <p:nvPr/>
          </p:nvPicPr>
          <p:blipFill rotWithShape="1">
            <a:blip r:embed="rId3">
              <a:alphaModFix/>
            </a:blip>
            <a:srcRect/>
            <a:stretch/>
          </p:blipFill>
          <p:spPr>
            <a:xfrm>
              <a:off x="2819400" y="207263"/>
              <a:ext cx="7848600" cy="630935"/>
            </a:xfrm>
            <a:prstGeom prst="rect">
              <a:avLst/>
            </a:prstGeom>
            <a:noFill/>
            <a:ln>
              <a:noFill/>
            </a:ln>
          </p:spPr>
        </p:pic>
        <p:pic>
          <p:nvPicPr>
            <p:cNvPr id="731" name="Google Shape;731;p74"/>
            <p:cNvPicPr preferRelativeResize="0"/>
            <p:nvPr/>
          </p:nvPicPr>
          <p:blipFill rotWithShape="1">
            <a:blip r:embed="rId4">
              <a:alphaModFix/>
            </a:blip>
            <a:srcRect/>
            <a:stretch/>
          </p:blipFill>
          <p:spPr>
            <a:xfrm>
              <a:off x="2819400" y="762000"/>
              <a:ext cx="8148828" cy="5149596"/>
            </a:xfrm>
            <a:prstGeom prst="rect">
              <a:avLst/>
            </a:prstGeom>
            <a:noFill/>
            <a:ln>
              <a:noFill/>
            </a:ln>
          </p:spPr>
        </p:pic>
      </p:gr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735"/>
        <p:cNvGrpSpPr/>
        <p:nvPr/>
      </p:nvGrpSpPr>
      <p:grpSpPr>
        <a:xfrm>
          <a:off x="0" y="0"/>
          <a:ext cx="0" cy="0"/>
          <a:chOff x="0" y="0"/>
          <a:chExt cx="0" cy="0"/>
        </a:xfrm>
      </p:grpSpPr>
      <p:grpSp>
        <p:nvGrpSpPr>
          <p:cNvPr id="736" name="Google Shape;736;p75"/>
          <p:cNvGrpSpPr/>
          <p:nvPr/>
        </p:nvGrpSpPr>
        <p:grpSpPr>
          <a:xfrm>
            <a:off x="3505200" y="758951"/>
            <a:ext cx="8686546" cy="5330825"/>
            <a:chOff x="3505200" y="758951"/>
            <a:chExt cx="8686546" cy="5330825"/>
          </a:xfrm>
        </p:grpSpPr>
        <p:sp>
          <p:nvSpPr>
            <p:cNvPr id="737" name="Google Shape;737;p75"/>
            <p:cNvSpPr/>
            <p:nvPr/>
          </p:nvSpPr>
          <p:spPr>
            <a:xfrm>
              <a:off x="11817096" y="758951"/>
              <a:ext cx="374650" cy="5330825"/>
            </a:xfrm>
            <a:custGeom>
              <a:avLst/>
              <a:gdLst/>
              <a:ahLst/>
              <a:cxnLst/>
              <a:rect l="l" t="t" r="r" b="b"/>
              <a:pathLst>
                <a:path w="374650" h="5330825" extrusionOk="0">
                  <a:moveTo>
                    <a:pt x="374637" y="0"/>
                  </a:moveTo>
                  <a:lnTo>
                    <a:pt x="166116" y="0"/>
                  </a:lnTo>
                  <a:lnTo>
                    <a:pt x="0" y="0"/>
                  </a:lnTo>
                  <a:lnTo>
                    <a:pt x="0" y="5330444"/>
                  </a:lnTo>
                  <a:lnTo>
                    <a:pt x="166116" y="5330444"/>
                  </a:lnTo>
                  <a:lnTo>
                    <a:pt x="374523" y="5330444"/>
                  </a:lnTo>
                  <a:lnTo>
                    <a:pt x="374637" y="0"/>
                  </a:lnTo>
                  <a:close/>
                </a:path>
              </a:pathLst>
            </a:custGeom>
            <a:solidFill>
              <a:srgbClr val="C6C6C6">
                <a:alpha val="49411"/>
              </a:srgbClr>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738" name="Google Shape;738;p75"/>
            <p:cNvPicPr preferRelativeResize="0"/>
            <p:nvPr/>
          </p:nvPicPr>
          <p:blipFill rotWithShape="1">
            <a:blip r:embed="rId3">
              <a:alphaModFix/>
            </a:blip>
            <a:srcRect/>
            <a:stretch/>
          </p:blipFill>
          <p:spPr>
            <a:xfrm>
              <a:off x="3513057" y="888007"/>
              <a:ext cx="8297942" cy="581128"/>
            </a:xfrm>
            <a:prstGeom prst="rect">
              <a:avLst/>
            </a:prstGeom>
            <a:noFill/>
            <a:ln>
              <a:noFill/>
            </a:ln>
          </p:spPr>
        </p:pic>
        <p:pic>
          <p:nvPicPr>
            <p:cNvPr id="739" name="Google Shape;739;p75"/>
            <p:cNvPicPr preferRelativeResize="0"/>
            <p:nvPr/>
          </p:nvPicPr>
          <p:blipFill rotWithShape="1">
            <a:blip r:embed="rId4">
              <a:alphaModFix/>
            </a:blip>
            <a:srcRect/>
            <a:stretch/>
          </p:blipFill>
          <p:spPr>
            <a:xfrm>
              <a:off x="3505200" y="1371600"/>
              <a:ext cx="8357616" cy="3674364"/>
            </a:xfrm>
            <a:prstGeom prst="rect">
              <a:avLst/>
            </a:prstGeom>
            <a:noFill/>
            <a:ln>
              <a:noFill/>
            </a:ln>
          </p:spPr>
        </p:pic>
      </p:grpSp>
      <p:sp>
        <p:nvSpPr>
          <p:cNvPr id="740" name="Google Shape;740;p75"/>
          <p:cNvSpPr txBox="1">
            <a:spLocks noGrp="1"/>
          </p:cNvSpPr>
          <p:nvPr>
            <p:ph type="title"/>
          </p:nvPr>
        </p:nvSpPr>
        <p:spPr>
          <a:xfrm>
            <a:off x="683768" y="2830779"/>
            <a:ext cx="1959610" cy="1069975"/>
          </a:xfrm>
          <a:prstGeom prst="rect">
            <a:avLst/>
          </a:prstGeom>
          <a:noFill/>
          <a:ln>
            <a:noFill/>
          </a:ln>
        </p:spPr>
        <p:txBody>
          <a:bodyPr spcFirstLastPara="1" wrap="square" lIns="0" tIns="73650" rIns="0" bIns="0" anchor="t" anchorCtr="0">
            <a:spAutoFit/>
          </a:bodyPr>
          <a:lstStyle/>
          <a:p>
            <a:pPr marL="114300" marR="5080" lvl="0" indent="-102235" algn="l" rtl="0">
              <a:lnSpc>
                <a:spcPct val="108333"/>
              </a:lnSpc>
              <a:spcBef>
                <a:spcPts val="0"/>
              </a:spcBef>
              <a:spcAft>
                <a:spcPts val="0"/>
              </a:spcAft>
              <a:buNone/>
            </a:pPr>
            <a:r>
              <a:rPr lang="en-US">
                <a:latin typeface="Cambria"/>
                <a:ea typeface="Cambria"/>
                <a:cs typeface="Cambria"/>
                <a:sym typeface="Cambria"/>
              </a:rPr>
              <a:t>Array List Methods</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Shape 744"/>
        <p:cNvGrpSpPr/>
        <p:nvPr/>
      </p:nvGrpSpPr>
      <p:grpSpPr>
        <a:xfrm>
          <a:off x="0" y="0"/>
          <a:ext cx="0" cy="0"/>
          <a:chOff x="0" y="0"/>
          <a:chExt cx="0" cy="0"/>
        </a:xfrm>
      </p:grpSpPr>
      <p:sp>
        <p:nvSpPr>
          <p:cNvPr id="745" name="Google Shape;745;p76"/>
          <p:cNvSpPr/>
          <p:nvPr/>
        </p:nvSpPr>
        <p:spPr>
          <a:xfrm>
            <a:off x="0" y="758951"/>
            <a:ext cx="3444240" cy="5330825"/>
          </a:xfrm>
          <a:custGeom>
            <a:avLst/>
            <a:gdLst/>
            <a:ahLst/>
            <a:cxnLst/>
            <a:rect l="l" t="t" r="r" b="b"/>
            <a:pathLst>
              <a:path w="3444240" h="5330825" extrusionOk="0">
                <a:moveTo>
                  <a:pt x="3444240" y="0"/>
                </a:moveTo>
                <a:lnTo>
                  <a:pt x="0" y="0"/>
                </a:lnTo>
                <a:lnTo>
                  <a:pt x="0" y="5330444"/>
                </a:lnTo>
                <a:lnTo>
                  <a:pt x="3444240" y="5330444"/>
                </a:lnTo>
                <a:lnTo>
                  <a:pt x="3444240" y="0"/>
                </a:lnTo>
                <a:close/>
              </a:path>
            </a:pathLst>
          </a:custGeom>
          <a:solidFill>
            <a:srgbClr val="40B8D2"/>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nvGrpSpPr>
          <p:cNvPr id="746" name="Google Shape;746;p76"/>
          <p:cNvGrpSpPr/>
          <p:nvPr/>
        </p:nvGrpSpPr>
        <p:grpSpPr>
          <a:xfrm>
            <a:off x="8390981" y="758951"/>
            <a:ext cx="3581146" cy="5460493"/>
            <a:chOff x="8610600" y="758951"/>
            <a:chExt cx="3581146" cy="5460493"/>
          </a:xfrm>
        </p:grpSpPr>
        <p:sp>
          <p:nvSpPr>
            <p:cNvPr id="747" name="Google Shape;747;p76"/>
            <p:cNvSpPr/>
            <p:nvPr/>
          </p:nvSpPr>
          <p:spPr>
            <a:xfrm>
              <a:off x="11817096" y="758951"/>
              <a:ext cx="374650" cy="5330825"/>
            </a:xfrm>
            <a:custGeom>
              <a:avLst/>
              <a:gdLst/>
              <a:ahLst/>
              <a:cxnLst/>
              <a:rect l="l" t="t" r="r" b="b"/>
              <a:pathLst>
                <a:path w="374650" h="5330825" extrusionOk="0">
                  <a:moveTo>
                    <a:pt x="374637" y="0"/>
                  </a:moveTo>
                  <a:lnTo>
                    <a:pt x="166116" y="0"/>
                  </a:lnTo>
                  <a:lnTo>
                    <a:pt x="0" y="0"/>
                  </a:lnTo>
                  <a:lnTo>
                    <a:pt x="0" y="5330444"/>
                  </a:lnTo>
                  <a:lnTo>
                    <a:pt x="166116" y="5330444"/>
                  </a:lnTo>
                  <a:lnTo>
                    <a:pt x="374523" y="5330444"/>
                  </a:lnTo>
                  <a:lnTo>
                    <a:pt x="374637" y="0"/>
                  </a:lnTo>
                  <a:close/>
                </a:path>
              </a:pathLst>
            </a:custGeom>
            <a:solidFill>
              <a:srgbClr val="C6C6C6">
                <a:alpha val="49411"/>
              </a:srgbClr>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748" name="Google Shape;748;p76"/>
            <p:cNvPicPr preferRelativeResize="0"/>
            <p:nvPr/>
          </p:nvPicPr>
          <p:blipFill rotWithShape="1">
            <a:blip r:embed="rId3">
              <a:alphaModFix/>
            </a:blip>
            <a:srcRect/>
            <a:stretch/>
          </p:blipFill>
          <p:spPr>
            <a:xfrm>
              <a:off x="8610600" y="1524000"/>
              <a:ext cx="3429000" cy="4695444"/>
            </a:xfrm>
            <a:prstGeom prst="rect">
              <a:avLst/>
            </a:prstGeom>
            <a:noFill/>
            <a:ln>
              <a:noFill/>
            </a:ln>
          </p:spPr>
        </p:pic>
      </p:grpSp>
      <p:sp>
        <p:nvSpPr>
          <p:cNvPr id="749" name="Google Shape;749;p76"/>
          <p:cNvSpPr txBox="1"/>
          <p:nvPr/>
        </p:nvSpPr>
        <p:spPr>
          <a:xfrm>
            <a:off x="558800" y="2830779"/>
            <a:ext cx="2211070" cy="57467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3600" b="1">
                <a:solidFill>
                  <a:srgbClr val="FFFFFF"/>
                </a:solidFill>
                <a:latin typeface="Cambria"/>
                <a:ea typeface="Cambria"/>
                <a:cs typeface="Cambria"/>
                <a:sym typeface="Cambria"/>
              </a:rPr>
              <a:t>Linked List</a:t>
            </a:r>
            <a:endParaRPr sz="3600">
              <a:latin typeface="Cambria"/>
              <a:ea typeface="Cambria"/>
              <a:cs typeface="Cambria"/>
              <a:sym typeface="Cambria"/>
            </a:endParaRPr>
          </a:p>
        </p:txBody>
      </p:sp>
      <p:sp>
        <p:nvSpPr>
          <p:cNvPr id="750" name="Google Shape;750;p76"/>
          <p:cNvSpPr txBox="1"/>
          <p:nvPr/>
        </p:nvSpPr>
        <p:spPr>
          <a:xfrm>
            <a:off x="3813174" y="1017778"/>
            <a:ext cx="4934588" cy="1120820"/>
          </a:xfrm>
          <a:prstGeom prst="rect">
            <a:avLst/>
          </a:prstGeom>
          <a:noFill/>
          <a:ln>
            <a:noFill/>
          </a:ln>
        </p:spPr>
        <p:txBody>
          <a:bodyPr spcFirstLastPara="1" wrap="square" lIns="0" tIns="12700" rIns="0" bIns="0" anchor="t" anchorCtr="0">
            <a:spAutoFit/>
          </a:bodyPr>
          <a:lstStyle/>
          <a:p>
            <a:pPr marL="12700" marR="5080" lvl="0" indent="0" algn="just" rtl="0">
              <a:lnSpc>
                <a:spcPct val="100000"/>
              </a:lnSpc>
              <a:spcBef>
                <a:spcPts val="0"/>
              </a:spcBef>
              <a:spcAft>
                <a:spcPts val="0"/>
              </a:spcAft>
              <a:buNone/>
            </a:pPr>
            <a:r>
              <a:rPr lang="en-US" sz="1800">
                <a:latin typeface="Cambria"/>
                <a:ea typeface="Cambria"/>
                <a:cs typeface="Cambria"/>
                <a:sym typeface="Cambria"/>
              </a:rPr>
              <a:t>Java LinkedList class uses a doubly linked list to store the elements. It provides a linked-list data  structure.  It  inherits  the  AbstractList class   and   implements   List   and   Deque interfaces.</a:t>
            </a:r>
            <a:endParaRPr sz="1800">
              <a:latin typeface="Cambria"/>
              <a:ea typeface="Cambria"/>
              <a:cs typeface="Cambria"/>
              <a:sym typeface="Cambria"/>
            </a:endParaRPr>
          </a:p>
        </p:txBody>
      </p:sp>
      <p:sp>
        <p:nvSpPr>
          <p:cNvPr id="751" name="Google Shape;751;p76"/>
          <p:cNvSpPr txBox="1"/>
          <p:nvPr/>
        </p:nvSpPr>
        <p:spPr>
          <a:xfrm>
            <a:off x="3813175" y="2664078"/>
            <a:ext cx="4566920" cy="3613810"/>
          </a:xfrm>
          <a:prstGeom prst="rect">
            <a:avLst/>
          </a:prstGeom>
          <a:noFill/>
          <a:ln>
            <a:noFill/>
          </a:ln>
        </p:spPr>
        <p:txBody>
          <a:bodyPr spcFirstLastPara="1" wrap="square" lIns="0" tIns="12700" rIns="0" bIns="0" anchor="t" anchorCtr="0">
            <a:spAutoFit/>
          </a:bodyPr>
          <a:lstStyle/>
          <a:p>
            <a:pPr marL="12700" marR="5715" lvl="0" indent="0" algn="l" rtl="0">
              <a:lnSpc>
                <a:spcPct val="100000"/>
              </a:lnSpc>
              <a:spcBef>
                <a:spcPts val="0"/>
              </a:spcBef>
              <a:spcAft>
                <a:spcPts val="0"/>
              </a:spcAft>
              <a:buNone/>
            </a:pPr>
            <a:r>
              <a:rPr lang="en-US" sz="1800">
                <a:latin typeface="Cambria"/>
                <a:ea typeface="Cambria"/>
                <a:cs typeface="Cambria"/>
                <a:sym typeface="Cambria"/>
              </a:rPr>
              <a:t>The important points about Java LinkedList are:</a:t>
            </a:r>
            <a:endParaRPr sz="1800">
              <a:latin typeface="Cambria"/>
              <a:ea typeface="Cambria"/>
              <a:cs typeface="Cambria"/>
              <a:sym typeface="Cambria"/>
            </a:endParaRPr>
          </a:p>
          <a:p>
            <a:pPr marL="62864" lvl="0" indent="0" algn="l" rtl="0">
              <a:lnSpc>
                <a:spcPct val="100000"/>
              </a:lnSpc>
              <a:spcBef>
                <a:spcPts val="0"/>
              </a:spcBef>
              <a:spcAft>
                <a:spcPts val="0"/>
              </a:spcAft>
              <a:buNone/>
            </a:pPr>
            <a:r>
              <a:rPr lang="en-US" sz="1800">
                <a:latin typeface="Cambria"/>
                <a:ea typeface="Cambria"/>
                <a:cs typeface="Cambria"/>
                <a:sym typeface="Cambria"/>
              </a:rPr>
              <a:t>Java  LinkedList  class  can  contain  duplicate</a:t>
            </a:r>
            <a:endParaRPr sz="1800">
              <a:latin typeface="Cambria"/>
              <a:ea typeface="Cambria"/>
              <a:cs typeface="Cambria"/>
              <a:sym typeface="Cambria"/>
            </a:endParaRPr>
          </a:p>
          <a:p>
            <a:pPr marL="12700" lvl="0" indent="0" algn="l" rtl="0">
              <a:lnSpc>
                <a:spcPct val="100000"/>
              </a:lnSpc>
              <a:spcBef>
                <a:spcPts val="0"/>
              </a:spcBef>
              <a:spcAft>
                <a:spcPts val="0"/>
              </a:spcAft>
              <a:buNone/>
            </a:pPr>
            <a:r>
              <a:rPr lang="en-US" sz="1800">
                <a:latin typeface="Cambria"/>
                <a:ea typeface="Cambria"/>
                <a:cs typeface="Cambria"/>
                <a:sym typeface="Cambria"/>
              </a:rPr>
              <a:t>elements.</a:t>
            </a:r>
            <a:endParaRPr sz="1800">
              <a:latin typeface="Cambria"/>
              <a:ea typeface="Cambria"/>
              <a:cs typeface="Cambria"/>
              <a:sym typeface="Cambria"/>
            </a:endParaRPr>
          </a:p>
          <a:p>
            <a:pPr marL="12700" marR="5080" lvl="0" indent="0" algn="l" rtl="0">
              <a:lnSpc>
                <a:spcPct val="100000"/>
              </a:lnSpc>
              <a:spcBef>
                <a:spcPts val="0"/>
              </a:spcBef>
              <a:spcAft>
                <a:spcPts val="0"/>
              </a:spcAft>
              <a:buNone/>
            </a:pPr>
            <a:r>
              <a:rPr lang="en-US" sz="1800">
                <a:latin typeface="Cambria"/>
                <a:ea typeface="Cambria"/>
                <a:cs typeface="Cambria"/>
                <a:sym typeface="Cambria"/>
              </a:rPr>
              <a:t>Java	LinkedList	class	maintains	insertion order.</a:t>
            </a:r>
            <a:endParaRPr sz="1800">
              <a:latin typeface="Cambria"/>
              <a:ea typeface="Cambria"/>
              <a:cs typeface="Cambria"/>
              <a:sym typeface="Cambria"/>
            </a:endParaRPr>
          </a:p>
          <a:p>
            <a:pPr marL="12700" lvl="0" indent="0" algn="l" rtl="0">
              <a:lnSpc>
                <a:spcPct val="100000"/>
              </a:lnSpc>
              <a:spcBef>
                <a:spcPts val="0"/>
              </a:spcBef>
              <a:spcAft>
                <a:spcPts val="0"/>
              </a:spcAft>
              <a:buNone/>
            </a:pPr>
            <a:r>
              <a:rPr lang="en-US" sz="1800">
                <a:latin typeface="Cambria"/>
                <a:ea typeface="Cambria"/>
                <a:cs typeface="Cambria"/>
                <a:sym typeface="Cambria"/>
              </a:rPr>
              <a:t>Java LinkedList class is non synchronized.</a:t>
            </a:r>
            <a:endParaRPr sz="1800">
              <a:latin typeface="Cambria"/>
              <a:ea typeface="Cambria"/>
              <a:cs typeface="Cambria"/>
              <a:sym typeface="Cambria"/>
            </a:endParaRPr>
          </a:p>
          <a:p>
            <a:pPr marL="12700" lvl="0" indent="0" algn="l" rtl="0">
              <a:lnSpc>
                <a:spcPct val="100000"/>
              </a:lnSpc>
              <a:spcBef>
                <a:spcPts val="0"/>
              </a:spcBef>
              <a:spcAft>
                <a:spcPts val="0"/>
              </a:spcAft>
              <a:buNone/>
            </a:pPr>
            <a:endParaRPr sz="1800">
              <a:latin typeface="Cambria"/>
              <a:ea typeface="Cambria"/>
              <a:cs typeface="Cambria"/>
              <a:sym typeface="Cambria"/>
            </a:endParaRPr>
          </a:p>
          <a:p>
            <a:pPr marL="12700" marR="6985" lvl="0" indent="0" algn="l" rtl="0">
              <a:lnSpc>
                <a:spcPct val="100000"/>
              </a:lnSpc>
              <a:spcBef>
                <a:spcPts val="0"/>
              </a:spcBef>
              <a:spcAft>
                <a:spcPts val="0"/>
              </a:spcAft>
              <a:buNone/>
            </a:pPr>
            <a:r>
              <a:rPr lang="en-US" sz="1800">
                <a:latin typeface="Cambria"/>
                <a:ea typeface="Cambria"/>
                <a:cs typeface="Cambria"/>
                <a:sym typeface="Cambria"/>
              </a:rPr>
              <a:t>In Java LinkedList class, manipulation is fast because no shifting needs to occur.</a:t>
            </a:r>
            <a:endParaRPr sz="1800">
              <a:latin typeface="Cambria"/>
              <a:ea typeface="Cambria"/>
              <a:cs typeface="Cambria"/>
              <a:sym typeface="Cambria"/>
            </a:endParaRPr>
          </a:p>
          <a:p>
            <a:pPr marL="12700" marR="6985" lvl="0" indent="0" algn="l" rtl="0">
              <a:lnSpc>
                <a:spcPct val="100000"/>
              </a:lnSpc>
              <a:spcBef>
                <a:spcPts val="0"/>
              </a:spcBef>
              <a:spcAft>
                <a:spcPts val="0"/>
              </a:spcAft>
              <a:buNone/>
            </a:pPr>
            <a:endParaRPr sz="1800">
              <a:latin typeface="Cambria"/>
              <a:ea typeface="Cambria"/>
              <a:cs typeface="Cambria"/>
              <a:sym typeface="Cambria"/>
            </a:endParaRPr>
          </a:p>
          <a:p>
            <a:pPr marL="12700" lvl="0" indent="0" algn="l" rtl="0">
              <a:lnSpc>
                <a:spcPct val="100000"/>
              </a:lnSpc>
              <a:spcBef>
                <a:spcPts val="0"/>
              </a:spcBef>
              <a:spcAft>
                <a:spcPts val="0"/>
              </a:spcAft>
              <a:buNone/>
            </a:pPr>
            <a:r>
              <a:rPr lang="en-US" sz="1800">
                <a:latin typeface="Cambria"/>
                <a:ea typeface="Cambria"/>
                <a:cs typeface="Cambria"/>
                <a:sym typeface="Cambria"/>
              </a:rPr>
              <a:t>Java LinkedList class can be used as a list,</a:t>
            </a:r>
            <a:endParaRPr sz="1800">
              <a:latin typeface="Cambria"/>
              <a:ea typeface="Cambria"/>
              <a:cs typeface="Cambria"/>
              <a:sym typeface="Cambria"/>
            </a:endParaRPr>
          </a:p>
          <a:p>
            <a:pPr marL="12700" lvl="0" indent="0" algn="l" rtl="0">
              <a:lnSpc>
                <a:spcPct val="100000"/>
              </a:lnSpc>
              <a:spcBef>
                <a:spcPts val="5"/>
              </a:spcBef>
              <a:spcAft>
                <a:spcPts val="0"/>
              </a:spcAft>
              <a:buNone/>
            </a:pPr>
            <a:r>
              <a:rPr lang="en-US" sz="1800">
                <a:latin typeface="Cambria"/>
                <a:ea typeface="Cambria"/>
                <a:cs typeface="Cambria"/>
                <a:sym typeface="Cambria"/>
              </a:rPr>
              <a:t>stack or queue.</a:t>
            </a:r>
            <a:endParaRPr sz="1800">
              <a:latin typeface="Cambria"/>
              <a:ea typeface="Cambria"/>
              <a:cs typeface="Cambria"/>
              <a:sym typeface="Cambria"/>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755"/>
        <p:cNvGrpSpPr/>
        <p:nvPr/>
      </p:nvGrpSpPr>
      <p:grpSpPr>
        <a:xfrm>
          <a:off x="0" y="0"/>
          <a:ext cx="0" cy="0"/>
          <a:chOff x="0" y="0"/>
          <a:chExt cx="0" cy="0"/>
        </a:xfrm>
      </p:grpSpPr>
      <p:grpSp>
        <p:nvGrpSpPr>
          <p:cNvPr id="756" name="Google Shape;756;p77"/>
          <p:cNvGrpSpPr/>
          <p:nvPr/>
        </p:nvGrpSpPr>
        <p:grpSpPr>
          <a:xfrm>
            <a:off x="3429000" y="758951"/>
            <a:ext cx="8763000" cy="5330825"/>
            <a:chOff x="3429000" y="758951"/>
            <a:chExt cx="8763000" cy="5330825"/>
          </a:xfrm>
        </p:grpSpPr>
        <p:sp>
          <p:nvSpPr>
            <p:cNvPr id="757" name="Google Shape;757;p77"/>
            <p:cNvSpPr/>
            <p:nvPr/>
          </p:nvSpPr>
          <p:spPr>
            <a:xfrm>
              <a:off x="11817096" y="758951"/>
              <a:ext cx="374650" cy="5330825"/>
            </a:xfrm>
            <a:custGeom>
              <a:avLst/>
              <a:gdLst/>
              <a:ahLst/>
              <a:cxnLst/>
              <a:rect l="l" t="t" r="r" b="b"/>
              <a:pathLst>
                <a:path w="374650" h="5330825" extrusionOk="0">
                  <a:moveTo>
                    <a:pt x="374637" y="0"/>
                  </a:moveTo>
                  <a:lnTo>
                    <a:pt x="166116" y="0"/>
                  </a:lnTo>
                  <a:lnTo>
                    <a:pt x="0" y="0"/>
                  </a:lnTo>
                  <a:lnTo>
                    <a:pt x="0" y="5330444"/>
                  </a:lnTo>
                  <a:lnTo>
                    <a:pt x="166116" y="5330444"/>
                  </a:lnTo>
                  <a:lnTo>
                    <a:pt x="374523" y="5330444"/>
                  </a:lnTo>
                  <a:lnTo>
                    <a:pt x="374637" y="0"/>
                  </a:lnTo>
                  <a:close/>
                </a:path>
              </a:pathLst>
            </a:custGeom>
            <a:solidFill>
              <a:srgbClr val="C6C6C6">
                <a:alpha val="49411"/>
              </a:srgbClr>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758" name="Google Shape;758;p77"/>
            <p:cNvPicPr preferRelativeResize="0"/>
            <p:nvPr/>
          </p:nvPicPr>
          <p:blipFill rotWithShape="1">
            <a:blip r:embed="rId3">
              <a:alphaModFix/>
            </a:blip>
            <a:srcRect/>
            <a:stretch/>
          </p:blipFill>
          <p:spPr>
            <a:xfrm>
              <a:off x="3429000" y="3657600"/>
              <a:ext cx="8763000" cy="1821180"/>
            </a:xfrm>
            <a:prstGeom prst="rect">
              <a:avLst/>
            </a:prstGeom>
            <a:noFill/>
            <a:ln>
              <a:noFill/>
            </a:ln>
          </p:spPr>
        </p:pic>
      </p:grpSp>
      <p:sp>
        <p:nvSpPr>
          <p:cNvPr id="759" name="Google Shape;759;p77"/>
          <p:cNvSpPr txBox="1"/>
          <p:nvPr/>
        </p:nvSpPr>
        <p:spPr>
          <a:xfrm>
            <a:off x="368300" y="2829255"/>
            <a:ext cx="2592705" cy="1146175"/>
          </a:xfrm>
          <a:prstGeom prst="rect">
            <a:avLst/>
          </a:prstGeom>
          <a:noFill/>
          <a:ln>
            <a:noFill/>
          </a:ln>
        </p:spPr>
        <p:txBody>
          <a:bodyPr spcFirstLastPara="1" wrap="square" lIns="0" tIns="3175" rIns="0" bIns="0" anchor="t" anchorCtr="0">
            <a:spAutoFit/>
          </a:bodyPr>
          <a:lstStyle/>
          <a:p>
            <a:pPr marL="12700" marR="5080" lvl="0" indent="179705" algn="l" rtl="0">
              <a:lnSpc>
                <a:spcPct val="125000"/>
              </a:lnSpc>
              <a:spcBef>
                <a:spcPts val="0"/>
              </a:spcBef>
              <a:spcAft>
                <a:spcPts val="0"/>
              </a:spcAft>
              <a:buNone/>
            </a:pPr>
            <a:r>
              <a:rPr lang="en-US" sz="3600" b="1">
                <a:solidFill>
                  <a:srgbClr val="FFFFFF"/>
                </a:solidFill>
                <a:latin typeface="Trebuchet MS"/>
                <a:ea typeface="Trebuchet MS"/>
                <a:cs typeface="Trebuchet MS"/>
                <a:sym typeface="Trebuchet MS"/>
              </a:rPr>
              <a:t>Linked List Constructors</a:t>
            </a:r>
            <a:endParaRPr sz="3600">
              <a:latin typeface="Trebuchet MS"/>
              <a:ea typeface="Trebuchet MS"/>
              <a:cs typeface="Trebuchet MS"/>
              <a:sym typeface="Trebuchet MS"/>
            </a:endParaRPr>
          </a:p>
        </p:txBody>
      </p:sp>
      <p:sp>
        <p:nvSpPr>
          <p:cNvPr id="760" name="Google Shape;760;p77"/>
          <p:cNvSpPr txBox="1">
            <a:spLocks noGrp="1"/>
          </p:cNvSpPr>
          <p:nvPr>
            <p:ph type="title"/>
          </p:nvPr>
        </p:nvSpPr>
        <p:spPr>
          <a:xfrm>
            <a:off x="3813175" y="1017778"/>
            <a:ext cx="2896235" cy="2997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800" b="0">
                <a:solidFill>
                  <a:srgbClr val="000000"/>
                </a:solidFill>
                <a:latin typeface="Cambria"/>
                <a:ea typeface="Cambria"/>
                <a:cs typeface="Cambria"/>
                <a:sym typeface="Cambria"/>
              </a:rPr>
              <a:t>Linked List Class Declaration:</a:t>
            </a:r>
            <a:endParaRPr sz="1800">
              <a:latin typeface="Cambria"/>
              <a:ea typeface="Cambria"/>
              <a:cs typeface="Cambria"/>
              <a:sym typeface="Cambria"/>
            </a:endParaRPr>
          </a:p>
        </p:txBody>
      </p:sp>
      <p:sp>
        <p:nvSpPr>
          <p:cNvPr id="761" name="Google Shape;761;p77"/>
          <p:cNvSpPr txBox="1"/>
          <p:nvPr/>
        </p:nvSpPr>
        <p:spPr>
          <a:xfrm>
            <a:off x="3813175" y="1560321"/>
            <a:ext cx="7639050" cy="112014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800">
                <a:latin typeface="Calibri"/>
                <a:ea typeface="Calibri"/>
                <a:cs typeface="Calibri"/>
                <a:sym typeface="Calibri"/>
              </a:rPr>
              <a:t>the declaration for java.util.LinkedList class.</a:t>
            </a:r>
            <a:endParaRPr sz="1800">
              <a:latin typeface="Calibri"/>
              <a:ea typeface="Calibri"/>
              <a:cs typeface="Calibri"/>
              <a:sym typeface="Calibri"/>
            </a:endParaRPr>
          </a:p>
          <a:p>
            <a:pPr marL="12700" marR="5080" lvl="0" indent="0" algn="l" rtl="0">
              <a:lnSpc>
                <a:spcPct val="100000"/>
              </a:lnSpc>
              <a:spcBef>
                <a:spcPts val="2140"/>
              </a:spcBef>
              <a:spcAft>
                <a:spcPts val="0"/>
              </a:spcAft>
              <a:buNone/>
            </a:pPr>
            <a:r>
              <a:rPr lang="en-US" sz="1800">
                <a:latin typeface="Calibri"/>
                <a:ea typeface="Calibri"/>
                <a:cs typeface="Calibri"/>
                <a:sym typeface="Calibri"/>
              </a:rPr>
              <a:t>public class LinkedList&lt;E&gt; extends AbstractSequentialList&lt;E&gt; implements List&lt;E&gt;, Deque&lt;E&gt;, Cloneable, Serializable</a:t>
            </a:r>
            <a:endParaRPr sz="1800">
              <a:latin typeface="Calibri"/>
              <a:ea typeface="Calibri"/>
              <a:cs typeface="Calibri"/>
              <a:sym typeface="Calibri"/>
            </a:endParaRPr>
          </a:p>
        </p:txBody>
      </p:sp>
      <p:sp>
        <p:nvSpPr>
          <p:cNvPr id="762" name="Google Shape;762;p77"/>
          <p:cNvSpPr txBox="1"/>
          <p:nvPr/>
        </p:nvSpPr>
        <p:spPr>
          <a:xfrm>
            <a:off x="3813175" y="2929254"/>
            <a:ext cx="2919730" cy="2997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800" b="1">
                <a:latin typeface="Calibri"/>
                <a:ea typeface="Calibri"/>
                <a:cs typeface="Calibri"/>
                <a:sym typeface="Calibri"/>
              </a:rPr>
              <a:t>Constructors of Java LinkedList</a:t>
            </a:r>
            <a:endParaRPr sz="1800">
              <a:latin typeface="Calibri"/>
              <a:ea typeface="Calibri"/>
              <a:cs typeface="Calibri"/>
              <a:sym typeface="Calibri"/>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766"/>
        <p:cNvGrpSpPr/>
        <p:nvPr/>
      </p:nvGrpSpPr>
      <p:grpSpPr>
        <a:xfrm>
          <a:off x="0" y="0"/>
          <a:ext cx="0" cy="0"/>
          <a:chOff x="0" y="0"/>
          <a:chExt cx="0" cy="0"/>
        </a:xfrm>
      </p:grpSpPr>
      <p:grpSp>
        <p:nvGrpSpPr>
          <p:cNvPr id="767" name="Google Shape;767;p78"/>
          <p:cNvGrpSpPr/>
          <p:nvPr/>
        </p:nvGrpSpPr>
        <p:grpSpPr>
          <a:xfrm>
            <a:off x="2901695" y="304800"/>
            <a:ext cx="9290304" cy="6324338"/>
            <a:chOff x="2901695" y="304800"/>
            <a:chExt cx="9290304" cy="6124956"/>
          </a:xfrm>
        </p:grpSpPr>
        <p:sp>
          <p:nvSpPr>
            <p:cNvPr id="768" name="Google Shape;768;p78"/>
            <p:cNvSpPr/>
            <p:nvPr/>
          </p:nvSpPr>
          <p:spPr>
            <a:xfrm>
              <a:off x="11817096" y="758951"/>
              <a:ext cx="374650" cy="5330825"/>
            </a:xfrm>
            <a:custGeom>
              <a:avLst/>
              <a:gdLst/>
              <a:ahLst/>
              <a:cxnLst/>
              <a:rect l="l" t="t" r="r" b="b"/>
              <a:pathLst>
                <a:path w="374650" h="5330825" extrusionOk="0">
                  <a:moveTo>
                    <a:pt x="374637" y="0"/>
                  </a:moveTo>
                  <a:lnTo>
                    <a:pt x="166116" y="0"/>
                  </a:lnTo>
                  <a:lnTo>
                    <a:pt x="0" y="0"/>
                  </a:lnTo>
                  <a:lnTo>
                    <a:pt x="0" y="5330444"/>
                  </a:lnTo>
                  <a:lnTo>
                    <a:pt x="166116" y="5330444"/>
                  </a:lnTo>
                  <a:lnTo>
                    <a:pt x="374523" y="5330444"/>
                  </a:lnTo>
                  <a:lnTo>
                    <a:pt x="374637" y="0"/>
                  </a:lnTo>
                  <a:close/>
                </a:path>
              </a:pathLst>
            </a:custGeom>
            <a:solidFill>
              <a:srgbClr val="C6C6C6">
                <a:alpha val="49411"/>
              </a:srgbClr>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769" name="Google Shape;769;p78"/>
            <p:cNvPicPr preferRelativeResize="0"/>
            <p:nvPr/>
          </p:nvPicPr>
          <p:blipFill rotWithShape="1">
            <a:blip r:embed="rId3">
              <a:alphaModFix/>
            </a:blip>
            <a:srcRect/>
            <a:stretch/>
          </p:blipFill>
          <p:spPr>
            <a:xfrm>
              <a:off x="2901695" y="304800"/>
              <a:ext cx="9290304" cy="6124956"/>
            </a:xfrm>
            <a:prstGeom prst="rect">
              <a:avLst/>
            </a:prstGeom>
            <a:noFill/>
            <a:ln>
              <a:noFill/>
            </a:ln>
          </p:spPr>
        </p:pic>
      </p:grpSp>
      <p:sp>
        <p:nvSpPr>
          <p:cNvPr id="770" name="Google Shape;770;p78"/>
          <p:cNvSpPr txBox="1">
            <a:spLocks noGrp="1"/>
          </p:cNvSpPr>
          <p:nvPr>
            <p:ph type="title"/>
          </p:nvPr>
        </p:nvSpPr>
        <p:spPr>
          <a:xfrm>
            <a:off x="331419" y="2829255"/>
            <a:ext cx="2231390" cy="1146175"/>
          </a:xfrm>
          <a:prstGeom prst="rect">
            <a:avLst/>
          </a:prstGeom>
          <a:noFill/>
          <a:ln>
            <a:noFill/>
          </a:ln>
        </p:spPr>
        <p:txBody>
          <a:bodyPr spcFirstLastPara="1" wrap="square" lIns="0" tIns="3175" rIns="0" bIns="0" anchor="t" anchorCtr="0">
            <a:spAutoFit/>
          </a:bodyPr>
          <a:lstStyle/>
          <a:p>
            <a:pPr marL="12700" marR="5080" lvl="0" indent="0" algn="l" rtl="0">
              <a:lnSpc>
                <a:spcPct val="125000"/>
              </a:lnSpc>
              <a:spcBef>
                <a:spcPts val="0"/>
              </a:spcBef>
              <a:spcAft>
                <a:spcPts val="0"/>
              </a:spcAft>
              <a:buNone/>
            </a:pPr>
            <a:r>
              <a:rPr lang="en-US"/>
              <a:t>Linked List Methods</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774"/>
        <p:cNvGrpSpPr/>
        <p:nvPr/>
      </p:nvGrpSpPr>
      <p:grpSpPr>
        <a:xfrm>
          <a:off x="0" y="0"/>
          <a:ext cx="0" cy="0"/>
          <a:chOff x="0" y="0"/>
          <a:chExt cx="0" cy="0"/>
        </a:xfrm>
      </p:grpSpPr>
      <p:sp>
        <p:nvSpPr>
          <p:cNvPr id="775" name="Google Shape;775;p79"/>
          <p:cNvSpPr/>
          <p:nvPr/>
        </p:nvSpPr>
        <p:spPr>
          <a:xfrm>
            <a:off x="11817096" y="758951"/>
            <a:ext cx="374650" cy="5330825"/>
          </a:xfrm>
          <a:custGeom>
            <a:avLst/>
            <a:gdLst/>
            <a:ahLst/>
            <a:cxnLst/>
            <a:rect l="l" t="t" r="r" b="b"/>
            <a:pathLst>
              <a:path w="374650" h="5330825" extrusionOk="0">
                <a:moveTo>
                  <a:pt x="374637" y="0"/>
                </a:moveTo>
                <a:lnTo>
                  <a:pt x="166116" y="0"/>
                </a:lnTo>
                <a:lnTo>
                  <a:pt x="0" y="0"/>
                </a:lnTo>
                <a:lnTo>
                  <a:pt x="0" y="5330444"/>
                </a:lnTo>
                <a:lnTo>
                  <a:pt x="166116" y="5330444"/>
                </a:lnTo>
                <a:lnTo>
                  <a:pt x="374523" y="5330444"/>
                </a:lnTo>
                <a:lnTo>
                  <a:pt x="374637" y="0"/>
                </a:lnTo>
                <a:close/>
              </a:path>
            </a:pathLst>
          </a:custGeom>
          <a:solidFill>
            <a:srgbClr val="C6C6C6">
              <a:alpha val="49411"/>
            </a:srgbClr>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776" name="Google Shape;776;p79"/>
          <p:cNvSpPr txBox="1">
            <a:spLocks noGrp="1"/>
          </p:cNvSpPr>
          <p:nvPr>
            <p:ph type="title"/>
          </p:nvPr>
        </p:nvSpPr>
        <p:spPr>
          <a:xfrm>
            <a:off x="331419" y="2829255"/>
            <a:ext cx="2231390" cy="1146175"/>
          </a:xfrm>
          <a:prstGeom prst="rect">
            <a:avLst/>
          </a:prstGeom>
          <a:noFill/>
          <a:ln>
            <a:noFill/>
          </a:ln>
        </p:spPr>
        <p:txBody>
          <a:bodyPr spcFirstLastPara="1" wrap="square" lIns="0" tIns="3175" rIns="0" bIns="0" anchor="t" anchorCtr="0">
            <a:spAutoFit/>
          </a:bodyPr>
          <a:lstStyle/>
          <a:p>
            <a:pPr marL="12700" marR="5080" lvl="0" indent="0" algn="l" rtl="0">
              <a:lnSpc>
                <a:spcPct val="125000"/>
              </a:lnSpc>
              <a:spcBef>
                <a:spcPts val="0"/>
              </a:spcBef>
              <a:spcAft>
                <a:spcPts val="0"/>
              </a:spcAft>
              <a:buNone/>
            </a:pPr>
            <a:r>
              <a:rPr lang="en-US"/>
              <a:t>Linked List Methods</a:t>
            </a:r>
            <a:endParaRPr/>
          </a:p>
        </p:txBody>
      </p:sp>
      <p:grpSp>
        <p:nvGrpSpPr>
          <p:cNvPr id="777" name="Google Shape;777;p79"/>
          <p:cNvGrpSpPr/>
          <p:nvPr/>
        </p:nvGrpSpPr>
        <p:grpSpPr>
          <a:xfrm>
            <a:off x="3439886" y="304800"/>
            <a:ext cx="8388096" cy="6469379"/>
            <a:chOff x="2819400" y="388620"/>
            <a:chExt cx="8229600" cy="6469379"/>
          </a:xfrm>
        </p:grpSpPr>
        <p:pic>
          <p:nvPicPr>
            <p:cNvPr id="778" name="Google Shape;778;p79"/>
            <p:cNvPicPr preferRelativeResize="0"/>
            <p:nvPr/>
          </p:nvPicPr>
          <p:blipFill rotWithShape="1">
            <a:blip r:embed="rId3">
              <a:alphaModFix/>
            </a:blip>
            <a:srcRect/>
            <a:stretch/>
          </p:blipFill>
          <p:spPr>
            <a:xfrm>
              <a:off x="2819400" y="388620"/>
              <a:ext cx="8153400" cy="601979"/>
            </a:xfrm>
            <a:prstGeom prst="rect">
              <a:avLst/>
            </a:prstGeom>
            <a:noFill/>
            <a:ln>
              <a:noFill/>
            </a:ln>
          </p:spPr>
        </p:pic>
        <p:pic>
          <p:nvPicPr>
            <p:cNvPr id="779" name="Google Shape;779;p79"/>
            <p:cNvPicPr preferRelativeResize="0"/>
            <p:nvPr/>
          </p:nvPicPr>
          <p:blipFill rotWithShape="1">
            <a:blip r:embed="rId4">
              <a:alphaModFix/>
            </a:blip>
            <a:srcRect/>
            <a:stretch/>
          </p:blipFill>
          <p:spPr>
            <a:xfrm>
              <a:off x="2895600" y="990597"/>
              <a:ext cx="8153400" cy="5867402"/>
            </a:xfrm>
            <a:prstGeom prst="rect">
              <a:avLst/>
            </a:prstGeom>
            <a:noFill/>
            <a:ln>
              <a:noFill/>
            </a:ln>
          </p:spPr>
        </p:pic>
      </p:gr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783"/>
        <p:cNvGrpSpPr/>
        <p:nvPr/>
      </p:nvGrpSpPr>
      <p:grpSpPr>
        <a:xfrm>
          <a:off x="0" y="0"/>
          <a:ext cx="0" cy="0"/>
          <a:chOff x="0" y="0"/>
          <a:chExt cx="0" cy="0"/>
        </a:xfrm>
      </p:grpSpPr>
      <p:grpSp>
        <p:nvGrpSpPr>
          <p:cNvPr id="784" name="Google Shape;784;p80"/>
          <p:cNvGrpSpPr/>
          <p:nvPr/>
        </p:nvGrpSpPr>
        <p:grpSpPr>
          <a:xfrm>
            <a:off x="3505200" y="296322"/>
            <a:ext cx="8686540" cy="6409110"/>
            <a:chOff x="3657600" y="296322"/>
            <a:chExt cx="8534145" cy="6037422"/>
          </a:xfrm>
        </p:grpSpPr>
        <p:sp>
          <p:nvSpPr>
            <p:cNvPr id="785" name="Google Shape;785;p80"/>
            <p:cNvSpPr/>
            <p:nvPr/>
          </p:nvSpPr>
          <p:spPr>
            <a:xfrm>
              <a:off x="11817095" y="758952"/>
              <a:ext cx="374650" cy="5330825"/>
            </a:xfrm>
            <a:custGeom>
              <a:avLst/>
              <a:gdLst/>
              <a:ahLst/>
              <a:cxnLst/>
              <a:rect l="l" t="t" r="r" b="b"/>
              <a:pathLst>
                <a:path w="374650" h="5330825" extrusionOk="0">
                  <a:moveTo>
                    <a:pt x="374523" y="0"/>
                  </a:moveTo>
                  <a:lnTo>
                    <a:pt x="0" y="0"/>
                  </a:lnTo>
                  <a:lnTo>
                    <a:pt x="0" y="5330444"/>
                  </a:lnTo>
                  <a:lnTo>
                    <a:pt x="374523" y="5330444"/>
                  </a:lnTo>
                  <a:lnTo>
                    <a:pt x="374523" y="0"/>
                  </a:lnTo>
                  <a:close/>
                </a:path>
              </a:pathLst>
            </a:custGeom>
            <a:solidFill>
              <a:srgbClr val="C6C6C6">
                <a:alpha val="49411"/>
              </a:srgbClr>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786" name="Google Shape;786;p80"/>
            <p:cNvPicPr preferRelativeResize="0"/>
            <p:nvPr/>
          </p:nvPicPr>
          <p:blipFill rotWithShape="1">
            <a:blip r:embed="rId3">
              <a:alphaModFix/>
            </a:blip>
            <a:srcRect/>
            <a:stretch/>
          </p:blipFill>
          <p:spPr>
            <a:xfrm>
              <a:off x="3748445" y="296322"/>
              <a:ext cx="8009561" cy="534257"/>
            </a:xfrm>
            <a:prstGeom prst="rect">
              <a:avLst/>
            </a:prstGeom>
            <a:noFill/>
            <a:ln>
              <a:noFill/>
            </a:ln>
          </p:spPr>
        </p:pic>
        <p:pic>
          <p:nvPicPr>
            <p:cNvPr id="787" name="Google Shape;787;p80"/>
            <p:cNvPicPr preferRelativeResize="0"/>
            <p:nvPr/>
          </p:nvPicPr>
          <p:blipFill rotWithShape="1">
            <a:blip r:embed="rId4">
              <a:alphaModFix/>
            </a:blip>
            <a:srcRect/>
            <a:stretch/>
          </p:blipFill>
          <p:spPr>
            <a:xfrm>
              <a:off x="3657600" y="762000"/>
              <a:ext cx="8229600" cy="5571744"/>
            </a:xfrm>
            <a:prstGeom prst="rect">
              <a:avLst/>
            </a:prstGeom>
            <a:noFill/>
            <a:ln>
              <a:noFill/>
            </a:ln>
          </p:spPr>
        </p:pic>
      </p:grpSp>
      <p:sp>
        <p:nvSpPr>
          <p:cNvPr id="788" name="Google Shape;788;p80"/>
          <p:cNvSpPr txBox="1">
            <a:spLocks noGrp="1"/>
          </p:cNvSpPr>
          <p:nvPr>
            <p:ph type="title"/>
          </p:nvPr>
        </p:nvSpPr>
        <p:spPr>
          <a:xfrm>
            <a:off x="331419" y="2829255"/>
            <a:ext cx="2231390" cy="1146175"/>
          </a:xfrm>
          <a:prstGeom prst="rect">
            <a:avLst/>
          </a:prstGeom>
          <a:noFill/>
          <a:ln>
            <a:noFill/>
          </a:ln>
        </p:spPr>
        <p:txBody>
          <a:bodyPr spcFirstLastPara="1" wrap="square" lIns="0" tIns="3175" rIns="0" bIns="0" anchor="t" anchorCtr="0">
            <a:spAutoFit/>
          </a:bodyPr>
          <a:lstStyle/>
          <a:p>
            <a:pPr marL="12700" marR="5080" lvl="0" indent="0" algn="l" rtl="0">
              <a:lnSpc>
                <a:spcPct val="125000"/>
              </a:lnSpc>
              <a:spcBef>
                <a:spcPts val="0"/>
              </a:spcBef>
              <a:spcAft>
                <a:spcPts val="0"/>
              </a:spcAft>
              <a:buNone/>
            </a:pPr>
            <a:r>
              <a:rPr lang="en-US"/>
              <a:t>Linked List Methods</a:t>
            </a:r>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792"/>
        <p:cNvGrpSpPr/>
        <p:nvPr/>
      </p:nvGrpSpPr>
      <p:grpSpPr>
        <a:xfrm>
          <a:off x="0" y="0"/>
          <a:ext cx="0" cy="0"/>
          <a:chOff x="0" y="0"/>
          <a:chExt cx="0" cy="0"/>
        </a:xfrm>
      </p:grpSpPr>
      <p:grpSp>
        <p:nvGrpSpPr>
          <p:cNvPr id="793" name="Google Shape;793;p81"/>
          <p:cNvGrpSpPr/>
          <p:nvPr/>
        </p:nvGrpSpPr>
        <p:grpSpPr>
          <a:xfrm>
            <a:off x="3505200" y="228600"/>
            <a:ext cx="8686799" cy="5861176"/>
            <a:chOff x="3276600" y="228600"/>
            <a:chExt cx="8915399" cy="5861176"/>
          </a:xfrm>
        </p:grpSpPr>
        <p:sp>
          <p:nvSpPr>
            <p:cNvPr id="794" name="Google Shape;794;p81"/>
            <p:cNvSpPr/>
            <p:nvPr/>
          </p:nvSpPr>
          <p:spPr>
            <a:xfrm>
              <a:off x="11817095" y="758951"/>
              <a:ext cx="374650" cy="5330825"/>
            </a:xfrm>
            <a:custGeom>
              <a:avLst/>
              <a:gdLst/>
              <a:ahLst/>
              <a:cxnLst/>
              <a:rect l="l" t="t" r="r" b="b"/>
              <a:pathLst>
                <a:path w="374650" h="5330825" extrusionOk="0">
                  <a:moveTo>
                    <a:pt x="374523" y="0"/>
                  </a:moveTo>
                  <a:lnTo>
                    <a:pt x="0" y="0"/>
                  </a:lnTo>
                  <a:lnTo>
                    <a:pt x="0" y="5330444"/>
                  </a:lnTo>
                  <a:lnTo>
                    <a:pt x="374523" y="5330444"/>
                  </a:lnTo>
                  <a:lnTo>
                    <a:pt x="374523" y="0"/>
                  </a:lnTo>
                  <a:close/>
                </a:path>
              </a:pathLst>
            </a:custGeom>
            <a:solidFill>
              <a:srgbClr val="C6C6C6">
                <a:alpha val="49411"/>
              </a:srgbClr>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795" name="Google Shape;795;p81"/>
            <p:cNvPicPr preferRelativeResize="0"/>
            <p:nvPr/>
          </p:nvPicPr>
          <p:blipFill rotWithShape="1">
            <a:blip r:embed="rId3">
              <a:alphaModFix/>
            </a:blip>
            <a:srcRect/>
            <a:stretch/>
          </p:blipFill>
          <p:spPr>
            <a:xfrm>
              <a:off x="3276600" y="228600"/>
              <a:ext cx="8763000" cy="646176"/>
            </a:xfrm>
            <a:prstGeom prst="rect">
              <a:avLst/>
            </a:prstGeom>
            <a:noFill/>
            <a:ln>
              <a:noFill/>
            </a:ln>
          </p:spPr>
        </p:pic>
        <p:pic>
          <p:nvPicPr>
            <p:cNvPr id="796" name="Google Shape;796;p81"/>
            <p:cNvPicPr preferRelativeResize="0"/>
            <p:nvPr/>
          </p:nvPicPr>
          <p:blipFill rotWithShape="1">
            <a:blip r:embed="rId4">
              <a:alphaModFix/>
            </a:blip>
            <a:srcRect/>
            <a:stretch/>
          </p:blipFill>
          <p:spPr>
            <a:xfrm>
              <a:off x="3361943" y="914400"/>
              <a:ext cx="8830056" cy="4038600"/>
            </a:xfrm>
            <a:prstGeom prst="rect">
              <a:avLst/>
            </a:prstGeom>
            <a:noFill/>
            <a:ln>
              <a:noFill/>
            </a:ln>
          </p:spPr>
        </p:pic>
      </p:grpSp>
      <p:sp>
        <p:nvSpPr>
          <p:cNvPr id="797" name="Google Shape;797;p81"/>
          <p:cNvSpPr txBox="1">
            <a:spLocks noGrp="1"/>
          </p:cNvSpPr>
          <p:nvPr>
            <p:ph type="title"/>
          </p:nvPr>
        </p:nvSpPr>
        <p:spPr>
          <a:xfrm>
            <a:off x="331419" y="2829255"/>
            <a:ext cx="2231390" cy="1146175"/>
          </a:xfrm>
          <a:prstGeom prst="rect">
            <a:avLst/>
          </a:prstGeom>
          <a:noFill/>
          <a:ln>
            <a:noFill/>
          </a:ln>
        </p:spPr>
        <p:txBody>
          <a:bodyPr spcFirstLastPara="1" wrap="square" lIns="0" tIns="3175" rIns="0" bIns="0" anchor="t" anchorCtr="0">
            <a:spAutoFit/>
          </a:bodyPr>
          <a:lstStyle/>
          <a:p>
            <a:pPr marL="12700" marR="5080" lvl="0" indent="0" algn="l" rtl="0">
              <a:lnSpc>
                <a:spcPct val="125000"/>
              </a:lnSpc>
              <a:spcBef>
                <a:spcPts val="0"/>
              </a:spcBef>
              <a:spcAft>
                <a:spcPts val="0"/>
              </a:spcAft>
              <a:buNone/>
            </a:pPr>
            <a:r>
              <a:rPr lang="en-US"/>
              <a:t>Linked List Methods</a:t>
            </a:r>
            <a:endParaRPr/>
          </a:p>
        </p:txBody>
      </p:sp>
      <p:sp>
        <p:nvSpPr>
          <p:cNvPr id="798" name="Google Shape;798;p81"/>
          <p:cNvSpPr txBox="1"/>
          <p:nvPr/>
        </p:nvSpPr>
        <p:spPr>
          <a:xfrm>
            <a:off x="3962400" y="5505399"/>
            <a:ext cx="7854441" cy="574040"/>
          </a:xfrm>
          <a:prstGeom prst="rect">
            <a:avLst/>
          </a:prstGeom>
          <a:noFill/>
          <a:ln>
            <a:noFill/>
          </a:ln>
        </p:spPr>
        <p:txBody>
          <a:bodyPr spcFirstLastPara="1" wrap="square" lIns="0" tIns="12700" rIns="0" bIns="0" anchor="t" anchorCtr="0">
            <a:spAutoFit/>
          </a:bodyPr>
          <a:lstStyle/>
          <a:p>
            <a:pPr marL="12700" marR="5080" lvl="0" indent="0" algn="l" rtl="0">
              <a:lnSpc>
                <a:spcPct val="100000"/>
              </a:lnSpc>
              <a:spcBef>
                <a:spcPts val="0"/>
              </a:spcBef>
              <a:spcAft>
                <a:spcPts val="0"/>
              </a:spcAft>
              <a:buNone/>
            </a:pPr>
            <a:r>
              <a:rPr lang="en-US" sz="1800">
                <a:latin typeface="Calibri"/>
                <a:ea typeface="Calibri"/>
                <a:cs typeface="Calibri"/>
                <a:sym typeface="Calibri"/>
              </a:rPr>
              <a:t>Check Programs: LinkedListAddDemo.java, LinkedListRemoveDemo.java, LinkedListSortingDemo.java</a:t>
            </a:r>
            <a:endParaRPr sz="1800">
              <a:latin typeface="Calibri"/>
              <a:ea typeface="Calibri"/>
              <a:cs typeface="Calibri"/>
              <a:sym typeface="Calibri"/>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MasterSp="0">
  <p:cSld>
    <p:spTree>
      <p:nvGrpSpPr>
        <p:cNvPr id="1" name="Shape 802"/>
        <p:cNvGrpSpPr/>
        <p:nvPr/>
      </p:nvGrpSpPr>
      <p:grpSpPr>
        <a:xfrm>
          <a:off x="0" y="0"/>
          <a:ext cx="0" cy="0"/>
          <a:chOff x="0" y="0"/>
          <a:chExt cx="0" cy="0"/>
        </a:xfrm>
      </p:grpSpPr>
      <p:sp>
        <p:nvSpPr>
          <p:cNvPr id="803" name="Google Shape;803;p82"/>
          <p:cNvSpPr/>
          <p:nvPr/>
        </p:nvSpPr>
        <p:spPr>
          <a:xfrm>
            <a:off x="0" y="758951"/>
            <a:ext cx="3444240" cy="5330825"/>
          </a:xfrm>
          <a:custGeom>
            <a:avLst/>
            <a:gdLst/>
            <a:ahLst/>
            <a:cxnLst/>
            <a:rect l="l" t="t" r="r" b="b"/>
            <a:pathLst>
              <a:path w="3444240" h="5330825" extrusionOk="0">
                <a:moveTo>
                  <a:pt x="3444240" y="0"/>
                </a:moveTo>
                <a:lnTo>
                  <a:pt x="0" y="0"/>
                </a:lnTo>
                <a:lnTo>
                  <a:pt x="0" y="5330444"/>
                </a:lnTo>
                <a:lnTo>
                  <a:pt x="3444240" y="5330444"/>
                </a:lnTo>
                <a:lnTo>
                  <a:pt x="3444240" y="0"/>
                </a:lnTo>
                <a:close/>
              </a:path>
            </a:pathLst>
          </a:custGeom>
          <a:solidFill>
            <a:srgbClr val="40B8D2"/>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804" name="Google Shape;804;p82"/>
          <p:cNvSpPr/>
          <p:nvPr/>
        </p:nvSpPr>
        <p:spPr>
          <a:xfrm>
            <a:off x="11817096" y="758951"/>
            <a:ext cx="374650" cy="5330825"/>
          </a:xfrm>
          <a:custGeom>
            <a:avLst/>
            <a:gdLst/>
            <a:ahLst/>
            <a:cxnLst/>
            <a:rect l="l" t="t" r="r" b="b"/>
            <a:pathLst>
              <a:path w="374650" h="5330825" extrusionOk="0">
                <a:moveTo>
                  <a:pt x="374637" y="0"/>
                </a:moveTo>
                <a:lnTo>
                  <a:pt x="166116" y="0"/>
                </a:lnTo>
                <a:lnTo>
                  <a:pt x="0" y="0"/>
                </a:lnTo>
                <a:lnTo>
                  <a:pt x="0" y="5330444"/>
                </a:lnTo>
                <a:lnTo>
                  <a:pt x="166116" y="5330444"/>
                </a:lnTo>
                <a:lnTo>
                  <a:pt x="374523" y="5330444"/>
                </a:lnTo>
                <a:lnTo>
                  <a:pt x="374637" y="0"/>
                </a:lnTo>
                <a:close/>
              </a:path>
            </a:pathLst>
          </a:custGeom>
          <a:solidFill>
            <a:srgbClr val="C6C6C6">
              <a:alpha val="49411"/>
            </a:srgbClr>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805" name="Google Shape;805;p82"/>
          <p:cNvSpPr txBox="1"/>
          <p:nvPr/>
        </p:nvSpPr>
        <p:spPr>
          <a:xfrm>
            <a:off x="331419" y="2829255"/>
            <a:ext cx="2616835" cy="1565275"/>
          </a:xfrm>
          <a:prstGeom prst="rect">
            <a:avLst/>
          </a:prstGeom>
          <a:noFill/>
          <a:ln>
            <a:noFill/>
          </a:ln>
        </p:spPr>
        <p:txBody>
          <a:bodyPr spcFirstLastPara="1" wrap="square" lIns="0" tIns="66025" rIns="0" bIns="0" anchor="t" anchorCtr="0">
            <a:spAutoFit/>
          </a:bodyPr>
          <a:lstStyle/>
          <a:p>
            <a:pPr marL="12700" marR="5080" lvl="0" indent="0" algn="l" rtl="0">
              <a:lnSpc>
                <a:spcPct val="90300"/>
              </a:lnSpc>
              <a:spcBef>
                <a:spcPts val="0"/>
              </a:spcBef>
              <a:spcAft>
                <a:spcPts val="0"/>
              </a:spcAft>
              <a:buNone/>
            </a:pPr>
            <a:r>
              <a:rPr lang="en-US" sz="3600" b="1">
                <a:solidFill>
                  <a:srgbClr val="FFFFFF"/>
                </a:solidFill>
                <a:latin typeface="Trebuchet MS"/>
                <a:ea typeface="Trebuchet MS"/>
                <a:cs typeface="Trebuchet MS"/>
                <a:sym typeface="Trebuchet MS"/>
              </a:rPr>
              <a:t>Enumeration Iterative Statements</a:t>
            </a:r>
            <a:endParaRPr sz="3600">
              <a:latin typeface="Trebuchet MS"/>
              <a:ea typeface="Trebuchet MS"/>
              <a:cs typeface="Trebuchet MS"/>
              <a:sym typeface="Trebuchet MS"/>
            </a:endParaRPr>
          </a:p>
        </p:txBody>
      </p:sp>
      <p:sp>
        <p:nvSpPr>
          <p:cNvPr id="806" name="Google Shape;806;p82"/>
          <p:cNvSpPr txBox="1"/>
          <p:nvPr/>
        </p:nvSpPr>
        <p:spPr>
          <a:xfrm>
            <a:off x="3813175" y="1017778"/>
            <a:ext cx="7768590" cy="848360"/>
          </a:xfrm>
          <a:prstGeom prst="rect">
            <a:avLst/>
          </a:prstGeom>
          <a:noFill/>
          <a:ln>
            <a:noFill/>
          </a:ln>
        </p:spPr>
        <p:txBody>
          <a:bodyPr spcFirstLastPara="1" wrap="square" lIns="0" tIns="12700" rIns="0" bIns="0" anchor="t" anchorCtr="0">
            <a:spAutoFit/>
          </a:bodyPr>
          <a:lstStyle/>
          <a:p>
            <a:pPr marL="12700" marR="5080" lvl="0" indent="0" algn="just" rtl="0">
              <a:lnSpc>
                <a:spcPct val="100000"/>
              </a:lnSpc>
              <a:spcBef>
                <a:spcPts val="0"/>
              </a:spcBef>
              <a:spcAft>
                <a:spcPts val="0"/>
              </a:spcAft>
              <a:buNone/>
            </a:pPr>
            <a:r>
              <a:rPr lang="en-US" sz="1800">
                <a:latin typeface="Cambria"/>
                <a:ea typeface="Cambria"/>
                <a:cs typeface="Cambria"/>
                <a:sym typeface="Cambria"/>
              </a:rPr>
              <a:t>A Java Cursor is an Iterator, which is used to iterate or traverse or retrieve a Collection or Stream object’s elements one by one. There are three cursors in Java.</a:t>
            </a:r>
            <a:endParaRPr sz="1800">
              <a:latin typeface="Cambria"/>
              <a:ea typeface="Cambria"/>
              <a:cs typeface="Cambria"/>
              <a:sym typeface="Cambria"/>
            </a:endParaRPr>
          </a:p>
        </p:txBody>
      </p:sp>
      <p:sp>
        <p:nvSpPr>
          <p:cNvPr id="807" name="Google Shape;807;p82"/>
          <p:cNvSpPr txBox="1"/>
          <p:nvPr/>
        </p:nvSpPr>
        <p:spPr>
          <a:xfrm>
            <a:off x="3813175" y="2115439"/>
            <a:ext cx="1648460" cy="848360"/>
          </a:xfrm>
          <a:prstGeom prst="rect">
            <a:avLst/>
          </a:prstGeom>
          <a:noFill/>
          <a:ln>
            <a:noFill/>
          </a:ln>
        </p:spPr>
        <p:txBody>
          <a:bodyPr spcFirstLastPara="1" wrap="square" lIns="0" tIns="12700" rIns="0" bIns="0" anchor="t" anchorCtr="0">
            <a:spAutoFit/>
          </a:bodyPr>
          <a:lstStyle/>
          <a:p>
            <a:pPr marL="354965" lvl="0" indent="-342265" algn="l" rtl="0">
              <a:lnSpc>
                <a:spcPct val="100000"/>
              </a:lnSpc>
              <a:spcBef>
                <a:spcPts val="0"/>
              </a:spcBef>
              <a:spcAft>
                <a:spcPts val="0"/>
              </a:spcAft>
              <a:buSzPts val="1800"/>
              <a:buFont typeface="Cambria"/>
              <a:buAutoNum type="arabicPeriod"/>
            </a:pPr>
            <a:r>
              <a:rPr lang="en-US" sz="1800">
                <a:latin typeface="Cambria"/>
                <a:ea typeface="Cambria"/>
                <a:cs typeface="Cambria"/>
                <a:sym typeface="Cambria"/>
              </a:rPr>
              <a:t>Iterator</a:t>
            </a:r>
            <a:endParaRPr sz="1800">
              <a:latin typeface="Cambria"/>
              <a:ea typeface="Cambria"/>
              <a:cs typeface="Cambria"/>
              <a:sym typeface="Cambria"/>
            </a:endParaRPr>
          </a:p>
          <a:p>
            <a:pPr marL="354965" lvl="0" indent="-342265" algn="l" rtl="0">
              <a:lnSpc>
                <a:spcPct val="100000"/>
              </a:lnSpc>
              <a:spcBef>
                <a:spcPts val="0"/>
              </a:spcBef>
              <a:spcAft>
                <a:spcPts val="0"/>
              </a:spcAft>
              <a:buSzPts val="1800"/>
              <a:buFont typeface="Cambria"/>
              <a:buAutoNum type="arabicPeriod"/>
            </a:pPr>
            <a:r>
              <a:rPr lang="en-US" sz="1800">
                <a:latin typeface="Cambria"/>
                <a:ea typeface="Cambria"/>
                <a:cs typeface="Cambria"/>
                <a:sym typeface="Cambria"/>
              </a:rPr>
              <a:t>Enumeration</a:t>
            </a:r>
            <a:endParaRPr sz="1800">
              <a:latin typeface="Cambria"/>
              <a:ea typeface="Cambria"/>
              <a:cs typeface="Cambria"/>
              <a:sym typeface="Cambria"/>
            </a:endParaRPr>
          </a:p>
          <a:p>
            <a:pPr marL="354965" lvl="0" indent="-342265" algn="l" rtl="0">
              <a:lnSpc>
                <a:spcPct val="100000"/>
              </a:lnSpc>
              <a:spcBef>
                <a:spcPts val="0"/>
              </a:spcBef>
              <a:spcAft>
                <a:spcPts val="0"/>
              </a:spcAft>
              <a:buSzPts val="1800"/>
              <a:buFont typeface="Cambria"/>
              <a:buAutoNum type="arabicPeriod"/>
            </a:pPr>
            <a:r>
              <a:rPr lang="en-US" sz="1800">
                <a:latin typeface="Cambria"/>
                <a:ea typeface="Cambria"/>
                <a:cs typeface="Cambria"/>
                <a:sym typeface="Cambria"/>
              </a:rPr>
              <a:t>ListIterator</a:t>
            </a:r>
            <a:endParaRPr sz="1800">
              <a:latin typeface="Cambria"/>
              <a:ea typeface="Cambria"/>
              <a:cs typeface="Cambria"/>
              <a:sym typeface="Cambria"/>
            </a:endParaRPr>
          </a:p>
        </p:txBody>
      </p:sp>
      <p:sp>
        <p:nvSpPr>
          <p:cNvPr id="808" name="Google Shape;808;p82"/>
          <p:cNvSpPr txBox="1"/>
          <p:nvPr/>
        </p:nvSpPr>
        <p:spPr>
          <a:xfrm>
            <a:off x="3679571" y="3212719"/>
            <a:ext cx="7902194" cy="1946275"/>
          </a:xfrm>
          <a:prstGeom prst="rect">
            <a:avLst/>
          </a:prstGeom>
          <a:noFill/>
          <a:ln>
            <a:noFill/>
          </a:ln>
        </p:spPr>
        <p:txBody>
          <a:bodyPr spcFirstLastPara="1" wrap="square" lIns="0" tIns="12700" rIns="0" bIns="0" anchor="t" anchorCtr="0">
            <a:spAutoFit/>
          </a:bodyPr>
          <a:lstStyle/>
          <a:p>
            <a:pPr marL="12700" marR="6350" lvl="0" indent="0" algn="just" rtl="0">
              <a:lnSpc>
                <a:spcPct val="100000"/>
              </a:lnSpc>
              <a:spcBef>
                <a:spcPts val="0"/>
              </a:spcBef>
              <a:spcAft>
                <a:spcPts val="0"/>
              </a:spcAft>
              <a:buNone/>
            </a:pPr>
            <a:r>
              <a:rPr lang="en-US" sz="1800">
                <a:latin typeface="Cambria"/>
                <a:ea typeface="Cambria"/>
                <a:cs typeface="Cambria"/>
                <a:sym typeface="Cambria"/>
              </a:rPr>
              <a:t>Enumeration  is  It  is  an  interface  used  to  get  elements  of  legacy collections(Vector, Hashtable). Enumeration is the first iterator present from JDK 1.0, rests are included in JDK 1.2 with more functionality.</a:t>
            </a:r>
            <a:endParaRPr sz="1800">
              <a:latin typeface="Cambria"/>
              <a:ea typeface="Cambria"/>
              <a:cs typeface="Cambria"/>
              <a:sym typeface="Cambria"/>
            </a:endParaRPr>
          </a:p>
          <a:p>
            <a:pPr marL="0" lvl="0" indent="0" algn="l" rtl="0">
              <a:lnSpc>
                <a:spcPct val="100000"/>
              </a:lnSpc>
              <a:spcBef>
                <a:spcPts val="50"/>
              </a:spcBef>
              <a:spcAft>
                <a:spcPts val="0"/>
              </a:spcAft>
              <a:buNone/>
            </a:pPr>
            <a:endParaRPr sz="1800">
              <a:latin typeface="Cambria"/>
              <a:ea typeface="Cambria"/>
              <a:cs typeface="Cambria"/>
              <a:sym typeface="Cambria"/>
            </a:endParaRPr>
          </a:p>
          <a:p>
            <a:pPr marL="12700" marR="5080" lvl="0" indent="0" algn="just" rtl="0">
              <a:lnSpc>
                <a:spcPct val="100000"/>
              </a:lnSpc>
              <a:spcBef>
                <a:spcPts val="0"/>
              </a:spcBef>
              <a:spcAft>
                <a:spcPts val="0"/>
              </a:spcAft>
              <a:buNone/>
            </a:pPr>
            <a:r>
              <a:rPr lang="en-US" sz="1800">
                <a:latin typeface="Cambria"/>
                <a:ea typeface="Cambria"/>
                <a:cs typeface="Cambria"/>
                <a:sym typeface="Cambria"/>
              </a:rPr>
              <a:t>Enumerations  are  also  used  to  specify  the  input  streams  to  a SequenceInputStream. We can create an Enumeration object by calling elements() method of vector class on any vector object .</a:t>
            </a:r>
            <a:endParaRPr sz="1800">
              <a:latin typeface="Cambria"/>
              <a:ea typeface="Cambria"/>
              <a:cs typeface="Cambria"/>
              <a:sym typeface="Cambria"/>
            </a:endParaRPr>
          </a:p>
        </p:txBody>
      </p:sp>
      <p:sp>
        <p:nvSpPr>
          <p:cNvPr id="809" name="Google Shape;809;p82"/>
          <p:cNvSpPr txBox="1"/>
          <p:nvPr/>
        </p:nvSpPr>
        <p:spPr>
          <a:xfrm>
            <a:off x="3813175" y="5407863"/>
            <a:ext cx="7902194" cy="112268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800">
                <a:latin typeface="Cambria"/>
                <a:ea typeface="Cambria"/>
                <a:cs typeface="Cambria"/>
                <a:sym typeface="Cambria"/>
              </a:rPr>
              <a:t>// Here "v" is an Vector class object. e is of</a:t>
            </a:r>
            <a:endParaRPr sz="1800">
              <a:latin typeface="Cambria"/>
              <a:ea typeface="Cambria"/>
              <a:cs typeface="Cambria"/>
              <a:sym typeface="Cambria"/>
            </a:endParaRPr>
          </a:p>
          <a:p>
            <a:pPr marL="12700" lvl="0" indent="0" algn="l" rtl="0">
              <a:lnSpc>
                <a:spcPct val="100000"/>
              </a:lnSpc>
              <a:spcBef>
                <a:spcPts val="0"/>
              </a:spcBef>
              <a:spcAft>
                <a:spcPts val="0"/>
              </a:spcAft>
              <a:buNone/>
            </a:pPr>
            <a:r>
              <a:rPr lang="en-US" sz="1800">
                <a:latin typeface="Cambria"/>
                <a:ea typeface="Cambria"/>
                <a:cs typeface="Cambria"/>
                <a:sym typeface="Cambria"/>
              </a:rPr>
              <a:t>// type Enumeration interface and refers to "v"</a:t>
            </a:r>
            <a:endParaRPr sz="1800">
              <a:latin typeface="Cambria"/>
              <a:ea typeface="Cambria"/>
              <a:cs typeface="Cambria"/>
              <a:sym typeface="Cambria"/>
            </a:endParaRPr>
          </a:p>
          <a:p>
            <a:pPr marL="0" lvl="0" indent="0" algn="l" rtl="0">
              <a:lnSpc>
                <a:spcPct val="100000"/>
              </a:lnSpc>
              <a:spcBef>
                <a:spcPts val="45"/>
              </a:spcBef>
              <a:spcAft>
                <a:spcPts val="0"/>
              </a:spcAft>
              <a:buNone/>
            </a:pPr>
            <a:endParaRPr sz="1800">
              <a:latin typeface="Cambria"/>
              <a:ea typeface="Cambria"/>
              <a:cs typeface="Cambria"/>
              <a:sym typeface="Cambria"/>
            </a:endParaRPr>
          </a:p>
          <a:p>
            <a:pPr marL="12700" lvl="0" indent="0" algn="l" rtl="0">
              <a:lnSpc>
                <a:spcPct val="100000"/>
              </a:lnSpc>
              <a:spcBef>
                <a:spcPts val="5"/>
              </a:spcBef>
              <a:spcAft>
                <a:spcPts val="0"/>
              </a:spcAft>
              <a:buNone/>
            </a:pPr>
            <a:r>
              <a:rPr lang="en-US" sz="1800">
                <a:latin typeface="Cambria"/>
                <a:ea typeface="Cambria"/>
                <a:cs typeface="Cambria"/>
                <a:sym typeface="Cambria"/>
              </a:rPr>
              <a:t>Enumeration e = </a:t>
            </a:r>
            <a:r>
              <a:rPr lang="en-US" sz="1800" b="1">
                <a:latin typeface="Cambria"/>
                <a:ea typeface="Cambria"/>
                <a:cs typeface="Cambria"/>
                <a:sym typeface="Cambria"/>
              </a:rPr>
              <a:t>v</a:t>
            </a:r>
            <a:r>
              <a:rPr lang="en-US" sz="1800">
                <a:latin typeface="Cambria"/>
                <a:ea typeface="Cambria"/>
                <a:cs typeface="Cambria"/>
                <a:sym typeface="Cambria"/>
              </a:rPr>
              <a:t>.</a:t>
            </a:r>
            <a:r>
              <a:rPr lang="en-US" sz="1800" b="1">
                <a:latin typeface="Cambria"/>
                <a:ea typeface="Cambria"/>
                <a:cs typeface="Cambria"/>
                <a:sym typeface="Cambria"/>
              </a:rPr>
              <a:t>elements</a:t>
            </a:r>
            <a:r>
              <a:rPr lang="en-US" sz="1800">
                <a:latin typeface="Cambria"/>
                <a:ea typeface="Cambria"/>
                <a:cs typeface="Cambria"/>
                <a:sym typeface="Cambria"/>
              </a:rPr>
              <a:t>();</a:t>
            </a:r>
            <a:endParaRPr sz="1800">
              <a:latin typeface="Cambria"/>
              <a:ea typeface="Cambria"/>
              <a:cs typeface="Cambria"/>
              <a:sym typeface="Cambria"/>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813"/>
        <p:cNvGrpSpPr/>
        <p:nvPr/>
      </p:nvGrpSpPr>
      <p:grpSpPr>
        <a:xfrm>
          <a:off x="0" y="0"/>
          <a:ext cx="0" cy="0"/>
          <a:chOff x="0" y="0"/>
          <a:chExt cx="0" cy="0"/>
        </a:xfrm>
      </p:grpSpPr>
      <p:sp>
        <p:nvSpPr>
          <p:cNvPr id="814" name="Google Shape;814;p83"/>
          <p:cNvSpPr/>
          <p:nvPr/>
        </p:nvSpPr>
        <p:spPr>
          <a:xfrm>
            <a:off x="11817096" y="758951"/>
            <a:ext cx="374650" cy="5330825"/>
          </a:xfrm>
          <a:custGeom>
            <a:avLst/>
            <a:gdLst/>
            <a:ahLst/>
            <a:cxnLst/>
            <a:rect l="l" t="t" r="r" b="b"/>
            <a:pathLst>
              <a:path w="374650" h="5330825" extrusionOk="0">
                <a:moveTo>
                  <a:pt x="374637" y="0"/>
                </a:moveTo>
                <a:lnTo>
                  <a:pt x="166116" y="0"/>
                </a:lnTo>
                <a:lnTo>
                  <a:pt x="0" y="0"/>
                </a:lnTo>
                <a:lnTo>
                  <a:pt x="0" y="5330444"/>
                </a:lnTo>
                <a:lnTo>
                  <a:pt x="166116" y="5330444"/>
                </a:lnTo>
                <a:lnTo>
                  <a:pt x="374523" y="5330444"/>
                </a:lnTo>
                <a:lnTo>
                  <a:pt x="374637" y="0"/>
                </a:lnTo>
                <a:close/>
              </a:path>
            </a:pathLst>
          </a:custGeom>
          <a:solidFill>
            <a:srgbClr val="C6C6C6">
              <a:alpha val="49411"/>
            </a:srgbClr>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815" name="Google Shape;815;p83"/>
          <p:cNvSpPr txBox="1"/>
          <p:nvPr/>
        </p:nvSpPr>
        <p:spPr>
          <a:xfrm>
            <a:off x="331419" y="2829255"/>
            <a:ext cx="2616835" cy="1565275"/>
          </a:xfrm>
          <a:prstGeom prst="rect">
            <a:avLst/>
          </a:prstGeom>
          <a:noFill/>
          <a:ln>
            <a:noFill/>
          </a:ln>
        </p:spPr>
        <p:txBody>
          <a:bodyPr spcFirstLastPara="1" wrap="square" lIns="0" tIns="66025" rIns="0" bIns="0" anchor="t" anchorCtr="0">
            <a:spAutoFit/>
          </a:bodyPr>
          <a:lstStyle/>
          <a:p>
            <a:pPr marL="12700" marR="5080" lvl="0" indent="0" algn="l" rtl="0">
              <a:lnSpc>
                <a:spcPct val="90300"/>
              </a:lnSpc>
              <a:spcBef>
                <a:spcPts val="0"/>
              </a:spcBef>
              <a:spcAft>
                <a:spcPts val="0"/>
              </a:spcAft>
              <a:buNone/>
            </a:pPr>
            <a:r>
              <a:rPr lang="en-US" sz="3600" b="1">
                <a:solidFill>
                  <a:srgbClr val="FFFFFF"/>
                </a:solidFill>
                <a:latin typeface="Trebuchet MS"/>
                <a:ea typeface="Trebuchet MS"/>
                <a:cs typeface="Trebuchet MS"/>
                <a:sym typeface="Trebuchet MS"/>
              </a:rPr>
              <a:t>Enumeration Iterative Methods</a:t>
            </a:r>
            <a:endParaRPr sz="3600">
              <a:latin typeface="Trebuchet MS"/>
              <a:ea typeface="Trebuchet MS"/>
              <a:cs typeface="Trebuchet MS"/>
              <a:sym typeface="Trebuchet MS"/>
            </a:endParaRPr>
          </a:p>
        </p:txBody>
      </p:sp>
      <p:sp>
        <p:nvSpPr>
          <p:cNvPr id="816" name="Google Shape;816;p83"/>
          <p:cNvSpPr txBox="1">
            <a:spLocks noGrp="1"/>
          </p:cNvSpPr>
          <p:nvPr>
            <p:ph type="title"/>
          </p:nvPr>
        </p:nvSpPr>
        <p:spPr>
          <a:xfrm>
            <a:off x="3813175" y="1017778"/>
            <a:ext cx="5897880" cy="2997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800" b="0">
                <a:solidFill>
                  <a:srgbClr val="000000"/>
                </a:solidFill>
                <a:latin typeface="Cambria"/>
                <a:ea typeface="Cambria"/>
                <a:cs typeface="Cambria"/>
                <a:sym typeface="Cambria"/>
              </a:rPr>
              <a:t>here are </a:t>
            </a:r>
            <a:r>
              <a:rPr lang="en-US" sz="1800">
                <a:solidFill>
                  <a:srgbClr val="000000"/>
                </a:solidFill>
                <a:latin typeface="Cambria"/>
                <a:ea typeface="Cambria"/>
                <a:cs typeface="Cambria"/>
                <a:sym typeface="Cambria"/>
              </a:rPr>
              <a:t>two </a:t>
            </a:r>
            <a:r>
              <a:rPr lang="en-US" sz="1800" b="0">
                <a:solidFill>
                  <a:srgbClr val="000000"/>
                </a:solidFill>
                <a:latin typeface="Cambria"/>
                <a:ea typeface="Cambria"/>
                <a:cs typeface="Cambria"/>
                <a:sym typeface="Cambria"/>
              </a:rPr>
              <a:t>methods in the Enumeration interface namely :</a:t>
            </a:r>
            <a:endParaRPr sz="1800">
              <a:latin typeface="Cambria"/>
              <a:ea typeface="Cambria"/>
              <a:cs typeface="Cambria"/>
              <a:sym typeface="Cambria"/>
            </a:endParaRPr>
          </a:p>
        </p:txBody>
      </p:sp>
      <p:sp>
        <p:nvSpPr>
          <p:cNvPr id="817" name="Google Shape;817;p83"/>
          <p:cNvSpPr txBox="1"/>
          <p:nvPr/>
        </p:nvSpPr>
        <p:spPr>
          <a:xfrm>
            <a:off x="3813175" y="1566417"/>
            <a:ext cx="7767955" cy="574040"/>
          </a:xfrm>
          <a:prstGeom prst="rect">
            <a:avLst/>
          </a:prstGeom>
          <a:noFill/>
          <a:ln>
            <a:noFill/>
          </a:ln>
        </p:spPr>
        <p:txBody>
          <a:bodyPr spcFirstLastPara="1" wrap="square" lIns="0" tIns="12700" rIns="0" bIns="0" anchor="t" anchorCtr="0">
            <a:spAutoFit/>
          </a:bodyPr>
          <a:lstStyle/>
          <a:p>
            <a:pPr marL="12700" marR="5080" lvl="0" indent="0" algn="l" rtl="0">
              <a:lnSpc>
                <a:spcPct val="100000"/>
              </a:lnSpc>
              <a:spcBef>
                <a:spcPts val="0"/>
              </a:spcBef>
              <a:spcAft>
                <a:spcPts val="0"/>
              </a:spcAft>
              <a:buNone/>
            </a:pPr>
            <a:r>
              <a:rPr lang="en-US" sz="1800" b="1">
                <a:latin typeface="Cambria"/>
                <a:ea typeface="Cambria"/>
                <a:cs typeface="Cambria"/>
                <a:sym typeface="Cambria"/>
              </a:rPr>
              <a:t>1. public boolean hasMoreElements(): </a:t>
            </a:r>
            <a:r>
              <a:rPr lang="en-US" sz="1800">
                <a:latin typeface="Cambria"/>
                <a:ea typeface="Cambria"/>
                <a:cs typeface="Cambria"/>
                <a:sym typeface="Cambria"/>
              </a:rPr>
              <a:t>This method tests if this enumeration contains more elements or not.</a:t>
            </a:r>
            <a:endParaRPr sz="1800">
              <a:latin typeface="Cambria"/>
              <a:ea typeface="Cambria"/>
              <a:cs typeface="Cambria"/>
              <a:sym typeface="Cambria"/>
            </a:endParaRPr>
          </a:p>
        </p:txBody>
      </p:sp>
      <p:sp>
        <p:nvSpPr>
          <p:cNvPr id="818" name="Google Shape;818;p83"/>
          <p:cNvSpPr txBox="1"/>
          <p:nvPr/>
        </p:nvSpPr>
        <p:spPr>
          <a:xfrm>
            <a:off x="3813175" y="2389759"/>
            <a:ext cx="7767955" cy="848360"/>
          </a:xfrm>
          <a:prstGeom prst="rect">
            <a:avLst/>
          </a:prstGeom>
          <a:noFill/>
          <a:ln>
            <a:noFill/>
          </a:ln>
        </p:spPr>
        <p:txBody>
          <a:bodyPr spcFirstLastPara="1" wrap="square" lIns="0" tIns="12700" rIns="0" bIns="0" anchor="t" anchorCtr="0">
            <a:spAutoFit/>
          </a:bodyPr>
          <a:lstStyle/>
          <a:p>
            <a:pPr marL="12700" marR="5080" lvl="0" indent="0" algn="just" rtl="0">
              <a:lnSpc>
                <a:spcPct val="100000"/>
              </a:lnSpc>
              <a:spcBef>
                <a:spcPts val="0"/>
              </a:spcBef>
              <a:spcAft>
                <a:spcPts val="0"/>
              </a:spcAft>
              <a:buNone/>
            </a:pPr>
            <a:r>
              <a:rPr lang="en-US" sz="1800" b="1">
                <a:latin typeface="Cambria"/>
                <a:ea typeface="Cambria"/>
                <a:cs typeface="Cambria"/>
                <a:sym typeface="Cambria"/>
              </a:rPr>
              <a:t>2. public Object nextElement(): </a:t>
            </a:r>
            <a:r>
              <a:rPr lang="en-US" sz="1800">
                <a:latin typeface="Cambria"/>
                <a:ea typeface="Cambria"/>
                <a:cs typeface="Cambria"/>
                <a:sym typeface="Cambria"/>
              </a:rPr>
              <a:t>This method returns the next element of this enumeration.  It  throws  NoSuchElementException  if  no  more  element  is present.</a:t>
            </a:r>
            <a:endParaRPr sz="1800">
              <a:latin typeface="Cambria"/>
              <a:ea typeface="Cambria"/>
              <a:cs typeface="Cambria"/>
              <a:sym typeface="Cambria"/>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822"/>
        <p:cNvGrpSpPr/>
        <p:nvPr/>
      </p:nvGrpSpPr>
      <p:grpSpPr>
        <a:xfrm>
          <a:off x="0" y="0"/>
          <a:ext cx="0" cy="0"/>
          <a:chOff x="0" y="0"/>
          <a:chExt cx="0" cy="0"/>
        </a:xfrm>
      </p:grpSpPr>
      <p:sp>
        <p:nvSpPr>
          <p:cNvPr id="823" name="Google Shape;823;p84"/>
          <p:cNvSpPr/>
          <p:nvPr/>
        </p:nvSpPr>
        <p:spPr>
          <a:xfrm>
            <a:off x="11817096" y="758951"/>
            <a:ext cx="374650" cy="5330825"/>
          </a:xfrm>
          <a:custGeom>
            <a:avLst/>
            <a:gdLst/>
            <a:ahLst/>
            <a:cxnLst/>
            <a:rect l="l" t="t" r="r" b="b"/>
            <a:pathLst>
              <a:path w="374650" h="5330825" extrusionOk="0">
                <a:moveTo>
                  <a:pt x="374637" y="0"/>
                </a:moveTo>
                <a:lnTo>
                  <a:pt x="166116" y="0"/>
                </a:lnTo>
                <a:lnTo>
                  <a:pt x="0" y="0"/>
                </a:lnTo>
                <a:lnTo>
                  <a:pt x="0" y="5330444"/>
                </a:lnTo>
                <a:lnTo>
                  <a:pt x="166116" y="5330444"/>
                </a:lnTo>
                <a:lnTo>
                  <a:pt x="374523" y="5330444"/>
                </a:lnTo>
                <a:lnTo>
                  <a:pt x="374637" y="0"/>
                </a:lnTo>
                <a:close/>
              </a:path>
            </a:pathLst>
          </a:custGeom>
          <a:solidFill>
            <a:srgbClr val="C6C6C6">
              <a:alpha val="49411"/>
            </a:srgbClr>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824" name="Google Shape;824;p84"/>
          <p:cNvSpPr txBox="1"/>
          <p:nvPr/>
        </p:nvSpPr>
        <p:spPr>
          <a:xfrm>
            <a:off x="331419" y="2829255"/>
            <a:ext cx="2453640" cy="57467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3600" b="1">
                <a:solidFill>
                  <a:srgbClr val="FFFFFF"/>
                </a:solidFill>
                <a:latin typeface="Trebuchet MS"/>
                <a:ea typeface="Trebuchet MS"/>
                <a:cs typeface="Trebuchet MS"/>
                <a:sym typeface="Trebuchet MS"/>
              </a:rPr>
              <a:t>Vector Class</a:t>
            </a:r>
            <a:endParaRPr sz="3600">
              <a:latin typeface="Trebuchet MS"/>
              <a:ea typeface="Trebuchet MS"/>
              <a:cs typeface="Trebuchet MS"/>
              <a:sym typeface="Trebuchet MS"/>
            </a:endParaRPr>
          </a:p>
        </p:txBody>
      </p:sp>
      <p:sp>
        <p:nvSpPr>
          <p:cNvPr id="825" name="Google Shape;825;p84"/>
          <p:cNvSpPr txBox="1">
            <a:spLocks noGrp="1"/>
          </p:cNvSpPr>
          <p:nvPr>
            <p:ph type="title"/>
          </p:nvPr>
        </p:nvSpPr>
        <p:spPr>
          <a:xfrm>
            <a:off x="3813175" y="1017778"/>
            <a:ext cx="7768590" cy="1397635"/>
          </a:xfrm>
          <a:prstGeom prst="rect">
            <a:avLst/>
          </a:prstGeom>
          <a:noFill/>
          <a:ln>
            <a:noFill/>
          </a:ln>
        </p:spPr>
        <p:txBody>
          <a:bodyPr spcFirstLastPara="1" wrap="square" lIns="0" tIns="12700" rIns="0" bIns="0" anchor="t" anchorCtr="0">
            <a:spAutoFit/>
          </a:bodyPr>
          <a:lstStyle/>
          <a:p>
            <a:pPr marL="12700" marR="5080" lvl="0" indent="0" algn="just" rtl="0">
              <a:lnSpc>
                <a:spcPct val="100000"/>
              </a:lnSpc>
              <a:spcBef>
                <a:spcPts val="0"/>
              </a:spcBef>
              <a:spcAft>
                <a:spcPts val="0"/>
              </a:spcAft>
              <a:buNone/>
            </a:pPr>
            <a:r>
              <a:rPr lang="en-US" sz="1800" b="0">
                <a:solidFill>
                  <a:srgbClr val="000000"/>
                </a:solidFill>
                <a:latin typeface="Cambria"/>
                <a:ea typeface="Cambria"/>
                <a:cs typeface="Cambria"/>
                <a:sym typeface="Cambria"/>
              </a:rPr>
              <a:t>Vector is like the dynamic array which can grow or shrink its size. Unlike array, we can </a:t>
            </a:r>
            <a:r>
              <a:rPr lang="en-US" sz="1800">
                <a:solidFill>
                  <a:srgbClr val="000000"/>
                </a:solidFill>
                <a:latin typeface="Cambria"/>
                <a:ea typeface="Cambria"/>
                <a:cs typeface="Cambria"/>
                <a:sym typeface="Cambria"/>
              </a:rPr>
              <a:t>store n-number </a:t>
            </a:r>
            <a:r>
              <a:rPr lang="en-US" sz="1800" b="0">
                <a:solidFill>
                  <a:srgbClr val="000000"/>
                </a:solidFill>
                <a:latin typeface="Cambria"/>
                <a:ea typeface="Cambria"/>
                <a:cs typeface="Cambria"/>
                <a:sym typeface="Cambria"/>
              </a:rPr>
              <a:t>of elements in it as there is </a:t>
            </a:r>
            <a:r>
              <a:rPr lang="en-US" sz="1800">
                <a:solidFill>
                  <a:srgbClr val="000000"/>
                </a:solidFill>
                <a:latin typeface="Cambria"/>
                <a:ea typeface="Cambria"/>
                <a:cs typeface="Cambria"/>
                <a:sym typeface="Cambria"/>
              </a:rPr>
              <a:t>no size limit. </a:t>
            </a:r>
            <a:r>
              <a:rPr lang="en-US" sz="1800" b="0">
                <a:solidFill>
                  <a:srgbClr val="000000"/>
                </a:solidFill>
                <a:latin typeface="Cambria"/>
                <a:ea typeface="Cambria"/>
                <a:cs typeface="Cambria"/>
                <a:sym typeface="Cambria"/>
              </a:rPr>
              <a:t>It is a part of Java Collection framework since Java 1.2. It is found in the java.util package and implements the List interface, so we can use all the methods of List interface here.</a:t>
            </a:r>
            <a:endParaRPr sz="1800">
              <a:latin typeface="Cambria"/>
              <a:ea typeface="Cambria"/>
              <a:cs typeface="Cambria"/>
              <a:sym typeface="Cambria"/>
            </a:endParaRPr>
          </a:p>
        </p:txBody>
      </p:sp>
      <p:sp>
        <p:nvSpPr>
          <p:cNvPr id="826" name="Google Shape;826;p84"/>
          <p:cNvSpPr txBox="1"/>
          <p:nvPr/>
        </p:nvSpPr>
        <p:spPr>
          <a:xfrm>
            <a:off x="3813175" y="2664078"/>
            <a:ext cx="7768590" cy="848360"/>
          </a:xfrm>
          <a:prstGeom prst="rect">
            <a:avLst/>
          </a:prstGeom>
          <a:noFill/>
          <a:ln>
            <a:noFill/>
          </a:ln>
        </p:spPr>
        <p:txBody>
          <a:bodyPr spcFirstLastPara="1" wrap="square" lIns="0" tIns="12700" rIns="0" bIns="0" anchor="t" anchorCtr="0">
            <a:spAutoFit/>
          </a:bodyPr>
          <a:lstStyle/>
          <a:p>
            <a:pPr marL="12700" marR="5080" lvl="0" indent="0" algn="just" rtl="0">
              <a:lnSpc>
                <a:spcPct val="100000"/>
              </a:lnSpc>
              <a:spcBef>
                <a:spcPts val="0"/>
              </a:spcBef>
              <a:spcAft>
                <a:spcPts val="0"/>
              </a:spcAft>
              <a:buNone/>
            </a:pPr>
            <a:r>
              <a:rPr lang="en-US" sz="1800">
                <a:latin typeface="Cambria"/>
                <a:ea typeface="Cambria"/>
                <a:cs typeface="Cambria"/>
                <a:sym typeface="Cambria"/>
              </a:rPr>
              <a:t>It is recommended to use the Vector class in </a:t>
            </a:r>
            <a:r>
              <a:rPr lang="en-US" sz="1800" b="1">
                <a:latin typeface="Cambria"/>
                <a:ea typeface="Cambria"/>
                <a:cs typeface="Cambria"/>
                <a:sym typeface="Cambria"/>
              </a:rPr>
              <a:t>the thread-safe </a:t>
            </a:r>
            <a:r>
              <a:rPr lang="en-US" sz="1800">
                <a:latin typeface="Cambria"/>
                <a:ea typeface="Cambria"/>
                <a:cs typeface="Cambria"/>
                <a:sym typeface="Cambria"/>
              </a:rPr>
              <a:t>implementation only. If you don't need to use the thread-safe implementation, you should use the ArrayList, the ArrayList will perform better in such case.</a:t>
            </a:r>
            <a:endParaRPr sz="1800">
              <a:latin typeface="Cambria"/>
              <a:ea typeface="Cambria"/>
              <a:cs typeface="Cambria"/>
              <a:sym typeface="Cambria"/>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MasterSp="0">
  <p:cSld>
    <p:spTree>
      <p:nvGrpSpPr>
        <p:cNvPr id="1" name="Shape 830"/>
        <p:cNvGrpSpPr/>
        <p:nvPr/>
      </p:nvGrpSpPr>
      <p:grpSpPr>
        <a:xfrm>
          <a:off x="0" y="0"/>
          <a:ext cx="0" cy="0"/>
          <a:chOff x="0" y="0"/>
          <a:chExt cx="0" cy="0"/>
        </a:xfrm>
      </p:grpSpPr>
      <p:sp>
        <p:nvSpPr>
          <p:cNvPr id="831" name="Google Shape;831;p85"/>
          <p:cNvSpPr/>
          <p:nvPr/>
        </p:nvSpPr>
        <p:spPr>
          <a:xfrm>
            <a:off x="0" y="758951"/>
            <a:ext cx="3444240" cy="5330825"/>
          </a:xfrm>
          <a:custGeom>
            <a:avLst/>
            <a:gdLst/>
            <a:ahLst/>
            <a:cxnLst/>
            <a:rect l="l" t="t" r="r" b="b"/>
            <a:pathLst>
              <a:path w="3444240" h="5330825" extrusionOk="0">
                <a:moveTo>
                  <a:pt x="3444240" y="0"/>
                </a:moveTo>
                <a:lnTo>
                  <a:pt x="0" y="0"/>
                </a:lnTo>
                <a:lnTo>
                  <a:pt x="0" y="5330444"/>
                </a:lnTo>
                <a:lnTo>
                  <a:pt x="3444240" y="5330444"/>
                </a:lnTo>
                <a:lnTo>
                  <a:pt x="3444240" y="0"/>
                </a:lnTo>
                <a:close/>
              </a:path>
            </a:pathLst>
          </a:custGeom>
          <a:solidFill>
            <a:srgbClr val="40B8D2"/>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832" name="Google Shape;832;p85"/>
          <p:cNvSpPr/>
          <p:nvPr/>
        </p:nvSpPr>
        <p:spPr>
          <a:xfrm>
            <a:off x="11817096" y="758951"/>
            <a:ext cx="374650" cy="5330825"/>
          </a:xfrm>
          <a:custGeom>
            <a:avLst/>
            <a:gdLst/>
            <a:ahLst/>
            <a:cxnLst/>
            <a:rect l="l" t="t" r="r" b="b"/>
            <a:pathLst>
              <a:path w="374650" h="5330825" extrusionOk="0">
                <a:moveTo>
                  <a:pt x="374637" y="0"/>
                </a:moveTo>
                <a:lnTo>
                  <a:pt x="166116" y="0"/>
                </a:lnTo>
                <a:lnTo>
                  <a:pt x="0" y="0"/>
                </a:lnTo>
                <a:lnTo>
                  <a:pt x="0" y="5330444"/>
                </a:lnTo>
                <a:lnTo>
                  <a:pt x="166116" y="5330444"/>
                </a:lnTo>
                <a:lnTo>
                  <a:pt x="374523" y="5330444"/>
                </a:lnTo>
                <a:lnTo>
                  <a:pt x="374637" y="0"/>
                </a:lnTo>
                <a:close/>
              </a:path>
            </a:pathLst>
          </a:custGeom>
          <a:solidFill>
            <a:srgbClr val="C6C6C6">
              <a:alpha val="49411"/>
            </a:srgbClr>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833" name="Google Shape;833;p85"/>
          <p:cNvSpPr txBox="1"/>
          <p:nvPr/>
        </p:nvSpPr>
        <p:spPr>
          <a:xfrm>
            <a:off x="331419" y="2829255"/>
            <a:ext cx="2453640" cy="57467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3600" b="1">
                <a:solidFill>
                  <a:srgbClr val="FFFFFF"/>
                </a:solidFill>
                <a:latin typeface="Trebuchet MS"/>
                <a:ea typeface="Trebuchet MS"/>
                <a:cs typeface="Trebuchet MS"/>
                <a:sym typeface="Trebuchet MS"/>
              </a:rPr>
              <a:t>Vector Class</a:t>
            </a:r>
            <a:endParaRPr sz="3600">
              <a:latin typeface="Trebuchet MS"/>
              <a:ea typeface="Trebuchet MS"/>
              <a:cs typeface="Trebuchet MS"/>
              <a:sym typeface="Trebuchet MS"/>
            </a:endParaRPr>
          </a:p>
        </p:txBody>
      </p:sp>
      <p:sp>
        <p:nvSpPr>
          <p:cNvPr id="834" name="Google Shape;834;p85"/>
          <p:cNvSpPr txBox="1"/>
          <p:nvPr/>
        </p:nvSpPr>
        <p:spPr>
          <a:xfrm>
            <a:off x="3813174" y="1017778"/>
            <a:ext cx="8003921" cy="1672004"/>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800">
                <a:latin typeface="Cambria"/>
                <a:ea typeface="Cambria"/>
                <a:cs typeface="Cambria"/>
                <a:sym typeface="Cambria"/>
              </a:rPr>
              <a:t>It is similar to the ArrayList, but with two differences-</a:t>
            </a:r>
            <a:endParaRPr sz="1800">
              <a:latin typeface="Cambria"/>
              <a:ea typeface="Cambria"/>
              <a:cs typeface="Cambria"/>
              <a:sym typeface="Cambria"/>
            </a:endParaRPr>
          </a:p>
          <a:p>
            <a:pPr marL="0" lvl="0" indent="0" algn="l" rtl="0">
              <a:lnSpc>
                <a:spcPct val="100000"/>
              </a:lnSpc>
              <a:spcBef>
                <a:spcPts val="45"/>
              </a:spcBef>
              <a:spcAft>
                <a:spcPts val="0"/>
              </a:spcAft>
              <a:buNone/>
            </a:pPr>
            <a:endParaRPr sz="1800">
              <a:latin typeface="Cambria"/>
              <a:ea typeface="Cambria"/>
              <a:cs typeface="Cambria"/>
              <a:sym typeface="Cambria"/>
            </a:endParaRPr>
          </a:p>
          <a:p>
            <a:pPr marL="193675" lvl="0" indent="-180975" algn="l" rtl="0">
              <a:lnSpc>
                <a:spcPct val="100000"/>
              </a:lnSpc>
              <a:spcBef>
                <a:spcPts val="5"/>
              </a:spcBef>
              <a:spcAft>
                <a:spcPts val="0"/>
              </a:spcAft>
              <a:buSzPts val="1800"/>
              <a:buFont typeface="Arial"/>
              <a:buChar char="•"/>
            </a:pPr>
            <a:r>
              <a:rPr lang="en-US" sz="1800">
                <a:latin typeface="Cambria"/>
                <a:ea typeface="Cambria"/>
                <a:cs typeface="Cambria"/>
                <a:sym typeface="Cambria"/>
              </a:rPr>
              <a:t>Vector is synchronized.</a:t>
            </a:r>
            <a:endParaRPr sz="1800">
              <a:latin typeface="Cambria"/>
              <a:ea typeface="Cambria"/>
              <a:cs typeface="Cambria"/>
              <a:sym typeface="Cambria"/>
            </a:endParaRPr>
          </a:p>
          <a:p>
            <a:pPr marL="0" lvl="0" indent="0" algn="l" rtl="0">
              <a:lnSpc>
                <a:spcPct val="100000"/>
              </a:lnSpc>
              <a:spcBef>
                <a:spcPts val="50"/>
              </a:spcBef>
              <a:spcAft>
                <a:spcPts val="0"/>
              </a:spcAft>
              <a:buSzPts val="1800"/>
              <a:buFont typeface="Arial"/>
              <a:buNone/>
            </a:pPr>
            <a:endParaRPr sz="1800">
              <a:latin typeface="Cambria"/>
              <a:ea typeface="Cambria"/>
              <a:cs typeface="Cambria"/>
              <a:sym typeface="Cambria"/>
            </a:endParaRPr>
          </a:p>
          <a:p>
            <a:pPr marL="165100" marR="5080" lvl="0" indent="-152400" algn="l" rtl="0">
              <a:lnSpc>
                <a:spcPct val="100000"/>
              </a:lnSpc>
              <a:spcBef>
                <a:spcPts val="0"/>
              </a:spcBef>
              <a:spcAft>
                <a:spcPts val="0"/>
              </a:spcAft>
              <a:buSzPts val="1800"/>
              <a:buFont typeface="Arial"/>
              <a:buChar char="•"/>
            </a:pPr>
            <a:r>
              <a:rPr lang="en-US" sz="1800">
                <a:latin typeface="Cambria"/>
                <a:ea typeface="Cambria"/>
                <a:cs typeface="Cambria"/>
                <a:sym typeface="Cambria"/>
              </a:rPr>
              <a:t>	Java Vector contains many legacy methods that are not the part of a collections framework.</a:t>
            </a:r>
            <a:endParaRPr sz="1800">
              <a:latin typeface="Cambria"/>
              <a:ea typeface="Cambria"/>
              <a:cs typeface="Cambria"/>
              <a:sym typeface="Cambria"/>
            </a:endParaRPr>
          </a:p>
        </p:txBody>
      </p:sp>
      <p:sp>
        <p:nvSpPr>
          <p:cNvPr id="835" name="Google Shape;835;p85"/>
          <p:cNvSpPr txBox="1"/>
          <p:nvPr/>
        </p:nvSpPr>
        <p:spPr>
          <a:xfrm>
            <a:off x="3813175" y="2938398"/>
            <a:ext cx="3017520" cy="2997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800" b="1">
                <a:latin typeface="Cambria"/>
                <a:ea typeface="Cambria"/>
                <a:cs typeface="Cambria"/>
                <a:sym typeface="Cambria"/>
              </a:rPr>
              <a:t>Java Vector class Declaration</a:t>
            </a:r>
            <a:endParaRPr sz="1800">
              <a:latin typeface="Cambria"/>
              <a:ea typeface="Cambria"/>
              <a:cs typeface="Cambria"/>
              <a:sym typeface="Cambria"/>
            </a:endParaRPr>
          </a:p>
        </p:txBody>
      </p:sp>
      <p:sp>
        <p:nvSpPr>
          <p:cNvPr id="836" name="Google Shape;836;p85"/>
          <p:cNvSpPr txBox="1"/>
          <p:nvPr/>
        </p:nvSpPr>
        <p:spPr>
          <a:xfrm>
            <a:off x="3813174" y="3486734"/>
            <a:ext cx="5635625" cy="84382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800">
                <a:latin typeface="Cambria"/>
                <a:ea typeface="Cambria"/>
                <a:cs typeface="Cambria"/>
                <a:sym typeface="Cambria"/>
              </a:rPr>
              <a:t>public class Vector&lt;E&gt;</a:t>
            </a:r>
            <a:endParaRPr sz="1800">
              <a:latin typeface="Cambria"/>
              <a:ea typeface="Cambria"/>
              <a:cs typeface="Cambria"/>
              <a:sym typeface="Cambria"/>
            </a:endParaRPr>
          </a:p>
          <a:p>
            <a:pPr marL="12700" lvl="0" indent="0" algn="l" rtl="0">
              <a:lnSpc>
                <a:spcPct val="100000"/>
              </a:lnSpc>
              <a:spcBef>
                <a:spcPts val="5"/>
              </a:spcBef>
              <a:spcAft>
                <a:spcPts val="0"/>
              </a:spcAft>
              <a:buNone/>
            </a:pPr>
            <a:r>
              <a:rPr lang="en-US" sz="1800">
                <a:latin typeface="Cambria"/>
                <a:ea typeface="Cambria"/>
                <a:cs typeface="Cambria"/>
                <a:sym typeface="Cambria"/>
              </a:rPr>
              <a:t>extends Object&lt;E&gt;</a:t>
            </a:r>
            <a:endParaRPr sz="1800">
              <a:latin typeface="Cambria"/>
              <a:ea typeface="Cambria"/>
              <a:cs typeface="Cambria"/>
              <a:sym typeface="Cambria"/>
            </a:endParaRPr>
          </a:p>
          <a:p>
            <a:pPr marL="12700" lvl="0" indent="0" algn="l" rtl="0">
              <a:lnSpc>
                <a:spcPct val="100000"/>
              </a:lnSpc>
              <a:spcBef>
                <a:spcPts val="0"/>
              </a:spcBef>
              <a:spcAft>
                <a:spcPts val="0"/>
              </a:spcAft>
              <a:buNone/>
            </a:pPr>
            <a:r>
              <a:rPr lang="en-US" sz="1800">
                <a:latin typeface="Cambria"/>
                <a:ea typeface="Cambria"/>
                <a:cs typeface="Cambria"/>
                <a:sym typeface="Cambria"/>
              </a:rPr>
              <a:t>implements List&lt;E&gt;, Cloneable, Serializable</a:t>
            </a:r>
            <a:endParaRPr sz="1800">
              <a:latin typeface="Cambria"/>
              <a:ea typeface="Cambria"/>
              <a:cs typeface="Cambria"/>
              <a:sym typeface="Cambria"/>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840"/>
        <p:cNvGrpSpPr/>
        <p:nvPr/>
      </p:nvGrpSpPr>
      <p:grpSpPr>
        <a:xfrm>
          <a:off x="0" y="0"/>
          <a:ext cx="0" cy="0"/>
          <a:chOff x="0" y="0"/>
          <a:chExt cx="0" cy="0"/>
        </a:xfrm>
      </p:grpSpPr>
      <p:grpSp>
        <p:nvGrpSpPr>
          <p:cNvPr id="841" name="Google Shape;841;p86"/>
          <p:cNvGrpSpPr/>
          <p:nvPr/>
        </p:nvGrpSpPr>
        <p:grpSpPr>
          <a:xfrm>
            <a:off x="3581400" y="758951"/>
            <a:ext cx="8610600" cy="5330825"/>
            <a:chOff x="3581400" y="758951"/>
            <a:chExt cx="8610600" cy="5330825"/>
          </a:xfrm>
        </p:grpSpPr>
        <p:sp>
          <p:nvSpPr>
            <p:cNvPr id="842" name="Google Shape;842;p86"/>
            <p:cNvSpPr/>
            <p:nvPr/>
          </p:nvSpPr>
          <p:spPr>
            <a:xfrm>
              <a:off x="11817095" y="758951"/>
              <a:ext cx="374650" cy="5330825"/>
            </a:xfrm>
            <a:custGeom>
              <a:avLst/>
              <a:gdLst/>
              <a:ahLst/>
              <a:cxnLst/>
              <a:rect l="l" t="t" r="r" b="b"/>
              <a:pathLst>
                <a:path w="374650" h="5330825" extrusionOk="0">
                  <a:moveTo>
                    <a:pt x="374523" y="0"/>
                  </a:moveTo>
                  <a:lnTo>
                    <a:pt x="0" y="0"/>
                  </a:lnTo>
                  <a:lnTo>
                    <a:pt x="0" y="5330444"/>
                  </a:lnTo>
                  <a:lnTo>
                    <a:pt x="374523" y="5330444"/>
                  </a:lnTo>
                  <a:lnTo>
                    <a:pt x="374523" y="0"/>
                  </a:lnTo>
                  <a:close/>
                </a:path>
              </a:pathLst>
            </a:custGeom>
            <a:solidFill>
              <a:srgbClr val="C6C6C6">
                <a:alpha val="49411"/>
              </a:srgbClr>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843" name="Google Shape;843;p86"/>
            <p:cNvPicPr preferRelativeResize="0"/>
            <p:nvPr/>
          </p:nvPicPr>
          <p:blipFill rotWithShape="1">
            <a:blip r:embed="rId3">
              <a:alphaModFix/>
            </a:blip>
            <a:srcRect/>
            <a:stretch/>
          </p:blipFill>
          <p:spPr>
            <a:xfrm>
              <a:off x="3581400" y="1828799"/>
              <a:ext cx="8610600" cy="2900172"/>
            </a:xfrm>
            <a:prstGeom prst="rect">
              <a:avLst/>
            </a:prstGeom>
            <a:noFill/>
            <a:ln>
              <a:noFill/>
            </a:ln>
          </p:spPr>
        </p:pic>
      </p:grpSp>
      <p:sp>
        <p:nvSpPr>
          <p:cNvPr id="844" name="Google Shape;844;p86"/>
          <p:cNvSpPr txBox="1">
            <a:spLocks noGrp="1"/>
          </p:cNvSpPr>
          <p:nvPr>
            <p:ph type="title"/>
          </p:nvPr>
        </p:nvSpPr>
        <p:spPr>
          <a:xfrm>
            <a:off x="331419" y="2829255"/>
            <a:ext cx="2556510" cy="1069975"/>
          </a:xfrm>
          <a:prstGeom prst="rect">
            <a:avLst/>
          </a:prstGeom>
          <a:noFill/>
          <a:ln>
            <a:noFill/>
          </a:ln>
        </p:spPr>
        <p:txBody>
          <a:bodyPr spcFirstLastPara="1" wrap="square" lIns="0" tIns="73650" rIns="0" bIns="0" anchor="t" anchorCtr="0">
            <a:spAutoFit/>
          </a:bodyPr>
          <a:lstStyle/>
          <a:p>
            <a:pPr marL="12700" marR="5080" lvl="0" indent="0" algn="l" rtl="0">
              <a:lnSpc>
                <a:spcPct val="108333"/>
              </a:lnSpc>
              <a:spcBef>
                <a:spcPts val="0"/>
              </a:spcBef>
              <a:spcAft>
                <a:spcPts val="0"/>
              </a:spcAft>
              <a:buNone/>
            </a:pPr>
            <a:r>
              <a:rPr lang="en-US"/>
              <a:t>Vector Class Constructor</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848"/>
        <p:cNvGrpSpPr/>
        <p:nvPr/>
      </p:nvGrpSpPr>
      <p:grpSpPr>
        <a:xfrm>
          <a:off x="0" y="0"/>
          <a:ext cx="0" cy="0"/>
          <a:chOff x="0" y="0"/>
          <a:chExt cx="0" cy="0"/>
        </a:xfrm>
      </p:grpSpPr>
      <p:grpSp>
        <p:nvGrpSpPr>
          <p:cNvPr id="849" name="Google Shape;849;p87"/>
          <p:cNvGrpSpPr/>
          <p:nvPr/>
        </p:nvGrpSpPr>
        <p:grpSpPr>
          <a:xfrm>
            <a:off x="3200399" y="152400"/>
            <a:ext cx="8991602" cy="6553199"/>
            <a:chOff x="3110483" y="152400"/>
            <a:chExt cx="9081516" cy="6705599"/>
          </a:xfrm>
        </p:grpSpPr>
        <p:sp>
          <p:nvSpPr>
            <p:cNvPr id="850" name="Google Shape;850;p87"/>
            <p:cNvSpPr/>
            <p:nvPr/>
          </p:nvSpPr>
          <p:spPr>
            <a:xfrm>
              <a:off x="11817095" y="758951"/>
              <a:ext cx="374650" cy="5330825"/>
            </a:xfrm>
            <a:custGeom>
              <a:avLst/>
              <a:gdLst/>
              <a:ahLst/>
              <a:cxnLst/>
              <a:rect l="l" t="t" r="r" b="b"/>
              <a:pathLst>
                <a:path w="374650" h="5330825" extrusionOk="0">
                  <a:moveTo>
                    <a:pt x="374523" y="0"/>
                  </a:moveTo>
                  <a:lnTo>
                    <a:pt x="0" y="0"/>
                  </a:lnTo>
                  <a:lnTo>
                    <a:pt x="0" y="5330444"/>
                  </a:lnTo>
                  <a:lnTo>
                    <a:pt x="374523" y="5330444"/>
                  </a:lnTo>
                  <a:lnTo>
                    <a:pt x="374523" y="0"/>
                  </a:lnTo>
                  <a:close/>
                </a:path>
              </a:pathLst>
            </a:custGeom>
            <a:solidFill>
              <a:srgbClr val="C6C6C6">
                <a:alpha val="49411"/>
              </a:srgbClr>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851" name="Google Shape;851;p87"/>
            <p:cNvPicPr preferRelativeResize="0"/>
            <p:nvPr/>
          </p:nvPicPr>
          <p:blipFill rotWithShape="1">
            <a:blip r:embed="rId3">
              <a:alphaModFix/>
            </a:blip>
            <a:srcRect/>
            <a:stretch/>
          </p:blipFill>
          <p:spPr>
            <a:xfrm>
              <a:off x="3110483" y="152400"/>
              <a:ext cx="9081516" cy="5410200"/>
            </a:xfrm>
            <a:prstGeom prst="rect">
              <a:avLst/>
            </a:prstGeom>
            <a:noFill/>
            <a:ln>
              <a:noFill/>
            </a:ln>
          </p:spPr>
        </p:pic>
        <p:pic>
          <p:nvPicPr>
            <p:cNvPr id="852" name="Google Shape;852;p87"/>
            <p:cNvPicPr preferRelativeResize="0"/>
            <p:nvPr/>
          </p:nvPicPr>
          <p:blipFill rotWithShape="1">
            <a:blip r:embed="rId4">
              <a:alphaModFix/>
            </a:blip>
            <a:srcRect/>
            <a:stretch/>
          </p:blipFill>
          <p:spPr>
            <a:xfrm>
              <a:off x="3124199" y="5498591"/>
              <a:ext cx="9067800" cy="1359408"/>
            </a:xfrm>
            <a:prstGeom prst="rect">
              <a:avLst/>
            </a:prstGeom>
            <a:noFill/>
            <a:ln>
              <a:noFill/>
            </a:ln>
          </p:spPr>
        </p:pic>
      </p:grpSp>
      <p:sp>
        <p:nvSpPr>
          <p:cNvPr id="853" name="Google Shape;853;p87"/>
          <p:cNvSpPr txBox="1">
            <a:spLocks noGrp="1"/>
          </p:cNvSpPr>
          <p:nvPr>
            <p:ph type="title"/>
          </p:nvPr>
        </p:nvSpPr>
        <p:spPr>
          <a:xfrm>
            <a:off x="331419" y="2829255"/>
            <a:ext cx="2556510" cy="1069975"/>
          </a:xfrm>
          <a:prstGeom prst="rect">
            <a:avLst/>
          </a:prstGeom>
          <a:noFill/>
          <a:ln>
            <a:noFill/>
          </a:ln>
        </p:spPr>
        <p:txBody>
          <a:bodyPr spcFirstLastPara="1" wrap="square" lIns="0" tIns="73650" rIns="0" bIns="0" anchor="t" anchorCtr="0">
            <a:spAutoFit/>
          </a:bodyPr>
          <a:lstStyle/>
          <a:p>
            <a:pPr marL="12700" marR="5080" lvl="0" indent="0" algn="l" rtl="0">
              <a:lnSpc>
                <a:spcPct val="108333"/>
              </a:lnSpc>
              <a:spcBef>
                <a:spcPts val="0"/>
              </a:spcBef>
              <a:spcAft>
                <a:spcPts val="0"/>
              </a:spcAft>
              <a:buNone/>
            </a:pPr>
            <a:r>
              <a:rPr lang="en-US"/>
              <a:t>Vector Class Methods</a:t>
            </a:r>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857"/>
        <p:cNvGrpSpPr/>
        <p:nvPr/>
      </p:nvGrpSpPr>
      <p:grpSpPr>
        <a:xfrm>
          <a:off x="0" y="0"/>
          <a:ext cx="0" cy="0"/>
          <a:chOff x="0" y="0"/>
          <a:chExt cx="0" cy="0"/>
        </a:xfrm>
      </p:grpSpPr>
      <p:grpSp>
        <p:nvGrpSpPr>
          <p:cNvPr id="858" name="Google Shape;858;p88"/>
          <p:cNvGrpSpPr/>
          <p:nvPr/>
        </p:nvGrpSpPr>
        <p:grpSpPr>
          <a:xfrm>
            <a:off x="3124200" y="143255"/>
            <a:ext cx="9067800" cy="6714743"/>
            <a:chOff x="2971800" y="143255"/>
            <a:chExt cx="9220200" cy="6714743"/>
          </a:xfrm>
        </p:grpSpPr>
        <p:sp>
          <p:nvSpPr>
            <p:cNvPr id="859" name="Google Shape;859;p88"/>
            <p:cNvSpPr/>
            <p:nvPr/>
          </p:nvSpPr>
          <p:spPr>
            <a:xfrm>
              <a:off x="11817095" y="758951"/>
              <a:ext cx="374650" cy="5330825"/>
            </a:xfrm>
            <a:custGeom>
              <a:avLst/>
              <a:gdLst/>
              <a:ahLst/>
              <a:cxnLst/>
              <a:rect l="l" t="t" r="r" b="b"/>
              <a:pathLst>
                <a:path w="374650" h="5330825" extrusionOk="0">
                  <a:moveTo>
                    <a:pt x="374523" y="0"/>
                  </a:moveTo>
                  <a:lnTo>
                    <a:pt x="0" y="0"/>
                  </a:lnTo>
                  <a:lnTo>
                    <a:pt x="0" y="5330444"/>
                  </a:lnTo>
                  <a:lnTo>
                    <a:pt x="374523" y="5330444"/>
                  </a:lnTo>
                  <a:lnTo>
                    <a:pt x="374523" y="0"/>
                  </a:lnTo>
                  <a:close/>
                </a:path>
              </a:pathLst>
            </a:custGeom>
            <a:solidFill>
              <a:srgbClr val="C6C6C6">
                <a:alpha val="49411"/>
              </a:srgbClr>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860" name="Google Shape;860;p88"/>
            <p:cNvPicPr preferRelativeResize="0"/>
            <p:nvPr/>
          </p:nvPicPr>
          <p:blipFill rotWithShape="1">
            <a:blip r:embed="rId3">
              <a:alphaModFix/>
            </a:blip>
            <a:srcRect/>
            <a:stretch/>
          </p:blipFill>
          <p:spPr>
            <a:xfrm>
              <a:off x="2971800" y="143255"/>
              <a:ext cx="9220200" cy="618744"/>
            </a:xfrm>
            <a:prstGeom prst="rect">
              <a:avLst/>
            </a:prstGeom>
            <a:noFill/>
            <a:ln>
              <a:noFill/>
            </a:ln>
          </p:spPr>
        </p:pic>
        <p:pic>
          <p:nvPicPr>
            <p:cNvPr id="861" name="Google Shape;861;p88"/>
            <p:cNvPicPr preferRelativeResize="0"/>
            <p:nvPr/>
          </p:nvPicPr>
          <p:blipFill rotWithShape="1">
            <a:blip r:embed="rId4">
              <a:alphaModFix/>
            </a:blip>
            <a:srcRect/>
            <a:stretch/>
          </p:blipFill>
          <p:spPr>
            <a:xfrm>
              <a:off x="3034284" y="766570"/>
              <a:ext cx="9157716" cy="6091428"/>
            </a:xfrm>
            <a:prstGeom prst="rect">
              <a:avLst/>
            </a:prstGeom>
            <a:noFill/>
            <a:ln>
              <a:noFill/>
            </a:ln>
          </p:spPr>
        </p:pic>
      </p:grpSp>
      <p:sp>
        <p:nvSpPr>
          <p:cNvPr id="862" name="Google Shape;862;p88"/>
          <p:cNvSpPr txBox="1">
            <a:spLocks noGrp="1"/>
          </p:cNvSpPr>
          <p:nvPr>
            <p:ph type="title"/>
          </p:nvPr>
        </p:nvSpPr>
        <p:spPr>
          <a:xfrm>
            <a:off x="331419" y="2829255"/>
            <a:ext cx="2556510" cy="1069975"/>
          </a:xfrm>
          <a:prstGeom prst="rect">
            <a:avLst/>
          </a:prstGeom>
          <a:noFill/>
          <a:ln>
            <a:noFill/>
          </a:ln>
        </p:spPr>
        <p:txBody>
          <a:bodyPr spcFirstLastPara="1" wrap="square" lIns="0" tIns="73650" rIns="0" bIns="0" anchor="t" anchorCtr="0">
            <a:spAutoFit/>
          </a:bodyPr>
          <a:lstStyle/>
          <a:p>
            <a:pPr marL="12700" marR="5080" lvl="0" indent="0" algn="l" rtl="0">
              <a:lnSpc>
                <a:spcPct val="108333"/>
              </a:lnSpc>
              <a:spcBef>
                <a:spcPts val="0"/>
              </a:spcBef>
              <a:spcAft>
                <a:spcPts val="0"/>
              </a:spcAft>
              <a:buNone/>
            </a:pPr>
            <a:r>
              <a:rPr lang="en-US"/>
              <a:t>Vector Class Methods</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866"/>
        <p:cNvGrpSpPr/>
        <p:nvPr/>
      </p:nvGrpSpPr>
      <p:grpSpPr>
        <a:xfrm>
          <a:off x="0" y="0"/>
          <a:ext cx="0" cy="0"/>
          <a:chOff x="0" y="0"/>
          <a:chExt cx="0" cy="0"/>
        </a:xfrm>
      </p:grpSpPr>
      <p:grpSp>
        <p:nvGrpSpPr>
          <p:cNvPr id="867" name="Google Shape;867;p89"/>
          <p:cNvGrpSpPr/>
          <p:nvPr/>
        </p:nvGrpSpPr>
        <p:grpSpPr>
          <a:xfrm>
            <a:off x="3048000" y="132587"/>
            <a:ext cx="9144000" cy="6725411"/>
            <a:chOff x="2819400" y="132587"/>
            <a:chExt cx="9372600" cy="6725411"/>
          </a:xfrm>
        </p:grpSpPr>
        <p:sp>
          <p:nvSpPr>
            <p:cNvPr id="868" name="Google Shape;868;p89"/>
            <p:cNvSpPr/>
            <p:nvPr/>
          </p:nvSpPr>
          <p:spPr>
            <a:xfrm>
              <a:off x="11817095" y="758951"/>
              <a:ext cx="374650" cy="5330825"/>
            </a:xfrm>
            <a:custGeom>
              <a:avLst/>
              <a:gdLst/>
              <a:ahLst/>
              <a:cxnLst/>
              <a:rect l="l" t="t" r="r" b="b"/>
              <a:pathLst>
                <a:path w="374650" h="5330825" extrusionOk="0">
                  <a:moveTo>
                    <a:pt x="374523" y="0"/>
                  </a:moveTo>
                  <a:lnTo>
                    <a:pt x="0" y="0"/>
                  </a:lnTo>
                  <a:lnTo>
                    <a:pt x="0" y="5330444"/>
                  </a:lnTo>
                  <a:lnTo>
                    <a:pt x="374523" y="5330444"/>
                  </a:lnTo>
                  <a:lnTo>
                    <a:pt x="374523" y="0"/>
                  </a:lnTo>
                  <a:close/>
                </a:path>
              </a:pathLst>
            </a:custGeom>
            <a:solidFill>
              <a:srgbClr val="C6C6C6">
                <a:alpha val="49411"/>
              </a:srgbClr>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869" name="Google Shape;869;p89"/>
            <p:cNvPicPr preferRelativeResize="0"/>
            <p:nvPr/>
          </p:nvPicPr>
          <p:blipFill rotWithShape="1">
            <a:blip r:embed="rId3">
              <a:alphaModFix/>
            </a:blip>
            <a:srcRect/>
            <a:stretch/>
          </p:blipFill>
          <p:spPr>
            <a:xfrm>
              <a:off x="2819400" y="132587"/>
              <a:ext cx="9372600" cy="629411"/>
            </a:xfrm>
            <a:prstGeom prst="rect">
              <a:avLst/>
            </a:prstGeom>
            <a:noFill/>
            <a:ln>
              <a:noFill/>
            </a:ln>
          </p:spPr>
        </p:pic>
        <p:pic>
          <p:nvPicPr>
            <p:cNvPr id="870" name="Google Shape;870;p89"/>
            <p:cNvPicPr preferRelativeResize="0"/>
            <p:nvPr/>
          </p:nvPicPr>
          <p:blipFill rotWithShape="1">
            <a:blip r:embed="rId4">
              <a:alphaModFix/>
            </a:blip>
            <a:srcRect/>
            <a:stretch/>
          </p:blipFill>
          <p:spPr>
            <a:xfrm>
              <a:off x="2833116" y="723898"/>
              <a:ext cx="9358884" cy="6134100"/>
            </a:xfrm>
            <a:prstGeom prst="rect">
              <a:avLst/>
            </a:prstGeom>
            <a:noFill/>
            <a:ln>
              <a:noFill/>
            </a:ln>
          </p:spPr>
        </p:pic>
      </p:grpSp>
      <p:sp>
        <p:nvSpPr>
          <p:cNvPr id="871" name="Google Shape;871;p89"/>
          <p:cNvSpPr txBox="1">
            <a:spLocks noGrp="1"/>
          </p:cNvSpPr>
          <p:nvPr>
            <p:ph type="title"/>
          </p:nvPr>
        </p:nvSpPr>
        <p:spPr>
          <a:xfrm>
            <a:off x="331419" y="2829255"/>
            <a:ext cx="2556510" cy="1069975"/>
          </a:xfrm>
          <a:prstGeom prst="rect">
            <a:avLst/>
          </a:prstGeom>
          <a:noFill/>
          <a:ln>
            <a:noFill/>
          </a:ln>
        </p:spPr>
        <p:txBody>
          <a:bodyPr spcFirstLastPara="1" wrap="square" lIns="0" tIns="73650" rIns="0" bIns="0" anchor="t" anchorCtr="0">
            <a:spAutoFit/>
          </a:bodyPr>
          <a:lstStyle/>
          <a:p>
            <a:pPr marL="12700" marR="5080" lvl="0" indent="0" algn="l" rtl="0">
              <a:lnSpc>
                <a:spcPct val="108333"/>
              </a:lnSpc>
              <a:spcBef>
                <a:spcPts val="0"/>
              </a:spcBef>
              <a:spcAft>
                <a:spcPts val="0"/>
              </a:spcAft>
              <a:buNone/>
            </a:pPr>
            <a:r>
              <a:rPr lang="en-US"/>
              <a:t>Vector Class Methods</a:t>
            </a:r>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875"/>
        <p:cNvGrpSpPr/>
        <p:nvPr/>
      </p:nvGrpSpPr>
      <p:grpSpPr>
        <a:xfrm>
          <a:off x="0" y="0"/>
          <a:ext cx="0" cy="0"/>
          <a:chOff x="0" y="0"/>
          <a:chExt cx="0" cy="0"/>
        </a:xfrm>
      </p:grpSpPr>
      <p:sp>
        <p:nvSpPr>
          <p:cNvPr id="876" name="Google Shape;876;p90"/>
          <p:cNvSpPr/>
          <p:nvPr/>
        </p:nvSpPr>
        <p:spPr>
          <a:xfrm>
            <a:off x="11817095" y="758951"/>
            <a:ext cx="374650" cy="5330825"/>
          </a:xfrm>
          <a:custGeom>
            <a:avLst/>
            <a:gdLst/>
            <a:ahLst/>
            <a:cxnLst/>
            <a:rect l="l" t="t" r="r" b="b"/>
            <a:pathLst>
              <a:path w="374650" h="5330825" extrusionOk="0">
                <a:moveTo>
                  <a:pt x="374523" y="0"/>
                </a:moveTo>
                <a:lnTo>
                  <a:pt x="0" y="0"/>
                </a:lnTo>
                <a:lnTo>
                  <a:pt x="0" y="5330444"/>
                </a:lnTo>
                <a:lnTo>
                  <a:pt x="374523" y="5330444"/>
                </a:lnTo>
                <a:lnTo>
                  <a:pt x="374523" y="0"/>
                </a:lnTo>
                <a:close/>
              </a:path>
            </a:pathLst>
          </a:custGeom>
          <a:solidFill>
            <a:srgbClr val="C6C6C6">
              <a:alpha val="49411"/>
            </a:srgbClr>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877" name="Google Shape;877;p90"/>
          <p:cNvSpPr txBox="1">
            <a:spLocks noGrp="1"/>
          </p:cNvSpPr>
          <p:nvPr>
            <p:ph type="title"/>
          </p:nvPr>
        </p:nvSpPr>
        <p:spPr>
          <a:xfrm>
            <a:off x="331419" y="2829255"/>
            <a:ext cx="2556510" cy="1069975"/>
          </a:xfrm>
          <a:prstGeom prst="rect">
            <a:avLst/>
          </a:prstGeom>
          <a:noFill/>
          <a:ln>
            <a:noFill/>
          </a:ln>
        </p:spPr>
        <p:txBody>
          <a:bodyPr spcFirstLastPara="1" wrap="square" lIns="0" tIns="73650" rIns="0" bIns="0" anchor="t" anchorCtr="0">
            <a:spAutoFit/>
          </a:bodyPr>
          <a:lstStyle/>
          <a:p>
            <a:pPr marL="12700" marR="5080" lvl="0" indent="0" algn="l" rtl="0">
              <a:lnSpc>
                <a:spcPct val="108333"/>
              </a:lnSpc>
              <a:spcBef>
                <a:spcPts val="0"/>
              </a:spcBef>
              <a:spcAft>
                <a:spcPts val="0"/>
              </a:spcAft>
              <a:buNone/>
            </a:pPr>
            <a:r>
              <a:rPr lang="en-US"/>
              <a:t>Vector Class Methods</a:t>
            </a:r>
            <a:endParaRPr/>
          </a:p>
        </p:txBody>
      </p:sp>
      <p:grpSp>
        <p:nvGrpSpPr>
          <p:cNvPr id="878" name="Google Shape;878;p90"/>
          <p:cNvGrpSpPr/>
          <p:nvPr/>
        </p:nvGrpSpPr>
        <p:grpSpPr>
          <a:xfrm>
            <a:off x="3276600" y="132587"/>
            <a:ext cx="8915400" cy="6577585"/>
            <a:chOff x="2819400" y="132587"/>
            <a:chExt cx="9372600" cy="6577585"/>
          </a:xfrm>
        </p:grpSpPr>
        <p:pic>
          <p:nvPicPr>
            <p:cNvPr id="879" name="Google Shape;879;p90"/>
            <p:cNvPicPr preferRelativeResize="0"/>
            <p:nvPr/>
          </p:nvPicPr>
          <p:blipFill rotWithShape="1">
            <a:blip r:embed="rId3">
              <a:alphaModFix/>
            </a:blip>
            <a:srcRect/>
            <a:stretch/>
          </p:blipFill>
          <p:spPr>
            <a:xfrm>
              <a:off x="2819400" y="132587"/>
              <a:ext cx="9372600" cy="629411"/>
            </a:xfrm>
            <a:prstGeom prst="rect">
              <a:avLst/>
            </a:prstGeom>
            <a:noFill/>
            <a:ln>
              <a:noFill/>
            </a:ln>
          </p:spPr>
        </p:pic>
        <p:pic>
          <p:nvPicPr>
            <p:cNvPr id="880" name="Google Shape;880;p90"/>
            <p:cNvPicPr preferRelativeResize="0"/>
            <p:nvPr/>
          </p:nvPicPr>
          <p:blipFill rotWithShape="1">
            <a:blip r:embed="rId4">
              <a:alphaModFix/>
            </a:blip>
            <a:srcRect/>
            <a:stretch/>
          </p:blipFill>
          <p:spPr>
            <a:xfrm>
              <a:off x="2819400" y="697992"/>
              <a:ext cx="9372600" cy="6012180"/>
            </a:xfrm>
            <a:prstGeom prst="rect">
              <a:avLst/>
            </a:prstGeom>
            <a:noFill/>
            <a:ln>
              <a:noFill/>
            </a:ln>
          </p:spPr>
        </p:pic>
      </p:gr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sp>
        <p:nvSpPr>
          <p:cNvPr id="885" name="Google Shape;885;p91"/>
          <p:cNvSpPr/>
          <p:nvPr/>
        </p:nvSpPr>
        <p:spPr>
          <a:xfrm>
            <a:off x="11817095" y="758951"/>
            <a:ext cx="374650" cy="5330825"/>
          </a:xfrm>
          <a:custGeom>
            <a:avLst/>
            <a:gdLst/>
            <a:ahLst/>
            <a:cxnLst/>
            <a:rect l="l" t="t" r="r" b="b"/>
            <a:pathLst>
              <a:path w="374650" h="5330825" extrusionOk="0">
                <a:moveTo>
                  <a:pt x="374523" y="0"/>
                </a:moveTo>
                <a:lnTo>
                  <a:pt x="0" y="0"/>
                </a:lnTo>
                <a:lnTo>
                  <a:pt x="0" y="5330444"/>
                </a:lnTo>
                <a:lnTo>
                  <a:pt x="374523" y="5330444"/>
                </a:lnTo>
                <a:lnTo>
                  <a:pt x="374523" y="0"/>
                </a:lnTo>
                <a:close/>
              </a:path>
            </a:pathLst>
          </a:custGeom>
          <a:solidFill>
            <a:srgbClr val="C6C6C6">
              <a:alpha val="49411"/>
            </a:srgbClr>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886" name="Google Shape;886;p91"/>
          <p:cNvSpPr txBox="1">
            <a:spLocks noGrp="1"/>
          </p:cNvSpPr>
          <p:nvPr>
            <p:ph type="title"/>
          </p:nvPr>
        </p:nvSpPr>
        <p:spPr>
          <a:xfrm>
            <a:off x="5879972" y="2588133"/>
            <a:ext cx="2969895" cy="57404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a:solidFill>
                  <a:srgbClr val="FF0000"/>
                </a:solidFill>
                <a:latin typeface="Cambria"/>
                <a:ea typeface="Cambria"/>
                <a:cs typeface="Cambria"/>
                <a:sym typeface="Cambria"/>
              </a:rPr>
              <a:t>Thank you</a:t>
            </a:r>
            <a:endParaRPr>
              <a:solidFill>
                <a:srgbClr val="FF0000"/>
              </a:solidFill>
              <a:latin typeface="Cambria"/>
              <a:ea typeface="Cambria"/>
              <a:cs typeface="Cambria"/>
              <a:sym typeface="Cambria"/>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TotalTime>
  <Words>5526</Words>
  <Application>Microsoft Office PowerPoint</Application>
  <PresentationFormat>Widescreen</PresentationFormat>
  <Paragraphs>698</Paragraphs>
  <Slides>91</Slides>
  <Notes>91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91</vt:i4>
      </vt:variant>
    </vt:vector>
  </HeadingPairs>
  <TitlesOfParts>
    <vt:vector size="98" baseType="lpstr">
      <vt:lpstr>Arial</vt:lpstr>
      <vt:lpstr>Calibri</vt:lpstr>
      <vt:lpstr>Cambria</vt:lpstr>
      <vt:lpstr>Noto Sans Symbols</vt:lpstr>
      <vt:lpstr>Times New Roman</vt:lpstr>
      <vt:lpstr>Trebuchet MS</vt:lpstr>
      <vt:lpstr>Office Theme</vt:lpstr>
      <vt:lpstr>Unit – 2  Array, String &amp; Collection Classes</vt:lpstr>
      <vt:lpstr>Group oflike-typed variables</vt:lpstr>
      <vt:lpstr>PowerPoint Presentation</vt:lpstr>
      <vt:lpstr>int month_days[ ];</vt:lpstr>
      <vt:lpstr>PowerPoint Presentation</vt:lpstr>
      <vt:lpstr>PowerPoint Presentation</vt:lpstr>
      <vt:lpstr>PowerPoint Presentation</vt:lpstr>
      <vt:lpstr>PowerPoint Presentation</vt:lpstr>
      <vt:lpstr>Two- Dimensional Array</vt:lpstr>
      <vt:lpstr>x = new int[3][4], x[0], x[1], and x[2] are one-dimensional arrays and each contains four elements. So, x.length is 3, and x[0].length, x[1].length, and x[2].length are 4.</vt:lpstr>
      <vt:lpstr>PowerPoint Presentation</vt:lpstr>
      <vt:lpstr>String is basically an object that represents sequence of char values. An array of characters works same as Java string.</vt:lpstr>
      <vt:lpstr>java.lang.String class provides a lot of methods to work on a string.</vt:lpstr>
      <vt:lpstr>String, StringBuffer and StringBuilder classes implement it. It  means, we can create strings in Java by using these three classes.</vt:lpstr>
      <vt:lpstr>PowerPoint Presentation</vt:lpstr>
      <vt:lpstr>PowerPoint Presentation</vt:lpstr>
      <vt:lpstr>Why Java uses the concept of String literal?</vt:lpstr>
      <vt:lpstr>2. By new  keyword</vt:lpstr>
      <vt:lpstr>PowerPoint Presentation</vt:lpstr>
      <vt:lpstr>1. DefaultConstructor:</vt:lpstr>
      <vt:lpstr>PowerPoint Presentation</vt:lpstr>
      <vt:lpstr>String Literals:</vt:lpstr>
      <vt:lpstr>PowerPoint Presentation</vt:lpstr>
      <vt:lpstr>PowerPoint Presentation</vt:lpstr>
      <vt:lpstr>destination character rarray.</vt:lpstr>
      <vt:lpstr>PowerPoint Presentation</vt:lpstr>
      <vt:lpstr>equals() – Compares the invoking string to the specified object. The result is true if and only if the argument is not null and is a String object that represents the same sequence of characters as the invoking object.</vt:lpstr>
      <vt:lpstr>PowerPoint Presentation</vt:lpstr>
      <vt:lpstr>startsWith() –Tests if this string starts with the specified Prefix beginning at as pecified index.</vt:lpstr>
      <vt:lpstr>PowerPoint Presentation</vt:lpstr>
      <vt:lpstr>PowerPoint Presentation</vt:lpstr>
      <vt:lpstr>public int indexOf(int ch, int fromIndex)- Returns the index within this string of the first occurrence of the specified character, starting the search at the specified index.</vt:lpstr>
      <vt:lpstr>PowerPoint Presentation</vt:lpstr>
      <vt:lpstr>public  String  substring(int beginIndex)</vt:lpstr>
      <vt:lpstr>concat()- Concatenates the specified stringto the end of thisstring.</vt:lpstr>
      <vt:lpstr>replace()-Returns a new string resulting from replacing all Occurrences of old Char in this string with newChar.</vt:lpstr>
      <vt:lpstr>Summary</vt:lpstr>
      <vt:lpstr>PowerPoint Presentation</vt:lpstr>
      <vt:lpstr>PowerPoint Presentation</vt:lpstr>
      <vt:lpstr>The principal operations on a StringBuffer are the append and insert methods, which are overloaded  so also accept data of any type.</vt:lpstr>
      <vt:lpstr>PowerPoint Presentation</vt:lpstr>
      <vt:lpstr>PowerPoint Presentation</vt:lpstr>
      <vt:lpstr>   replace()- Replaces the characters in a substring of this StringBuffer with characters in the specified String.  public StringBuffer replace(int start, int end, Stringstr)  substring() - Returns  a new String that contains a sub sequence of characters currently contained in this StringBuffer.    The  substring begins at the specified index and extends to the end of the StringBuffer.  Public String substring(int start)  </vt:lpstr>
      <vt:lpstr>capacity()- Returns the current capacity of the Stringbuffer. The capacity is the amount of storage available for newly inserted characters.</vt:lpstr>
      <vt:lpstr>Public void  getChars(int srcBegin, int srcEnd, char[] dst, int dstBegin)</vt:lpstr>
      <vt:lpstr>PowerPoint Presentation</vt:lpstr>
      <vt:lpstr>PowerPoint Presentation</vt:lpstr>
      <vt:lpstr>PowerPoint Presentation</vt:lpstr>
      <vt:lpstr>PowerPoint Presentation</vt:lpstr>
      <vt:lpstr>PowerPoint Presentation</vt:lpstr>
      <vt:lpstr>The wrapper class in Java provides the mechanism to convert primitive into object and object into primitive.</vt:lpstr>
      <vt:lpstr>PowerPoint Presentation</vt:lpstr>
      <vt:lpstr>PowerPoint Presentation</vt:lpstr>
      <vt:lpstr>Wrapper Class</vt:lpstr>
      <vt:lpstr>Wrapper Class</vt:lpstr>
      <vt:lpstr>Ex.Character c1=newCharacter(‘x’);</vt:lpstr>
      <vt:lpstr>BooleanClass: static boolean getBoolean(Stringname)</vt:lpstr>
      <vt:lpstr>static booleanisLowerCase(char ch)</vt:lpstr>
      <vt:lpstr>PowerPoint Presentation</vt:lpstr>
      <vt:lpstr>PowerPoint Presentation</vt:lpstr>
      <vt:lpstr>PowerPoint Presentation</vt:lpstr>
      <vt:lpstr>PowerPoint Presentation</vt:lpstr>
      <vt:lpstr>   The  automatic  conversion  of  wrapper  type  into  its corresponding primitive type is known as unboxing. It is the reverse process of autoboxing.</vt:lpstr>
      <vt:lpstr>2. Make the instance of the class Random</vt:lpstr>
      <vt:lpstr>PowerPoint Presentation</vt:lpstr>
      <vt:lpstr>The java command-line argument is an argument i.e. passed at the time of running the java program.</vt:lpstr>
      <vt:lpstr>Collection Classes in Java</vt:lpstr>
      <vt:lpstr>The AbstractList class in Java is a part of the Java Collection Framework and implements the Collection interface and the Abstract Collection class.</vt:lpstr>
      <vt:lpstr>To implement an unmodifiable list, for which one needs to only extend this AbstractList Class and implement the get(int) and the size() methods.</vt:lpstr>
      <vt:lpstr>Declaration: public abstract class implements List&lt;E&gt;</vt:lpstr>
      <vt:lpstr>store the duplicate element of different data types.</vt:lpstr>
      <vt:lpstr>Array List</vt:lpstr>
      <vt:lpstr>Array List Methods</vt:lpstr>
      <vt:lpstr>Array List Methods</vt:lpstr>
      <vt:lpstr>Array List Methods</vt:lpstr>
      <vt:lpstr>PowerPoint Presentation</vt:lpstr>
      <vt:lpstr>Linked List Class Declaration:</vt:lpstr>
      <vt:lpstr>Linked List Methods</vt:lpstr>
      <vt:lpstr>Linked List Methods</vt:lpstr>
      <vt:lpstr>Linked List Methods</vt:lpstr>
      <vt:lpstr>Linked List Methods</vt:lpstr>
      <vt:lpstr>PowerPoint Presentation</vt:lpstr>
      <vt:lpstr>here are two methods in the Enumeration interface namely :</vt:lpstr>
      <vt:lpstr>Vector is like the dynamic array which can grow or shrink its size. Unlike array, we can store n-number of elements in it as there is no size limit. It is a part of Java Collection framework since Java 1.2. It is found in the java.util package and implements the List interface, so we can use all the methods of List interface here.</vt:lpstr>
      <vt:lpstr>PowerPoint Presentation</vt:lpstr>
      <vt:lpstr>Vector Class Constructor</vt:lpstr>
      <vt:lpstr>Vector Class Methods</vt:lpstr>
      <vt:lpstr>Vector Class Methods</vt:lpstr>
      <vt:lpstr>Vector Class Methods</vt:lpstr>
      <vt:lpstr>Vector Class Methods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 2  Array, String &amp; Collection Classes</dc:title>
  <cp:lastModifiedBy>tourist</cp:lastModifiedBy>
  <cp:revision>16</cp:revision>
  <dcterms:created xsi:type="dcterms:W3CDTF">2025-12-29T05:05:12Z</dcterms:created>
  <dcterms:modified xsi:type="dcterms:W3CDTF">2026-01-22T02:50:25Z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2024-01-13T00:00:00Z</vt:filetime>
  </property>
  <property fmtid="{D5CDD505-2E9C-101B-9397-08002B2CF9AE}" pid="3" name="Creator">
    <vt:lpwstr>Microsoft® PowerPoint® 2016</vt:lpwstr>
  </property>
  <property fmtid="{D5CDD505-2E9C-101B-9397-08002B2CF9AE}" pid="4" name="LastSaved">
    <vt:filetime>2025-12-29T00:00:00Z</vt:filetime>
  </property>
  <property fmtid="{D5CDD505-2E9C-101B-9397-08002B2CF9AE}" pid="5" name="Producer">
    <vt:lpwstr>www.ilovepdf.com</vt:lpwstr>
  </property>
</Properties>
</file>